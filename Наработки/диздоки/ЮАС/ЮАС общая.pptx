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10" d="100"/>
          <a:sy n="110" d="100"/>
        </p:scale>
        <p:origin x="-6108" y="-6414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58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865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79801" y="11708115"/>
            <a:ext cx="295090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4819" y="12473133"/>
            <a:ext cx="295090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5248" y="11692703"/>
            <a:ext cx="296352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(февраль 1936)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</a:t>
            </a:r>
            <a:endParaRPr lang="ru-RU" sz="600" dirty="0"/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</a:t>
            </a:r>
            <a:endParaRPr lang="ru-RU" sz="600" dirty="0"/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endParaRPr lang="ru-RU" sz="600" dirty="0"/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</a:t>
            </a:r>
            <a:endParaRPr lang="ru-RU" sz="600" dirty="0"/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Упрочнить лидирующее место в алмазной отрасли</a:t>
            </a:r>
            <a:endParaRPr lang="ru-RU" sz="3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Южноафриканская радиовещательная корпорация</a:t>
            </a:r>
            <a:endParaRPr lang="ru-RU" sz="4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Закон о промышленном примирении и заработной плате</a:t>
            </a:r>
            <a:endParaRPr lang="ru-RU" sz="3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Закончить постройку трансконтинентальной железной дороги</a:t>
            </a:r>
            <a:endParaRPr lang="ru-RU" sz="3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4886216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5221214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4892252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4065090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5725793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3243039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4891612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2431418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888305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5727907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Провести вербовку среди англоговорящего населения</a:t>
            </a:r>
            <a:endParaRPr lang="ru-RU" sz="5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885545" y="26260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6489075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2433749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Прогнать евреев и национализировать их имущество</a:t>
            </a:r>
            <a:endParaRPr lang="ru-RU" sz="5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99091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endParaRPr lang="ru-RU" sz="600" dirty="0"/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17273969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2153667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1302329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(7 апреля 1936</a:t>
            </a:r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17273969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17273969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18123162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6418778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18418449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2446809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4668442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0092028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17846209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17846209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17230010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18082201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17563258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4708408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2988513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6759515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18123161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18695401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6679697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17531890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18978419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18387202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5560600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5820475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19839040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19845194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19318663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19259343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5911369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0746747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19272849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0747322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1318987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5053935" y="2785433"/>
            <a:ext cx="443902" cy="343026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384870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3814917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215999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3304478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2991015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3813100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2985640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4707786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5280026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2938623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0743093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1806430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19839517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2152959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1315333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2725199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1525387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Расширить военные производства за счёт Союзников</a:t>
            </a:r>
            <a:endParaRPr lang="ru-RU" sz="4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2945734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2941449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6042340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1306925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2168589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130232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3843999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0439624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1306925" y="576152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4416239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2991015" y="576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1874569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2124012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1261308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2081132" y="4062817"/>
            <a:ext cx="453135" cy="866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16200000" flipH="1">
            <a:off x="11214870" y="4062816"/>
            <a:ext cx="456692" cy="86270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1874569" y="5361530"/>
            <a:ext cx="4596" cy="399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2282703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8132581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8132581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8127431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7296764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9003654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7552505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6071835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4833690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5662286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 flipH="1">
            <a:off x="1463607" y="2196513"/>
            <a:ext cx="2760" cy="42952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>
            <a:off x="1463607" y="3271099"/>
            <a:ext cx="2760" cy="146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0080611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6885145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93146" y="10718883"/>
            <a:ext cx="366909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8699671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5394657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2414022" y="155814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 (15 сентября 1936)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Сделать окончание Великого похода Национальным праздником</a:t>
            </a:r>
            <a:endParaRPr lang="ru-RU" sz="3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Развить торговые отношения со странами содружества</a:t>
            </a:r>
            <a:endParaRPr lang="ru-RU" sz="3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Признать африкаанс диалектом голландского языка</a:t>
            </a:r>
            <a:endParaRPr lang="ru-RU" sz="2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4902628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Возродить проект </a:t>
            </a:r>
            <a:r>
              <a:rPr lang="ru-RU" sz="900" dirty="0" err="1"/>
              <a:t>Миттельафрики</a:t>
            </a:r>
            <a:r>
              <a:rPr lang="ru-RU" sz="900" dirty="0"/>
              <a:t> под </a:t>
            </a:r>
            <a:r>
              <a:rPr lang="ru-RU" sz="900" dirty="0" err="1"/>
              <a:t>африкаанерским</a:t>
            </a:r>
            <a:r>
              <a:rPr lang="ru-RU" sz="900" dirty="0"/>
              <a:t> началом</a:t>
            </a:r>
            <a:endParaRPr lang="ru-RU" sz="3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5470314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1660819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6489075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Сражение за Родезию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>
            <a:off x="5480690" y="6377666"/>
            <a:ext cx="0" cy="36205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4903000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Португальскую Ост и Вест-Африку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4902628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Аннексировать ЮЗА</a:t>
            </a:r>
            <a:endParaRPr lang="ru-RU" sz="500" dirty="0"/>
          </a:p>
        </p:txBody>
      </p: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2229677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2245674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2954249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3768895" y="4070469"/>
            <a:ext cx="443906" cy="86018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8403862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0679382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18941977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6418778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17270969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17268050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18124695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6418778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18978420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00" dirty="0"/>
              <a:t>Провести повторный референдум в Южной Родезии</a:t>
            </a:r>
            <a:endParaRPr lang="ru-RU" sz="4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5562410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6811446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18519450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6757528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17840290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17265338" y="980649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18965182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18109996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17268049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 flipH="1">
            <a:off x="17837578" y="9387772"/>
            <a:ext cx="2711" cy="41872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18065580" y="8117402"/>
            <a:ext cx="406064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17840289" y="7386446"/>
            <a:ext cx="1" cy="1362311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18984768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18923939" y="8115688"/>
            <a:ext cx="406064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18017494" y="7209242"/>
            <a:ext cx="1362311" cy="1716718"/>
          </a:xfrm>
          <a:prstGeom prst="bentConnector3">
            <a:avLst>
              <a:gd name="adj1" fmla="val 1175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8951099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8095566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4060098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5684465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4849567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5464278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4038937" y="132801"/>
            <a:ext cx="378488" cy="24721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3279426" y="-633404"/>
            <a:ext cx="371795" cy="3997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16200000" flipH="1">
            <a:off x="2793293" y="2401997"/>
            <a:ext cx="414979" cy="1739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2693049" y="2502240"/>
            <a:ext cx="1427087" cy="829017"/>
          </a:xfrm>
          <a:prstGeom prst="bentConnector3">
            <a:avLst>
              <a:gd name="adj1" fmla="val 1213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1903416" y="2538672"/>
            <a:ext cx="1424134" cy="753203"/>
          </a:xfrm>
          <a:prstGeom prst="bentConnector3">
            <a:avLst>
              <a:gd name="adj1" fmla="val 12059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3009480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4008820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888305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 rot="5400000">
            <a:off x="887495" y="3060757"/>
            <a:ext cx="365771" cy="7864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9685072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0862095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8466352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Shape 248">
            <a:extLst>
              <a:ext uri="{FF2B5EF4-FFF2-40B4-BE49-F238E27FC236}">
                <a16:creationId xmlns:a16="http://schemas.microsoft.com/office/drawing/2014/main" id="{6DDACF0C-7C13-47CC-90FA-1593CFD68C2F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4870949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Прямая со стрелкой 584">
            <a:extLst>
              <a:ext uri="{FF2B5EF4-FFF2-40B4-BE49-F238E27FC236}">
                <a16:creationId xmlns:a16="http://schemas.microsoft.com/office/drawing/2014/main" id="{291B2CB7-9934-4D6A-8A40-95FEC822F256}"/>
              </a:ext>
            </a:extLst>
          </p:cNvPr>
          <p:cNvCxnSpPr>
            <a:cxnSpLocks/>
            <a:stCxn id="581" idx="2"/>
            <a:endCxn id="580" idx="0"/>
          </p:cNvCxnSpPr>
          <p:nvPr/>
        </p:nvCxnSpPr>
        <p:spPr>
          <a:xfrm>
            <a:off x="5480690" y="7384787"/>
            <a:ext cx="372" cy="35580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8" name="Shape 248">
            <a:extLst>
              <a:ext uri="{FF2B5EF4-FFF2-40B4-BE49-F238E27FC236}">
                <a16:creationId xmlns:a16="http://schemas.microsoft.com/office/drawing/2014/main" id="{9536F20D-B439-4E60-9398-FE87C0B00B2C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 rot="16200000" flipH="1">
            <a:off x="6089031" y="5769324"/>
            <a:ext cx="369764" cy="15864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1" name="Прямоугольник 590">
            <a:extLst>
              <a:ext uri="{FF2B5EF4-FFF2-40B4-BE49-F238E27FC236}">
                <a16:creationId xmlns:a16="http://schemas.microsoft.com/office/drawing/2014/main" id="{3087B603-08DA-433E-9357-A61BD3FEBE1A}"/>
              </a:ext>
            </a:extLst>
          </p:cNvPr>
          <p:cNvSpPr/>
          <p:nvPr/>
        </p:nvSpPr>
        <p:spPr>
          <a:xfrm>
            <a:off x="3243039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морским сражениям</a:t>
            </a:r>
            <a:endParaRPr lang="ru-RU" sz="600" dirty="0"/>
          </a:p>
        </p:txBody>
      </p:sp>
      <p:sp>
        <p:nvSpPr>
          <p:cNvPr id="595" name="Прямоугольник 594">
            <a:extLst>
              <a:ext uri="{FF2B5EF4-FFF2-40B4-BE49-F238E27FC236}">
                <a16:creationId xmlns:a16="http://schemas.microsoft.com/office/drawing/2014/main" id="{CD5D1CC7-9A61-412B-88F7-274A3F635509}"/>
              </a:ext>
            </a:extLst>
          </p:cNvPr>
          <p:cNvSpPr/>
          <p:nvPr/>
        </p:nvSpPr>
        <p:spPr>
          <a:xfrm>
            <a:off x="3242834" y="7743186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Реализовать Германские претензии на Мадагаскар</a:t>
            </a:r>
            <a:endParaRPr lang="ru-RU" sz="500" dirty="0"/>
          </a:p>
        </p:txBody>
      </p:sp>
      <p:cxnSp>
        <p:nvCxnSpPr>
          <p:cNvPr id="597" name="Shape 248">
            <a:extLst>
              <a:ext uri="{FF2B5EF4-FFF2-40B4-BE49-F238E27FC236}">
                <a16:creationId xmlns:a16="http://schemas.microsoft.com/office/drawing/2014/main" id="{F2B556EF-3F95-4572-AD62-3371DFE58299}"/>
              </a:ext>
            </a:extLst>
          </p:cNvPr>
          <p:cNvCxnSpPr>
            <a:cxnSpLocks/>
            <a:stCxn id="567" idx="2"/>
            <a:endCxn id="591" idx="0"/>
          </p:cNvCxnSpPr>
          <p:nvPr/>
        </p:nvCxnSpPr>
        <p:spPr>
          <a:xfrm rot="5400000">
            <a:off x="4469868" y="5728900"/>
            <a:ext cx="362057" cy="16595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Прямая со стрелкой 599">
            <a:extLst>
              <a:ext uri="{FF2B5EF4-FFF2-40B4-BE49-F238E27FC236}">
                <a16:creationId xmlns:a16="http://schemas.microsoft.com/office/drawing/2014/main" id="{BFB97289-389B-4E0B-9DB7-83C8425966D1}"/>
              </a:ext>
            </a:extLst>
          </p:cNvPr>
          <p:cNvCxnSpPr>
            <a:cxnSpLocks/>
            <a:stCxn id="591" idx="2"/>
            <a:endCxn id="595" idx="0"/>
          </p:cNvCxnSpPr>
          <p:nvPr/>
        </p:nvCxnSpPr>
        <p:spPr>
          <a:xfrm flipH="1">
            <a:off x="3820896" y="7384787"/>
            <a:ext cx="205" cy="35839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Прямоугольник 601">
            <a:extLst>
              <a:ext uri="{FF2B5EF4-FFF2-40B4-BE49-F238E27FC236}">
                <a16:creationId xmlns:a16="http://schemas.microsoft.com/office/drawing/2014/main" id="{D83061F8-C21A-46E5-9B9C-A2DB5CD77725}"/>
              </a:ext>
            </a:extLst>
          </p:cNvPr>
          <p:cNvSpPr/>
          <p:nvPr/>
        </p:nvSpPr>
        <p:spPr>
          <a:xfrm>
            <a:off x="6489075" y="77397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Вернуть немецкую Ост-Африку</a:t>
            </a:r>
            <a:endParaRPr lang="ru-RU" sz="600" dirty="0"/>
          </a:p>
        </p:txBody>
      </p:sp>
      <p:cxnSp>
        <p:nvCxnSpPr>
          <p:cNvPr id="610" name="Прямая со стрелкой 609">
            <a:extLst>
              <a:ext uri="{FF2B5EF4-FFF2-40B4-BE49-F238E27FC236}">
                <a16:creationId xmlns:a16="http://schemas.microsoft.com/office/drawing/2014/main" id="{B5BCF7FD-E1AD-4262-8879-278452FAD625}"/>
              </a:ext>
            </a:extLst>
          </p:cNvPr>
          <p:cNvCxnSpPr>
            <a:cxnSpLocks/>
            <a:stCxn id="576" idx="2"/>
            <a:endCxn id="602" idx="0"/>
          </p:cNvCxnSpPr>
          <p:nvPr/>
        </p:nvCxnSpPr>
        <p:spPr>
          <a:xfrm>
            <a:off x="7067137" y="7392494"/>
            <a:ext cx="0" cy="34722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" name="Прямоугольник 610">
            <a:extLst>
              <a:ext uri="{FF2B5EF4-FFF2-40B4-BE49-F238E27FC236}">
                <a16:creationId xmlns:a16="http://schemas.microsoft.com/office/drawing/2014/main" id="{21CC329F-CAB2-4C25-B4B2-92D8E197941C}"/>
              </a:ext>
            </a:extLst>
          </p:cNvPr>
          <p:cNvSpPr/>
          <p:nvPr/>
        </p:nvSpPr>
        <p:spPr>
          <a:xfrm>
            <a:off x="5708911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Захватить окружённое Конго</a:t>
            </a:r>
            <a:endParaRPr lang="ru-RU" sz="500" dirty="0"/>
          </a:p>
        </p:txBody>
      </p:sp>
      <p:sp>
        <p:nvSpPr>
          <p:cNvPr id="613" name="Прямоугольник 612">
            <a:extLst>
              <a:ext uri="{FF2B5EF4-FFF2-40B4-BE49-F238E27FC236}">
                <a16:creationId xmlns:a16="http://schemas.microsoft.com/office/drawing/2014/main" id="{7283AFB6-D368-4705-8299-3C9BD3091A27}"/>
              </a:ext>
            </a:extLst>
          </p:cNvPr>
          <p:cNvSpPr/>
          <p:nvPr/>
        </p:nvSpPr>
        <p:spPr>
          <a:xfrm>
            <a:off x="4062954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Расшириться на западное побережье</a:t>
            </a:r>
            <a:endParaRPr lang="ru-RU" sz="500" dirty="0"/>
          </a:p>
        </p:txBody>
      </p: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69C4231D-857D-4155-8CF5-5FDA56782EA5}"/>
              </a:ext>
            </a:extLst>
          </p:cNvPr>
          <p:cNvCxnSpPr>
            <a:cxnSpLocks/>
            <a:stCxn id="602" idx="2"/>
            <a:endCxn id="611" idx="0"/>
          </p:cNvCxnSpPr>
          <p:nvPr/>
        </p:nvCxnSpPr>
        <p:spPr>
          <a:xfrm rot="5400000">
            <a:off x="6464533" y="8207224"/>
            <a:ext cx="425045" cy="7801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1E1475D4-9E54-4052-8747-C48C6A99F70C}"/>
              </a:ext>
            </a:extLst>
          </p:cNvPr>
          <p:cNvCxnSpPr>
            <a:cxnSpLocks/>
            <a:stCxn id="580" idx="2"/>
            <a:endCxn id="611" idx="0"/>
          </p:cNvCxnSpPr>
          <p:nvPr/>
        </p:nvCxnSpPr>
        <p:spPr>
          <a:xfrm rot="16200000" flipH="1">
            <a:off x="5671931" y="8194787"/>
            <a:ext cx="424172" cy="805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7787AD86-04C7-43B7-91AD-71853EB2F7ED}"/>
              </a:ext>
            </a:extLst>
          </p:cNvPr>
          <p:cNvCxnSpPr>
            <a:cxnSpLocks/>
            <a:stCxn id="580" idx="2"/>
            <a:endCxn id="613" idx="0"/>
          </p:cNvCxnSpPr>
          <p:nvPr/>
        </p:nvCxnSpPr>
        <p:spPr>
          <a:xfrm rot="5400000">
            <a:off x="4848953" y="8177720"/>
            <a:ext cx="424172" cy="8400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47C16FE-2138-44CF-897B-A6B2320BB371}"/>
              </a:ext>
            </a:extLst>
          </p:cNvPr>
          <p:cNvCxnSpPr>
            <a:cxnSpLocks/>
            <a:stCxn id="595" idx="2"/>
            <a:endCxn id="613" idx="0"/>
          </p:cNvCxnSpPr>
          <p:nvPr/>
        </p:nvCxnSpPr>
        <p:spPr>
          <a:xfrm rot="16200000" flipH="1">
            <a:off x="4020167" y="8188979"/>
            <a:ext cx="421579" cy="82012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677FE684-BBCF-47A3-8D1F-4951D59DC222}"/>
              </a:ext>
            </a:extLst>
          </p:cNvPr>
          <p:cNvSpPr/>
          <p:nvPr/>
        </p:nvSpPr>
        <p:spPr>
          <a:xfrm>
            <a:off x="4881394" y="979723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Перераспределить сферы влияния в Африке</a:t>
            </a:r>
            <a:endParaRPr lang="ru-RU" sz="600" dirty="0"/>
          </a:p>
        </p:txBody>
      </p: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4A616F87-47AF-48D5-A740-7ABA7EC69C06}"/>
              </a:ext>
            </a:extLst>
          </p:cNvPr>
          <p:cNvCxnSpPr>
            <a:cxnSpLocks/>
            <a:stCxn id="613" idx="2"/>
            <a:endCxn id="646" idx="0"/>
          </p:cNvCxnSpPr>
          <p:nvPr/>
        </p:nvCxnSpPr>
        <p:spPr>
          <a:xfrm rot="16200000" flipH="1">
            <a:off x="4879064" y="9216845"/>
            <a:ext cx="342345" cy="8184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Shape 248">
            <a:extLst>
              <a:ext uri="{FF2B5EF4-FFF2-40B4-BE49-F238E27FC236}">
                <a16:creationId xmlns:a16="http://schemas.microsoft.com/office/drawing/2014/main" id="{7BA58155-8478-4C9D-997F-2FE893C1D04B}"/>
              </a:ext>
            </a:extLst>
          </p:cNvPr>
          <p:cNvCxnSpPr>
            <a:cxnSpLocks/>
            <a:stCxn id="611" idx="2"/>
            <a:endCxn id="646" idx="0"/>
          </p:cNvCxnSpPr>
          <p:nvPr/>
        </p:nvCxnSpPr>
        <p:spPr>
          <a:xfrm rot="5400000">
            <a:off x="5702043" y="9212307"/>
            <a:ext cx="342345" cy="827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D017FDE9-E7F4-4904-9BFA-D32282268B2F}"/>
              </a:ext>
            </a:extLst>
          </p:cNvPr>
          <p:cNvSpPr/>
          <p:nvPr/>
        </p:nvSpPr>
        <p:spPr>
          <a:xfrm>
            <a:off x="1665456" y="5736764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Прекратить практику </a:t>
            </a:r>
            <a:r>
              <a:rPr lang="en-US" sz="1100" dirty="0" err="1"/>
              <a:t>mengelmoes</a:t>
            </a:r>
            <a:endParaRPr lang="ru-RU" sz="600" dirty="0"/>
          </a:p>
        </p:txBody>
      </p:sp>
      <p:cxnSp>
        <p:nvCxnSpPr>
          <p:cNvPr id="656" name="Shape 248">
            <a:extLst>
              <a:ext uri="{FF2B5EF4-FFF2-40B4-BE49-F238E27FC236}">
                <a16:creationId xmlns:a16="http://schemas.microsoft.com/office/drawing/2014/main" id="{2F498C4F-644D-4FD6-BB9B-61F36B3CA0F0}"/>
              </a:ext>
            </a:extLst>
          </p:cNvPr>
          <p:cNvCxnSpPr>
            <a:cxnSpLocks/>
            <a:stCxn id="1498" idx="2"/>
            <a:endCxn id="654" idx="0"/>
          </p:cNvCxnSpPr>
          <p:nvPr/>
        </p:nvCxnSpPr>
        <p:spPr>
          <a:xfrm rot="5400000">
            <a:off x="2449633" y="5174585"/>
            <a:ext cx="356065" cy="7682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7" name="Прямоугольник 656">
            <a:extLst>
              <a:ext uri="{FF2B5EF4-FFF2-40B4-BE49-F238E27FC236}">
                <a16:creationId xmlns:a16="http://schemas.microsoft.com/office/drawing/2014/main" id="{6BA5B4A5-1B79-46A7-AA7C-298D8B8CDD27}"/>
              </a:ext>
            </a:extLst>
          </p:cNvPr>
          <p:cNvSpPr/>
          <p:nvPr/>
        </p:nvSpPr>
        <p:spPr>
          <a:xfrm>
            <a:off x="1657702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расовую сегрегацию</a:t>
            </a:r>
            <a:endParaRPr lang="ru-RU" sz="600" dirty="0"/>
          </a:p>
        </p:txBody>
      </p:sp>
      <p:cxnSp>
        <p:nvCxnSpPr>
          <p:cNvPr id="663" name="Прямая со стрелкой 662">
            <a:extLst>
              <a:ext uri="{FF2B5EF4-FFF2-40B4-BE49-F238E27FC236}">
                <a16:creationId xmlns:a16="http://schemas.microsoft.com/office/drawing/2014/main" id="{93C0142D-DECC-4D52-AFDF-6531A1B4968A}"/>
              </a:ext>
            </a:extLst>
          </p:cNvPr>
          <p:cNvCxnSpPr>
            <a:cxnSpLocks/>
            <a:stCxn id="654" idx="2"/>
            <a:endCxn id="657" idx="0"/>
          </p:cNvCxnSpPr>
          <p:nvPr/>
        </p:nvCxnSpPr>
        <p:spPr>
          <a:xfrm flipH="1">
            <a:off x="2235764" y="6381828"/>
            <a:ext cx="7754" cy="36560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3632E3CE-D247-48AB-B9F7-A0CAB71E56FA}"/>
              </a:ext>
            </a:extLst>
          </p:cNvPr>
          <p:cNvSpPr/>
          <p:nvPr/>
        </p:nvSpPr>
        <p:spPr>
          <a:xfrm>
            <a:off x="24850479" y="1671346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Либеральной партии</a:t>
            </a:r>
            <a:endParaRPr lang="ru-RU" sz="600" dirty="0"/>
          </a:p>
        </p:txBody>
      </p:sp>
      <p:sp>
        <p:nvSpPr>
          <p:cNvPr id="666" name="Прямоугольник 665">
            <a:extLst>
              <a:ext uri="{FF2B5EF4-FFF2-40B4-BE49-F238E27FC236}">
                <a16:creationId xmlns:a16="http://schemas.microsoft.com/office/drawing/2014/main" id="{ACF6C5B1-81B5-48D4-853F-684A1F678371}"/>
              </a:ext>
            </a:extLst>
          </p:cNvPr>
          <p:cNvSpPr/>
          <p:nvPr/>
        </p:nvSpPr>
        <p:spPr>
          <a:xfrm>
            <a:off x="24853262" y="2737260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программу Интеграции </a:t>
            </a:r>
            <a:r>
              <a:rPr lang="ru-RU" sz="1100" dirty="0" err="1"/>
              <a:t>Фагана</a:t>
            </a:r>
            <a:r>
              <a:rPr lang="ru-RU" sz="1100" dirty="0"/>
              <a:t> </a:t>
            </a:r>
            <a:r>
              <a:rPr lang="ru-RU" sz="400" dirty="0"/>
              <a:t>(</a:t>
            </a:r>
            <a:r>
              <a:rPr lang="en-US" sz="400" dirty="0"/>
              <a:t>https://en.wikipedia.org/wiki/Fagan_Commission#:~:text=The%20Native%20Laws%20Commission%2C%20commonly,produced%20in%20the%20segregation%20era."</a:t>
            </a:r>
            <a:r>
              <a:rPr lang="ru-RU" sz="400" dirty="0"/>
              <a:t>)</a:t>
            </a:r>
            <a:endParaRPr lang="ru-RU" sz="6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99DB9D5F-5DE9-4010-BA51-B858F47C69D3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2974776" y="6159927"/>
            <a:ext cx="345943" cy="831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Shape 248">
            <a:extLst>
              <a:ext uri="{FF2B5EF4-FFF2-40B4-BE49-F238E27FC236}">
                <a16:creationId xmlns:a16="http://schemas.microsoft.com/office/drawing/2014/main" id="{DC99852F-F757-49C1-8229-F071A8D930B8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 rot="16200000" flipH="1">
            <a:off x="13802235" y="6163484"/>
            <a:ext cx="345943" cy="82390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Прямая со стрелкой 658">
            <a:extLst>
              <a:ext uri="{FF2B5EF4-FFF2-40B4-BE49-F238E27FC236}">
                <a16:creationId xmlns:a16="http://schemas.microsoft.com/office/drawing/2014/main" id="{E15831D3-02E0-43B2-B53C-040E35F74958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>
            <a:off x="13560753" y="5361531"/>
            <a:ext cx="2502" cy="4019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47494</TotalTime>
  <Words>1774</Words>
  <Application>Microsoft Office PowerPoint</Application>
  <PresentationFormat>Произвольный</PresentationFormat>
  <Paragraphs>253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2331</cp:revision>
  <dcterms:created xsi:type="dcterms:W3CDTF">2018-10-23T08:09:21Z</dcterms:created>
  <dcterms:modified xsi:type="dcterms:W3CDTF">2026-03-03T11:08:39Z</dcterms:modified>
</cp:coreProperties>
</file>