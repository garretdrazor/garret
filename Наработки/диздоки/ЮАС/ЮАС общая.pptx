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00" d="100"/>
          <a:sy n="100" d="100"/>
        </p:scale>
        <p:origin x="-1536" y="58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sp>
        <p:nvSpPr>
          <p:cNvPr id="1479" name="Прямоугольник 1478">
            <a:extLst>
              <a:ext uri="{FF2B5EF4-FFF2-40B4-BE49-F238E27FC236}">
                <a16:creationId xmlns:a16="http://schemas.microsoft.com/office/drawing/2014/main" id="{214BF47C-6A41-4957-8473-E730ED14F329}"/>
              </a:ext>
            </a:extLst>
          </p:cNvPr>
          <p:cNvSpPr/>
          <p:nvPr/>
        </p:nvSpPr>
        <p:spPr>
          <a:xfrm>
            <a:off x="4647883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Вооружённые отряды </a:t>
            </a:r>
            <a:r>
              <a:rPr lang="ru-RU" sz="1100" dirty="0" err="1"/>
              <a:t>серорубашечников</a:t>
            </a:r>
            <a:r>
              <a:rPr lang="ru-RU" sz="1100" dirty="0"/>
              <a:t> </a:t>
            </a:r>
            <a:r>
              <a:rPr lang="ru-RU" sz="300" dirty="0"/>
              <a:t>(</a:t>
            </a:r>
            <a:r>
              <a:rPr lang="ru-RU" sz="300" dirty="0" err="1"/>
              <a:t>кирино</a:t>
            </a:r>
            <a:r>
              <a:rPr lang="en-US" sz="300" dirty="0"/>
              <a:t>: </a:t>
            </a:r>
            <a:r>
              <a:rPr lang="ru-RU" sz="300" dirty="0"/>
              <a:t>НД -20% время подготовки, </a:t>
            </a:r>
            <a:r>
              <a:rPr lang="ru-RU" sz="300" dirty="0" err="1"/>
              <a:t>орагнизация</a:t>
            </a:r>
            <a:r>
              <a:rPr lang="ru-RU" sz="300" dirty="0"/>
              <a:t> +8%, </a:t>
            </a:r>
            <a:r>
              <a:rPr lang="ru-RU" sz="300" dirty="0" err="1"/>
              <a:t>военка</a:t>
            </a:r>
            <a:r>
              <a:rPr lang="ru-RU" sz="300" dirty="0"/>
              <a:t> +1%, решение на </a:t>
            </a:r>
            <a:r>
              <a:rPr lang="ru-RU" sz="300" dirty="0" err="1"/>
              <a:t>дивки</a:t>
            </a:r>
            <a:r>
              <a:rPr lang="ru-RU" sz="300" dirty="0"/>
              <a:t> рубашек)</a:t>
            </a:r>
            <a:endParaRPr lang="ru-RU" sz="6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Британской империей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 </a:t>
            </a:r>
            <a:r>
              <a:rPr lang="ru-RU" sz="300" dirty="0"/>
              <a:t>(Южноафриканское нееврейское национал-социалистическое движение финансировалось НСДАП/АО и получило поддержку среди молодых немцев, южноафриканцев и буров)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 </a:t>
            </a:r>
            <a:r>
              <a:rPr lang="ru-RU" sz="300" dirty="0"/>
              <a:t>(Движение также пыталось заручиться поддержкой белых англоязычных, но без особого успеха. Белые носители английского языка боялись африканеров. национализма и в целом были удовлетворены правительством Герцога и </a:t>
            </a:r>
            <a:r>
              <a:rPr lang="ru-RU" sz="300" dirty="0" err="1"/>
              <a:t>Смэтса</a:t>
            </a:r>
            <a:r>
              <a:rPr lang="ru-RU" sz="300" dirty="0"/>
              <a:t> .)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 </a:t>
            </a:r>
            <a:r>
              <a:rPr lang="ru-RU" sz="200" dirty="0"/>
              <a:t>(</a:t>
            </a:r>
            <a:r>
              <a:rPr lang="ru-RU" sz="200" dirty="0" err="1"/>
              <a:t>грышемде</a:t>
            </a:r>
            <a:r>
              <a:rPr lang="ru-RU" sz="200" dirty="0"/>
              <a:t> якобы предназначались для защиты митингов южноафриканского нацистского движения, но на самом деле это были банды, избивавшие противников движения. </a:t>
            </a:r>
            <a:r>
              <a:rPr lang="ru-RU" sz="200" dirty="0" err="1"/>
              <a:t>Грышемде</a:t>
            </a:r>
            <a:r>
              <a:rPr lang="ru-RU" sz="200" dirty="0"/>
              <a:t> также разрушили некоторые синагоги и запугали евреев . Поскольку </a:t>
            </a:r>
            <a:r>
              <a:rPr lang="ru-RU" sz="200" dirty="0" err="1"/>
              <a:t>Гришемде</a:t>
            </a:r>
            <a:r>
              <a:rPr lang="ru-RU" sz="200" dirty="0"/>
              <a:t> занимал такое важное место в южноафриканском нееврейском национал-социалистическом движении, это движение вскоре стало широко известно как </a:t>
            </a:r>
            <a:r>
              <a:rPr lang="ru-RU" sz="200" dirty="0" err="1"/>
              <a:t>Гришемде</a:t>
            </a:r>
            <a:r>
              <a:rPr lang="ru-RU" sz="200" dirty="0"/>
              <a:t>.)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0798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</a:t>
            </a:r>
            <a:r>
              <a:rPr lang="ru-RU" sz="1100" dirty="0" err="1"/>
              <a:t>однопартийность</a:t>
            </a:r>
            <a:r>
              <a:rPr lang="ru-RU" sz="1100" dirty="0"/>
              <a:t> </a:t>
            </a:r>
            <a:r>
              <a:rPr lang="ru-RU" sz="300" dirty="0"/>
              <a:t>(Однако однопартийное государство, за которое выступал Ван </a:t>
            </a:r>
            <a:r>
              <a:rPr lang="ru-RU" sz="300" dirty="0" err="1"/>
              <a:t>Ренсбург</a:t>
            </a:r>
            <a:r>
              <a:rPr lang="ru-RU" sz="300" dirty="0"/>
              <a:t> , не было принято, а парламентская система — хотя и в пользу националистического правительства — сохранилась.)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079876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 </a:t>
            </a:r>
            <a:r>
              <a:rPr lang="ru-RU" sz="200" dirty="0"/>
              <a:t>(Цель </a:t>
            </a:r>
            <a:r>
              <a:rPr lang="ru-RU" sz="200" dirty="0" err="1"/>
              <a:t>Оссевабрандваг</a:t>
            </a:r>
            <a:r>
              <a:rPr lang="ru-RU" sz="200" dirty="0"/>
              <a:t> — создание однопартийного авторитарного и дисциплинированного государства, в котором люди не позволят себе говорить и делать что им заблагорассудится в ущерб народу и правительству (29 мая 1942). )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Антикоммунизм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r>
              <a:rPr lang="ru-RU" sz="1100" dirty="0"/>
              <a:t> </a:t>
            </a:r>
            <a:r>
              <a:rPr lang="ru-RU" sz="600" dirty="0"/>
              <a:t>(</a:t>
            </a:r>
            <a:r>
              <a:rPr lang="en-US" sz="600" dirty="0"/>
              <a:t>https://af.m.wikipedia.org/wiki/Reddingsdaadbond</a:t>
            </a:r>
            <a:r>
              <a:rPr lang="ru-RU" sz="600" dirty="0"/>
              <a:t>)</a:t>
            </a:r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>
            <a:off x="3657938" y="2196513"/>
            <a:ext cx="0" cy="4216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>
            <a:off x="3657938" y="3263249"/>
            <a:ext cx="3036" cy="3736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62237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r>
              <a:rPr lang="en-US" sz="1100" dirty="0"/>
              <a:t> ( </a:t>
            </a:r>
            <a:r>
              <a:rPr lang="ru-RU" sz="1100" dirty="0"/>
              <a:t>Охотники за бурями ) </a:t>
            </a:r>
            <a:r>
              <a:rPr lang="ru-RU" sz="200" dirty="0"/>
              <a:t>(военизированного крыла ОБ. Характер </a:t>
            </a:r>
            <a:r>
              <a:rPr lang="ru-RU" sz="200" dirty="0" err="1"/>
              <a:t>Stormjaers</a:t>
            </a:r>
            <a:r>
              <a:rPr lang="ru-RU" sz="200" dirty="0"/>
              <a:t> был подтвержден клятвой, которую приносили новые рекруты: «Если я отступлю, стреляйте в меня. Если я упаду, отомстите за меня. Если я атакую, следуйте за мной» ( африкаанс :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omdraai</a:t>
            </a:r>
            <a:r>
              <a:rPr lang="ru-RU" sz="200" dirty="0"/>
              <a:t>, </a:t>
            </a:r>
            <a:r>
              <a:rPr lang="ru-RU" sz="200" dirty="0" err="1"/>
              <a:t>skiet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val</a:t>
            </a:r>
            <a:r>
              <a:rPr lang="ru-RU" sz="200" dirty="0"/>
              <a:t>, </a:t>
            </a:r>
            <a:r>
              <a:rPr lang="ru-RU" sz="200" dirty="0" err="1"/>
              <a:t>wrek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storm</a:t>
            </a:r>
            <a:r>
              <a:rPr lang="ru-RU" sz="200" dirty="0"/>
              <a:t>, </a:t>
            </a:r>
            <a:r>
              <a:rPr lang="ru-RU" sz="200" dirty="0" err="1"/>
              <a:t>volg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 ). [ 7 ] Этот девиз первоначально приписывается французскому роялисту Анри де ла </a:t>
            </a:r>
            <a:r>
              <a:rPr lang="ru-RU" sz="200" dirty="0" err="1"/>
              <a:t>Рошжаклену</a:t>
            </a:r>
            <a:r>
              <a:rPr lang="ru-RU" sz="200" dirty="0"/>
              <a:t> в 1793 году, но также был популярным лозунгом фашистов Бенито Муссолини в 1930-х годах.)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Прямая соединительная линия 601">
            <a:extLst>
              <a:ext uri="{FF2B5EF4-FFF2-40B4-BE49-F238E27FC236}">
                <a16:creationId xmlns:a16="http://schemas.microsoft.com/office/drawing/2014/main" id="{5706F8EC-BA96-42DF-A651-81560F4B312E}"/>
              </a:ext>
            </a:extLst>
          </p:cNvPr>
          <p:cNvCxnSpPr>
            <a:cxnSpLocks/>
            <a:stCxn id="1479" idx="3"/>
            <a:endCxn id="524" idx="1"/>
          </p:cNvCxnSpPr>
          <p:nvPr/>
        </p:nvCxnSpPr>
        <p:spPr>
          <a:xfrm>
            <a:off x="5804007" y="1873981"/>
            <a:ext cx="41976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Антикапитализм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439072" y="542421"/>
            <a:ext cx="371795" cy="16462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957320AC-BC9A-4553-96A1-C68D585CBFA2}"/>
              </a:ext>
            </a:extLst>
          </p:cNvPr>
          <p:cNvCxnSpPr>
            <a:cxnSpLocks/>
            <a:stCxn id="1478" idx="2"/>
            <a:endCxn id="1479" idx="0"/>
          </p:cNvCxnSpPr>
          <p:nvPr/>
        </p:nvCxnSpPr>
        <p:spPr>
          <a:xfrm rot="5400000">
            <a:off x="6651125" y="-245526"/>
            <a:ext cx="371795" cy="322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5867122" y="-1029529"/>
            <a:ext cx="371795" cy="47901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B9C1D6D-E446-47FB-9E95-E8008A51CAB7}"/>
              </a:ext>
            </a:extLst>
          </p:cNvPr>
          <p:cNvCxnSpPr>
            <a:cxnSpLocks/>
            <a:stCxn id="1479" idx="2"/>
            <a:endCxn id="1493" idx="0"/>
          </p:cNvCxnSpPr>
          <p:nvPr/>
        </p:nvCxnSpPr>
        <p:spPr>
          <a:xfrm rot="16200000" flipH="1">
            <a:off x="5398787" y="2023671"/>
            <a:ext cx="421672" cy="767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5400000">
            <a:off x="6186734" y="2003081"/>
            <a:ext cx="421672" cy="80853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6086490" y="2911861"/>
            <a:ext cx="1433780" cy="308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hape 248">
            <a:extLst>
              <a:ext uri="{FF2B5EF4-FFF2-40B4-BE49-F238E27FC236}">
                <a16:creationId xmlns:a16="http://schemas.microsoft.com/office/drawing/2014/main" id="{458C9804-AC82-491B-AC3F-13F54D808902}"/>
              </a:ext>
            </a:extLst>
          </p:cNvPr>
          <p:cNvCxnSpPr>
            <a:cxnSpLocks/>
            <a:stCxn id="1479" idx="2"/>
            <a:endCxn id="1491" idx="0"/>
          </p:cNvCxnSpPr>
          <p:nvPr/>
        </p:nvCxnSpPr>
        <p:spPr>
          <a:xfrm rot="16200000" flipH="1">
            <a:off x="5298543" y="2123914"/>
            <a:ext cx="1433780" cy="1578977"/>
          </a:xfrm>
          <a:prstGeom prst="bentConnector3">
            <a:avLst>
              <a:gd name="adj1" fmla="val 14392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EA426D8B-FEF3-403F-B620-49C1C5E57428}"/>
              </a:ext>
            </a:extLst>
          </p:cNvPr>
          <p:cNvCxnSpPr>
            <a:cxnSpLocks/>
            <a:stCxn id="1479" idx="2"/>
            <a:endCxn id="573" idx="0"/>
          </p:cNvCxnSpPr>
          <p:nvPr/>
        </p:nvCxnSpPr>
        <p:spPr>
          <a:xfrm rot="5400000">
            <a:off x="4508911" y="2910305"/>
            <a:ext cx="1430827" cy="32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5296857" y="2122358"/>
            <a:ext cx="1430827" cy="1579136"/>
          </a:xfrm>
          <a:prstGeom prst="bentConnector3">
            <a:avLst>
              <a:gd name="adj1" fmla="val 1431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45158</TotalTime>
  <Words>2057</Words>
  <Application>Microsoft Office PowerPoint</Application>
  <PresentationFormat>Произвольный</PresentationFormat>
  <Paragraphs>243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2314</cp:revision>
  <dcterms:created xsi:type="dcterms:W3CDTF">2018-10-23T08:09:21Z</dcterms:created>
  <dcterms:modified xsi:type="dcterms:W3CDTF">2025-11-19T11:43:45Z</dcterms:modified>
</cp:coreProperties>
</file>