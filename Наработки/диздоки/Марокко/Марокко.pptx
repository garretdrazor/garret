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3FB1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17683" y="8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24534685" y="13691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 (1937) </a:t>
            </a:r>
            <a:r>
              <a:rPr lang="ru-RU" sz="100" dirty="0"/>
              <a:t>(Стандартный </a:t>
            </a:r>
            <a:r>
              <a:rPr lang="ru-RU" sz="100" dirty="0" err="1"/>
              <a:t>гум</a:t>
            </a:r>
            <a:r>
              <a:rPr lang="ru-RU" sz="100" dirty="0"/>
              <a:t> представлял собой конно-стрелковое подразделение, эквивалентное роте. В его составе имелся верховой взвод (на лошадях или верблюдах), вьючный взвод, а также 3-4 стрелковых взвода. Такая организация позволяла </a:t>
            </a:r>
            <a:r>
              <a:rPr lang="ru-RU" sz="100" dirty="0" err="1"/>
              <a:t>гумам</a:t>
            </a:r>
            <a:r>
              <a:rPr lang="ru-RU" sz="100" dirty="0"/>
              <a:t> вести автономные боевые действия в условиях горно-пустынной </a:t>
            </a:r>
            <a:r>
              <a:rPr lang="ru-RU" sz="100" dirty="0" err="1"/>
              <a:t>местности.Первый</a:t>
            </a:r>
            <a:r>
              <a:rPr lang="ru-RU" sz="100" dirty="0"/>
              <a:t> марокканский </a:t>
            </a:r>
            <a:r>
              <a:rPr lang="ru-RU" sz="100" dirty="0" err="1"/>
              <a:t>гум</a:t>
            </a:r>
            <a:r>
              <a:rPr lang="ru-RU" sz="100" dirty="0"/>
              <a:t> был сформирован 5 ноября 1908 г. В дальнейшем их число постоянно росло. Если в 1914 г. в армии протектората насчитывалось 15 </a:t>
            </a:r>
            <a:r>
              <a:rPr lang="ru-RU" sz="100" dirty="0" err="1"/>
              <a:t>гумов</a:t>
            </a:r>
            <a:r>
              <a:rPr lang="ru-RU" sz="100" dirty="0"/>
              <a:t>, к 1934 г. — году, связываемому французами с завершением операции по “примирению” Марокко — их насчитывалось уже 51. Как правило, каждым </a:t>
            </a:r>
            <a:r>
              <a:rPr lang="ru-RU" sz="100" dirty="0" err="1"/>
              <a:t>гумом</a:t>
            </a:r>
            <a:r>
              <a:rPr lang="ru-RU" sz="100" dirty="0"/>
              <a:t> командовал французский офицер из состава Службы туземных дел. В 1937 г. был создан институт </a:t>
            </a:r>
            <a:r>
              <a:rPr lang="ru-RU" sz="100" dirty="0" err="1"/>
              <a:t>тумов</a:t>
            </a:r>
            <a:r>
              <a:rPr lang="ru-RU" sz="100" dirty="0"/>
              <a:t> вспомогательной службы. Забегая вперед, необходимо отметить, что к началу Второй мировой войны в войсках протектората насчитывалось 57 действующих </a:t>
            </a:r>
            <a:r>
              <a:rPr lang="ru-RU" sz="100" dirty="0" err="1"/>
              <a:t>гумов</a:t>
            </a:r>
            <a:r>
              <a:rPr lang="ru-RU" sz="100" dirty="0"/>
              <a:t> и 64 вспомогательных)</a:t>
            </a:r>
            <a:endParaRPr lang="ru-RU" sz="700" dirty="0"/>
          </a:p>
        </p:txBody>
      </p:sp>
      <p:sp>
        <p:nvSpPr>
          <p:cNvPr id="1027" name="Прямоугольник 1026">
            <a:extLst>
              <a:ext uri="{FF2B5EF4-FFF2-40B4-BE49-F238E27FC236}">
                <a16:creationId xmlns:a16="http://schemas.microsoft.com/office/drawing/2014/main" id="{DB1631C9-91EC-471F-8438-3881EA858FD4}"/>
              </a:ext>
            </a:extLst>
          </p:cNvPr>
          <p:cNvSpPr/>
          <p:nvPr/>
        </p:nvSpPr>
        <p:spPr>
          <a:xfrm>
            <a:off x="23385340" y="21785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r>
              <a:rPr lang="ru-RU" sz="700" dirty="0"/>
              <a:t> </a:t>
            </a:r>
            <a:r>
              <a:rPr lang="ru-RU" sz="300" dirty="0"/>
              <a:t>(После мобилизации число первых было доведено до 121. К апрелю 1940 г. они были сведены в 16 таборов (батальонов) по 4-5 </a:t>
            </a:r>
            <a:r>
              <a:rPr lang="ru-RU" sz="300" dirty="0" err="1"/>
              <a:t>гумов</a:t>
            </a:r>
            <a:r>
              <a:rPr lang="ru-RU" sz="300" dirty="0"/>
              <a:t> в каждом.)</a:t>
            </a:r>
            <a:endParaRPr lang="ru-RU" sz="700" dirty="0"/>
          </a:p>
        </p:txBody>
      </p:sp>
      <p:sp>
        <p:nvSpPr>
          <p:cNvPr id="1028" name="Прямоугольник 1027">
            <a:extLst>
              <a:ext uri="{FF2B5EF4-FFF2-40B4-BE49-F238E27FC236}">
                <a16:creationId xmlns:a16="http://schemas.microsoft.com/office/drawing/2014/main" id="{D6E92AC8-0AE9-46F9-A924-784EB6A3DC97}"/>
              </a:ext>
            </a:extLst>
          </p:cNvPr>
          <p:cNvSpPr/>
          <p:nvPr/>
        </p:nvSpPr>
        <p:spPr>
          <a:xfrm>
            <a:off x="25676239" y="21844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политику дефляции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027" idx="0"/>
          </p:cNvCxnSpPr>
          <p:nvPr/>
        </p:nvCxnSpPr>
        <p:spPr>
          <a:xfrm rot="5400000">
            <a:off x="24288468" y="1469165"/>
            <a:ext cx="269416" cy="114934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028" idx="0"/>
          </p:cNvCxnSpPr>
          <p:nvPr/>
        </p:nvCxnSpPr>
        <p:spPr>
          <a:xfrm rot="16200000" flipH="1">
            <a:off x="25430976" y="1476001"/>
            <a:ext cx="275299" cy="11415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24534684" y="21838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cxnSp>
        <p:nvCxnSpPr>
          <p:cNvPr id="360" name="Прямая со стрелкой 359">
            <a:extLst>
              <a:ext uri="{FF2B5EF4-FFF2-40B4-BE49-F238E27FC236}">
                <a16:creationId xmlns:a16="http://schemas.microsoft.com/office/drawing/2014/main" id="{221D054B-9808-4236-9164-66FCDDBC0B23}"/>
              </a:ext>
            </a:extLst>
          </p:cNvPr>
          <p:cNvCxnSpPr>
            <a:cxnSpLocks/>
            <a:stCxn id="582" idx="2"/>
            <a:endCxn id="350" idx="0"/>
          </p:cNvCxnSpPr>
          <p:nvPr/>
        </p:nvCxnSpPr>
        <p:spPr>
          <a:xfrm flipH="1">
            <a:off x="24997847" y="1909129"/>
            <a:ext cx="1" cy="27467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50127</TotalTime>
  <Words>192</Words>
  <Application>Microsoft Office PowerPoint</Application>
  <PresentationFormat>Произвольный</PresentationFormat>
  <Paragraphs>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2338</cp:revision>
  <dcterms:created xsi:type="dcterms:W3CDTF">2018-10-23T08:09:21Z</dcterms:created>
  <dcterms:modified xsi:type="dcterms:W3CDTF">2025-11-19T05:17:33Z</dcterms:modified>
</cp:coreProperties>
</file>