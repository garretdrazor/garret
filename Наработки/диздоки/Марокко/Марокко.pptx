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3FB1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200" d="100"/>
          <a:sy n="200" d="100"/>
        </p:scale>
        <p:origin x="-26280" y="-296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23915543" y="14171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 (1936) </a:t>
            </a:r>
            <a:r>
              <a:rPr lang="ru-RU" sz="100" dirty="0"/>
              <a:t>(В 1936 году Франция усиливала гарнизоны, опасаясь, что испанский хаос перекинется на их часть </a:t>
            </a:r>
            <a:r>
              <a:rPr lang="ru-RU" sz="100" dirty="0" err="1"/>
              <a:t>Марокко.Эффект</a:t>
            </a:r>
            <a:r>
              <a:rPr lang="ru-RU" sz="100" dirty="0"/>
              <a:t> в HOI 4: Добавляет 2 военные фабрики и 1 инфраструктуру в регион Фес.</a:t>
            </a:r>
            <a:endParaRPr lang="ru-RU" sz="700" dirty="0"/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23586435" y="1502819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24869363" y="1466487"/>
            <a:ext cx="337947" cy="1319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24534685" y="31023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40C665A-13D9-4E14-8780-8AA990DA62F9}"/>
              </a:ext>
            </a:extLst>
          </p:cNvPr>
          <p:cNvSpPr/>
          <p:nvPr/>
        </p:nvSpPr>
        <p:spPr>
          <a:xfrm>
            <a:off x="27529848" y="12150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политику дефляции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22668947" y="22950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25234803" y="22950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регулярные войска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23595272" y="2565090"/>
            <a:ext cx="1639531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25214283" y="2618656"/>
            <a:ext cx="267249" cy="70011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23931354" y="2035846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22690430" y="2658280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5924173" y="30992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армию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CA213E93-BDA8-42EF-B23B-768B74394534}"/>
              </a:ext>
            </a:extLst>
          </p:cNvPr>
          <p:cNvSpPr/>
          <p:nvPr/>
        </p:nvSpPr>
        <p:spPr>
          <a:xfrm>
            <a:off x="26677840" y="13173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политику дефляции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22050456" y="309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 (1937) </a:t>
            </a:r>
            <a:r>
              <a:rPr lang="ru-RU" sz="100" dirty="0"/>
              <a:t>(Стандартный </a:t>
            </a:r>
            <a:r>
              <a:rPr lang="ru-RU" sz="100" dirty="0" err="1"/>
              <a:t>гум</a:t>
            </a:r>
            <a:r>
              <a:rPr lang="ru-RU" sz="100" dirty="0"/>
              <a:t> представлял собой конно-стрелковое подразделение, эквивалентное роте. В его составе имелся верховой взвод (на лошадях или верблюдах), вьючный взвод, а также 3-4 стрелковых взвода. Такая организация позволяла </a:t>
            </a:r>
            <a:r>
              <a:rPr lang="ru-RU" sz="100" dirty="0" err="1"/>
              <a:t>гумам</a:t>
            </a:r>
            <a:r>
              <a:rPr lang="ru-RU" sz="100" dirty="0"/>
              <a:t> вести автономные боевые действия в условиях горно-пустынной </a:t>
            </a:r>
            <a:r>
              <a:rPr lang="ru-RU" sz="100" dirty="0" err="1"/>
              <a:t>местности.Первый</a:t>
            </a:r>
            <a:r>
              <a:rPr lang="ru-RU" sz="100" dirty="0"/>
              <a:t> марокканский </a:t>
            </a:r>
            <a:r>
              <a:rPr lang="ru-RU" sz="100" dirty="0" err="1"/>
              <a:t>гум</a:t>
            </a:r>
            <a:r>
              <a:rPr lang="ru-RU" sz="100" dirty="0"/>
              <a:t> был сформирован 5 ноября 1908 г. В дальнейшем их число постоянно росло. Если в 1914 г. в армии протектората насчитывалось 15 </a:t>
            </a:r>
            <a:r>
              <a:rPr lang="ru-RU" sz="100" dirty="0" err="1"/>
              <a:t>гумов</a:t>
            </a:r>
            <a:r>
              <a:rPr lang="ru-RU" sz="100" dirty="0"/>
              <a:t>, к 1934 г. — году, связываемому французами с завершением операции по “примирению” Марокко — их насчитывалось уже 51. Как правило, каждым </a:t>
            </a:r>
            <a:r>
              <a:rPr lang="ru-RU" sz="100" dirty="0" err="1"/>
              <a:t>гумом</a:t>
            </a:r>
            <a:r>
              <a:rPr lang="ru-RU" sz="100" dirty="0"/>
              <a:t> командовал французский офицер из состава Службы туземных дел. В 1937 г. был создан институт </a:t>
            </a:r>
            <a:r>
              <a:rPr lang="ru-RU" sz="100" dirty="0" err="1"/>
              <a:t>тумов</a:t>
            </a:r>
            <a:r>
              <a:rPr lang="ru-RU" sz="100" dirty="0"/>
              <a:t> вспомогательной службы. Забегая вперед, необходимо отметить, что к началу Второй мировой войны в войсках протектората насчитывалось 57 действующих </a:t>
            </a:r>
            <a:r>
              <a:rPr lang="ru-RU" sz="100" dirty="0" err="1"/>
              <a:t>гумов</a:t>
            </a:r>
            <a:r>
              <a:rPr lang="ru-RU" sz="100" dirty="0"/>
              <a:t> и 64 вспомогательных)</a:t>
            </a:r>
            <a:endParaRPr lang="ru-RU" sz="700" dirty="0"/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22049808" y="39178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r>
              <a:rPr lang="ru-RU" sz="700" dirty="0"/>
              <a:t> (1940) </a:t>
            </a:r>
            <a:r>
              <a:rPr lang="ru-RU" sz="300" dirty="0"/>
              <a:t>(После мобилизации число первых было доведено до 121. К апрелю 1940 г. они были сведены в 16 таборов (батальонов) по 4-5 </a:t>
            </a:r>
            <a:r>
              <a:rPr lang="ru-RU" sz="300" dirty="0" err="1"/>
              <a:t>гумов</a:t>
            </a:r>
            <a:r>
              <a:rPr lang="ru-RU" sz="300" dirty="0"/>
              <a:t> в каждом.)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20807424" y="30992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Директива </a:t>
            </a:r>
            <a:r>
              <a:rPr lang="ru-RU" sz="700" dirty="0" err="1"/>
              <a:t>Ногеса</a:t>
            </a:r>
            <a:r>
              <a:rPr lang="ru-RU" sz="700" dirty="0"/>
              <a:t>: Мобилизация племен Атласа </a:t>
            </a:r>
            <a:r>
              <a:rPr lang="ru-RU" sz="100" dirty="0"/>
              <a:t>(С 1936 года Франция резко увеличила набор коренных марокканцев (арабов и берберов) в ряды регулярных частей — </a:t>
            </a:r>
            <a:r>
              <a:rPr lang="ru-RU" sz="100" dirty="0" err="1"/>
              <a:t>Тиральеров</a:t>
            </a:r>
            <a:r>
              <a:rPr lang="ru-RU" sz="100" dirty="0"/>
              <a:t> (Тайлеров) и </a:t>
            </a:r>
            <a:r>
              <a:rPr lang="ru-RU" sz="100" dirty="0" err="1"/>
              <a:t>Гумьеров</a:t>
            </a:r>
            <a:r>
              <a:rPr lang="ru-RU" sz="100" dirty="0"/>
              <a:t>. К 1939 году </a:t>
            </a:r>
            <a:r>
              <a:rPr lang="ru-RU" sz="100" dirty="0" err="1"/>
              <a:t>Ногесу</a:t>
            </a:r>
            <a:r>
              <a:rPr lang="ru-RU" sz="100" dirty="0"/>
              <a:t> удалось поставить под ружье невиданное для колонии число местных </a:t>
            </a:r>
            <a:r>
              <a:rPr lang="ru-RU" sz="100" dirty="0" err="1"/>
              <a:t>жителей.Эффект</a:t>
            </a:r>
            <a:r>
              <a:rPr lang="ru-RU" sz="100" dirty="0"/>
              <a:t> в HOI 4: Дает постоянный бонус к призывному населению (</a:t>
            </a:r>
            <a:r>
              <a:rPr lang="ru-RU" sz="100" dirty="0" err="1"/>
              <a:t>Manpower</a:t>
            </a:r>
            <a:r>
              <a:rPr lang="ru-RU" sz="100" dirty="0"/>
              <a:t>) +2.50% на национальных территориях. Снижает время подготовки пехотных дивизий на 10%.)</a:t>
            </a:r>
            <a:endParaRPr lang="ru-RU" sz="70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23291653" y="310508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 </a:t>
            </a:r>
            <a:r>
              <a:rPr lang="ru-RU" sz="100" dirty="0"/>
              <a:t>(В конце 1930-х годов в Марокко были сформированы и доукомплектованы элитные марокканские пулеметные и пехотные дивизии (</a:t>
            </a:r>
            <a:r>
              <a:rPr lang="ru-RU" sz="100" dirty="0" err="1"/>
              <a:t>Division</a:t>
            </a:r>
            <a:r>
              <a:rPr lang="ru-RU" sz="100" dirty="0"/>
              <a:t> </a:t>
            </a:r>
            <a:r>
              <a:rPr lang="ru-RU" sz="100" dirty="0" err="1"/>
              <a:t>d'Infanterie</a:t>
            </a:r>
            <a:r>
              <a:rPr lang="ru-RU" sz="100" dirty="0"/>
              <a:t> </a:t>
            </a:r>
            <a:r>
              <a:rPr lang="ru-RU" sz="100" dirty="0" err="1"/>
              <a:t>Marocaine</a:t>
            </a:r>
            <a:r>
              <a:rPr lang="ru-RU" sz="100" dirty="0"/>
              <a:t>). В 1939 году их перебросили во Францию, где они героически проявили себя в боях 1940 года (например, при </a:t>
            </a:r>
            <a:r>
              <a:rPr lang="ru-RU" sz="100" dirty="0" err="1"/>
              <a:t>Жамблу</a:t>
            </a:r>
            <a:r>
              <a:rPr lang="ru-RU" sz="100" dirty="0"/>
              <a:t>).Эффект в HOI 4: </a:t>
            </a:r>
            <a:r>
              <a:rPr lang="ru-RU" sz="100" dirty="0" err="1"/>
              <a:t>Спавнит</a:t>
            </a:r>
            <a:r>
              <a:rPr lang="ru-RU" sz="100" dirty="0"/>
              <a:t> в Касабланке 2 пехотные дивизии с полной организацией, оснащенные уникальным батальоном поддержки (усиленная ПВО/противотанковое оружие).)</a:t>
            </a:r>
            <a:endParaRPr lang="ru-RU" sz="700" dirty="0"/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22069267" y="2036411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22374331" y="3778601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23291652" y="39178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 </a:t>
            </a:r>
            <a:r>
              <a:rPr lang="ru-RU" sz="100" dirty="0"/>
              <a:t>(2-й иностранный пехотный полк (2e REI) Иностранного легиона базировался в Марокко и в этот период активно укреплял внутренние рубежи протектората для предотвращения диверсий </a:t>
            </a:r>
            <a:r>
              <a:rPr lang="ru-RU" sz="100" dirty="0" err="1"/>
              <a:t>Оси.Эффект</a:t>
            </a:r>
            <a:r>
              <a:rPr lang="ru-RU" sz="100" dirty="0"/>
              <a:t> в HOI 4: Добавляет 1 элитную дивизию Иностранного легиона. Дает национальный дух «Жесткий колониальный порядок» (-15% к скорости роста сопротивления в североафриканских регионах).)</a:t>
            </a:r>
            <a:endParaRPr lang="ru-RU" sz="700" dirty="0"/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23618415" y="3781489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24532851" y="39201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(Французское командование опасалось, что профашистские силы из Испанского Сахары или итальянские войска из Ливии могут нанести удар через пустыню во фланг. Были созданы специальные мобильные дозоры (</a:t>
            </a:r>
            <a:r>
              <a:rPr lang="ru-RU" sz="100" dirty="0" err="1"/>
              <a:t>Compagnies</a:t>
            </a:r>
            <a:r>
              <a:rPr lang="ru-RU" sz="100" dirty="0"/>
              <a:t> </a:t>
            </a:r>
            <a:r>
              <a:rPr lang="ru-RU" sz="100" dirty="0" err="1"/>
              <a:t>Sahariennes</a:t>
            </a:r>
            <a:r>
              <a:rPr lang="ru-RU" sz="100" dirty="0"/>
              <a:t>).Эффект в HOI 4: Дает войскам национальный дух «Адаптация к пустыне» (+15% к защите и -10% к истощению (</a:t>
            </a:r>
            <a:r>
              <a:rPr lang="ru-RU" sz="100" dirty="0" err="1"/>
              <a:t>Attrition</a:t>
            </a:r>
            <a:r>
              <a:rPr lang="ru-RU" sz="100" dirty="0"/>
              <a:t>) в пустынных регионах).)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24532851" y="4737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 </a:t>
            </a:r>
            <a:r>
              <a:rPr lang="ru-RU" sz="200" dirty="0"/>
              <a:t>(Проход Таза — стратегический коридор между горами Риф и Атлас, связывающий Марокко с Алжиром. В 1938–1939 годах </a:t>
            </a:r>
            <a:r>
              <a:rPr lang="ru-RU" sz="200" dirty="0" err="1"/>
              <a:t>Ногес</a:t>
            </a:r>
            <a:r>
              <a:rPr lang="ru-RU" sz="200" dirty="0"/>
              <a:t> укрепил этот проход на случай прорыва испанских войск Франко на </a:t>
            </a:r>
            <a:r>
              <a:rPr lang="ru-RU" sz="200" dirty="0" err="1"/>
              <a:t>восток.Эффект</a:t>
            </a:r>
            <a:r>
              <a:rPr lang="ru-RU" sz="200" dirty="0"/>
              <a:t> в HOI 4: Строит сухопутные укрепления (</a:t>
            </a:r>
            <a:r>
              <a:rPr lang="ru-RU" sz="200" dirty="0" err="1"/>
              <a:t>Land</a:t>
            </a:r>
            <a:r>
              <a:rPr lang="ru-RU" sz="200" dirty="0"/>
              <a:t> </a:t>
            </a:r>
            <a:r>
              <a:rPr lang="ru-RU" sz="200" dirty="0" err="1"/>
              <a:t>Fort</a:t>
            </a:r>
            <a:r>
              <a:rPr lang="ru-RU" sz="200" dirty="0"/>
              <a:t>) 3-го уровня в провинции Таза.)</a:t>
            </a:r>
            <a:endParaRPr lang="ru-RU" sz="700" dirty="0"/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24858025" y="3780329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5400000">
            <a:off x="24857108" y="4599058"/>
            <a:ext cx="277812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23308464" y="2658736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24591393" y="1998514"/>
            <a:ext cx="269997" cy="194315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59C925C4-EA08-4209-962F-46E8265830B6}"/>
              </a:ext>
            </a:extLst>
          </p:cNvPr>
          <p:cNvSpPr/>
          <p:nvPr/>
        </p:nvSpPr>
        <p:spPr>
          <a:xfrm>
            <a:off x="20807423" y="39252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спаги: Рождение моторизованной кавалерии (Полки марокканских </a:t>
            </a:r>
            <a:r>
              <a:rPr lang="ru-RU" sz="700" dirty="0" err="1"/>
              <a:t>спагов</a:t>
            </a:r>
            <a:r>
              <a:rPr lang="ru-RU" sz="700" dirty="0"/>
              <a:t> </a:t>
            </a:r>
            <a:r>
              <a:rPr lang="ru-RU" sz="100" dirty="0"/>
              <a:t>(элитная туземная кавалерия) славились своей стремительностью. В 1937–1938 годах 1-й и 2-й полки </a:t>
            </a:r>
            <a:r>
              <a:rPr lang="ru-RU" sz="100" dirty="0" err="1"/>
              <a:t>спагов</a:t>
            </a:r>
            <a:r>
              <a:rPr lang="ru-RU" sz="100" dirty="0"/>
              <a:t> начали частично пересаживать на мотоциклы и легкие бронеавтомобили, создавая разведывательные группы (GRDI).Эффект в HOI 4: Дает скидку 50% на исследование бронеавтомобилей (</a:t>
            </a:r>
            <a:r>
              <a:rPr lang="ru-RU" sz="100" dirty="0" err="1"/>
              <a:t>Armored</a:t>
            </a:r>
            <a:r>
              <a:rPr lang="ru-RU" sz="100" dirty="0"/>
              <a:t> </a:t>
            </a:r>
            <a:r>
              <a:rPr lang="ru-RU" sz="100" dirty="0" err="1"/>
              <a:t>Cars</a:t>
            </a:r>
            <a:r>
              <a:rPr lang="ru-RU" sz="100" dirty="0"/>
              <a:t>) или моторизованной пехоты. Увеличивает максимальную скорость кавалерийских и моторизованных шаблонов на +10%.)</a:t>
            </a:r>
            <a:endParaRPr lang="ru-RU" sz="700" dirty="0"/>
          </a:p>
        </p:txBody>
      </p: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23915544" y="574761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 </a:t>
            </a:r>
            <a:r>
              <a:rPr lang="ru-RU" sz="100" dirty="0"/>
              <a:t>(Понимая уязвимость морских путей из метрополии, французское командование в 1937 году начало расширять склады боеприпасов и ремонтные мастерские в Марокко, чтобы армия могла воевать автономно как минимум 6 </a:t>
            </a:r>
            <a:r>
              <a:rPr lang="ru-RU" sz="100" dirty="0" err="1"/>
              <a:t>месяцев.Эффект</a:t>
            </a:r>
            <a:r>
              <a:rPr lang="ru-RU" sz="100" dirty="0"/>
              <a:t> в HOI 4: Добавляет 1 военную фабрику в Касабланку. Увеличивает максимальную емкость региональных складов снабжения на +20%.)</a:t>
            </a:r>
            <a:endParaRPr lang="ru-RU" sz="700" dirty="0"/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23582076" y="3631723"/>
            <a:ext cx="2912523" cy="1319259"/>
          </a:xfrm>
          <a:prstGeom prst="bentConnector3">
            <a:avLst>
              <a:gd name="adj1" fmla="val 4706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22299146" y="3668053"/>
            <a:ext cx="2912524" cy="1246597"/>
          </a:xfrm>
          <a:prstGeom prst="bentConnector3">
            <a:avLst>
              <a:gd name="adj1" fmla="val 4542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141" idx="0"/>
          </p:cNvCxnSpPr>
          <p:nvPr/>
        </p:nvCxnSpPr>
        <p:spPr>
          <a:xfrm rot="5400000">
            <a:off x="21127600" y="3782242"/>
            <a:ext cx="2859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50171</TotalTime>
  <Words>724</Words>
  <Application>Microsoft Office PowerPoint</Application>
  <PresentationFormat>Произвольный</PresentationFormat>
  <Paragraphs>17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2339</cp:revision>
  <dcterms:created xsi:type="dcterms:W3CDTF">2018-10-23T08:09:21Z</dcterms:created>
  <dcterms:modified xsi:type="dcterms:W3CDTF">2026-06-09T12:01:10Z</dcterms:modified>
</cp:coreProperties>
</file>