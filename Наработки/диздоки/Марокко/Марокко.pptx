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3"/>
  </p:notesMasterIdLst>
  <p:sldIdLst>
    <p:sldId id="259" r:id="rId2"/>
  </p:sldIdLst>
  <p:sldSz cx="51206400" cy="36018788"/>
  <p:notesSz cx="6858000" cy="9144000"/>
  <p:defaultTextStyle>
    <a:defPPr>
      <a:defRPr lang="ru-RU"/>
    </a:defPPr>
    <a:lvl1pPr marL="0" algn="l" defTabSz="1532289" rtl="0" eaLnBrk="1" latinLnBrk="0" hangingPunct="1">
      <a:defRPr sz="3000" kern="1200">
        <a:solidFill>
          <a:schemeClr val="tx1"/>
        </a:solidFill>
        <a:latin typeface="+mn-lt"/>
        <a:ea typeface="+mn-ea"/>
        <a:cs typeface="+mn-cs"/>
      </a:defRPr>
    </a:lvl1pPr>
    <a:lvl2pPr marL="766144" algn="l" defTabSz="1532289" rtl="0" eaLnBrk="1" latinLnBrk="0" hangingPunct="1">
      <a:defRPr sz="3000" kern="1200">
        <a:solidFill>
          <a:schemeClr val="tx1"/>
        </a:solidFill>
        <a:latin typeface="+mn-lt"/>
        <a:ea typeface="+mn-ea"/>
        <a:cs typeface="+mn-cs"/>
      </a:defRPr>
    </a:lvl2pPr>
    <a:lvl3pPr marL="1532289" algn="l" defTabSz="1532289" rtl="0" eaLnBrk="1" latinLnBrk="0" hangingPunct="1">
      <a:defRPr sz="3000" kern="1200">
        <a:solidFill>
          <a:schemeClr val="tx1"/>
        </a:solidFill>
        <a:latin typeface="+mn-lt"/>
        <a:ea typeface="+mn-ea"/>
        <a:cs typeface="+mn-cs"/>
      </a:defRPr>
    </a:lvl3pPr>
    <a:lvl4pPr marL="2298433" algn="l" defTabSz="1532289" rtl="0" eaLnBrk="1" latinLnBrk="0" hangingPunct="1">
      <a:defRPr sz="3000" kern="1200">
        <a:solidFill>
          <a:schemeClr val="tx1"/>
        </a:solidFill>
        <a:latin typeface="+mn-lt"/>
        <a:ea typeface="+mn-ea"/>
        <a:cs typeface="+mn-cs"/>
      </a:defRPr>
    </a:lvl4pPr>
    <a:lvl5pPr marL="3064578" algn="l" defTabSz="1532289" rtl="0" eaLnBrk="1" latinLnBrk="0" hangingPunct="1">
      <a:defRPr sz="3000" kern="1200">
        <a:solidFill>
          <a:schemeClr val="tx1"/>
        </a:solidFill>
        <a:latin typeface="+mn-lt"/>
        <a:ea typeface="+mn-ea"/>
        <a:cs typeface="+mn-cs"/>
      </a:defRPr>
    </a:lvl5pPr>
    <a:lvl6pPr marL="3830722" algn="l" defTabSz="1532289" rtl="0" eaLnBrk="1" latinLnBrk="0" hangingPunct="1">
      <a:defRPr sz="3000" kern="1200">
        <a:solidFill>
          <a:schemeClr val="tx1"/>
        </a:solidFill>
        <a:latin typeface="+mn-lt"/>
        <a:ea typeface="+mn-ea"/>
        <a:cs typeface="+mn-cs"/>
      </a:defRPr>
    </a:lvl6pPr>
    <a:lvl7pPr marL="4596867" algn="l" defTabSz="1532289" rtl="0" eaLnBrk="1" latinLnBrk="0" hangingPunct="1">
      <a:defRPr sz="3000" kern="1200">
        <a:solidFill>
          <a:schemeClr val="tx1"/>
        </a:solidFill>
        <a:latin typeface="+mn-lt"/>
        <a:ea typeface="+mn-ea"/>
        <a:cs typeface="+mn-cs"/>
      </a:defRPr>
    </a:lvl7pPr>
    <a:lvl8pPr marL="5363011" algn="l" defTabSz="1532289" rtl="0" eaLnBrk="1" latinLnBrk="0" hangingPunct="1">
      <a:defRPr sz="3000" kern="1200">
        <a:solidFill>
          <a:schemeClr val="tx1"/>
        </a:solidFill>
        <a:latin typeface="+mn-lt"/>
        <a:ea typeface="+mn-ea"/>
        <a:cs typeface="+mn-cs"/>
      </a:defRPr>
    </a:lvl8pPr>
    <a:lvl9pPr marL="6129155" algn="l" defTabSz="1532289" rtl="0" eaLnBrk="1" latinLnBrk="0" hangingPunct="1">
      <a:defRPr sz="3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344">
          <p15:clr>
            <a:srgbClr val="A4A3A4"/>
          </p15:clr>
        </p15:guide>
        <p15:guide id="2" pos="1612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a:srgbClr val="F13F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79" autoAdjust="0"/>
    <p:restoredTop sz="96374" autoAdjust="0"/>
  </p:normalViewPr>
  <p:slideViewPr>
    <p:cSldViewPr snapToGrid="0">
      <p:cViewPr>
        <p:scale>
          <a:sx n="150" d="100"/>
          <a:sy n="150" d="100"/>
        </p:scale>
        <p:origin x="-3365" y="-4344"/>
      </p:cViewPr>
      <p:guideLst>
        <p:guide orient="horz" pos="11344"/>
        <p:guide pos="16127"/>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E3D7F9-E251-484C-A6FF-FA958879DF69}" type="datetimeFigureOut">
              <a:rPr lang="ru-RU" smtClean="0"/>
              <a:pPr/>
              <a:t>17.06.2026</a:t>
            </a:fld>
            <a:endParaRPr lang="ru-RU"/>
          </a:p>
        </p:txBody>
      </p:sp>
      <p:sp>
        <p:nvSpPr>
          <p:cNvPr id="4" name="Образ слайда 3"/>
          <p:cNvSpPr>
            <a:spLocks noGrp="1" noRot="1" noChangeAspect="1"/>
          </p:cNvSpPr>
          <p:nvPr>
            <p:ph type="sldImg" idx="2"/>
          </p:nvPr>
        </p:nvSpPr>
        <p:spPr>
          <a:xfrm>
            <a:off x="1236663" y="1143000"/>
            <a:ext cx="4384675"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86EE9E-3817-4644-8752-DBAA6FA3C802}" type="slidenum">
              <a:rPr lang="ru-RU" smtClean="0"/>
              <a:pPr/>
              <a:t>‹#›</a:t>
            </a:fld>
            <a:endParaRPr lang="ru-RU"/>
          </a:p>
        </p:txBody>
      </p:sp>
    </p:spTree>
    <p:extLst>
      <p:ext uri="{BB962C8B-B14F-4D97-AF65-F5344CB8AC3E}">
        <p14:creationId xmlns:p14="http://schemas.microsoft.com/office/powerpoint/2010/main" val="1928360652"/>
      </p:ext>
    </p:extLst>
  </p:cSld>
  <p:clrMap bg1="lt1" tx1="dk1" bg2="lt2" tx2="dk2" accent1="accent1" accent2="accent2" accent3="accent3" accent4="accent4" accent5="accent5" accent6="accent6" hlink="hlink" folHlink="folHlink"/>
  <p:notesStyle>
    <a:lvl1pPr marL="0" algn="l" defTabSz="1247333" rtl="0" eaLnBrk="1" latinLnBrk="0" hangingPunct="1">
      <a:defRPr sz="1600" kern="1200">
        <a:solidFill>
          <a:schemeClr val="tx1"/>
        </a:solidFill>
        <a:latin typeface="+mn-lt"/>
        <a:ea typeface="+mn-ea"/>
        <a:cs typeface="+mn-cs"/>
      </a:defRPr>
    </a:lvl1pPr>
    <a:lvl2pPr marL="623667" algn="l" defTabSz="1247333" rtl="0" eaLnBrk="1" latinLnBrk="0" hangingPunct="1">
      <a:defRPr sz="1600" kern="1200">
        <a:solidFill>
          <a:schemeClr val="tx1"/>
        </a:solidFill>
        <a:latin typeface="+mn-lt"/>
        <a:ea typeface="+mn-ea"/>
        <a:cs typeface="+mn-cs"/>
      </a:defRPr>
    </a:lvl2pPr>
    <a:lvl3pPr marL="1247333" algn="l" defTabSz="1247333" rtl="0" eaLnBrk="1" latinLnBrk="0" hangingPunct="1">
      <a:defRPr sz="1600" kern="1200">
        <a:solidFill>
          <a:schemeClr val="tx1"/>
        </a:solidFill>
        <a:latin typeface="+mn-lt"/>
        <a:ea typeface="+mn-ea"/>
        <a:cs typeface="+mn-cs"/>
      </a:defRPr>
    </a:lvl3pPr>
    <a:lvl4pPr marL="1871000" algn="l" defTabSz="1247333" rtl="0" eaLnBrk="1" latinLnBrk="0" hangingPunct="1">
      <a:defRPr sz="1600" kern="1200">
        <a:solidFill>
          <a:schemeClr val="tx1"/>
        </a:solidFill>
        <a:latin typeface="+mn-lt"/>
        <a:ea typeface="+mn-ea"/>
        <a:cs typeface="+mn-cs"/>
      </a:defRPr>
    </a:lvl4pPr>
    <a:lvl5pPr marL="2494666" algn="l" defTabSz="1247333" rtl="0" eaLnBrk="1" latinLnBrk="0" hangingPunct="1">
      <a:defRPr sz="1600" kern="1200">
        <a:solidFill>
          <a:schemeClr val="tx1"/>
        </a:solidFill>
        <a:latin typeface="+mn-lt"/>
        <a:ea typeface="+mn-ea"/>
        <a:cs typeface="+mn-cs"/>
      </a:defRPr>
    </a:lvl5pPr>
    <a:lvl6pPr marL="3118333" algn="l" defTabSz="1247333" rtl="0" eaLnBrk="1" latinLnBrk="0" hangingPunct="1">
      <a:defRPr sz="1600" kern="1200">
        <a:solidFill>
          <a:schemeClr val="tx1"/>
        </a:solidFill>
        <a:latin typeface="+mn-lt"/>
        <a:ea typeface="+mn-ea"/>
        <a:cs typeface="+mn-cs"/>
      </a:defRPr>
    </a:lvl6pPr>
    <a:lvl7pPr marL="3741999" algn="l" defTabSz="1247333" rtl="0" eaLnBrk="1" latinLnBrk="0" hangingPunct="1">
      <a:defRPr sz="1600" kern="1200">
        <a:solidFill>
          <a:schemeClr val="tx1"/>
        </a:solidFill>
        <a:latin typeface="+mn-lt"/>
        <a:ea typeface="+mn-ea"/>
        <a:cs typeface="+mn-cs"/>
      </a:defRPr>
    </a:lvl7pPr>
    <a:lvl8pPr marL="4365666" algn="l" defTabSz="1247333" rtl="0" eaLnBrk="1" latinLnBrk="0" hangingPunct="1">
      <a:defRPr sz="1600" kern="1200">
        <a:solidFill>
          <a:schemeClr val="tx1"/>
        </a:solidFill>
        <a:latin typeface="+mn-lt"/>
        <a:ea typeface="+mn-ea"/>
        <a:cs typeface="+mn-cs"/>
      </a:defRPr>
    </a:lvl8pPr>
    <a:lvl9pPr marL="4989332" algn="l" defTabSz="1247333"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1236663" y="1143000"/>
            <a:ext cx="4384675" cy="30861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B86EE9E-3817-4644-8752-DBAA6FA3C802}" type="slidenum">
              <a:rPr lang="ru-RU" smtClean="0"/>
              <a:pPr/>
              <a:t>1</a:t>
            </a:fld>
            <a:endParaRPr lang="ru-RU"/>
          </a:p>
        </p:txBody>
      </p:sp>
    </p:spTree>
    <p:extLst>
      <p:ext uri="{BB962C8B-B14F-4D97-AF65-F5344CB8AC3E}">
        <p14:creationId xmlns:p14="http://schemas.microsoft.com/office/powerpoint/2010/main" val="2397767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400801" y="5894744"/>
            <a:ext cx="38404800" cy="12539874"/>
          </a:xfrm>
        </p:spPr>
        <p:txBody>
          <a:bodyPr anchor="b"/>
          <a:lstStyle>
            <a:lvl1pPr algn="ctr">
              <a:defRPr sz="24700"/>
            </a:lvl1pPr>
          </a:lstStyle>
          <a:p>
            <a:r>
              <a:rPr lang="ru-RU"/>
              <a:t>Образец заголовка</a:t>
            </a:r>
            <a:endParaRPr lang="en-US" dirty="0"/>
          </a:p>
        </p:txBody>
      </p:sp>
      <p:sp>
        <p:nvSpPr>
          <p:cNvPr id="3" name="Subtitle 2"/>
          <p:cNvSpPr>
            <a:spLocks noGrp="1"/>
          </p:cNvSpPr>
          <p:nvPr>
            <p:ph type="subTitle" idx="1"/>
          </p:nvPr>
        </p:nvSpPr>
        <p:spPr>
          <a:xfrm>
            <a:off x="6400801" y="18918204"/>
            <a:ext cx="38404800" cy="8696200"/>
          </a:xfrm>
        </p:spPr>
        <p:txBody>
          <a:bodyPr/>
          <a:lstStyle>
            <a:lvl1pPr marL="0" indent="0" algn="ctr">
              <a:buNone/>
              <a:defRPr sz="9900"/>
            </a:lvl1pPr>
            <a:lvl2pPr marL="1878359" indent="0" algn="ctr">
              <a:buNone/>
              <a:defRPr sz="8200"/>
            </a:lvl2pPr>
            <a:lvl3pPr marL="3756718" indent="0" algn="ctr">
              <a:buNone/>
              <a:defRPr sz="7400"/>
            </a:lvl3pPr>
            <a:lvl4pPr marL="5635077" indent="0" algn="ctr">
              <a:buNone/>
              <a:defRPr sz="6600"/>
            </a:lvl4pPr>
            <a:lvl5pPr marL="7513436" indent="0" algn="ctr">
              <a:buNone/>
              <a:defRPr sz="6600"/>
            </a:lvl5pPr>
            <a:lvl6pPr marL="9391794" indent="0" algn="ctr">
              <a:buNone/>
              <a:defRPr sz="6600"/>
            </a:lvl6pPr>
            <a:lvl7pPr marL="11270153" indent="0" algn="ctr">
              <a:buNone/>
              <a:defRPr sz="6600"/>
            </a:lvl7pPr>
            <a:lvl8pPr marL="13148512" indent="0" algn="ctr">
              <a:buNone/>
              <a:defRPr sz="6600"/>
            </a:lvl8pPr>
            <a:lvl9pPr marL="15026871" indent="0" algn="ctr">
              <a:buNone/>
              <a:defRPr sz="6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85A5DE44-605B-4D3B-B2B7-94543DF81A36}" type="datetimeFigureOut">
              <a:rPr lang="ru-RU" smtClean="0"/>
              <a:pPr/>
              <a:t>17.06.2026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1201854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5A5DE44-605B-4D3B-B2B7-94543DF81A36}" type="datetimeFigureOut">
              <a:rPr lang="ru-RU" smtClean="0"/>
              <a:pPr/>
              <a:t>17.06.2026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813552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3493774" y="8979693"/>
            <a:ext cx="44165519" cy="14982813"/>
          </a:xfrm>
        </p:spPr>
        <p:txBody>
          <a:bodyPr anchor="b"/>
          <a:lstStyle>
            <a:lvl1pPr>
              <a:defRPr sz="24700"/>
            </a:lvl1pPr>
          </a:lstStyle>
          <a:p>
            <a:r>
              <a:rPr lang="ru-RU"/>
              <a:t>Образец заголовка</a:t>
            </a:r>
            <a:endParaRPr lang="en-US" dirty="0"/>
          </a:p>
        </p:txBody>
      </p:sp>
      <p:sp>
        <p:nvSpPr>
          <p:cNvPr id="3" name="Text Placeholder 2"/>
          <p:cNvSpPr>
            <a:spLocks noGrp="1"/>
          </p:cNvSpPr>
          <p:nvPr>
            <p:ph type="body" idx="1"/>
          </p:nvPr>
        </p:nvSpPr>
        <p:spPr>
          <a:xfrm>
            <a:off x="3493774" y="24104247"/>
            <a:ext cx="44165519" cy="7879108"/>
          </a:xfrm>
        </p:spPr>
        <p:txBody>
          <a:bodyPr/>
          <a:lstStyle>
            <a:lvl1pPr marL="0" indent="0">
              <a:buNone/>
              <a:defRPr sz="9900">
                <a:solidFill>
                  <a:schemeClr val="tx1">
                    <a:tint val="75000"/>
                  </a:schemeClr>
                </a:solidFill>
              </a:defRPr>
            </a:lvl1pPr>
            <a:lvl2pPr marL="1878359" indent="0">
              <a:buNone/>
              <a:defRPr sz="8200">
                <a:solidFill>
                  <a:schemeClr val="tx1">
                    <a:tint val="75000"/>
                  </a:schemeClr>
                </a:solidFill>
              </a:defRPr>
            </a:lvl2pPr>
            <a:lvl3pPr marL="3756718" indent="0">
              <a:buNone/>
              <a:defRPr sz="7400">
                <a:solidFill>
                  <a:schemeClr val="tx1">
                    <a:tint val="75000"/>
                  </a:schemeClr>
                </a:solidFill>
              </a:defRPr>
            </a:lvl3pPr>
            <a:lvl4pPr marL="5635077" indent="0">
              <a:buNone/>
              <a:defRPr sz="6600">
                <a:solidFill>
                  <a:schemeClr val="tx1">
                    <a:tint val="75000"/>
                  </a:schemeClr>
                </a:solidFill>
              </a:defRPr>
            </a:lvl4pPr>
            <a:lvl5pPr marL="7513436" indent="0">
              <a:buNone/>
              <a:defRPr sz="6600">
                <a:solidFill>
                  <a:schemeClr val="tx1">
                    <a:tint val="75000"/>
                  </a:schemeClr>
                </a:solidFill>
              </a:defRPr>
            </a:lvl5pPr>
            <a:lvl6pPr marL="9391794" indent="0">
              <a:buNone/>
              <a:defRPr sz="6600">
                <a:solidFill>
                  <a:schemeClr val="tx1">
                    <a:tint val="75000"/>
                  </a:schemeClr>
                </a:solidFill>
              </a:defRPr>
            </a:lvl6pPr>
            <a:lvl7pPr marL="11270153" indent="0">
              <a:buNone/>
              <a:defRPr sz="6600">
                <a:solidFill>
                  <a:schemeClr val="tx1">
                    <a:tint val="75000"/>
                  </a:schemeClr>
                </a:solidFill>
              </a:defRPr>
            </a:lvl7pPr>
            <a:lvl8pPr marL="13148512" indent="0">
              <a:buNone/>
              <a:defRPr sz="6600">
                <a:solidFill>
                  <a:schemeClr val="tx1">
                    <a:tint val="75000"/>
                  </a:schemeClr>
                </a:solidFill>
              </a:defRPr>
            </a:lvl8pPr>
            <a:lvl9pPr marL="15026871" indent="0">
              <a:buNone/>
              <a:defRPr sz="6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85A5DE44-605B-4D3B-B2B7-94543DF81A36}" type="datetimeFigureOut">
              <a:rPr lang="ru-RU" smtClean="0"/>
              <a:pPr/>
              <a:t>17.06.2026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1817244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3520442" y="9588334"/>
            <a:ext cx="21762720" cy="2285359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25923241" y="9588334"/>
            <a:ext cx="21762720" cy="2285359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85A5DE44-605B-4D3B-B2B7-94543DF81A36}" type="datetimeFigureOut">
              <a:rPr lang="ru-RU" smtClean="0"/>
              <a:pPr/>
              <a:t>17.06.2026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635467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3527113" y="1917674"/>
            <a:ext cx="44165519" cy="6961967"/>
          </a:xfrm>
        </p:spPr>
        <p:txBody>
          <a:bodyPr/>
          <a:lstStyle/>
          <a:p>
            <a:r>
              <a:rPr lang="ru-RU"/>
              <a:t>Образец заголовка</a:t>
            </a:r>
            <a:endParaRPr lang="en-US" dirty="0"/>
          </a:p>
        </p:txBody>
      </p:sp>
      <p:sp>
        <p:nvSpPr>
          <p:cNvPr id="3" name="Text Placeholder 2"/>
          <p:cNvSpPr>
            <a:spLocks noGrp="1"/>
          </p:cNvSpPr>
          <p:nvPr>
            <p:ph type="body" idx="1"/>
          </p:nvPr>
        </p:nvSpPr>
        <p:spPr>
          <a:xfrm>
            <a:off x="3527112" y="8829610"/>
            <a:ext cx="21662706" cy="4327254"/>
          </a:xfrm>
        </p:spPr>
        <p:txBody>
          <a:bodyPr anchor="b"/>
          <a:lstStyle>
            <a:lvl1pPr marL="0" indent="0">
              <a:buNone/>
              <a:defRPr sz="9900" b="1"/>
            </a:lvl1pPr>
            <a:lvl2pPr marL="1878359" indent="0">
              <a:buNone/>
              <a:defRPr sz="8200" b="1"/>
            </a:lvl2pPr>
            <a:lvl3pPr marL="3756718" indent="0">
              <a:buNone/>
              <a:defRPr sz="7400" b="1"/>
            </a:lvl3pPr>
            <a:lvl4pPr marL="5635077" indent="0">
              <a:buNone/>
              <a:defRPr sz="6600" b="1"/>
            </a:lvl4pPr>
            <a:lvl5pPr marL="7513436" indent="0">
              <a:buNone/>
              <a:defRPr sz="6600" b="1"/>
            </a:lvl5pPr>
            <a:lvl6pPr marL="9391794" indent="0">
              <a:buNone/>
              <a:defRPr sz="6600" b="1"/>
            </a:lvl6pPr>
            <a:lvl7pPr marL="11270153" indent="0">
              <a:buNone/>
              <a:defRPr sz="6600" b="1"/>
            </a:lvl7pPr>
            <a:lvl8pPr marL="13148512" indent="0">
              <a:buNone/>
              <a:defRPr sz="6600" b="1"/>
            </a:lvl8pPr>
            <a:lvl9pPr marL="15026871" indent="0">
              <a:buNone/>
              <a:defRPr sz="6600" b="1"/>
            </a:lvl9pPr>
          </a:lstStyle>
          <a:p>
            <a:pPr lvl="0"/>
            <a:r>
              <a:rPr lang="ru-RU"/>
              <a:t>Образец текста</a:t>
            </a:r>
          </a:p>
        </p:txBody>
      </p:sp>
      <p:sp>
        <p:nvSpPr>
          <p:cNvPr id="4" name="Content Placeholder 3"/>
          <p:cNvSpPr>
            <a:spLocks noGrp="1"/>
          </p:cNvSpPr>
          <p:nvPr>
            <p:ph sz="half" idx="2"/>
          </p:nvPr>
        </p:nvSpPr>
        <p:spPr>
          <a:xfrm>
            <a:off x="3527112" y="13156863"/>
            <a:ext cx="21662706" cy="1935176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25923240" y="8829610"/>
            <a:ext cx="21769390" cy="4327254"/>
          </a:xfrm>
        </p:spPr>
        <p:txBody>
          <a:bodyPr anchor="b"/>
          <a:lstStyle>
            <a:lvl1pPr marL="0" indent="0">
              <a:buNone/>
              <a:defRPr sz="9900" b="1"/>
            </a:lvl1pPr>
            <a:lvl2pPr marL="1878359" indent="0">
              <a:buNone/>
              <a:defRPr sz="8200" b="1"/>
            </a:lvl2pPr>
            <a:lvl3pPr marL="3756718" indent="0">
              <a:buNone/>
              <a:defRPr sz="7400" b="1"/>
            </a:lvl3pPr>
            <a:lvl4pPr marL="5635077" indent="0">
              <a:buNone/>
              <a:defRPr sz="6600" b="1"/>
            </a:lvl4pPr>
            <a:lvl5pPr marL="7513436" indent="0">
              <a:buNone/>
              <a:defRPr sz="6600" b="1"/>
            </a:lvl5pPr>
            <a:lvl6pPr marL="9391794" indent="0">
              <a:buNone/>
              <a:defRPr sz="6600" b="1"/>
            </a:lvl6pPr>
            <a:lvl7pPr marL="11270153" indent="0">
              <a:buNone/>
              <a:defRPr sz="6600" b="1"/>
            </a:lvl7pPr>
            <a:lvl8pPr marL="13148512" indent="0">
              <a:buNone/>
              <a:defRPr sz="6600" b="1"/>
            </a:lvl8pPr>
            <a:lvl9pPr marL="15026871" indent="0">
              <a:buNone/>
              <a:defRPr sz="6600" b="1"/>
            </a:lvl9pPr>
          </a:lstStyle>
          <a:p>
            <a:pPr lvl="0"/>
            <a:r>
              <a:rPr lang="ru-RU"/>
              <a:t>Образец текста</a:t>
            </a:r>
          </a:p>
        </p:txBody>
      </p:sp>
      <p:sp>
        <p:nvSpPr>
          <p:cNvPr id="6" name="Content Placeholder 5"/>
          <p:cNvSpPr>
            <a:spLocks noGrp="1"/>
          </p:cNvSpPr>
          <p:nvPr>
            <p:ph sz="quarter" idx="4"/>
          </p:nvPr>
        </p:nvSpPr>
        <p:spPr>
          <a:xfrm>
            <a:off x="25923240" y="13156863"/>
            <a:ext cx="21769390" cy="1935176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85A5DE44-605B-4D3B-B2B7-94543DF81A36}" type="datetimeFigureOut">
              <a:rPr lang="ru-RU" smtClean="0"/>
              <a:pPr/>
              <a:t>17.06.2026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3995563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5A5DE44-605B-4D3B-B2B7-94543DF81A36}" type="datetimeFigureOut">
              <a:rPr lang="ru-RU" smtClean="0"/>
              <a:pPr/>
              <a:t>17.06.2026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1827486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A5DE44-605B-4D3B-B2B7-94543DF81A36}" type="datetimeFigureOut">
              <a:rPr lang="ru-RU" smtClean="0"/>
              <a:pPr/>
              <a:t>17.06.2026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229108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3527116" y="2401252"/>
            <a:ext cx="16515395" cy="8404384"/>
          </a:xfrm>
        </p:spPr>
        <p:txBody>
          <a:bodyPr anchor="b"/>
          <a:lstStyle>
            <a:lvl1pPr>
              <a:defRPr sz="13100"/>
            </a:lvl1pPr>
          </a:lstStyle>
          <a:p>
            <a:r>
              <a:rPr lang="ru-RU"/>
              <a:t>Образец заголовка</a:t>
            </a:r>
            <a:endParaRPr lang="en-US" dirty="0"/>
          </a:p>
        </p:txBody>
      </p:sp>
      <p:sp>
        <p:nvSpPr>
          <p:cNvPr id="3" name="Content Placeholder 2"/>
          <p:cNvSpPr>
            <a:spLocks noGrp="1"/>
          </p:cNvSpPr>
          <p:nvPr>
            <p:ph idx="1"/>
          </p:nvPr>
        </p:nvSpPr>
        <p:spPr>
          <a:xfrm>
            <a:off x="21769390" y="5186042"/>
            <a:ext cx="25923240" cy="25596684"/>
          </a:xfrm>
        </p:spPr>
        <p:txBody>
          <a:bodyPr/>
          <a:lstStyle>
            <a:lvl1pPr>
              <a:defRPr sz="13100"/>
            </a:lvl1pPr>
            <a:lvl2pPr>
              <a:defRPr sz="11500"/>
            </a:lvl2pPr>
            <a:lvl3pPr>
              <a:defRPr sz="9900"/>
            </a:lvl3pPr>
            <a:lvl4pPr>
              <a:defRPr sz="8200"/>
            </a:lvl4pPr>
            <a:lvl5pPr>
              <a:defRPr sz="8200"/>
            </a:lvl5pPr>
            <a:lvl6pPr>
              <a:defRPr sz="8200"/>
            </a:lvl6pPr>
            <a:lvl7pPr>
              <a:defRPr sz="8200"/>
            </a:lvl7pPr>
            <a:lvl8pPr>
              <a:defRPr sz="8200"/>
            </a:lvl8pPr>
            <a:lvl9pPr>
              <a:defRPr sz="82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3527116" y="10805639"/>
            <a:ext cx="16515395" cy="20018778"/>
          </a:xfrm>
        </p:spPr>
        <p:txBody>
          <a:bodyPr/>
          <a:lstStyle>
            <a:lvl1pPr marL="0" indent="0">
              <a:buNone/>
              <a:defRPr sz="6600"/>
            </a:lvl1pPr>
            <a:lvl2pPr marL="1878359" indent="0">
              <a:buNone/>
              <a:defRPr sz="5800"/>
            </a:lvl2pPr>
            <a:lvl3pPr marL="3756718" indent="0">
              <a:buNone/>
              <a:defRPr sz="4900"/>
            </a:lvl3pPr>
            <a:lvl4pPr marL="5635077" indent="0">
              <a:buNone/>
              <a:defRPr sz="4100"/>
            </a:lvl4pPr>
            <a:lvl5pPr marL="7513436" indent="0">
              <a:buNone/>
              <a:defRPr sz="4100"/>
            </a:lvl5pPr>
            <a:lvl6pPr marL="9391794" indent="0">
              <a:buNone/>
              <a:defRPr sz="4100"/>
            </a:lvl6pPr>
            <a:lvl7pPr marL="11270153" indent="0">
              <a:buNone/>
              <a:defRPr sz="4100"/>
            </a:lvl7pPr>
            <a:lvl8pPr marL="13148512" indent="0">
              <a:buNone/>
              <a:defRPr sz="4100"/>
            </a:lvl8pPr>
            <a:lvl9pPr marL="15026871" indent="0">
              <a:buNone/>
              <a:defRPr sz="4100"/>
            </a:lvl9pPr>
          </a:lstStyle>
          <a:p>
            <a:pPr lvl="0"/>
            <a:r>
              <a:rPr lang="ru-RU"/>
              <a:t>Образец текста</a:t>
            </a:r>
          </a:p>
        </p:txBody>
      </p:sp>
      <p:sp>
        <p:nvSpPr>
          <p:cNvPr id="5" name="Date Placeholder 4"/>
          <p:cNvSpPr>
            <a:spLocks noGrp="1"/>
          </p:cNvSpPr>
          <p:nvPr>
            <p:ph type="dt" sz="half" idx="10"/>
          </p:nvPr>
        </p:nvSpPr>
        <p:spPr/>
        <p:txBody>
          <a:bodyPr/>
          <a:lstStyle/>
          <a:p>
            <a:fld id="{85A5DE44-605B-4D3B-B2B7-94543DF81A36}" type="datetimeFigureOut">
              <a:rPr lang="ru-RU" smtClean="0"/>
              <a:pPr/>
              <a:t>17.06.2026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3369452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3527116" y="2401252"/>
            <a:ext cx="16515395" cy="8404384"/>
          </a:xfrm>
        </p:spPr>
        <p:txBody>
          <a:bodyPr anchor="b"/>
          <a:lstStyle>
            <a:lvl1pPr>
              <a:defRPr sz="131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21769390" y="5186042"/>
            <a:ext cx="25923240" cy="25596684"/>
          </a:xfrm>
        </p:spPr>
        <p:txBody>
          <a:bodyPr anchor="t"/>
          <a:lstStyle>
            <a:lvl1pPr marL="0" indent="0">
              <a:buNone/>
              <a:defRPr sz="13100"/>
            </a:lvl1pPr>
            <a:lvl2pPr marL="1878359" indent="0">
              <a:buNone/>
              <a:defRPr sz="11500"/>
            </a:lvl2pPr>
            <a:lvl3pPr marL="3756718" indent="0">
              <a:buNone/>
              <a:defRPr sz="9900"/>
            </a:lvl3pPr>
            <a:lvl4pPr marL="5635077" indent="0">
              <a:buNone/>
              <a:defRPr sz="8200"/>
            </a:lvl4pPr>
            <a:lvl5pPr marL="7513436" indent="0">
              <a:buNone/>
              <a:defRPr sz="8200"/>
            </a:lvl5pPr>
            <a:lvl6pPr marL="9391794" indent="0">
              <a:buNone/>
              <a:defRPr sz="8200"/>
            </a:lvl6pPr>
            <a:lvl7pPr marL="11270153" indent="0">
              <a:buNone/>
              <a:defRPr sz="8200"/>
            </a:lvl7pPr>
            <a:lvl8pPr marL="13148512" indent="0">
              <a:buNone/>
              <a:defRPr sz="8200"/>
            </a:lvl8pPr>
            <a:lvl9pPr marL="15026871" indent="0">
              <a:buNone/>
              <a:defRPr sz="8200"/>
            </a:lvl9pPr>
          </a:lstStyle>
          <a:p>
            <a:r>
              <a:rPr lang="ru-RU"/>
              <a:t>Вставка рисунка</a:t>
            </a:r>
            <a:endParaRPr lang="en-US" dirty="0"/>
          </a:p>
        </p:txBody>
      </p:sp>
      <p:sp>
        <p:nvSpPr>
          <p:cNvPr id="4" name="Text Placeholder 3"/>
          <p:cNvSpPr>
            <a:spLocks noGrp="1"/>
          </p:cNvSpPr>
          <p:nvPr>
            <p:ph type="body" sz="half" idx="2"/>
          </p:nvPr>
        </p:nvSpPr>
        <p:spPr>
          <a:xfrm>
            <a:off x="3527116" y="10805639"/>
            <a:ext cx="16515395" cy="20018778"/>
          </a:xfrm>
        </p:spPr>
        <p:txBody>
          <a:bodyPr/>
          <a:lstStyle>
            <a:lvl1pPr marL="0" indent="0">
              <a:buNone/>
              <a:defRPr sz="6600"/>
            </a:lvl1pPr>
            <a:lvl2pPr marL="1878359" indent="0">
              <a:buNone/>
              <a:defRPr sz="5800"/>
            </a:lvl2pPr>
            <a:lvl3pPr marL="3756718" indent="0">
              <a:buNone/>
              <a:defRPr sz="4900"/>
            </a:lvl3pPr>
            <a:lvl4pPr marL="5635077" indent="0">
              <a:buNone/>
              <a:defRPr sz="4100"/>
            </a:lvl4pPr>
            <a:lvl5pPr marL="7513436" indent="0">
              <a:buNone/>
              <a:defRPr sz="4100"/>
            </a:lvl5pPr>
            <a:lvl6pPr marL="9391794" indent="0">
              <a:buNone/>
              <a:defRPr sz="4100"/>
            </a:lvl6pPr>
            <a:lvl7pPr marL="11270153" indent="0">
              <a:buNone/>
              <a:defRPr sz="4100"/>
            </a:lvl7pPr>
            <a:lvl8pPr marL="13148512" indent="0">
              <a:buNone/>
              <a:defRPr sz="4100"/>
            </a:lvl8pPr>
            <a:lvl9pPr marL="15026871" indent="0">
              <a:buNone/>
              <a:defRPr sz="4100"/>
            </a:lvl9pPr>
          </a:lstStyle>
          <a:p>
            <a:pPr lvl="0"/>
            <a:r>
              <a:rPr lang="ru-RU"/>
              <a:t>Образец текста</a:t>
            </a:r>
          </a:p>
        </p:txBody>
      </p:sp>
      <p:sp>
        <p:nvSpPr>
          <p:cNvPr id="5" name="Date Placeholder 4"/>
          <p:cNvSpPr>
            <a:spLocks noGrp="1"/>
          </p:cNvSpPr>
          <p:nvPr>
            <p:ph type="dt" sz="half" idx="10"/>
          </p:nvPr>
        </p:nvSpPr>
        <p:spPr/>
        <p:txBody>
          <a:bodyPr/>
          <a:lstStyle/>
          <a:p>
            <a:fld id="{85A5DE44-605B-4D3B-B2B7-94543DF81A36}" type="datetimeFigureOut">
              <a:rPr lang="ru-RU" smtClean="0"/>
              <a:pPr/>
              <a:t>17.06.2026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1742075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5A5DE44-605B-4D3B-B2B7-94543DF81A36}" type="datetimeFigureOut">
              <a:rPr lang="ru-RU" smtClean="0"/>
              <a:pPr/>
              <a:t>17.06.2026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2587197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6644580" y="1917668"/>
            <a:ext cx="11041380" cy="3052425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3520443" y="1917668"/>
            <a:ext cx="32484061" cy="3052425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5A5DE44-605B-4D3B-B2B7-94543DF81A36}" type="datetimeFigureOut">
              <a:rPr lang="ru-RU" smtClean="0"/>
              <a:pPr/>
              <a:t>17.06.2026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4F3E878-C7D4-455C-B7B2-78E3A4BD70DA}" type="slidenum">
              <a:rPr lang="ru-RU" smtClean="0"/>
              <a:pPr/>
              <a:t>‹#›</a:t>
            </a:fld>
            <a:endParaRPr lang="ru-RU"/>
          </a:p>
        </p:txBody>
      </p:sp>
    </p:spTree>
    <p:extLst>
      <p:ext uri="{BB962C8B-B14F-4D97-AF65-F5344CB8AC3E}">
        <p14:creationId xmlns:p14="http://schemas.microsoft.com/office/powerpoint/2010/main" val="2729497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20444" y="1917674"/>
            <a:ext cx="44165519" cy="6961967"/>
          </a:xfrm>
          <a:prstGeom prst="rect">
            <a:avLst/>
          </a:prstGeom>
        </p:spPr>
        <p:txBody>
          <a:bodyPr vert="horz" lIns="124733" tIns="62367" rIns="124733" bIns="62367"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3520444" y="9588334"/>
            <a:ext cx="44165519" cy="22853590"/>
          </a:xfrm>
          <a:prstGeom prst="rect">
            <a:avLst/>
          </a:prstGeom>
        </p:spPr>
        <p:txBody>
          <a:bodyPr vert="horz" lIns="124733" tIns="62367" rIns="124733" bIns="62367"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3520442" y="33384083"/>
            <a:ext cx="11521440" cy="1917666"/>
          </a:xfrm>
          <a:prstGeom prst="rect">
            <a:avLst/>
          </a:prstGeom>
        </p:spPr>
        <p:txBody>
          <a:bodyPr vert="horz" lIns="124733" tIns="62367" rIns="124733" bIns="62367" rtlCol="0" anchor="ctr"/>
          <a:lstStyle>
            <a:lvl1pPr algn="l">
              <a:defRPr sz="4900">
                <a:solidFill>
                  <a:schemeClr val="tx1">
                    <a:tint val="75000"/>
                  </a:schemeClr>
                </a:solidFill>
              </a:defRPr>
            </a:lvl1pPr>
          </a:lstStyle>
          <a:p>
            <a:fld id="{85A5DE44-605B-4D3B-B2B7-94543DF81A36}" type="datetimeFigureOut">
              <a:rPr lang="ru-RU" smtClean="0"/>
              <a:pPr/>
              <a:t>17.06.2026</a:t>
            </a:fld>
            <a:endParaRPr lang="ru-RU"/>
          </a:p>
        </p:txBody>
      </p:sp>
      <p:sp>
        <p:nvSpPr>
          <p:cNvPr id="5" name="Footer Placeholder 4"/>
          <p:cNvSpPr>
            <a:spLocks noGrp="1"/>
          </p:cNvSpPr>
          <p:nvPr>
            <p:ph type="ftr" sz="quarter" idx="3"/>
          </p:nvPr>
        </p:nvSpPr>
        <p:spPr>
          <a:xfrm>
            <a:off x="16962125" y="33384083"/>
            <a:ext cx="17282159" cy="1917666"/>
          </a:xfrm>
          <a:prstGeom prst="rect">
            <a:avLst/>
          </a:prstGeom>
        </p:spPr>
        <p:txBody>
          <a:bodyPr vert="horz" lIns="124733" tIns="62367" rIns="124733" bIns="62367" rtlCol="0" anchor="ctr"/>
          <a:lstStyle>
            <a:lvl1pPr algn="ctr">
              <a:defRPr sz="49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36164520" y="33384083"/>
            <a:ext cx="11521440" cy="1917666"/>
          </a:xfrm>
          <a:prstGeom prst="rect">
            <a:avLst/>
          </a:prstGeom>
        </p:spPr>
        <p:txBody>
          <a:bodyPr vert="horz" lIns="124733" tIns="62367" rIns="124733" bIns="62367" rtlCol="0" anchor="ctr"/>
          <a:lstStyle>
            <a:lvl1pPr algn="r">
              <a:defRPr sz="4900">
                <a:solidFill>
                  <a:schemeClr val="tx1">
                    <a:tint val="75000"/>
                  </a:schemeClr>
                </a:solidFill>
              </a:defRPr>
            </a:lvl1pPr>
          </a:lstStyle>
          <a:p>
            <a:fld id="{84F3E878-C7D4-455C-B7B2-78E3A4BD70DA}" type="slidenum">
              <a:rPr lang="ru-RU" smtClean="0"/>
              <a:pPr/>
              <a:t>‹#›</a:t>
            </a:fld>
            <a:endParaRPr lang="ru-RU"/>
          </a:p>
        </p:txBody>
      </p:sp>
    </p:spTree>
    <p:extLst>
      <p:ext uri="{BB962C8B-B14F-4D97-AF65-F5344CB8AC3E}">
        <p14:creationId xmlns:p14="http://schemas.microsoft.com/office/powerpoint/2010/main" val="174410556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3756718" rtl="0" eaLnBrk="1" latinLnBrk="0" hangingPunct="1">
        <a:lnSpc>
          <a:spcPct val="90000"/>
        </a:lnSpc>
        <a:spcBef>
          <a:spcPct val="0"/>
        </a:spcBef>
        <a:buNone/>
        <a:defRPr sz="18100" kern="1200">
          <a:solidFill>
            <a:schemeClr val="tx1"/>
          </a:solidFill>
          <a:latin typeface="+mj-lt"/>
          <a:ea typeface="+mj-ea"/>
          <a:cs typeface="+mj-cs"/>
        </a:defRPr>
      </a:lvl1pPr>
    </p:titleStyle>
    <p:bodyStyle>
      <a:lvl1pPr marL="939179" indent="-939179" algn="l" defTabSz="3756718" rtl="0" eaLnBrk="1" latinLnBrk="0" hangingPunct="1">
        <a:lnSpc>
          <a:spcPct val="90000"/>
        </a:lnSpc>
        <a:spcBef>
          <a:spcPts val="4109"/>
        </a:spcBef>
        <a:buFont typeface="Arial" panose="020B0604020202020204" pitchFamily="34" charset="0"/>
        <a:buChar char="•"/>
        <a:defRPr sz="11500" kern="1200">
          <a:solidFill>
            <a:schemeClr val="tx1"/>
          </a:solidFill>
          <a:latin typeface="+mn-lt"/>
          <a:ea typeface="+mn-ea"/>
          <a:cs typeface="+mn-cs"/>
        </a:defRPr>
      </a:lvl1pPr>
      <a:lvl2pPr marL="2817538" indent="-939179" algn="l" defTabSz="3756718" rtl="0" eaLnBrk="1" latinLnBrk="0" hangingPunct="1">
        <a:lnSpc>
          <a:spcPct val="90000"/>
        </a:lnSpc>
        <a:spcBef>
          <a:spcPts val="2054"/>
        </a:spcBef>
        <a:buFont typeface="Arial" panose="020B0604020202020204" pitchFamily="34" charset="0"/>
        <a:buChar char="•"/>
        <a:defRPr sz="9900" kern="1200">
          <a:solidFill>
            <a:schemeClr val="tx1"/>
          </a:solidFill>
          <a:latin typeface="+mn-lt"/>
          <a:ea typeface="+mn-ea"/>
          <a:cs typeface="+mn-cs"/>
        </a:defRPr>
      </a:lvl2pPr>
      <a:lvl3pPr marL="4695897" indent="-939179" algn="l" defTabSz="3756718" rtl="0" eaLnBrk="1" latinLnBrk="0" hangingPunct="1">
        <a:lnSpc>
          <a:spcPct val="90000"/>
        </a:lnSpc>
        <a:spcBef>
          <a:spcPts val="2054"/>
        </a:spcBef>
        <a:buFont typeface="Arial" panose="020B0604020202020204" pitchFamily="34" charset="0"/>
        <a:buChar char="•"/>
        <a:defRPr sz="8200" kern="1200">
          <a:solidFill>
            <a:schemeClr val="tx1"/>
          </a:solidFill>
          <a:latin typeface="+mn-lt"/>
          <a:ea typeface="+mn-ea"/>
          <a:cs typeface="+mn-cs"/>
        </a:defRPr>
      </a:lvl3pPr>
      <a:lvl4pPr marL="6574255"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4pPr>
      <a:lvl5pPr marL="8452614"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5pPr>
      <a:lvl6pPr marL="10330973"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6pPr>
      <a:lvl7pPr marL="12209332"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7pPr>
      <a:lvl8pPr marL="14087691"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8pPr>
      <a:lvl9pPr marL="15966050" indent="-939179" algn="l" defTabSz="3756718" rtl="0" eaLnBrk="1" latinLnBrk="0" hangingPunct="1">
        <a:lnSpc>
          <a:spcPct val="90000"/>
        </a:lnSpc>
        <a:spcBef>
          <a:spcPts val="2054"/>
        </a:spcBef>
        <a:buFont typeface="Arial" panose="020B0604020202020204" pitchFamily="34" charset="0"/>
        <a:buChar char="•"/>
        <a:defRPr sz="7400" kern="1200">
          <a:solidFill>
            <a:schemeClr val="tx1"/>
          </a:solidFill>
          <a:latin typeface="+mn-lt"/>
          <a:ea typeface="+mn-ea"/>
          <a:cs typeface="+mn-cs"/>
        </a:defRPr>
      </a:lvl9pPr>
    </p:bodyStyle>
    <p:otherStyle>
      <a:defPPr>
        <a:defRPr lang="en-US"/>
      </a:defPPr>
      <a:lvl1pPr marL="0" algn="l" defTabSz="3756718" rtl="0" eaLnBrk="1" latinLnBrk="0" hangingPunct="1">
        <a:defRPr sz="7400" kern="1200">
          <a:solidFill>
            <a:schemeClr val="tx1"/>
          </a:solidFill>
          <a:latin typeface="+mn-lt"/>
          <a:ea typeface="+mn-ea"/>
          <a:cs typeface="+mn-cs"/>
        </a:defRPr>
      </a:lvl1pPr>
      <a:lvl2pPr marL="1878359" algn="l" defTabSz="3756718" rtl="0" eaLnBrk="1" latinLnBrk="0" hangingPunct="1">
        <a:defRPr sz="7400" kern="1200">
          <a:solidFill>
            <a:schemeClr val="tx1"/>
          </a:solidFill>
          <a:latin typeface="+mn-lt"/>
          <a:ea typeface="+mn-ea"/>
          <a:cs typeface="+mn-cs"/>
        </a:defRPr>
      </a:lvl2pPr>
      <a:lvl3pPr marL="3756718" algn="l" defTabSz="3756718" rtl="0" eaLnBrk="1" latinLnBrk="0" hangingPunct="1">
        <a:defRPr sz="7400" kern="1200">
          <a:solidFill>
            <a:schemeClr val="tx1"/>
          </a:solidFill>
          <a:latin typeface="+mn-lt"/>
          <a:ea typeface="+mn-ea"/>
          <a:cs typeface="+mn-cs"/>
        </a:defRPr>
      </a:lvl3pPr>
      <a:lvl4pPr marL="5635077" algn="l" defTabSz="3756718" rtl="0" eaLnBrk="1" latinLnBrk="0" hangingPunct="1">
        <a:defRPr sz="7400" kern="1200">
          <a:solidFill>
            <a:schemeClr val="tx1"/>
          </a:solidFill>
          <a:latin typeface="+mn-lt"/>
          <a:ea typeface="+mn-ea"/>
          <a:cs typeface="+mn-cs"/>
        </a:defRPr>
      </a:lvl4pPr>
      <a:lvl5pPr marL="7513436" algn="l" defTabSz="3756718" rtl="0" eaLnBrk="1" latinLnBrk="0" hangingPunct="1">
        <a:defRPr sz="7400" kern="1200">
          <a:solidFill>
            <a:schemeClr val="tx1"/>
          </a:solidFill>
          <a:latin typeface="+mn-lt"/>
          <a:ea typeface="+mn-ea"/>
          <a:cs typeface="+mn-cs"/>
        </a:defRPr>
      </a:lvl5pPr>
      <a:lvl6pPr marL="9391794" algn="l" defTabSz="3756718" rtl="0" eaLnBrk="1" latinLnBrk="0" hangingPunct="1">
        <a:defRPr sz="7400" kern="1200">
          <a:solidFill>
            <a:schemeClr val="tx1"/>
          </a:solidFill>
          <a:latin typeface="+mn-lt"/>
          <a:ea typeface="+mn-ea"/>
          <a:cs typeface="+mn-cs"/>
        </a:defRPr>
      </a:lvl6pPr>
      <a:lvl7pPr marL="11270153" algn="l" defTabSz="3756718" rtl="0" eaLnBrk="1" latinLnBrk="0" hangingPunct="1">
        <a:defRPr sz="7400" kern="1200">
          <a:solidFill>
            <a:schemeClr val="tx1"/>
          </a:solidFill>
          <a:latin typeface="+mn-lt"/>
          <a:ea typeface="+mn-ea"/>
          <a:cs typeface="+mn-cs"/>
        </a:defRPr>
      </a:lvl7pPr>
      <a:lvl8pPr marL="13148512" algn="l" defTabSz="3756718" rtl="0" eaLnBrk="1" latinLnBrk="0" hangingPunct="1">
        <a:defRPr sz="7400" kern="1200">
          <a:solidFill>
            <a:schemeClr val="tx1"/>
          </a:solidFill>
          <a:latin typeface="+mn-lt"/>
          <a:ea typeface="+mn-ea"/>
          <a:cs typeface="+mn-cs"/>
        </a:defRPr>
      </a:lvl8pPr>
      <a:lvl9pPr marL="15026871" algn="l" defTabSz="3756718" rtl="0" eaLnBrk="1" latinLnBrk="0" hangingPunct="1">
        <a:defRPr sz="7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 name="Прямоугольник 581"/>
          <p:cNvSpPr/>
          <p:nvPr/>
        </p:nvSpPr>
        <p:spPr>
          <a:xfrm>
            <a:off x="46698778" y="23093895"/>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Модернизация лагерей в Фесе (1936) </a:t>
            </a:r>
            <a:r>
              <a:rPr lang="ru-RU" sz="100" dirty="0"/>
              <a:t>(В 1936 году Франция усиливала гарнизоны, опасаясь, что испанский хаос перекинется на их часть </a:t>
            </a:r>
            <a:r>
              <a:rPr lang="ru-RU" sz="100" dirty="0" err="1"/>
              <a:t>Марокко.Эффект</a:t>
            </a:r>
            <a:r>
              <a:rPr lang="ru-RU" sz="100" dirty="0"/>
              <a:t> в HOI 4: Добавляет 2 военные фабрики и 1 инфраструктуру в регион Фес.</a:t>
            </a:r>
            <a:endParaRPr lang="ru-RU" sz="700" dirty="0"/>
          </a:p>
        </p:txBody>
      </p:sp>
      <p:cxnSp>
        <p:nvCxnSpPr>
          <p:cNvPr id="118" name="Соединительная линия уступом 620">
            <a:extLst>
              <a:ext uri="{FF2B5EF4-FFF2-40B4-BE49-F238E27FC236}">
                <a16:creationId xmlns:a16="http://schemas.microsoft.com/office/drawing/2014/main" id="{C1702904-0E50-4FBA-B873-2C147B00B9E8}"/>
              </a:ext>
            </a:extLst>
          </p:cNvPr>
          <p:cNvCxnSpPr>
            <a:cxnSpLocks/>
            <a:stCxn id="582" idx="2"/>
            <a:endCxn id="15" idx="0"/>
          </p:cNvCxnSpPr>
          <p:nvPr/>
        </p:nvCxnSpPr>
        <p:spPr>
          <a:xfrm rot="5400000">
            <a:off x="46369670" y="23179570"/>
            <a:ext cx="337946" cy="124659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21" name="Соединительная линия уступом 620">
            <a:extLst>
              <a:ext uri="{FF2B5EF4-FFF2-40B4-BE49-F238E27FC236}">
                <a16:creationId xmlns:a16="http://schemas.microsoft.com/office/drawing/2014/main" id="{2C4B12DA-382A-45C6-AD96-13081055D21D}"/>
              </a:ext>
            </a:extLst>
          </p:cNvPr>
          <p:cNvCxnSpPr>
            <a:cxnSpLocks/>
            <a:stCxn id="582" idx="2"/>
            <a:endCxn id="17" idx="0"/>
          </p:cNvCxnSpPr>
          <p:nvPr/>
        </p:nvCxnSpPr>
        <p:spPr>
          <a:xfrm rot="16200000" flipH="1">
            <a:off x="47605215" y="23190621"/>
            <a:ext cx="337947" cy="122449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50" name="Прямоугольник 349">
            <a:extLst>
              <a:ext uri="{FF2B5EF4-FFF2-40B4-BE49-F238E27FC236}">
                <a16:creationId xmlns:a16="http://schemas.microsoft.com/office/drawing/2014/main" id="{E4F8202D-E0A0-4FEF-9048-C9AE139FEE7E}"/>
              </a:ext>
            </a:extLst>
          </p:cNvPr>
          <p:cNvSpPr/>
          <p:nvPr/>
        </p:nvSpPr>
        <p:spPr>
          <a:xfrm>
            <a:off x="47317920" y="24779091"/>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Увеличение срока службы</a:t>
            </a:r>
          </a:p>
        </p:txBody>
      </p:sp>
      <p:sp>
        <p:nvSpPr>
          <p:cNvPr id="15" name="Прямоугольник 14">
            <a:extLst>
              <a:ext uri="{FF2B5EF4-FFF2-40B4-BE49-F238E27FC236}">
                <a16:creationId xmlns:a16="http://schemas.microsoft.com/office/drawing/2014/main" id="{486BD42C-E6E8-4E9A-972F-66E45C5E9F5A}"/>
              </a:ext>
            </a:extLst>
          </p:cNvPr>
          <p:cNvSpPr/>
          <p:nvPr/>
        </p:nvSpPr>
        <p:spPr>
          <a:xfrm>
            <a:off x="45452182" y="23971841"/>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Продолжить опираться на племенные войска</a:t>
            </a:r>
          </a:p>
        </p:txBody>
      </p:sp>
      <p:sp>
        <p:nvSpPr>
          <p:cNvPr id="17" name="Прямоугольник 16">
            <a:extLst>
              <a:ext uri="{FF2B5EF4-FFF2-40B4-BE49-F238E27FC236}">
                <a16:creationId xmlns:a16="http://schemas.microsoft.com/office/drawing/2014/main" id="{E1A641D6-0384-4A0F-A884-6A52826677FD}"/>
              </a:ext>
            </a:extLst>
          </p:cNvPr>
          <p:cNvSpPr/>
          <p:nvPr/>
        </p:nvSpPr>
        <p:spPr>
          <a:xfrm>
            <a:off x="47923272" y="23971842"/>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Отказаться от иррегулярных формирований</a:t>
            </a:r>
          </a:p>
        </p:txBody>
      </p:sp>
      <p:cxnSp>
        <p:nvCxnSpPr>
          <p:cNvPr id="24" name="Прямая соединительная линия 23">
            <a:extLst>
              <a:ext uri="{FF2B5EF4-FFF2-40B4-BE49-F238E27FC236}">
                <a16:creationId xmlns:a16="http://schemas.microsoft.com/office/drawing/2014/main" id="{C5EB57FB-243F-45A9-A62E-8A1DC06BD87A}"/>
              </a:ext>
            </a:extLst>
          </p:cNvPr>
          <p:cNvCxnSpPr>
            <a:cxnSpLocks/>
            <a:stCxn id="17" idx="1"/>
            <a:endCxn id="15" idx="3"/>
          </p:cNvCxnSpPr>
          <p:nvPr/>
        </p:nvCxnSpPr>
        <p:spPr>
          <a:xfrm flipH="1" flipV="1">
            <a:off x="46378507" y="24241841"/>
            <a:ext cx="1544765" cy="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Соединительная линия уступом 620">
            <a:extLst>
              <a:ext uri="{FF2B5EF4-FFF2-40B4-BE49-F238E27FC236}">
                <a16:creationId xmlns:a16="http://schemas.microsoft.com/office/drawing/2014/main" id="{CBC1F065-34F6-4123-81AC-C7D623B89A58}"/>
              </a:ext>
            </a:extLst>
          </p:cNvPr>
          <p:cNvCxnSpPr>
            <a:cxnSpLocks/>
            <a:stCxn id="17" idx="2"/>
            <a:endCxn id="350" idx="0"/>
          </p:cNvCxnSpPr>
          <p:nvPr/>
        </p:nvCxnSpPr>
        <p:spPr>
          <a:xfrm rot="5400000">
            <a:off x="47950135" y="24342790"/>
            <a:ext cx="267249" cy="605352"/>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32" name="Соединительная линия уступом 620">
            <a:extLst>
              <a:ext uri="{FF2B5EF4-FFF2-40B4-BE49-F238E27FC236}">
                <a16:creationId xmlns:a16="http://schemas.microsoft.com/office/drawing/2014/main" id="{DEC2AC59-3F71-42F7-A646-3D9EBC9EDE81}"/>
              </a:ext>
            </a:extLst>
          </p:cNvPr>
          <p:cNvCxnSpPr>
            <a:cxnSpLocks/>
            <a:stCxn id="15" idx="2"/>
            <a:endCxn id="350" idx="0"/>
          </p:cNvCxnSpPr>
          <p:nvPr/>
        </p:nvCxnSpPr>
        <p:spPr>
          <a:xfrm rot="16200000" flipH="1">
            <a:off x="46714589" y="23712597"/>
            <a:ext cx="267250" cy="1865738"/>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42" name="Соединительная линия уступом 620">
            <a:extLst>
              <a:ext uri="{FF2B5EF4-FFF2-40B4-BE49-F238E27FC236}">
                <a16:creationId xmlns:a16="http://schemas.microsoft.com/office/drawing/2014/main" id="{964FE8F6-6759-4708-9BBE-3D1603C20D2D}"/>
              </a:ext>
            </a:extLst>
          </p:cNvPr>
          <p:cNvCxnSpPr>
            <a:cxnSpLocks/>
            <a:stCxn id="15" idx="2"/>
            <a:endCxn id="47" idx="0"/>
          </p:cNvCxnSpPr>
          <p:nvPr/>
        </p:nvCxnSpPr>
        <p:spPr>
          <a:xfrm rot="5400000">
            <a:off x="45473665" y="24335031"/>
            <a:ext cx="264871" cy="61849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45" name="Прямоугольник 44">
            <a:extLst>
              <a:ext uri="{FF2B5EF4-FFF2-40B4-BE49-F238E27FC236}">
                <a16:creationId xmlns:a16="http://schemas.microsoft.com/office/drawing/2014/main" id="{4616A96A-22CB-4BD3-B3D1-BCF1717A972F}"/>
              </a:ext>
            </a:extLst>
          </p:cNvPr>
          <p:cNvSpPr/>
          <p:nvPr/>
        </p:nvSpPr>
        <p:spPr>
          <a:xfrm>
            <a:off x="48540579" y="24776006"/>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Набрать марокканцев в генералитет</a:t>
            </a:r>
          </a:p>
        </p:txBody>
      </p:sp>
      <p:sp>
        <p:nvSpPr>
          <p:cNvPr id="47" name="Прямоугольник 46">
            <a:extLst>
              <a:ext uri="{FF2B5EF4-FFF2-40B4-BE49-F238E27FC236}">
                <a16:creationId xmlns:a16="http://schemas.microsoft.com/office/drawing/2014/main" id="{FE5B1A21-6DBA-4A86-A4D1-6624A5F82543}"/>
              </a:ext>
            </a:extLst>
          </p:cNvPr>
          <p:cNvSpPr/>
          <p:nvPr/>
        </p:nvSpPr>
        <p:spPr>
          <a:xfrm>
            <a:off x="44833691" y="24776712"/>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Создать институт </a:t>
            </a:r>
            <a:r>
              <a:rPr lang="ru-RU" sz="700" dirty="0" err="1"/>
              <a:t>гумов</a:t>
            </a:r>
            <a:r>
              <a:rPr lang="ru-RU" sz="700" dirty="0"/>
              <a:t> вспомогательной службы (1937) </a:t>
            </a:r>
            <a:r>
              <a:rPr lang="ru-RU" sz="100" dirty="0"/>
              <a:t>(Стандартный </a:t>
            </a:r>
            <a:r>
              <a:rPr lang="ru-RU" sz="100" dirty="0" err="1"/>
              <a:t>гум</a:t>
            </a:r>
            <a:r>
              <a:rPr lang="ru-RU" sz="100" dirty="0"/>
              <a:t> представлял собой конно-стрелковое подразделение, эквивалентное роте. В его составе имелся верховой взвод (на лошадях или верблюдах), вьючный взвод, а также 3-4 стрелковых взвода. Такая организация позволяла </a:t>
            </a:r>
            <a:r>
              <a:rPr lang="ru-RU" sz="100" dirty="0" err="1"/>
              <a:t>гумам</a:t>
            </a:r>
            <a:r>
              <a:rPr lang="ru-RU" sz="100" dirty="0"/>
              <a:t> вести автономные боевые действия в условиях горно-пустынной </a:t>
            </a:r>
            <a:r>
              <a:rPr lang="ru-RU" sz="100" dirty="0" err="1"/>
              <a:t>местности.Первый</a:t>
            </a:r>
            <a:r>
              <a:rPr lang="ru-RU" sz="100" dirty="0"/>
              <a:t> марокканский </a:t>
            </a:r>
            <a:r>
              <a:rPr lang="ru-RU" sz="100" dirty="0" err="1"/>
              <a:t>гум</a:t>
            </a:r>
            <a:r>
              <a:rPr lang="ru-RU" sz="100" dirty="0"/>
              <a:t> был сформирован 5 ноября 1908 г. В дальнейшем их число постоянно росло. Если в 1914 г. в армии протектората насчитывалось 15 </a:t>
            </a:r>
            <a:r>
              <a:rPr lang="ru-RU" sz="100" dirty="0" err="1"/>
              <a:t>гумов</a:t>
            </a:r>
            <a:r>
              <a:rPr lang="ru-RU" sz="100" dirty="0"/>
              <a:t>, к 1934 г. — году, связываемому французами с завершением операции по “примирению” Марокко — их насчитывалось уже 51. Как правило, каждым </a:t>
            </a:r>
            <a:r>
              <a:rPr lang="ru-RU" sz="100" dirty="0" err="1"/>
              <a:t>гумом</a:t>
            </a:r>
            <a:r>
              <a:rPr lang="ru-RU" sz="100" dirty="0"/>
              <a:t> командовал французский офицер из состава Службы туземных дел. В 1937 г. был создан институт </a:t>
            </a:r>
            <a:r>
              <a:rPr lang="ru-RU" sz="100" dirty="0" err="1"/>
              <a:t>тумов</a:t>
            </a:r>
            <a:r>
              <a:rPr lang="ru-RU" sz="100" dirty="0"/>
              <a:t> вспомогательной службы. Забегая вперед, необходимо отметить, что к началу Второй мировой войны в войсках протектората насчитывалось 57 действующих </a:t>
            </a:r>
            <a:r>
              <a:rPr lang="ru-RU" sz="100" dirty="0" err="1"/>
              <a:t>гумов</a:t>
            </a:r>
            <a:r>
              <a:rPr lang="ru-RU" sz="100" dirty="0"/>
              <a:t> и 64 вспомогательных)</a:t>
            </a:r>
            <a:endParaRPr lang="ru-RU" sz="700" dirty="0"/>
          </a:p>
        </p:txBody>
      </p:sp>
      <p:sp>
        <p:nvSpPr>
          <p:cNvPr id="48" name="Прямоугольник 47">
            <a:extLst>
              <a:ext uri="{FF2B5EF4-FFF2-40B4-BE49-F238E27FC236}">
                <a16:creationId xmlns:a16="http://schemas.microsoft.com/office/drawing/2014/main" id="{2C1738C5-A41E-4331-A29C-50F11F29894B}"/>
              </a:ext>
            </a:extLst>
          </p:cNvPr>
          <p:cNvSpPr/>
          <p:nvPr/>
        </p:nvSpPr>
        <p:spPr>
          <a:xfrm>
            <a:off x="44833043" y="25594641"/>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Мобилизация </a:t>
            </a:r>
            <a:r>
              <a:rPr lang="ru-RU" sz="700" dirty="0" err="1"/>
              <a:t>гумов</a:t>
            </a:r>
            <a:r>
              <a:rPr lang="ru-RU" sz="700" dirty="0"/>
              <a:t> (1940) </a:t>
            </a:r>
            <a:r>
              <a:rPr lang="ru-RU" sz="300" dirty="0"/>
              <a:t>(После мобилизации число первых было доведено до 121. К апрелю 1940 г. они были сведены в 16 таборов (батальонов) по 4-5 </a:t>
            </a:r>
            <a:r>
              <a:rPr lang="ru-RU" sz="300" dirty="0" err="1"/>
              <a:t>гумов</a:t>
            </a:r>
            <a:r>
              <a:rPr lang="ru-RU" sz="300" dirty="0"/>
              <a:t> в каждом.)</a:t>
            </a:r>
            <a:endParaRPr lang="ru-RU" sz="700" dirty="0"/>
          </a:p>
        </p:txBody>
      </p:sp>
      <p:sp>
        <p:nvSpPr>
          <p:cNvPr id="50" name="Прямоугольник 49">
            <a:extLst>
              <a:ext uri="{FF2B5EF4-FFF2-40B4-BE49-F238E27FC236}">
                <a16:creationId xmlns:a16="http://schemas.microsoft.com/office/drawing/2014/main" id="{714B254A-36D5-4290-AB41-31D23B38DA78}"/>
              </a:ext>
            </a:extLst>
          </p:cNvPr>
          <p:cNvSpPr/>
          <p:nvPr/>
        </p:nvSpPr>
        <p:spPr>
          <a:xfrm>
            <a:off x="43590659" y="24776006"/>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Директива </a:t>
            </a:r>
            <a:r>
              <a:rPr lang="ru-RU" sz="700" dirty="0" err="1"/>
              <a:t>Ногеса</a:t>
            </a:r>
            <a:r>
              <a:rPr lang="ru-RU" sz="700" dirty="0"/>
              <a:t>: Мобилизация племен Атласа </a:t>
            </a:r>
            <a:r>
              <a:rPr lang="ru-RU" sz="100" dirty="0"/>
              <a:t>(С 1936 года Франция резко увеличила набор коренных марокканцев (арабов и берберов) в ряды регулярных частей — </a:t>
            </a:r>
            <a:r>
              <a:rPr lang="ru-RU" sz="100" dirty="0" err="1"/>
              <a:t>Тиральеров</a:t>
            </a:r>
            <a:r>
              <a:rPr lang="ru-RU" sz="100" dirty="0"/>
              <a:t> (Тайлеров) и </a:t>
            </a:r>
            <a:r>
              <a:rPr lang="ru-RU" sz="100" dirty="0" err="1"/>
              <a:t>Гумьеров</a:t>
            </a:r>
            <a:r>
              <a:rPr lang="ru-RU" sz="100" dirty="0"/>
              <a:t>. К 1939 году </a:t>
            </a:r>
            <a:r>
              <a:rPr lang="ru-RU" sz="100" dirty="0" err="1"/>
              <a:t>Ногесу</a:t>
            </a:r>
            <a:r>
              <a:rPr lang="ru-RU" sz="100" dirty="0"/>
              <a:t> удалось поставить под ружье невиданное для колонии число местных </a:t>
            </a:r>
            <a:r>
              <a:rPr lang="ru-RU" sz="100" dirty="0" err="1"/>
              <a:t>жителей.Эффект</a:t>
            </a:r>
            <a:r>
              <a:rPr lang="ru-RU" sz="100" dirty="0"/>
              <a:t> в HOI 4: Дает постоянный бонус к призывному населению (</a:t>
            </a:r>
            <a:r>
              <a:rPr lang="ru-RU" sz="100" dirty="0" err="1"/>
              <a:t>Manpower</a:t>
            </a:r>
            <a:r>
              <a:rPr lang="ru-RU" sz="100" dirty="0"/>
              <a:t>) +2.50% на национальных территориях. Снижает время подготовки пехотных дивизий на 10%.)</a:t>
            </a:r>
            <a:endParaRPr lang="ru-RU" sz="700" dirty="0"/>
          </a:p>
        </p:txBody>
      </p:sp>
      <p:sp>
        <p:nvSpPr>
          <p:cNvPr id="64" name="Прямоугольник 63">
            <a:extLst>
              <a:ext uri="{FF2B5EF4-FFF2-40B4-BE49-F238E27FC236}">
                <a16:creationId xmlns:a16="http://schemas.microsoft.com/office/drawing/2014/main" id="{E2A84C2C-9F41-4511-B24F-8A024E481F7E}"/>
              </a:ext>
            </a:extLst>
          </p:cNvPr>
          <p:cNvSpPr/>
          <p:nvPr/>
        </p:nvSpPr>
        <p:spPr>
          <a:xfrm>
            <a:off x="46074888" y="24781839"/>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Развертывание 1-й и 3-й Марокканских пехотных дивизий </a:t>
            </a:r>
            <a:r>
              <a:rPr lang="ru-RU" sz="100" dirty="0"/>
              <a:t>(В конце 1930-х годов в Марокко были сформированы и доукомплектованы элитные марокканские пулеметные и пехотные дивизии (</a:t>
            </a:r>
            <a:r>
              <a:rPr lang="ru-RU" sz="100" dirty="0" err="1"/>
              <a:t>Division</a:t>
            </a:r>
            <a:r>
              <a:rPr lang="ru-RU" sz="100" dirty="0"/>
              <a:t> </a:t>
            </a:r>
            <a:r>
              <a:rPr lang="ru-RU" sz="100" dirty="0" err="1"/>
              <a:t>d'Infanterie</a:t>
            </a:r>
            <a:r>
              <a:rPr lang="ru-RU" sz="100" dirty="0"/>
              <a:t> </a:t>
            </a:r>
            <a:r>
              <a:rPr lang="ru-RU" sz="100" dirty="0" err="1"/>
              <a:t>Marocaine</a:t>
            </a:r>
            <a:r>
              <a:rPr lang="ru-RU" sz="100" dirty="0"/>
              <a:t>). В 1939 году их перебросили во Францию, где они героически проявили себя в боях 1940 года (например, при </a:t>
            </a:r>
            <a:r>
              <a:rPr lang="ru-RU" sz="100" dirty="0" err="1"/>
              <a:t>Жамблу</a:t>
            </a:r>
            <a:r>
              <a:rPr lang="ru-RU" sz="100" dirty="0"/>
              <a:t>).Эффект в HOI 4: </a:t>
            </a:r>
            <a:r>
              <a:rPr lang="ru-RU" sz="100" dirty="0" err="1"/>
              <a:t>Спавнит</a:t>
            </a:r>
            <a:r>
              <a:rPr lang="ru-RU" sz="100" dirty="0"/>
              <a:t> в Касабланке 2 пехотные дивизии с полной организацией, оснащенные уникальным батальоном поддержки (усиленная ПВО/противотанковое оружие).)</a:t>
            </a:r>
            <a:endParaRPr lang="ru-RU" sz="700" dirty="0"/>
          </a:p>
        </p:txBody>
      </p:sp>
      <p:cxnSp>
        <p:nvCxnSpPr>
          <p:cNvPr id="66" name="Соединительная линия уступом 620">
            <a:extLst>
              <a:ext uri="{FF2B5EF4-FFF2-40B4-BE49-F238E27FC236}">
                <a16:creationId xmlns:a16="http://schemas.microsoft.com/office/drawing/2014/main" id="{775EF59B-92BB-448D-9060-1020657DAE50}"/>
              </a:ext>
            </a:extLst>
          </p:cNvPr>
          <p:cNvCxnSpPr>
            <a:cxnSpLocks/>
            <a:stCxn id="15" idx="2"/>
            <a:endCxn id="50" idx="0"/>
          </p:cNvCxnSpPr>
          <p:nvPr/>
        </p:nvCxnSpPr>
        <p:spPr>
          <a:xfrm rot="5400000">
            <a:off x="44852502" y="23713162"/>
            <a:ext cx="264165" cy="186152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15" name="Соединительная линия уступом 620">
            <a:extLst>
              <a:ext uri="{FF2B5EF4-FFF2-40B4-BE49-F238E27FC236}">
                <a16:creationId xmlns:a16="http://schemas.microsoft.com/office/drawing/2014/main" id="{9347027B-3953-4C7C-87D7-9E28155E8A97}"/>
              </a:ext>
            </a:extLst>
          </p:cNvPr>
          <p:cNvCxnSpPr>
            <a:cxnSpLocks/>
            <a:stCxn id="47" idx="2"/>
            <a:endCxn id="48" idx="0"/>
          </p:cNvCxnSpPr>
          <p:nvPr/>
        </p:nvCxnSpPr>
        <p:spPr>
          <a:xfrm rot="5400000">
            <a:off x="45157566" y="25455352"/>
            <a:ext cx="277929" cy="64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19" name="Прямоугольник 118">
            <a:extLst>
              <a:ext uri="{FF2B5EF4-FFF2-40B4-BE49-F238E27FC236}">
                <a16:creationId xmlns:a16="http://schemas.microsoft.com/office/drawing/2014/main" id="{3CF48485-A290-42AB-9C6F-E8084039BD49}"/>
              </a:ext>
            </a:extLst>
          </p:cNvPr>
          <p:cNvSpPr/>
          <p:nvPr/>
        </p:nvSpPr>
        <p:spPr>
          <a:xfrm>
            <a:off x="46074887" y="25594641"/>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Интеграция Иностранного легиона в гарнизон Феса </a:t>
            </a:r>
            <a:r>
              <a:rPr lang="ru-RU" sz="100" dirty="0"/>
              <a:t>(2-й иностранный пехотный полк (2e REI) Иностранного легиона базировался в Марокко и в этот период активно укреплял внутренние рубежи протектората для предотвращения диверсий </a:t>
            </a:r>
            <a:r>
              <a:rPr lang="ru-RU" sz="100" dirty="0" err="1"/>
              <a:t>Оси.Эффект</a:t>
            </a:r>
            <a:r>
              <a:rPr lang="ru-RU" sz="100" dirty="0"/>
              <a:t> в HOI 4: Добавляет 1 элитную дивизию Иностранного легиона. Дает национальный дух «Жесткий колониальный порядок» (-15% к скорости роста сопротивления в североафриканских регионах).)</a:t>
            </a:r>
            <a:endParaRPr lang="ru-RU" sz="700" dirty="0"/>
          </a:p>
        </p:txBody>
      </p:sp>
      <p:cxnSp>
        <p:nvCxnSpPr>
          <p:cNvPr id="120" name="Соединительная линия уступом 620">
            <a:extLst>
              <a:ext uri="{FF2B5EF4-FFF2-40B4-BE49-F238E27FC236}">
                <a16:creationId xmlns:a16="http://schemas.microsoft.com/office/drawing/2014/main" id="{1C49954F-9A8C-47CD-A07F-8EACC55803D6}"/>
              </a:ext>
            </a:extLst>
          </p:cNvPr>
          <p:cNvCxnSpPr>
            <a:cxnSpLocks/>
            <a:stCxn id="64" idx="2"/>
            <a:endCxn id="119" idx="0"/>
          </p:cNvCxnSpPr>
          <p:nvPr/>
        </p:nvCxnSpPr>
        <p:spPr>
          <a:xfrm rot="5400000">
            <a:off x="46401650" y="25458240"/>
            <a:ext cx="272802"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26" name="Прямоугольник 125">
            <a:extLst>
              <a:ext uri="{FF2B5EF4-FFF2-40B4-BE49-F238E27FC236}">
                <a16:creationId xmlns:a16="http://schemas.microsoft.com/office/drawing/2014/main" id="{A64226DA-F307-4AD4-868A-E3263905A7C0}"/>
              </a:ext>
            </a:extLst>
          </p:cNvPr>
          <p:cNvSpPr/>
          <p:nvPr/>
        </p:nvSpPr>
        <p:spPr>
          <a:xfrm>
            <a:off x="47316086" y="25596903"/>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План обороны Марокканской Сахары </a:t>
            </a:r>
            <a:r>
              <a:rPr lang="ru-RU" sz="100" dirty="0"/>
              <a:t>(Французское командование опасалось, что профашистские силы из Испанского Сахары или итальянские войска из Ливии могут нанести удар через пустыню во фланг. Были созданы специальные мобильные дозоры (</a:t>
            </a:r>
            <a:r>
              <a:rPr lang="ru-RU" sz="100" dirty="0" err="1"/>
              <a:t>Compagnies</a:t>
            </a:r>
            <a:r>
              <a:rPr lang="ru-RU" sz="100" dirty="0"/>
              <a:t> </a:t>
            </a:r>
            <a:r>
              <a:rPr lang="ru-RU" sz="100" dirty="0" err="1"/>
              <a:t>Sahariennes</a:t>
            </a:r>
            <a:r>
              <a:rPr lang="ru-RU" sz="100" dirty="0"/>
              <a:t>).Эффект в HOI 4: Дает войскам национальный дух «Адаптация к пустыне» (+15% к защите и -10% к истощению (</a:t>
            </a:r>
            <a:r>
              <a:rPr lang="ru-RU" sz="100" dirty="0" err="1"/>
              <a:t>Attrition</a:t>
            </a:r>
            <a:r>
              <a:rPr lang="ru-RU" sz="100" dirty="0"/>
              <a:t>) в пустынных регионах).)</a:t>
            </a:r>
            <a:endParaRPr lang="ru-RU" sz="700" dirty="0"/>
          </a:p>
        </p:txBody>
      </p:sp>
      <p:sp>
        <p:nvSpPr>
          <p:cNvPr id="127" name="Прямоугольник 126">
            <a:extLst>
              <a:ext uri="{FF2B5EF4-FFF2-40B4-BE49-F238E27FC236}">
                <a16:creationId xmlns:a16="http://schemas.microsoft.com/office/drawing/2014/main" id="{3617F385-549C-4202-8FFA-47012C570CE6}"/>
              </a:ext>
            </a:extLst>
          </p:cNvPr>
          <p:cNvSpPr/>
          <p:nvPr/>
        </p:nvSpPr>
        <p:spPr>
          <a:xfrm>
            <a:off x="47317919" y="26414715"/>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Фортификация прохода Таза </a:t>
            </a:r>
            <a:r>
              <a:rPr lang="ru-RU" sz="200" dirty="0"/>
              <a:t>(Проход Таза — стратегический коридор между горами Риф и Атлас, связывающий Марокко с Алжиром. В 1938–1939 годах </a:t>
            </a:r>
            <a:r>
              <a:rPr lang="ru-RU" sz="200" dirty="0" err="1"/>
              <a:t>Ногес</a:t>
            </a:r>
            <a:r>
              <a:rPr lang="ru-RU" sz="200" dirty="0"/>
              <a:t> укрепил этот проход на случай прорыва испанских войск Франко на </a:t>
            </a:r>
            <a:r>
              <a:rPr lang="ru-RU" sz="200" dirty="0" err="1"/>
              <a:t>восток.Эффект</a:t>
            </a:r>
            <a:r>
              <a:rPr lang="ru-RU" sz="200" dirty="0"/>
              <a:t> в HOI 4: Строит сухопутные укрепления (</a:t>
            </a:r>
            <a:r>
              <a:rPr lang="ru-RU" sz="200" dirty="0" err="1"/>
              <a:t>Land</a:t>
            </a:r>
            <a:r>
              <a:rPr lang="ru-RU" sz="200" dirty="0"/>
              <a:t> </a:t>
            </a:r>
            <a:r>
              <a:rPr lang="ru-RU" sz="200" dirty="0" err="1"/>
              <a:t>Fort</a:t>
            </a:r>
            <a:r>
              <a:rPr lang="ru-RU" sz="200" dirty="0"/>
              <a:t>) 3-го уровня в провинции Таза.)</a:t>
            </a:r>
            <a:endParaRPr lang="ru-RU" sz="700" dirty="0"/>
          </a:p>
        </p:txBody>
      </p:sp>
      <p:cxnSp>
        <p:nvCxnSpPr>
          <p:cNvPr id="128" name="Соединительная линия уступом 620">
            <a:extLst>
              <a:ext uri="{FF2B5EF4-FFF2-40B4-BE49-F238E27FC236}">
                <a16:creationId xmlns:a16="http://schemas.microsoft.com/office/drawing/2014/main" id="{B56A252E-000F-46D9-8A67-9B4FFEF6E95A}"/>
              </a:ext>
            </a:extLst>
          </p:cNvPr>
          <p:cNvCxnSpPr>
            <a:cxnSpLocks/>
            <a:stCxn id="350" idx="2"/>
            <a:endCxn id="126" idx="0"/>
          </p:cNvCxnSpPr>
          <p:nvPr/>
        </p:nvCxnSpPr>
        <p:spPr>
          <a:xfrm rot="5400000">
            <a:off x="47641260" y="25457080"/>
            <a:ext cx="277812" cy="183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31" name="Соединительная линия уступом 620">
            <a:extLst>
              <a:ext uri="{FF2B5EF4-FFF2-40B4-BE49-F238E27FC236}">
                <a16:creationId xmlns:a16="http://schemas.microsoft.com/office/drawing/2014/main" id="{DA899D96-1E1A-4363-AB63-73A3D0E880CA}"/>
              </a:ext>
            </a:extLst>
          </p:cNvPr>
          <p:cNvCxnSpPr>
            <a:cxnSpLocks/>
            <a:stCxn id="126" idx="2"/>
            <a:endCxn id="127" idx="0"/>
          </p:cNvCxnSpPr>
          <p:nvPr/>
        </p:nvCxnSpPr>
        <p:spPr>
          <a:xfrm rot="16200000" flipH="1">
            <a:off x="47641259" y="26274892"/>
            <a:ext cx="277812" cy="183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35" name="Соединительная линия уступом 620">
            <a:extLst>
              <a:ext uri="{FF2B5EF4-FFF2-40B4-BE49-F238E27FC236}">
                <a16:creationId xmlns:a16="http://schemas.microsoft.com/office/drawing/2014/main" id="{427284D2-5073-49BB-80E8-8CBFE6818061}"/>
              </a:ext>
            </a:extLst>
          </p:cNvPr>
          <p:cNvCxnSpPr>
            <a:cxnSpLocks/>
            <a:stCxn id="15" idx="2"/>
            <a:endCxn id="64" idx="0"/>
          </p:cNvCxnSpPr>
          <p:nvPr/>
        </p:nvCxnSpPr>
        <p:spPr>
          <a:xfrm rot="16200000" flipH="1">
            <a:off x="46091699" y="24335487"/>
            <a:ext cx="269998" cy="622706"/>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38" name="Соединительная линия уступом 620">
            <a:extLst>
              <a:ext uri="{FF2B5EF4-FFF2-40B4-BE49-F238E27FC236}">
                <a16:creationId xmlns:a16="http://schemas.microsoft.com/office/drawing/2014/main" id="{AA1582C5-1439-4397-8237-B28164A1D826}"/>
              </a:ext>
            </a:extLst>
          </p:cNvPr>
          <p:cNvCxnSpPr>
            <a:cxnSpLocks/>
            <a:stCxn id="17" idx="2"/>
            <a:endCxn id="64" idx="0"/>
          </p:cNvCxnSpPr>
          <p:nvPr/>
        </p:nvCxnSpPr>
        <p:spPr>
          <a:xfrm rot="5400000">
            <a:off x="47327245" y="23722648"/>
            <a:ext cx="269997" cy="1848384"/>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142" name="Прямоугольник 141">
            <a:extLst>
              <a:ext uri="{FF2B5EF4-FFF2-40B4-BE49-F238E27FC236}">
                <a16:creationId xmlns:a16="http://schemas.microsoft.com/office/drawing/2014/main" id="{3A5FD517-775F-41FA-954E-4997092012D0}"/>
              </a:ext>
            </a:extLst>
          </p:cNvPr>
          <p:cNvSpPr/>
          <p:nvPr/>
        </p:nvSpPr>
        <p:spPr>
          <a:xfrm>
            <a:off x="46698779" y="27424365"/>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Арсенал в Касабланке </a:t>
            </a:r>
            <a:r>
              <a:rPr lang="ru-RU" sz="100" dirty="0"/>
              <a:t>(Понимая уязвимость морских путей из метрополии, французское командование в 1937 году начало расширять склады боеприпасов и ремонтные мастерские в Марокко, чтобы армия могла воевать автономно как минимум 6 </a:t>
            </a:r>
            <a:r>
              <a:rPr lang="ru-RU" sz="100" dirty="0" err="1"/>
              <a:t>месяцев.Эффект</a:t>
            </a:r>
            <a:r>
              <a:rPr lang="ru-RU" sz="100" dirty="0"/>
              <a:t> в HOI 4: Добавляет 1 военную фабрику в Касабланку. Увеличивает максимальную емкость региональных складов снабжения на +20%.)</a:t>
            </a:r>
            <a:endParaRPr lang="ru-RU" sz="700" dirty="0"/>
          </a:p>
        </p:txBody>
      </p:sp>
      <p:cxnSp>
        <p:nvCxnSpPr>
          <p:cNvPr id="145" name="Соединительная линия уступом 620">
            <a:extLst>
              <a:ext uri="{FF2B5EF4-FFF2-40B4-BE49-F238E27FC236}">
                <a16:creationId xmlns:a16="http://schemas.microsoft.com/office/drawing/2014/main" id="{BF25CA53-BF7B-46EB-B789-F78E5EBDB9E6}"/>
              </a:ext>
            </a:extLst>
          </p:cNvPr>
          <p:cNvCxnSpPr>
            <a:cxnSpLocks/>
            <a:stCxn id="17" idx="2"/>
            <a:endCxn id="142" idx="0"/>
          </p:cNvCxnSpPr>
          <p:nvPr/>
        </p:nvCxnSpPr>
        <p:spPr>
          <a:xfrm rot="5400000">
            <a:off x="46317928" y="25355857"/>
            <a:ext cx="2912523" cy="1224493"/>
          </a:xfrm>
          <a:prstGeom prst="bentConnector3">
            <a:avLst>
              <a:gd name="adj1" fmla="val 4908"/>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52" name="Соединительная линия уступом 620">
            <a:extLst>
              <a:ext uri="{FF2B5EF4-FFF2-40B4-BE49-F238E27FC236}">
                <a16:creationId xmlns:a16="http://schemas.microsoft.com/office/drawing/2014/main" id="{01D1BF9F-D513-46C7-908C-5B4C91A12224}"/>
              </a:ext>
            </a:extLst>
          </p:cNvPr>
          <p:cNvCxnSpPr>
            <a:cxnSpLocks/>
            <a:stCxn id="15" idx="2"/>
            <a:endCxn id="142" idx="0"/>
          </p:cNvCxnSpPr>
          <p:nvPr/>
        </p:nvCxnSpPr>
        <p:spPr>
          <a:xfrm rot="16200000" flipH="1">
            <a:off x="45082381" y="25344804"/>
            <a:ext cx="2912524" cy="1246597"/>
          </a:xfrm>
          <a:prstGeom prst="bentConnector3">
            <a:avLst>
              <a:gd name="adj1" fmla="val 4542"/>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57" name="Соединительная линия уступом 620">
            <a:extLst>
              <a:ext uri="{FF2B5EF4-FFF2-40B4-BE49-F238E27FC236}">
                <a16:creationId xmlns:a16="http://schemas.microsoft.com/office/drawing/2014/main" id="{0257675D-9D87-4013-A4B3-21AC7CEB9172}"/>
              </a:ext>
            </a:extLst>
          </p:cNvPr>
          <p:cNvCxnSpPr>
            <a:cxnSpLocks/>
            <a:stCxn id="50" idx="2"/>
            <a:endCxn id="67" idx="0"/>
          </p:cNvCxnSpPr>
          <p:nvPr/>
        </p:nvCxnSpPr>
        <p:spPr>
          <a:xfrm rot="5400000">
            <a:off x="43914858" y="25454970"/>
            <a:ext cx="277929"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4" name="Прямоугольник 33">
            <a:extLst>
              <a:ext uri="{FF2B5EF4-FFF2-40B4-BE49-F238E27FC236}">
                <a16:creationId xmlns:a16="http://schemas.microsoft.com/office/drawing/2014/main" id="{A3C38FDA-FE76-4414-9665-A87A38A404AB}"/>
              </a:ext>
            </a:extLst>
          </p:cNvPr>
          <p:cNvSpPr/>
          <p:nvPr/>
        </p:nvSpPr>
        <p:spPr>
          <a:xfrm>
            <a:off x="46074886" y="26414715"/>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Обучение местных офицеров французской школе</a:t>
            </a:r>
          </a:p>
        </p:txBody>
      </p:sp>
      <p:sp>
        <p:nvSpPr>
          <p:cNvPr id="43" name="Прямоугольник 42">
            <a:extLst>
              <a:ext uri="{FF2B5EF4-FFF2-40B4-BE49-F238E27FC236}">
                <a16:creationId xmlns:a16="http://schemas.microsoft.com/office/drawing/2014/main" id="{FCAE2352-9C3C-4C3B-ABF6-0C9820D5E2E7}"/>
              </a:ext>
            </a:extLst>
          </p:cNvPr>
          <p:cNvSpPr/>
          <p:nvPr/>
        </p:nvSpPr>
        <p:spPr>
          <a:xfrm>
            <a:off x="44218725" y="26412570"/>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Ужесточить контроль над племенами</a:t>
            </a:r>
          </a:p>
        </p:txBody>
      </p:sp>
      <p:cxnSp>
        <p:nvCxnSpPr>
          <p:cNvPr id="44" name="Соединительная линия уступом 620">
            <a:extLst>
              <a:ext uri="{FF2B5EF4-FFF2-40B4-BE49-F238E27FC236}">
                <a16:creationId xmlns:a16="http://schemas.microsoft.com/office/drawing/2014/main" id="{69B81608-81C7-4019-91A2-1B383072EED4}"/>
              </a:ext>
            </a:extLst>
          </p:cNvPr>
          <p:cNvCxnSpPr>
            <a:cxnSpLocks/>
            <a:stCxn id="48" idx="2"/>
            <a:endCxn id="43" idx="0"/>
          </p:cNvCxnSpPr>
          <p:nvPr/>
        </p:nvCxnSpPr>
        <p:spPr>
          <a:xfrm rot="5400000">
            <a:off x="44850083" y="25966446"/>
            <a:ext cx="277929" cy="61431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9" name="Соединительная линия уступом 620">
            <a:extLst>
              <a:ext uri="{FF2B5EF4-FFF2-40B4-BE49-F238E27FC236}">
                <a16:creationId xmlns:a16="http://schemas.microsoft.com/office/drawing/2014/main" id="{CD7FE15A-1A35-4AA9-ADAF-3D870341CBB3}"/>
              </a:ext>
            </a:extLst>
          </p:cNvPr>
          <p:cNvCxnSpPr>
            <a:cxnSpLocks/>
            <a:stCxn id="50" idx="2"/>
            <a:endCxn id="43" idx="0"/>
          </p:cNvCxnSpPr>
          <p:nvPr/>
        </p:nvCxnSpPr>
        <p:spPr>
          <a:xfrm rot="16200000" flipH="1">
            <a:off x="43819573" y="25550255"/>
            <a:ext cx="1096564" cy="628066"/>
          </a:xfrm>
          <a:prstGeom prst="bentConnector3">
            <a:avLst>
              <a:gd name="adj1" fmla="val 11433"/>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1" name="Соединительная линия уступом 620">
            <a:extLst>
              <a:ext uri="{FF2B5EF4-FFF2-40B4-BE49-F238E27FC236}">
                <a16:creationId xmlns:a16="http://schemas.microsoft.com/office/drawing/2014/main" id="{5CB7E9BC-A998-4582-8577-A7B4D3E86F93}"/>
              </a:ext>
            </a:extLst>
          </p:cNvPr>
          <p:cNvCxnSpPr>
            <a:cxnSpLocks/>
            <a:stCxn id="119" idx="2"/>
            <a:endCxn id="34" idx="0"/>
          </p:cNvCxnSpPr>
          <p:nvPr/>
        </p:nvCxnSpPr>
        <p:spPr>
          <a:xfrm rot="5400000">
            <a:off x="46398013" y="26274678"/>
            <a:ext cx="280074"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53" name="Соединительная линия уступом 620">
            <a:extLst>
              <a:ext uri="{FF2B5EF4-FFF2-40B4-BE49-F238E27FC236}">
                <a16:creationId xmlns:a16="http://schemas.microsoft.com/office/drawing/2014/main" id="{1516A531-E45C-47DC-8EC6-CF2565E937C1}"/>
              </a:ext>
            </a:extLst>
          </p:cNvPr>
          <p:cNvCxnSpPr>
            <a:cxnSpLocks/>
            <a:stCxn id="17" idx="2"/>
            <a:endCxn id="45" idx="0"/>
          </p:cNvCxnSpPr>
          <p:nvPr/>
        </p:nvCxnSpPr>
        <p:spPr>
          <a:xfrm rot="16200000" flipH="1">
            <a:off x="48563006" y="24335270"/>
            <a:ext cx="264164" cy="61730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56" name="Прямоугольник 55">
            <a:extLst>
              <a:ext uri="{FF2B5EF4-FFF2-40B4-BE49-F238E27FC236}">
                <a16:creationId xmlns:a16="http://schemas.microsoft.com/office/drawing/2014/main" id="{96D625CF-709C-45A4-8F67-B38EF72340EB}"/>
              </a:ext>
            </a:extLst>
          </p:cNvPr>
          <p:cNvSpPr/>
          <p:nvPr/>
        </p:nvSpPr>
        <p:spPr>
          <a:xfrm>
            <a:off x="49779430" y="24776006"/>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Регулярные войска из племенных солдат</a:t>
            </a:r>
          </a:p>
        </p:txBody>
      </p:sp>
      <p:cxnSp>
        <p:nvCxnSpPr>
          <p:cNvPr id="57" name="Соединительная линия уступом 620">
            <a:extLst>
              <a:ext uri="{FF2B5EF4-FFF2-40B4-BE49-F238E27FC236}">
                <a16:creationId xmlns:a16="http://schemas.microsoft.com/office/drawing/2014/main" id="{5D641075-D3D8-4219-B7E7-A761E6C0A7DF}"/>
              </a:ext>
            </a:extLst>
          </p:cNvPr>
          <p:cNvCxnSpPr>
            <a:cxnSpLocks/>
            <a:stCxn id="17" idx="2"/>
            <a:endCxn id="56" idx="0"/>
          </p:cNvCxnSpPr>
          <p:nvPr/>
        </p:nvCxnSpPr>
        <p:spPr>
          <a:xfrm rot="16200000" flipH="1">
            <a:off x="49182432" y="23715845"/>
            <a:ext cx="264164" cy="185615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60" name="Прямоугольник 59">
            <a:extLst>
              <a:ext uri="{FF2B5EF4-FFF2-40B4-BE49-F238E27FC236}">
                <a16:creationId xmlns:a16="http://schemas.microsoft.com/office/drawing/2014/main" id="{2406E51A-589D-4271-952F-39105A27CEFF}"/>
              </a:ext>
            </a:extLst>
          </p:cNvPr>
          <p:cNvSpPr/>
          <p:nvPr/>
        </p:nvSpPr>
        <p:spPr>
          <a:xfrm>
            <a:off x="47316086" y="28237168"/>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Создание нового генерального штаба</a:t>
            </a:r>
          </a:p>
        </p:txBody>
      </p:sp>
      <p:sp>
        <p:nvSpPr>
          <p:cNvPr id="67" name="Прямоугольник 66">
            <a:extLst>
              <a:ext uri="{FF2B5EF4-FFF2-40B4-BE49-F238E27FC236}">
                <a16:creationId xmlns:a16="http://schemas.microsoft.com/office/drawing/2014/main" id="{A0D2DCD8-B96C-4D26-9B7E-0AB17D422E33}"/>
              </a:ext>
            </a:extLst>
          </p:cNvPr>
          <p:cNvSpPr/>
          <p:nvPr/>
        </p:nvSpPr>
        <p:spPr>
          <a:xfrm>
            <a:off x="43590658" y="25593935"/>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Реформирование Марокканских стрелков </a:t>
            </a:r>
            <a:r>
              <a:rPr lang="ru-RU" sz="100" dirty="0"/>
              <a:t>(С 1936 года Франция резко увеличила набор коренных марокканцев (арабов и берберов) в ряды регулярных частей — </a:t>
            </a:r>
            <a:r>
              <a:rPr lang="ru-RU" sz="100" dirty="0" err="1"/>
              <a:t>Тиральеров</a:t>
            </a:r>
            <a:r>
              <a:rPr lang="ru-RU" sz="100" dirty="0"/>
              <a:t> (Тайлеров) и </a:t>
            </a:r>
            <a:r>
              <a:rPr lang="ru-RU" sz="100" dirty="0" err="1"/>
              <a:t>Гумьеров</a:t>
            </a:r>
            <a:r>
              <a:rPr lang="ru-RU" sz="100" dirty="0"/>
              <a:t>. К 1939 году </a:t>
            </a:r>
            <a:r>
              <a:rPr lang="ru-RU" sz="100" dirty="0" err="1"/>
              <a:t>Ногесу</a:t>
            </a:r>
            <a:r>
              <a:rPr lang="ru-RU" sz="100" dirty="0"/>
              <a:t> удалось поставить под ружье невиданное для колонии число местных </a:t>
            </a:r>
            <a:r>
              <a:rPr lang="ru-RU" sz="100" dirty="0" err="1"/>
              <a:t>жителей.Эффект</a:t>
            </a:r>
            <a:r>
              <a:rPr lang="ru-RU" sz="100" dirty="0"/>
              <a:t> в HOI 4: Дает постоянный бонус к призывному населению (</a:t>
            </a:r>
            <a:r>
              <a:rPr lang="ru-RU" sz="100" dirty="0" err="1"/>
              <a:t>Manpower</a:t>
            </a:r>
            <a:r>
              <a:rPr lang="ru-RU" sz="100" dirty="0"/>
              <a:t>) +2.50% на национальных территориях. Снижает время подготовки пехотных дивизий на 10%.)</a:t>
            </a:r>
            <a:endParaRPr lang="ru-RU" sz="700" dirty="0"/>
          </a:p>
        </p:txBody>
      </p:sp>
      <p:cxnSp>
        <p:nvCxnSpPr>
          <p:cNvPr id="68" name="Соединительная линия уступом 620">
            <a:extLst>
              <a:ext uri="{FF2B5EF4-FFF2-40B4-BE49-F238E27FC236}">
                <a16:creationId xmlns:a16="http://schemas.microsoft.com/office/drawing/2014/main" id="{641849B0-CEFB-44B3-9377-BE36AEA44928}"/>
              </a:ext>
            </a:extLst>
          </p:cNvPr>
          <p:cNvCxnSpPr>
            <a:cxnSpLocks/>
            <a:stCxn id="142" idx="2"/>
            <a:endCxn id="60" idx="0"/>
          </p:cNvCxnSpPr>
          <p:nvPr/>
        </p:nvCxnSpPr>
        <p:spPr>
          <a:xfrm rot="16200000" flipH="1">
            <a:off x="47334194" y="27792112"/>
            <a:ext cx="272803" cy="61730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72" name="Прямоугольник 71">
            <a:extLst>
              <a:ext uri="{FF2B5EF4-FFF2-40B4-BE49-F238E27FC236}">
                <a16:creationId xmlns:a16="http://schemas.microsoft.com/office/drawing/2014/main" id="{27032395-622E-45E8-8B35-5FB7A32F4FFC}"/>
              </a:ext>
            </a:extLst>
          </p:cNvPr>
          <p:cNvSpPr/>
          <p:nvPr/>
        </p:nvSpPr>
        <p:spPr>
          <a:xfrm>
            <a:off x="43594468" y="27424365"/>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Марокканские спаги: Рождение моторизованной кавалерии (Полки марокканских </a:t>
            </a:r>
            <a:r>
              <a:rPr lang="ru-RU" sz="700" dirty="0" err="1"/>
              <a:t>спагов</a:t>
            </a:r>
            <a:r>
              <a:rPr lang="ru-RU" sz="700" dirty="0"/>
              <a:t> </a:t>
            </a:r>
            <a:r>
              <a:rPr lang="ru-RU" sz="100" dirty="0"/>
              <a:t>(элитная туземная кавалерия) славились своей стремительностью. В 1937–1938 годах 1-й и 2-й полки </a:t>
            </a:r>
            <a:r>
              <a:rPr lang="ru-RU" sz="100" dirty="0" err="1"/>
              <a:t>спагов</a:t>
            </a:r>
            <a:r>
              <a:rPr lang="ru-RU" sz="100" dirty="0"/>
              <a:t> начали частично пересаживать на мотоциклы и легкие бронеавтомобили, создавая разведывательные группы (GRDI).Эффект в HOI 4: Дает скидку 50% на исследование бронеавтомобилей (</a:t>
            </a:r>
            <a:r>
              <a:rPr lang="ru-RU" sz="100" dirty="0" err="1"/>
              <a:t>Armored</a:t>
            </a:r>
            <a:r>
              <a:rPr lang="ru-RU" sz="100" dirty="0"/>
              <a:t> </a:t>
            </a:r>
            <a:r>
              <a:rPr lang="ru-RU" sz="100" dirty="0" err="1"/>
              <a:t>Cars</a:t>
            </a:r>
            <a:r>
              <a:rPr lang="ru-RU" sz="100" dirty="0"/>
              <a:t>) или моторизованной пехоты. Увеличивает максимальную скорость кавалерийских и моторизованных шаблонов на +10%.)</a:t>
            </a:r>
            <a:endParaRPr lang="ru-RU" sz="700" dirty="0"/>
          </a:p>
        </p:txBody>
      </p:sp>
      <p:cxnSp>
        <p:nvCxnSpPr>
          <p:cNvPr id="77" name="Соединительная линия уступом 620">
            <a:extLst>
              <a:ext uri="{FF2B5EF4-FFF2-40B4-BE49-F238E27FC236}">
                <a16:creationId xmlns:a16="http://schemas.microsoft.com/office/drawing/2014/main" id="{0E212735-8577-4146-B210-5DB708FB93DE}"/>
              </a:ext>
            </a:extLst>
          </p:cNvPr>
          <p:cNvCxnSpPr>
            <a:cxnSpLocks/>
            <a:stCxn id="67" idx="2"/>
            <a:endCxn id="72" idx="0"/>
          </p:cNvCxnSpPr>
          <p:nvPr/>
        </p:nvCxnSpPr>
        <p:spPr>
          <a:xfrm rot="16200000" flipH="1">
            <a:off x="43410511" y="26777245"/>
            <a:ext cx="1290430" cy="381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3" name="Прямоугольник 82">
            <a:extLst>
              <a:ext uri="{FF2B5EF4-FFF2-40B4-BE49-F238E27FC236}">
                <a16:creationId xmlns:a16="http://schemas.microsoft.com/office/drawing/2014/main" id="{AAF920FF-6295-4D24-8F2C-081D365110E2}"/>
              </a:ext>
            </a:extLst>
          </p:cNvPr>
          <p:cNvSpPr/>
          <p:nvPr/>
        </p:nvSpPr>
        <p:spPr>
          <a:xfrm>
            <a:off x="49779429" y="25593935"/>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Уроки Атласских гор (+в горах и горняки)</a:t>
            </a:r>
          </a:p>
        </p:txBody>
      </p:sp>
      <p:cxnSp>
        <p:nvCxnSpPr>
          <p:cNvPr id="84" name="Соединительная линия уступом 620">
            <a:extLst>
              <a:ext uri="{FF2B5EF4-FFF2-40B4-BE49-F238E27FC236}">
                <a16:creationId xmlns:a16="http://schemas.microsoft.com/office/drawing/2014/main" id="{0A94EED3-3573-4BCE-B9D5-0A1985395146}"/>
              </a:ext>
            </a:extLst>
          </p:cNvPr>
          <p:cNvCxnSpPr>
            <a:cxnSpLocks/>
            <a:stCxn id="56" idx="2"/>
            <a:endCxn id="83" idx="0"/>
          </p:cNvCxnSpPr>
          <p:nvPr/>
        </p:nvCxnSpPr>
        <p:spPr>
          <a:xfrm rot="5400000">
            <a:off x="50103629" y="25454970"/>
            <a:ext cx="277929"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87" name="Прямоугольник 86">
            <a:extLst>
              <a:ext uri="{FF2B5EF4-FFF2-40B4-BE49-F238E27FC236}">
                <a16:creationId xmlns:a16="http://schemas.microsoft.com/office/drawing/2014/main" id="{FFA5A51C-91CE-46B7-9AE4-E05DEBBD456D}"/>
              </a:ext>
            </a:extLst>
          </p:cNvPr>
          <p:cNvSpPr/>
          <p:nvPr/>
        </p:nvSpPr>
        <p:spPr>
          <a:xfrm>
            <a:off x="48542412" y="25594109"/>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Заменить Французских офицеров Марокканцами</a:t>
            </a:r>
          </a:p>
        </p:txBody>
      </p:sp>
      <p:sp>
        <p:nvSpPr>
          <p:cNvPr id="90" name="Прямоугольник 89">
            <a:extLst>
              <a:ext uri="{FF2B5EF4-FFF2-40B4-BE49-F238E27FC236}">
                <a16:creationId xmlns:a16="http://schemas.microsoft.com/office/drawing/2014/main" id="{4D3A332D-0695-445F-8EF4-63F5B567A6E2}"/>
              </a:ext>
            </a:extLst>
          </p:cNvPr>
          <p:cNvSpPr/>
          <p:nvPr/>
        </p:nvSpPr>
        <p:spPr>
          <a:xfrm>
            <a:off x="48542674" y="26412570"/>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Заменить Французских офицеров Марокканцами</a:t>
            </a:r>
          </a:p>
        </p:txBody>
      </p:sp>
      <p:cxnSp>
        <p:nvCxnSpPr>
          <p:cNvPr id="91" name="Соединительная линия уступом 620">
            <a:extLst>
              <a:ext uri="{FF2B5EF4-FFF2-40B4-BE49-F238E27FC236}">
                <a16:creationId xmlns:a16="http://schemas.microsoft.com/office/drawing/2014/main" id="{35502416-1FB7-4107-8234-9BD737F2F667}"/>
              </a:ext>
            </a:extLst>
          </p:cNvPr>
          <p:cNvCxnSpPr>
            <a:cxnSpLocks/>
            <a:stCxn id="90" idx="2"/>
            <a:endCxn id="60" idx="0"/>
          </p:cNvCxnSpPr>
          <p:nvPr/>
        </p:nvCxnSpPr>
        <p:spPr>
          <a:xfrm rot="5400000">
            <a:off x="47750244" y="26981575"/>
            <a:ext cx="1284598" cy="1226588"/>
          </a:xfrm>
          <a:prstGeom prst="bentConnector3">
            <a:avLst>
              <a:gd name="adj1" fmla="val 14409"/>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95" name="Прямоугольник 94">
            <a:extLst>
              <a:ext uri="{FF2B5EF4-FFF2-40B4-BE49-F238E27FC236}">
                <a16:creationId xmlns:a16="http://schemas.microsoft.com/office/drawing/2014/main" id="{000671E6-9ACB-4797-81EA-7FFB4B3C9776}"/>
              </a:ext>
            </a:extLst>
          </p:cNvPr>
          <p:cNvSpPr/>
          <p:nvPr/>
        </p:nvSpPr>
        <p:spPr>
          <a:xfrm>
            <a:off x="46074885" y="28237167"/>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Создание собственных ВПК</a:t>
            </a:r>
          </a:p>
        </p:txBody>
      </p:sp>
      <p:cxnSp>
        <p:nvCxnSpPr>
          <p:cNvPr id="96" name="Соединительная линия уступом 620">
            <a:extLst>
              <a:ext uri="{FF2B5EF4-FFF2-40B4-BE49-F238E27FC236}">
                <a16:creationId xmlns:a16="http://schemas.microsoft.com/office/drawing/2014/main" id="{D0FDB751-EAC9-49EC-BA49-353FA06B40AB}"/>
              </a:ext>
            </a:extLst>
          </p:cNvPr>
          <p:cNvCxnSpPr>
            <a:cxnSpLocks/>
            <a:stCxn id="45" idx="2"/>
            <a:endCxn id="87" idx="0"/>
          </p:cNvCxnSpPr>
          <p:nvPr/>
        </p:nvCxnSpPr>
        <p:spPr>
          <a:xfrm rot="16200000" flipH="1">
            <a:off x="48865607" y="25454140"/>
            <a:ext cx="278103" cy="183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00" name="Соединительная линия уступом 620">
            <a:extLst>
              <a:ext uri="{FF2B5EF4-FFF2-40B4-BE49-F238E27FC236}">
                <a16:creationId xmlns:a16="http://schemas.microsoft.com/office/drawing/2014/main" id="{1D3BB680-7BC6-4E4D-93B0-5693659E5A26}"/>
              </a:ext>
            </a:extLst>
          </p:cNvPr>
          <p:cNvCxnSpPr>
            <a:cxnSpLocks/>
            <a:stCxn id="87" idx="2"/>
            <a:endCxn id="90" idx="0"/>
          </p:cNvCxnSpPr>
          <p:nvPr/>
        </p:nvCxnSpPr>
        <p:spPr>
          <a:xfrm rot="16200000" flipH="1">
            <a:off x="48866476" y="26273208"/>
            <a:ext cx="278461" cy="26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12" name="Соединительная линия уступом 620">
            <a:extLst>
              <a:ext uri="{FF2B5EF4-FFF2-40B4-BE49-F238E27FC236}">
                <a16:creationId xmlns:a16="http://schemas.microsoft.com/office/drawing/2014/main" id="{44B3E05F-84E6-4CD9-9732-9187DD92FD5C}"/>
              </a:ext>
            </a:extLst>
          </p:cNvPr>
          <p:cNvCxnSpPr>
            <a:cxnSpLocks/>
            <a:stCxn id="142" idx="2"/>
            <a:endCxn id="95" idx="0"/>
          </p:cNvCxnSpPr>
          <p:nvPr/>
        </p:nvCxnSpPr>
        <p:spPr>
          <a:xfrm rot="5400000">
            <a:off x="46713594" y="27788819"/>
            <a:ext cx="272802" cy="62389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16" name="Прямоугольник 115">
            <a:extLst>
              <a:ext uri="{FF2B5EF4-FFF2-40B4-BE49-F238E27FC236}">
                <a16:creationId xmlns:a16="http://schemas.microsoft.com/office/drawing/2014/main" id="{6C923ED8-0C6F-4BDA-A9DA-A14DE820EC4E}"/>
              </a:ext>
            </a:extLst>
          </p:cNvPr>
          <p:cNvSpPr/>
          <p:nvPr/>
        </p:nvSpPr>
        <p:spPr>
          <a:xfrm>
            <a:off x="46074885" y="29170618"/>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Организовать ВВС Марокко</a:t>
            </a:r>
          </a:p>
        </p:txBody>
      </p:sp>
      <p:sp>
        <p:nvSpPr>
          <p:cNvPr id="117" name="Прямоугольник 116">
            <a:extLst>
              <a:ext uri="{FF2B5EF4-FFF2-40B4-BE49-F238E27FC236}">
                <a16:creationId xmlns:a16="http://schemas.microsoft.com/office/drawing/2014/main" id="{989C3CAC-2E57-4936-AE42-8D1347A1FF71}"/>
              </a:ext>
            </a:extLst>
          </p:cNvPr>
          <p:cNvSpPr/>
          <p:nvPr/>
        </p:nvSpPr>
        <p:spPr>
          <a:xfrm>
            <a:off x="48534750" y="29170215"/>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Основать ВМФ Марокко</a:t>
            </a:r>
          </a:p>
        </p:txBody>
      </p:sp>
      <p:cxnSp>
        <p:nvCxnSpPr>
          <p:cNvPr id="122" name="Соединительная линия уступом 620">
            <a:extLst>
              <a:ext uri="{FF2B5EF4-FFF2-40B4-BE49-F238E27FC236}">
                <a16:creationId xmlns:a16="http://schemas.microsoft.com/office/drawing/2014/main" id="{AF5CC368-C69C-4F49-A3A5-D2D665957A34}"/>
              </a:ext>
            </a:extLst>
          </p:cNvPr>
          <p:cNvCxnSpPr>
            <a:cxnSpLocks/>
            <a:stCxn id="60" idx="2"/>
            <a:endCxn id="116" idx="0"/>
          </p:cNvCxnSpPr>
          <p:nvPr/>
        </p:nvCxnSpPr>
        <p:spPr>
          <a:xfrm rot="5400000">
            <a:off x="46961924" y="28353293"/>
            <a:ext cx="393450" cy="124120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23" name="Соединительная линия уступом 620">
            <a:extLst>
              <a:ext uri="{FF2B5EF4-FFF2-40B4-BE49-F238E27FC236}">
                <a16:creationId xmlns:a16="http://schemas.microsoft.com/office/drawing/2014/main" id="{D5615A50-0893-4183-9AB3-0F88CC013A32}"/>
              </a:ext>
            </a:extLst>
          </p:cNvPr>
          <p:cNvCxnSpPr>
            <a:cxnSpLocks/>
            <a:stCxn id="60" idx="2"/>
            <a:endCxn id="117" idx="0"/>
          </p:cNvCxnSpPr>
          <p:nvPr/>
        </p:nvCxnSpPr>
        <p:spPr>
          <a:xfrm rot="16200000" flipH="1">
            <a:off x="48192058" y="28364359"/>
            <a:ext cx="393047" cy="121866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61" name="Прямоугольник 60">
            <a:extLst>
              <a:ext uri="{FF2B5EF4-FFF2-40B4-BE49-F238E27FC236}">
                <a16:creationId xmlns:a16="http://schemas.microsoft.com/office/drawing/2014/main" id="{1BDF08AB-F681-45B6-B5CD-61E85C8BCE61}"/>
              </a:ext>
            </a:extLst>
          </p:cNvPr>
          <p:cNvSpPr/>
          <p:nvPr/>
        </p:nvSpPr>
        <p:spPr>
          <a:xfrm>
            <a:off x="41115911" y="23093894"/>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Лишить власти халифа</a:t>
            </a:r>
          </a:p>
        </p:txBody>
      </p:sp>
      <p:sp>
        <p:nvSpPr>
          <p:cNvPr id="62" name="Прямоугольник 61">
            <a:extLst>
              <a:ext uri="{FF2B5EF4-FFF2-40B4-BE49-F238E27FC236}">
                <a16:creationId xmlns:a16="http://schemas.microsoft.com/office/drawing/2014/main" id="{F01E357F-2538-4F42-A508-D7C977E20E3E}"/>
              </a:ext>
            </a:extLst>
          </p:cNvPr>
          <p:cNvSpPr/>
          <p:nvPr/>
        </p:nvSpPr>
        <p:spPr>
          <a:xfrm>
            <a:off x="42351808" y="24776004"/>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Вернуть железные рудники Эль-Рифа к работе</a:t>
            </a:r>
          </a:p>
        </p:txBody>
      </p:sp>
      <p:sp>
        <p:nvSpPr>
          <p:cNvPr id="63" name="Прямоугольник 62">
            <a:extLst>
              <a:ext uri="{FF2B5EF4-FFF2-40B4-BE49-F238E27FC236}">
                <a16:creationId xmlns:a16="http://schemas.microsoft.com/office/drawing/2014/main" id="{6AED1E57-3209-4749-B8A1-832D75242D7D}"/>
              </a:ext>
            </a:extLst>
          </p:cNvPr>
          <p:cNvSpPr/>
          <p:nvPr/>
        </p:nvSpPr>
        <p:spPr>
          <a:xfrm>
            <a:off x="41115912" y="24776004"/>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Репрессировать членов Партии Марокканского Единства </a:t>
            </a:r>
            <a:r>
              <a:rPr lang="ru-RU" sz="100" dirty="0"/>
              <a:t>(Опасаясь влияния Торреса, верховный комиссар генерал </a:t>
            </a:r>
            <a:r>
              <a:rPr lang="ru-RU" sz="100" dirty="0" err="1"/>
              <a:t>Бейгбедер</a:t>
            </a:r>
            <a:r>
              <a:rPr lang="ru-RU" sz="100" dirty="0"/>
              <a:t> противопоставил ему другого националистического деятеля - Мекки </a:t>
            </a:r>
            <a:r>
              <a:rPr lang="ru-RU" sz="100" dirty="0" err="1"/>
              <a:t>Насыри</a:t>
            </a:r>
            <a:r>
              <a:rPr lang="ru-RU" sz="100" dirty="0"/>
              <a:t>. Последний снискал популярность </a:t>
            </a:r>
            <a:r>
              <a:rPr lang="ru-RU" sz="100" dirty="0" err="1"/>
              <a:t>реча¬ми</a:t>
            </a:r>
            <a:r>
              <a:rPr lang="ru-RU" sz="100" dirty="0"/>
              <a:t> в Большой мечети о национальных чаяниях марокканского народа. Верховный комиссар помог </a:t>
            </a:r>
            <a:r>
              <a:rPr lang="ru-RU" sz="100" dirty="0" err="1"/>
              <a:t>Насыри</a:t>
            </a:r>
            <a:r>
              <a:rPr lang="ru-RU" sz="100" dirty="0"/>
              <a:t> создать Партию </a:t>
            </a:r>
            <a:r>
              <a:rPr lang="ru-RU" sz="100" dirty="0" err="1"/>
              <a:t>ма¬рокканского</a:t>
            </a:r>
            <a:r>
              <a:rPr lang="ru-RU" sz="100" dirty="0"/>
              <a:t> единства (ПМЕ). Лидеры обеих партий представляли одни н те же социальные слои, выдвигали практически </a:t>
            </a:r>
            <a:r>
              <a:rPr lang="ru-RU" sz="100" dirty="0" err="1"/>
              <a:t>идентич¬ные</a:t>
            </a:r>
            <a:r>
              <a:rPr lang="ru-RU" sz="100" dirty="0"/>
              <a:t> требования. Но для арабского населения партия </a:t>
            </a:r>
            <a:r>
              <a:rPr lang="ru-RU" sz="100" dirty="0" err="1"/>
              <a:t>Насыри</a:t>
            </a:r>
            <a:r>
              <a:rPr lang="ru-RU" sz="100" dirty="0"/>
              <a:t> была более привлекательной вследствие ее приверженности </a:t>
            </a:r>
            <a:r>
              <a:rPr lang="ru-RU" sz="100" dirty="0" err="1"/>
              <a:t>ара¬бизму</a:t>
            </a:r>
            <a:r>
              <a:rPr lang="ru-RU" sz="100" dirty="0"/>
              <a:t>: ПМЕ выступала за то, чтобы арабский язык был объявлен единственным официальным языком мусульманского Марокко. Обе партии первоначально не ставили перед собой конкретных задач по изменению положения в испанской зоне.)</a:t>
            </a:r>
            <a:endParaRPr lang="ru-RU" sz="700" dirty="0"/>
          </a:p>
        </p:txBody>
      </p:sp>
      <p:sp>
        <p:nvSpPr>
          <p:cNvPr id="65" name="Прямоугольник 64">
            <a:extLst>
              <a:ext uri="{FF2B5EF4-FFF2-40B4-BE49-F238E27FC236}">
                <a16:creationId xmlns:a16="http://schemas.microsoft.com/office/drawing/2014/main" id="{874692AA-CCE2-4AB8-9FED-C4FEB6AED264}"/>
              </a:ext>
            </a:extLst>
          </p:cNvPr>
          <p:cNvSpPr/>
          <p:nvPr/>
        </p:nvSpPr>
        <p:spPr>
          <a:xfrm>
            <a:off x="41724922" y="23971841"/>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Подчинить власти </a:t>
            </a:r>
            <a:r>
              <a:rPr lang="ru-RU" sz="700" dirty="0" err="1"/>
              <a:t>Рифские</a:t>
            </a:r>
            <a:r>
              <a:rPr lang="ru-RU" sz="700" dirty="0"/>
              <a:t> племена</a:t>
            </a:r>
          </a:p>
        </p:txBody>
      </p:sp>
      <p:sp>
        <p:nvSpPr>
          <p:cNvPr id="69" name="Прямоугольник 68">
            <a:extLst>
              <a:ext uri="{FF2B5EF4-FFF2-40B4-BE49-F238E27FC236}">
                <a16:creationId xmlns:a16="http://schemas.microsoft.com/office/drawing/2014/main" id="{4E0BC902-F193-41B5-9412-7B2908EC0C4D}"/>
              </a:ext>
            </a:extLst>
          </p:cNvPr>
          <p:cNvSpPr/>
          <p:nvPr/>
        </p:nvSpPr>
        <p:spPr>
          <a:xfrm>
            <a:off x="39877061" y="24776004"/>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Интегрировать националистов из Испанского протектората в систему</a:t>
            </a:r>
          </a:p>
        </p:txBody>
      </p:sp>
      <p:sp>
        <p:nvSpPr>
          <p:cNvPr id="70" name="Прямоугольник 69">
            <a:extLst>
              <a:ext uri="{FF2B5EF4-FFF2-40B4-BE49-F238E27FC236}">
                <a16:creationId xmlns:a16="http://schemas.microsoft.com/office/drawing/2014/main" id="{83D56CB7-8E45-4830-9F6B-4811EE5F5515}"/>
              </a:ext>
            </a:extLst>
          </p:cNvPr>
          <p:cNvSpPr/>
          <p:nvPr/>
        </p:nvSpPr>
        <p:spPr>
          <a:xfrm>
            <a:off x="40486071" y="23971841"/>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Набрать испанских </a:t>
            </a:r>
            <a:r>
              <a:rPr lang="ru-RU" sz="700" dirty="0" err="1"/>
              <a:t>регулярисов</a:t>
            </a:r>
            <a:r>
              <a:rPr lang="ru-RU" sz="700" dirty="0"/>
              <a:t> в армию</a:t>
            </a:r>
          </a:p>
        </p:txBody>
      </p:sp>
      <p:cxnSp>
        <p:nvCxnSpPr>
          <p:cNvPr id="71" name="Соединительная линия уступом 620">
            <a:extLst>
              <a:ext uri="{FF2B5EF4-FFF2-40B4-BE49-F238E27FC236}">
                <a16:creationId xmlns:a16="http://schemas.microsoft.com/office/drawing/2014/main" id="{FC503326-F9EF-430D-9DFB-5A12F33842F7}"/>
              </a:ext>
            </a:extLst>
          </p:cNvPr>
          <p:cNvCxnSpPr>
            <a:cxnSpLocks/>
            <a:stCxn id="61" idx="2"/>
            <a:endCxn id="70" idx="0"/>
          </p:cNvCxnSpPr>
          <p:nvPr/>
        </p:nvCxnSpPr>
        <p:spPr>
          <a:xfrm rot="5400000">
            <a:off x="41095181" y="23487947"/>
            <a:ext cx="337947" cy="62984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3" name="Соединительная линия уступом 620">
            <a:extLst>
              <a:ext uri="{FF2B5EF4-FFF2-40B4-BE49-F238E27FC236}">
                <a16:creationId xmlns:a16="http://schemas.microsoft.com/office/drawing/2014/main" id="{A7450548-355A-4BD6-802F-F779613A5B27}"/>
              </a:ext>
            </a:extLst>
          </p:cNvPr>
          <p:cNvCxnSpPr>
            <a:cxnSpLocks/>
            <a:stCxn id="61" idx="2"/>
            <a:endCxn id="65" idx="0"/>
          </p:cNvCxnSpPr>
          <p:nvPr/>
        </p:nvCxnSpPr>
        <p:spPr>
          <a:xfrm rot="16200000" flipH="1">
            <a:off x="41714606" y="23498361"/>
            <a:ext cx="337947" cy="60901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82" name="Соединительная линия уступом 620">
            <a:extLst>
              <a:ext uri="{FF2B5EF4-FFF2-40B4-BE49-F238E27FC236}">
                <a16:creationId xmlns:a16="http://schemas.microsoft.com/office/drawing/2014/main" id="{78C7FACD-A76A-4290-A8B6-AA4949ACE264}"/>
              </a:ext>
            </a:extLst>
          </p:cNvPr>
          <p:cNvCxnSpPr>
            <a:cxnSpLocks/>
            <a:stCxn id="70" idx="2"/>
            <a:endCxn id="63" idx="0"/>
          </p:cNvCxnSpPr>
          <p:nvPr/>
        </p:nvCxnSpPr>
        <p:spPr>
          <a:xfrm rot="16200000" flipH="1">
            <a:off x="41132073" y="24329001"/>
            <a:ext cx="264163" cy="62984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85" name="Соединительная линия уступом 620">
            <a:extLst>
              <a:ext uri="{FF2B5EF4-FFF2-40B4-BE49-F238E27FC236}">
                <a16:creationId xmlns:a16="http://schemas.microsoft.com/office/drawing/2014/main" id="{628A329A-99EE-44F7-B1A4-82DAB3BC0CE4}"/>
              </a:ext>
            </a:extLst>
          </p:cNvPr>
          <p:cNvCxnSpPr>
            <a:cxnSpLocks/>
            <a:stCxn id="65" idx="2"/>
            <a:endCxn id="63" idx="0"/>
          </p:cNvCxnSpPr>
          <p:nvPr/>
        </p:nvCxnSpPr>
        <p:spPr>
          <a:xfrm rot="5400000">
            <a:off x="41751499" y="24339417"/>
            <a:ext cx="264163" cy="609010"/>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88" name="Соединительная линия уступом 620">
            <a:extLst>
              <a:ext uri="{FF2B5EF4-FFF2-40B4-BE49-F238E27FC236}">
                <a16:creationId xmlns:a16="http://schemas.microsoft.com/office/drawing/2014/main" id="{A1BFEAB3-7700-47A8-97C5-F33E5DF32541}"/>
              </a:ext>
            </a:extLst>
          </p:cNvPr>
          <p:cNvCxnSpPr>
            <a:cxnSpLocks/>
            <a:stCxn id="65" idx="2"/>
            <a:endCxn id="62" idx="0"/>
          </p:cNvCxnSpPr>
          <p:nvPr/>
        </p:nvCxnSpPr>
        <p:spPr>
          <a:xfrm rot="16200000" flipH="1">
            <a:off x="42369447" y="24330479"/>
            <a:ext cx="264163" cy="62688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2" name="Соединительная линия уступом 620">
            <a:extLst>
              <a:ext uri="{FF2B5EF4-FFF2-40B4-BE49-F238E27FC236}">
                <a16:creationId xmlns:a16="http://schemas.microsoft.com/office/drawing/2014/main" id="{96F05825-E7D9-467F-B987-1D4CE8BB13E2}"/>
              </a:ext>
            </a:extLst>
          </p:cNvPr>
          <p:cNvCxnSpPr>
            <a:cxnSpLocks/>
            <a:stCxn id="70" idx="2"/>
            <a:endCxn id="69" idx="0"/>
          </p:cNvCxnSpPr>
          <p:nvPr/>
        </p:nvCxnSpPr>
        <p:spPr>
          <a:xfrm rot="5400000">
            <a:off x="40512648" y="24339417"/>
            <a:ext cx="264163" cy="609010"/>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94" name="Соединительная линия уступом 620">
            <a:extLst>
              <a:ext uri="{FF2B5EF4-FFF2-40B4-BE49-F238E27FC236}">
                <a16:creationId xmlns:a16="http://schemas.microsoft.com/office/drawing/2014/main" id="{167B7C7B-C300-4E14-8725-ADB1B931CB98}"/>
              </a:ext>
            </a:extLst>
          </p:cNvPr>
          <p:cNvCxnSpPr>
            <a:cxnSpLocks/>
            <a:stCxn id="65" idx="2"/>
            <a:endCxn id="69" idx="0"/>
          </p:cNvCxnSpPr>
          <p:nvPr/>
        </p:nvCxnSpPr>
        <p:spPr>
          <a:xfrm rot="5400000">
            <a:off x="41132074" y="23719992"/>
            <a:ext cx="264163" cy="184786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97" name="Прямая соединительная линия 96">
            <a:extLst>
              <a:ext uri="{FF2B5EF4-FFF2-40B4-BE49-F238E27FC236}">
                <a16:creationId xmlns:a16="http://schemas.microsoft.com/office/drawing/2014/main" id="{3B9A9F20-E65F-4A9E-BCC9-9DAC8EB1342A}"/>
              </a:ext>
            </a:extLst>
          </p:cNvPr>
          <p:cNvCxnSpPr>
            <a:cxnSpLocks/>
            <a:stCxn id="63" idx="1"/>
            <a:endCxn id="69" idx="3"/>
          </p:cNvCxnSpPr>
          <p:nvPr/>
        </p:nvCxnSpPr>
        <p:spPr>
          <a:xfrm flipH="1">
            <a:off x="40803386" y="25046004"/>
            <a:ext cx="312526"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01" name="Прямоугольник 100">
            <a:extLst>
              <a:ext uri="{FF2B5EF4-FFF2-40B4-BE49-F238E27FC236}">
                <a16:creationId xmlns:a16="http://schemas.microsoft.com/office/drawing/2014/main" id="{1F14AB13-F1EA-4B81-8451-4DDA8E257BA4}"/>
              </a:ext>
            </a:extLst>
          </p:cNvPr>
          <p:cNvSpPr/>
          <p:nvPr/>
        </p:nvSpPr>
        <p:spPr>
          <a:xfrm>
            <a:off x="41115911" y="25593934"/>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Лишить влияния партию Национальных Реформ</a:t>
            </a:r>
          </a:p>
        </p:txBody>
      </p:sp>
      <p:sp>
        <p:nvSpPr>
          <p:cNvPr id="102" name="Прямоугольник 101">
            <a:extLst>
              <a:ext uri="{FF2B5EF4-FFF2-40B4-BE49-F238E27FC236}">
                <a16:creationId xmlns:a16="http://schemas.microsoft.com/office/drawing/2014/main" id="{ECE50FB2-31E6-46C4-9D3A-104FC81239E8}"/>
              </a:ext>
            </a:extLst>
          </p:cNvPr>
          <p:cNvSpPr/>
          <p:nvPr/>
        </p:nvSpPr>
        <p:spPr>
          <a:xfrm>
            <a:off x="42349367" y="25593934"/>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Развить промышленность севера</a:t>
            </a:r>
          </a:p>
        </p:txBody>
      </p:sp>
      <p:cxnSp>
        <p:nvCxnSpPr>
          <p:cNvPr id="103" name="Соединительная линия уступом 620">
            <a:extLst>
              <a:ext uri="{FF2B5EF4-FFF2-40B4-BE49-F238E27FC236}">
                <a16:creationId xmlns:a16="http://schemas.microsoft.com/office/drawing/2014/main" id="{0F770443-4F5C-4EEA-BC82-45096A8FC7CF}"/>
              </a:ext>
            </a:extLst>
          </p:cNvPr>
          <p:cNvCxnSpPr>
            <a:cxnSpLocks/>
            <a:stCxn id="63" idx="2"/>
            <a:endCxn id="101" idx="0"/>
          </p:cNvCxnSpPr>
          <p:nvPr/>
        </p:nvCxnSpPr>
        <p:spPr>
          <a:xfrm rot="5400000">
            <a:off x="41440110" y="25454969"/>
            <a:ext cx="277930"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05" name="Соединительная линия уступом 620">
            <a:extLst>
              <a:ext uri="{FF2B5EF4-FFF2-40B4-BE49-F238E27FC236}">
                <a16:creationId xmlns:a16="http://schemas.microsoft.com/office/drawing/2014/main" id="{4F310D0C-26BE-453B-8C9B-905C2BDEA260}"/>
              </a:ext>
            </a:extLst>
          </p:cNvPr>
          <p:cNvCxnSpPr>
            <a:cxnSpLocks/>
            <a:stCxn id="62" idx="2"/>
            <a:endCxn id="102" idx="0"/>
          </p:cNvCxnSpPr>
          <p:nvPr/>
        </p:nvCxnSpPr>
        <p:spPr>
          <a:xfrm rot="5400000">
            <a:off x="42674786" y="25453749"/>
            <a:ext cx="277930" cy="244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13" name="Прямоугольник 112">
            <a:extLst>
              <a:ext uri="{FF2B5EF4-FFF2-40B4-BE49-F238E27FC236}">
                <a16:creationId xmlns:a16="http://schemas.microsoft.com/office/drawing/2014/main" id="{BC31CCD4-CC55-4D34-8E0A-40DB584DBBBF}"/>
              </a:ext>
            </a:extLst>
          </p:cNvPr>
          <p:cNvSpPr/>
          <p:nvPr/>
        </p:nvSpPr>
        <p:spPr>
          <a:xfrm>
            <a:off x="42974576" y="26411863"/>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Вернуться к активной торговле мандаринами</a:t>
            </a:r>
          </a:p>
        </p:txBody>
      </p:sp>
      <p:cxnSp>
        <p:nvCxnSpPr>
          <p:cNvPr id="132" name="Соединительная линия уступом 620">
            <a:extLst>
              <a:ext uri="{FF2B5EF4-FFF2-40B4-BE49-F238E27FC236}">
                <a16:creationId xmlns:a16="http://schemas.microsoft.com/office/drawing/2014/main" id="{AEF2F215-C881-4F8A-8CAA-796991A31A9B}"/>
              </a:ext>
            </a:extLst>
          </p:cNvPr>
          <p:cNvCxnSpPr>
            <a:cxnSpLocks/>
            <a:stCxn id="62" idx="2"/>
            <a:endCxn id="113" idx="0"/>
          </p:cNvCxnSpPr>
          <p:nvPr/>
        </p:nvCxnSpPr>
        <p:spPr>
          <a:xfrm rot="16200000" flipH="1">
            <a:off x="42578426" y="25552549"/>
            <a:ext cx="1095859" cy="622768"/>
          </a:xfrm>
          <a:prstGeom prst="bentConnector3">
            <a:avLst>
              <a:gd name="adj1" fmla="val 11988"/>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33" name="Прямоугольник 132">
            <a:extLst>
              <a:ext uri="{FF2B5EF4-FFF2-40B4-BE49-F238E27FC236}">
                <a16:creationId xmlns:a16="http://schemas.microsoft.com/office/drawing/2014/main" id="{F8E638F8-87A1-42A3-B0B5-E2866ADB6525}"/>
              </a:ext>
            </a:extLst>
          </p:cNvPr>
          <p:cNvSpPr/>
          <p:nvPr/>
        </p:nvSpPr>
        <p:spPr>
          <a:xfrm>
            <a:off x="46667851" y="19163104"/>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Создать государственный банк Марокко </a:t>
            </a:r>
            <a:r>
              <a:rPr lang="ru-RU" sz="400" dirty="0"/>
              <a:t>(После объявления большого джихада)</a:t>
            </a:r>
            <a:endParaRPr lang="ru-RU" sz="700" dirty="0"/>
          </a:p>
        </p:txBody>
      </p:sp>
      <p:sp>
        <p:nvSpPr>
          <p:cNvPr id="134" name="Прямоугольник 133">
            <a:extLst>
              <a:ext uri="{FF2B5EF4-FFF2-40B4-BE49-F238E27FC236}">
                <a16:creationId xmlns:a16="http://schemas.microsoft.com/office/drawing/2014/main" id="{35CD4D2E-02FD-40F3-9B79-AC32C4F387A4}"/>
              </a:ext>
            </a:extLst>
          </p:cNvPr>
          <p:cNvSpPr/>
          <p:nvPr/>
        </p:nvSpPr>
        <p:spPr>
          <a:xfrm>
            <a:off x="46667850" y="20763913"/>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Интегрировать Французские школы в новую систему образования </a:t>
            </a:r>
            <a:r>
              <a:rPr lang="ru-RU" sz="100" dirty="0"/>
              <a:t>(Доступ к аттестату о среднем образовании был предоставлен марокканскому мусульманскому населению в 1930 году, но доступ к элитным французским школам ( лицеям ) был предоставлен мусульманскому населению только после окончания войны. [ 11 ] Около девяноста процентов мусульманского населения Марокко были неграмотны во время Второй мировой войны. [)</a:t>
            </a:r>
            <a:endParaRPr lang="ru-RU" sz="700" dirty="0"/>
          </a:p>
        </p:txBody>
      </p:sp>
      <p:sp>
        <p:nvSpPr>
          <p:cNvPr id="136" name="Прямоугольник 135">
            <a:extLst>
              <a:ext uri="{FF2B5EF4-FFF2-40B4-BE49-F238E27FC236}">
                <a16:creationId xmlns:a16="http://schemas.microsoft.com/office/drawing/2014/main" id="{3FDAFDBE-96D8-45C2-BC5D-878BC9F8B7F2}"/>
              </a:ext>
            </a:extLst>
          </p:cNvPr>
          <p:cNvSpPr/>
          <p:nvPr/>
        </p:nvSpPr>
        <p:spPr>
          <a:xfrm>
            <a:off x="46050630" y="19963204"/>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Внедрить светское образование</a:t>
            </a:r>
          </a:p>
        </p:txBody>
      </p:sp>
      <p:sp>
        <p:nvSpPr>
          <p:cNvPr id="137" name="Прямоугольник 136">
            <a:extLst>
              <a:ext uri="{FF2B5EF4-FFF2-40B4-BE49-F238E27FC236}">
                <a16:creationId xmlns:a16="http://schemas.microsoft.com/office/drawing/2014/main" id="{F3E0C390-3D96-483F-B3EC-2211AC86D036}"/>
              </a:ext>
            </a:extLst>
          </p:cNvPr>
          <p:cNvSpPr/>
          <p:nvPr/>
        </p:nvSpPr>
        <p:spPr>
          <a:xfrm>
            <a:off x="47292690" y="19963204"/>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Расширить религиозные школы</a:t>
            </a:r>
          </a:p>
        </p:txBody>
      </p:sp>
      <p:cxnSp>
        <p:nvCxnSpPr>
          <p:cNvPr id="140" name="Прямая соединительная линия 139">
            <a:extLst>
              <a:ext uri="{FF2B5EF4-FFF2-40B4-BE49-F238E27FC236}">
                <a16:creationId xmlns:a16="http://schemas.microsoft.com/office/drawing/2014/main" id="{08D9148F-FD7B-49BC-A4DA-251ACA054636}"/>
              </a:ext>
            </a:extLst>
          </p:cNvPr>
          <p:cNvCxnSpPr>
            <a:cxnSpLocks/>
            <a:stCxn id="137" idx="1"/>
            <a:endCxn id="136" idx="3"/>
          </p:cNvCxnSpPr>
          <p:nvPr/>
        </p:nvCxnSpPr>
        <p:spPr>
          <a:xfrm flipH="1">
            <a:off x="46976955" y="20233204"/>
            <a:ext cx="31573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1" name="Соединительная линия уступом 620">
            <a:extLst>
              <a:ext uri="{FF2B5EF4-FFF2-40B4-BE49-F238E27FC236}">
                <a16:creationId xmlns:a16="http://schemas.microsoft.com/office/drawing/2014/main" id="{851DA87B-FC5F-4219-B97B-2D0AC6314594}"/>
              </a:ext>
            </a:extLst>
          </p:cNvPr>
          <p:cNvCxnSpPr>
            <a:cxnSpLocks/>
            <a:stCxn id="133" idx="2"/>
            <a:endCxn id="136" idx="0"/>
          </p:cNvCxnSpPr>
          <p:nvPr/>
        </p:nvCxnSpPr>
        <p:spPr>
          <a:xfrm rot="5400000">
            <a:off x="46692354" y="19524544"/>
            <a:ext cx="260100" cy="61722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43" name="Соединительная линия уступом 620">
            <a:extLst>
              <a:ext uri="{FF2B5EF4-FFF2-40B4-BE49-F238E27FC236}">
                <a16:creationId xmlns:a16="http://schemas.microsoft.com/office/drawing/2014/main" id="{0F472F40-02E6-490C-AF0B-15FF503A319E}"/>
              </a:ext>
            </a:extLst>
          </p:cNvPr>
          <p:cNvCxnSpPr>
            <a:cxnSpLocks/>
            <a:stCxn id="133" idx="2"/>
            <a:endCxn id="137" idx="0"/>
          </p:cNvCxnSpPr>
          <p:nvPr/>
        </p:nvCxnSpPr>
        <p:spPr>
          <a:xfrm rot="16200000" flipH="1">
            <a:off x="47313383" y="19520734"/>
            <a:ext cx="260100" cy="62483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44" name="Соединительная линия уступом 620">
            <a:extLst>
              <a:ext uri="{FF2B5EF4-FFF2-40B4-BE49-F238E27FC236}">
                <a16:creationId xmlns:a16="http://schemas.microsoft.com/office/drawing/2014/main" id="{01DB8A97-03F6-49A6-8100-7A59ACF12FEA}"/>
              </a:ext>
            </a:extLst>
          </p:cNvPr>
          <p:cNvCxnSpPr>
            <a:cxnSpLocks/>
            <a:stCxn id="136" idx="2"/>
            <a:endCxn id="134" idx="0"/>
          </p:cNvCxnSpPr>
          <p:nvPr/>
        </p:nvCxnSpPr>
        <p:spPr>
          <a:xfrm rot="16200000" flipH="1">
            <a:off x="46692049" y="20324948"/>
            <a:ext cx="260709" cy="617220"/>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46" name="Соединительная линия уступом 620">
            <a:extLst>
              <a:ext uri="{FF2B5EF4-FFF2-40B4-BE49-F238E27FC236}">
                <a16:creationId xmlns:a16="http://schemas.microsoft.com/office/drawing/2014/main" id="{419368A3-9936-4226-A921-A5B7276F6845}"/>
              </a:ext>
            </a:extLst>
          </p:cNvPr>
          <p:cNvCxnSpPr>
            <a:cxnSpLocks/>
            <a:stCxn id="137" idx="2"/>
            <a:endCxn id="134" idx="0"/>
          </p:cNvCxnSpPr>
          <p:nvPr/>
        </p:nvCxnSpPr>
        <p:spPr>
          <a:xfrm rot="5400000">
            <a:off x="47313079" y="20321138"/>
            <a:ext cx="260709" cy="624840"/>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147" name="Прямоугольник 146">
            <a:extLst>
              <a:ext uri="{FF2B5EF4-FFF2-40B4-BE49-F238E27FC236}">
                <a16:creationId xmlns:a16="http://schemas.microsoft.com/office/drawing/2014/main" id="{F8CB37AF-4F05-4087-86D6-C449AB4BD77B}"/>
              </a:ext>
            </a:extLst>
          </p:cNvPr>
          <p:cNvSpPr/>
          <p:nvPr/>
        </p:nvSpPr>
        <p:spPr>
          <a:xfrm>
            <a:off x="48534749" y="20763913"/>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Пустить иностранные банки в страну</a:t>
            </a:r>
          </a:p>
        </p:txBody>
      </p:sp>
      <p:sp>
        <p:nvSpPr>
          <p:cNvPr id="148" name="Прямоугольник 147">
            <a:extLst>
              <a:ext uri="{FF2B5EF4-FFF2-40B4-BE49-F238E27FC236}">
                <a16:creationId xmlns:a16="http://schemas.microsoft.com/office/drawing/2014/main" id="{753471EF-1556-4020-A5BF-12D16F8965A5}"/>
              </a:ext>
            </a:extLst>
          </p:cNvPr>
          <p:cNvSpPr/>
          <p:nvPr/>
        </p:nvSpPr>
        <p:spPr>
          <a:xfrm>
            <a:off x="48534750" y="19963203"/>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Внедрить Марокканский дирхам</a:t>
            </a:r>
          </a:p>
        </p:txBody>
      </p:sp>
      <p:cxnSp>
        <p:nvCxnSpPr>
          <p:cNvPr id="149" name="Соединительная линия уступом 620">
            <a:extLst>
              <a:ext uri="{FF2B5EF4-FFF2-40B4-BE49-F238E27FC236}">
                <a16:creationId xmlns:a16="http://schemas.microsoft.com/office/drawing/2014/main" id="{0026C1BB-50CA-4518-B86F-14EC51070B51}"/>
              </a:ext>
            </a:extLst>
          </p:cNvPr>
          <p:cNvCxnSpPr>
            <a:cxnSpLocks/>
            <a:stCxn id="133" idx="2"/>
            <a:endCxn id="148" idx="0"/>
          </p:cNvCxnSpPr>
          <p:nvPr/>
        </p:nvCxnSpPr>
        <p:spPr>
          <a:xfrm rot="16200000" flipH="1">
            <a:off x="47934414" y="18899703"/>
            <a:ext cx="260099" cy="186689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50" name="Соединительная линия уступом 620">
            <a:extLst>
              <a:ext uri="{FF2B5EF4-FFF2-40B4-BE49-F238E27FC236}">
                <a16:creationId xmlns:a16="http://schemas.microsoft.com/office/drawing/2014/main" id="{3E1962AF-9446-4D47-8B98-FE2EAB3657D4}"/>
              </a:ext>
            </a:extLst>
          </p:cNvPr>
          <p:cNvCxnSpPr>
            <a:cxnSpLocks/>
            <a:stCxn id="148" idx="2"/>
            <a:endCxn id="147" idx="0"/>
          </p:cNvCxnSpPr>
          <p:nvPr/>
        </p:nvCxnSpPr>
        <p:spPr>
          <a:xfrm rot="5400000">
            <a:off x="48867558" y="20633558"/>
            <a:ext cx="260710"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51" name="Прямоугольник 150">
            <a:extLst>
              <a:ext uri="{FF2B5EF4-FFF2-40B4-BE49-F238E27FC236}">
                <a16:creationId xmlns:a16="http://schemas.microsoft.com/office/drawing/2014/main" id="{DD7427AF-80D0-408A-B81F-77375D5490CB}"/>
              </a:ext>
            </a:extLst>
          </p:cNvPr>
          <p:cNvSpPr/>
          <p:nvPr/>
        </p:nvSpPr>
        <p:spPr>
          <a:xfrm>
            <a:off x="44808570" y="19963202"/>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Дать толчок тяжёлой промышленности</a:t>
            </a:r>
          </a:p>
        </p:txBody>
      </p:sp>
      <p:cxnSp>
        <p:nvCxnSpPr>
          <p:cNvPr id="153" name="Соединительная линия уступом 620">
            <a:extLst>
              <a:ext uri="{FF2B5EF4-FFF2-40B4-BE49-F238E27FC236}">
                <a16:creationId xmlns:a16="http://schemas.microsoft.com/office/drawing/2014/main" id="{C480C53B-A2DF-4046-A686-033B9D079831}"/>
              </a:ext>
            </a:extLst>
          </p:cNvPr>
          <p:cNvCxnSpPr>
            <a:cxnSpLocks/>
            <a:stCxn id="133" idx="2"/>
            <a:endCxn id="151" idx="0"/>
          </p:cNvCxnSpPr>
          <p:nvPr/>
        </p:nvCxnSpPr>
        <p:spPr>
          <a:xfrm rot="5400000">
            <a:off x="46071325" y="18903513"/>
            <a:ext cx="260098" cy="185928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54" name="Прямоугольник 153">
            <a:extLst>
              <a:ext uri="{FF2B5EF4-FFF2-40B4-BE49-F238E27FC236}">
                <a16:creationId xmlns:a16="http://schemas.microsoft.com/office/drawing/2014/main" id="{3C51ADB6-A21D-4C68-AE41-8BE2E1853373}"/>
              </a:ext>
            </a:extLst>
          </p:cNvPr>
          <p:cNvSpPr/>
          <p:nvPr/>
        </p:nvSpPr>
        <p:spPr>
          <a:xfrm>
            <a:off x="44810998" y="20763913"/>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Начать путь индустриализации Марокко</a:t>
            </a:r>
          </a:p>
        </p:txBody>
      </p:sp>
      <p:cxnSp>
        <p:nvCxnSpPr>
          <p:cNvPr id="155" name="Соединительная линия уступом 620">
            <a:extLst>
              <a:ext uri="{FF2B5EF4-FFF2-40B4-BE49-F238E27FC236}">
                <a16:creationId xmlns:a16="http://schemas.microsoft.com/office/drawing/2014/main" id="{466D1665-8F86-44FC-AC03-61547B4F4895}"/>
              </a:ext>
            </a:extLst>
          </p:cNvPr>
          <p:cNvCxnSpPr>
            <a:cxnSpLocks/>
            <a:stCxn id="151" idx="2"/>
            <a:endCxn id="154" idx="0"/>
          </p:cNvCxnSpPr>
          <p:nvPr/>
        </p:nvCxnSpPr>
        <p:spPr>
          <a:xfrm rot="16200000" flipH="1">
            <a:off x="45142592" y="20632343"/>
            <a:ext cx="260711" cy="242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61" name="Прямоугольник 160">
            <a:extLst>
              <a:ext uri="{FF2B5EF4-FFF2-40B4-BE49-F238E27FC236}">
                <a16:creationId xmlns:a16="http://schemas.microsoft.com/office/drawing/2014/main" id="{FE9EC9A5-C1C1-4A0E-B8B7-F01A783C17F6}"/>
              </a:ext>
            </a:extLst>
          </p:cNvPr>
          <p:cNvSpPr/>
          <p:nvPr/>
        </p:nvSpPr>
        <p:spPr>
          <a:xfrm>
            <a:off x="47292690" y="16760327"/>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Запуск программы «Службы общественного труда»</a:t>
            </a:r>
          </a:p>
          <a:p>
            <a:pPr algn="ctr"/>
            <a:r>
              <a:rPr lang="ru-RU" sz="100" dirty="0"/>
              <a:t>(Чтобы занять сотни тысяч разорившихся крестьян, бежавших в города и создававших первые трущобы (бидонвили) Касабланки и Рабата, французы скопировали американские методы «Нового курса» </a:t>
            </a:r>
            <a:r>
              <a:rPr lang="ru-RU" sz="100" dirty="0" err="1"/>
              <a:t>Рузвельта:Инфраструктурные</a:t>
            </a:r>
            <a:r>
              <a:rPr lang="ru-RU" sz="100" dirty="0"/>
              <a:t> фокусы: Марокканцев массово нанимали за минимальную оплату и паёк на ручной труд — строительство дорог, прокладку телефонных линий и ирригационных </a:t>
            </a:r>
            <a:r>
              <a:rPr lang="ru-RU" sz="100" dirty="0" err="1"/>
              <a:t>каналов.Форсирование</a:t>
            </a:r>
            <a:r>
              <a:rPr lang="ru-RU" sz="100" dirty="0"/>
              <a:t> строительства плотины Эль-</a:t>
            </a:r>
            <a:r>
              <a:rPr lang="ru-RU" sz="100" dirty="0" err="1"/>
              <a:t>Кансера</a:t>
            </a:r>
            <a:r>
              <a:rPr lang="ru-RU" sz="100" dirty="0"/>
              <a:t>: В 1937 году были брошены колоссальные человеческие ресурсы на ускорение строительства этой ГЭС на реке </a:t>
            </a:r>
            <a:r>
              <a:rPr lang="ru-RU" sz="100" dirty="0" err="1"/>
              <a:t>Бех</a:t>
            </a:r>
            <a:r>
              <a:rPr lang="ru-RU" sz="100" dirty="0"/>
              <a:t> для обеспечения водой Новых городов.)</a:t>
            </a:r>
            <a:endParaRPr lang="ru-RU" sz="700" dirty="0"/>
          </a:p>
        </p:txBody>
      </p:sp>
      <p:sp>
        <p:nvSpPr>
          <p:cNvPr id="160" name="Прямоугольник 159">
            <a:extLst>
              <a:ext uri="{FF2B5EF4-FFF2-40B4-BE49-F238E27FC236}">
                <a16:creationId xmlns:a16="http://schemas.microsoft.com/office/drawing/2014/main" id="{5E653D53-D3EB-4C36-8E90-451A3AF33803}"/>
              </a:ext>
            </a:extLst>
          </p:cNvPr>
          <p:cNvSpPr/>
          <p:nvPr/>
        </p:nvSpPr>
        <p:spPr>
          <a:xfrm>
            <a:off x="46667849" y="17561670"/>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Развитие консервной промышленности</a:t>
            </a:r>
          </a:p>
          <a:p>
            <a:pPr algn="ctr"/>
            <a:r>
              <a:rPr lang="ru-RU" sz="100" dirty="0"/>
              <a:t>(В 1938 году в </a:t>
            </a:r>
            <a:r>
              <a:rPr lang="ru-RU" sz="100" dirty="0" err="1"/>
              <a:t>Сафи</a:t>
            </a:r>
            <a:r>
              <a:rPr lang="ru-RU" sz="100" dirty="0"/>
              <a:t> и </a:t>
            </a:r>
            <a:r>
              <a:rPr lang="ru-RU" sz="100" dirty="0" err="1"/>
              <a:t>Агадире</a:t>
            </a:r>
            <a:r>
              <a:rPr lang="ru-RU" sz="100" dirty="0"/>
              <a:t> начался бум строительства заводов по производству рыбных консервов (сардин). Это было сделано для долгосрочного снабжения французской армии </a:t>
            </a:r>
            <a:r>
              <a:rPr lang="ru-RU" sz="100" dirty="0" err="1"/>
              <a:t>сухпайками</a:t>
            </a:r>
            <a:r>
              <a:rPr lang="ru-RU" sz="100" dirty="0"/>
              <a:t>.) Продовольственный мост: Вся консервная промышленность </a:t>
            </a:r>
            <a:r>
              <a:rPr lang="ru-RU" sz="100" dirty="0" err="1"/>
              <a:t>Сафи</a:t>
            </a:r>
            <a:r>
              <a:rPr lang="ru-RU" sz="100" dirty="0"/>
              <a:t> и </a:t>
            </a:r>
            <a:r>
              <a:rPr lang="ru-RU" sz="100" dirty="0" err="1"/>
              <a:t>Агадира</a:t>
            </a:r>
            <a:r>
              <a:rPr lang="ru-RU" sz="100" dirty="0"/>
              <a:t> (производство рыбных и мясных консервов) работала исключительно на французскую армию. Поставки цитрусовых и ранних овощей частным лицам в Европу прекратились — всё уходило на нужды госпиталей и воинских частей.</a:t>
            </a:r>
            <a:endParaRPr lang="ru-RU" sz="700" dirty="0"/>
          </a:p>
        </p:txBody>
      </p:sp>
      <p:sp>
        <p:nvSpPr>
          <p:cNvPr id="162" name="Прямоугольник 161">
            <a:extLst>
              <a:ext uri="{FF2B5EF4-FFF2-40B4-BE49-F238E27FC236}">
                <a16:creationId xmlns:a16="http://schemas.microsoft.com/office/drawing/2014/main" id="{D61DE4B7-57E6-4E8C-BD46-A2F477B184A2}"/>
              </a:ext>
            </a:extLst>
          </p:cNvPr>
          <p:cNvSpPr/>
          <p:nvPr/>
        </p:nvSpPr>
        <p:spPr>
          <a:xfrm>
            <a:off x="46667847" y="21565255"/>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Реформа Аль-</a:t>
            </a:r>
            <a:r>
              <a:rPr lang="ru-RU" sz="700" dirty="0" err="1"/>
              <a:t>Карауина</a:t>
            </a:r>
            <a:r>
              <a:rPr lang="ru-RU" sz="700" dirty="0"/>
              <a:t> </a:t>
            </a:r>
            <a:r>
              <a:rPr lang="ru-RU" sz="200" dirty="0"/>
              <a:t>(Параллельно в Марокко шла реформа старейшего исламского центра — Аль-</a:t>
            </a:r>
            <a:r>
              <a:rPr lang="ru-RU" sz="200" dirty="0" err="1"/>
              <a:t>Карауина</a:t>
            </a:r>
            <a:r>
              <a:rPr lang="ru-RU" sz="200" dirty="0"/>
              <a:t> в Фесе, основанного еще в 859 </a:t>
            </a:r>
            <a:r>
              <a:rPr lang="ru-RU" sz="200" dirty="0" err="1"/>
              <a:t>году.В</a:t>
            </a:r>
            <a:r>
              <a:rPr lang="ru-RU" sz="200" dirty="0"/>
              <a:t> 1947 году его частично интегрировали в систему государственного </a:t>
            </a:r>
            <a:r>
              <a:rPr lang="ru-RU" sz="200" dirty="0" err="1"/>
              <a:t>образования.Полноценным</a:t>
            </a:r>
            <a:r>
              <a:rPr lang="ru-RU" sz="200" dirty="0"/>
              <a:t> государственным современным светским университетом по европейским стандартам (с выдачей дипломов единого образца) Аль-</a:t>
            </a:r>
            <a:r>
              <a:rPr lang="ru-RU" sz="200" dirty="0" err="1"/>
              <a:t>Карауин</a:t>
            </a:r>
            <a:r>
              <a:rPr lang="ru-RU" sz="200" dirty="0"/>
              <a:t> официально стал только в 1963 году специальным королевским указом)</a:t>
            </a:r>
            <a:endParaRPr lang="ru-RU" sz="700" dirty="0"/>
          </a:p>
        </p:txBody>
      </p:sp>
      <p:sp>
        <p:nvSpPr>
          <p:cNvPr id="163" name="Прямоугольник 162">
            <a:extLst>
              <a:ext uri="{FF2B5EF4-FFF2-40B4-BE49-F238E27FC236}">
                <a16:creationId xmlns:a16="http://schemas.microsoft.com/office/drawing/2014/main" id="{D0BB93EC-C765-4576-A338-1A004324E439}"/>
              </a:ext>
            </a:extLst>
          </p:cNvPr>
          <p:cNvSpPr/>
          <p:nvPr/>
        </p:nvSpPr>
        <p:spPr>
          <a:xfrm>
            <a:off x="46049853" y="15944514"/>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Девальвировать Марокканский франк</a:t>
            </a:r>
          </a:p>
          <a:p>
            <a:pPr algn="ctr"/>
            <a:r>
              <a:rPr lang="ru-RU" sz="100" dirty="0"/>
              <a:t>(В сентябре 1936 года Франция провела девальвацию французского франка. Вслед за ним колониальный Банк Марокко (</a:t>
            </a:r>
            <a:r>
              <a:rPr lang="ru-RU" sz="100" dirty="0" err="1"/>
              <a:t>Banque</a:t>
            </a:r>
            <a:r>
              <a:rPr lang="ru-RU" sz="100" dirty="0"/>
              <a:t> </a:t>
            </a:r>
            <a:r>
              <a:rPr lang="ru-RU" sz="100" dirty="0" err="1"/>
              <a:t>d’Etat</a:t>
            </a:r>
            <a:r>
              <a:rPr lang="ru-RU" sz="100" dirty="0"/>
              <a:t> </a:t>
            </a:r>
            <a:r>
              <a:rPr lang="ru-RU" sz="100" dirty="0" err="1"/>
              <a:t>du</a:t>
            </a:r>
            <a:r>
              <a:rPr lang="ru-RU" sz="100" dirty="0"/>
              <a:t> </a:t>
            </a:r>
            <a:r>
              <a:rPr lang="ru-RU" sz="100" dirty="0" err="1"/>
              <a:t>Maroc</a:t>
            </a:r>
            <a:r>
              <a:rPr lang="ru-RU" sz="100" dirty="0"/>
              <a:t>) был вынужден девальвировать марокканский франк на 25–35%.Результат: Это сделало марокканские экспортные товары (фосфаты, зерно, металлы) значительно дешевле и привлекательнее на мировом рынке, что резко стимулировало экспорт и увеличило доходы протектората)</a:t>
            </a:r>
            <a:endParaRPr lang="ru-RU" sz="600" dirty="0"/>
          </a:p>
        </p:txBody>
      </p:sp>
      <p:sp>
        <p:nvSpPr>
          <p:cNvPr id="159" name="Прямоугольник 158">
            <a:extLst>
              <a:ext uri="{FF2B5EF4-FFF2-40B4-BE49-F238E27FC236}">
                <a16:creationId xmlns:a16="http://schemas.microsoft.com/office/drawing/2014/main" id="{89E81C15-521A-467F-B686-27E0D558A9BF}"/>
              </a:ext>
            </a:extLst>
          </p:cNvPr>
          <p:cNvSpPr/>
          <p:nvPr/>
        </p:nvSpPr>
        <p:spPr>
          <a:xfrm>
            <a:off x="46667850" y="18362387"/>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Запуск ГЭС Эль-</a:t>
            </a:r>
            <a:r>
              <a:rPr lang="ru-RU" sz="700" dirty="0" err="1"/>
              <a:t>Кансера</a:t>
            </a:r>
            <a:r>
              <a:rPr lang="ru-RU" sz="700" dirty="0"/>
              <a:t> </a:t>
            </a:r>
            <a:r>
              <a:rPr lang="ru-RU" sz="100" dirty="0"/>
              <a:t>(В 1939 году была официально введена в строй крупная гидроэлектростанция на реке </a:t>
            </a:r>
            <a:r>
              <a:rPr lang="ru-RU" sz="100" dirty="0" err="1"/>
              <a:t>Бех</a:t>
            </a:r>
            <a:r>
              <a:rPr lang="ru-RU" sz="100" dirty="0"/>
              <a:t>. Она дала промышленную электроэнергию военным заводам и мастерским </a:t>
            </a:r>
            <a:r>
              <a:rPr lang="ru-RU" sz="100" dirty="0" err="1"/>
              <a:t>Мекнеса</a:t>
            </a:r>
            <a:r>
              <a:rPr lang="ru-RU" sz="100" dirty="0"/>
              <a:t> и Рабата.)</a:t>
            </a:r>
            <a:endParaRPr lang="ru-RU" sz="700" dirty="0"/>
          </a:p>
        </p:txBody>
      </p:sp>
      <p:sp>
        <p:nvSpPr>
          <p:cNvPr id="165" name="Прямоугольник 164">
            <a:extLst>
              <a:ext uri="{FF2B5EF4-FFF2-40B4-BE49-F238E27FC236}">
                <a16:creationId xmlns:a16="http://schemas.microsoft.com/office/drawing/2014/main" id="{47BF9C19-F6CD-4ECB-BE1F-55F72B77F001}"/>
              </a:ext>
            </a:extLst>
          </p:cNvPr>
          <p:cNvSpPr/>
          <p:nvPr/>
        </p:nvSpPr>
        <p:spPr>
          <a:xfrm>
            <a:off x="47909909" y="18362384"/>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Перевести добычу на военные рельсы</a:t>
            </a:r>
          </a:p>
          <a:p>
            <a:pPr algn="ctr"/>
            <a:r>
              <a:rPr lang="ru-RU" sz="100" dirty="0"/>
              <a:t>(Марокко превратилось в ключевого сырьевого донора французского ВПК, который лихорадочно наращивал производство </a:t>
            </a:r>
            <a:r>
              <a:rPr lang="ru-RU" sz="100" dirty="0" err="1"/>
              <a:t>оружия.Экспортные</a:t>
            </a:r>
            <a:r>
              <a:rPr lang="ru-RU" sz="100" dirty="0"/>
              <a:t> квоты: В 1938 году был введен жесткий контроль над экспортом стратегического сырья. Весь объем добычи кобальта (месторождение </a:t>
            </a:r>
            <a:r>
              <a:rPr lang="ru-RU" sz="100" dirty="0" err="1"/>
              <a:t>Бу-Аззер</a:t>
            </a:r>
            <a:r>
              <a:rPr lang="ru-RU" sz="100" dirty="0"/>
              <a:t>) и марганца (</a:t>
            </a:r>
            <a:r>
              <a:rPr lang="ru-RU" sz="100" dirty="0" err="1"/>
              <a:t>Бу</a:t>
            </a:r>
            <a:r>
              <a:rPr lang="ru-RU" sz="100" dirty="0"/>
              <a:t>-Арфа) теперь принудительно направлялся на металлургические заводы Франции для производства броневой стали. Фокус «Сырьевой донор Метрополии»: Добавляет в регионы Марокко дополнительные единицы хрома/стали (имитирующих марганец и кобальт) и увеличивает скорость их добычи на +10%, но направляет часть ресурсов Франции.) Перевести всю экономику на военные рельсы (Переход на режим военной экономики и </a:t>
            </a:r>
            <a:r>
              <a:rPr lang="ru-RU" sz="100" dirty="0" err="1"/>
              <a:t>нормированияС</a:t>
            </a:r>
            <a:r>
              <a:rPr lang="ru-RU" sz="100" dirty="0"/>
              <a:t> началом войны в сентябре 1939 года свободный рынок в Марокко фактически перестал </a:t>
            </a:r>
            <a:r>
              <a:rPr lang="ru-RU" sz="100" dirty="0" err="1"/>
              <a:t>существовать.Введение</a:t>
            </a:r>
            <a:r>
              <a:rPr lang="ru-RU" sz="100" dirty="0"/>
              <a:t> карточной системы: Французская администрация ввела жесткое нормирование и купоны на базовые товары: сахар, чай, ткани, горючее и </a:t>
            </a:r>
            <a:r>
              <a:rPr lang="ru-RU" sz="100" dirty="0" err="1"/>
              <a:t>мыло.Контроль</a:t>
            </a:r>
            <a:r>
              <a:rPr lang="ru-RU" sz="100" dirty="0"/>
              <a:t> цен и конфискации: Были введены суровые наказания за спекуляцию. Специальные экономические патрули имели право конфисковать «излишки» зерна у крупных землевладельцев для нужд </a:t>
            </a:r>
            <a:r>
              <a:rPr lang="ru-RU" sz="100" dirty="0" err="1"/>
              <a:t>армии.Замораживание</a:t>
            </a:r>
            <a:r>
              <a:rPr lang="ru-RU" sz="100" dirty="0"/>
              <a:t> капиталов: Были введены жесткие ограничения на вывоз валюты и золота из протектората, чтобы предотвратить панику и бегство европейских капиталов.)</a:t>
            </a:r>
          </a:p>
          <a:p>
            <a:pPr algn="ctr"/>
            <a:endParaRPr lang="ru-RU" sz="100" dirty="0"/>
          </a:p>
        </p:txBody>
      </p:sp>
      <p:sp>
        <p:nvSpPr>
          <p:cNvPr id="166" name="Прямоугольник 165">
            <a:extLst>
              <a:ext uri="{FF2B5EF4-FFF2-40B4-BE49-F238E27FC236}">
                <a16:creationId xmlns:a16="http://schemas.microsoft.com/office/drawing/2014/main" id="{1A8EE704-11C7-46AB-81B1-C8C4620EDDE1}"/>
              </a:ext>
            </a:extLst>
          </p:cNvPr>
          <p:cNvSpPr/>
          <p:nvPr/>
        </p:nvSpPr>
        <p:spPr>
          <a:xfrm>
            <a:off x="47909910" y="17561670"/>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Модернизация фосфатных конвейеров </a:t>
            </a:r>
            <a:r>
              <a:rPr lang="ru-RU" sz="100" dirty="0"/>
              <a:t>(Выход фосфатной промышленности на пик </a:t>
            </a:r>
            <a:r>
              <a:rPr lang="ru-RU" sz="100" dirty="0" err="1"/>
              <a:t>производстваНесмотря</a:t>
            </a:r>
            <a:r>
              <a:rPr lang="ru-RU" sz="100" dirty="0"/>
              <a:t> на кризис в сельском хозяйстве, промышленный сектор показал рекордный </a:t>
            </a:r>
            <a:r>
              <a:rPr lang="ru-RU" sz="100" dirty="0" err="1"/>
              <a:t>рост.Валютный</a:t>
            </a:r>
            <a:r>
              <a:rPr lang="ru-RU" sz="100" dirty="0"/>
              <a:t> донор: Государственная OCP (</a:t>
            </a:r>
            <a:r>
              <a:rPr lang="ru-RU" sz="100" dirty="0" err="1"/>
              <a:t>Office</a:t>
            </a:r>
            <a:r>
              <a:rPr lang="ru-RU" sz="100" dirty="0"/>
              <a:t> </a:t>
            </a:r>
            <a:r>
              <a:rPr lang="ru-RU" sz="100" dirty="0" err="1"/>
              <a:t>Chérifien</a:t>
            </a:r>
            <a:r>
              <a:rPr lang="ru-RU" sz="100" dirty="0"/>
              <a:t> </a:t>
            </a:r>
            <a:r>
              <a:rPr lang="ru-RU" sz="100" dirty="0" err="1"/>
              <a:t>des</a:t>
            </a:r>
            <a:r>
              <a:rPr lang="ru-RU" sz="100" dirty="0"/>
              <a:t> </a:t>
            </a:r>
            <a:r>
              <a:rPr lang="ru-RU" sz="100" dirty="0" err="1"/>
              <a:t>Phosphates</a:t>
            </a:r>
            <a:r>
              <a:rPr lang="ru-RU" sz="100" dirty="0"/>
              <a:t>) в </a:t>
            </a:r>
            <a:r>
              <a:rPr lang="ru-RU" sz="100" dirty="0" err="1"/>
              <a:t>Хурибге</a:t>
            </a:r>
            <a:r>
              <a:rPr lang="ru-RU" sz="100" dirty="0"/>
              <a:t> в 1937 году полностью модернизировала конвейерные линии и увеличила добычу фосфатов до исторического максимума. Это позволило Франции перекрыть дефицит бюджета протектората, возникший из-за засухи.)</a:t>
            </a:r>
            <a:endParaRPr lang="ru-RU" sz="700" dirty="0"/>
          </a:p>
        </p:txBody>
      </p:sp>
      <p:sp>
        <p:nvSpPr>
          <p:cNvPr id="167" name="Прямоугольник 166">
            <a:extLst>
              <a:ext uri="{FF2B5EF4-FFF2-40B4-BE49-F238E27FC236}">
                <a16:creationId xmlns:a16="http://schemas.microsoft.com/office/drawing/2014/main" id="{4C01390C-3604-44AF-B95C-E19422D133EE}"/>
              </a:ext>
            </a:extLst>
          </p:cNvPr>
          <p:cNvSpPr/>
          <p:nvPr/>
        </p:nvSpPr>
        <p:spPr>
          <a:xfrm>
            <a:off x="46049854" y="16760952"/>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Строительство Южной железной дороги</a:t>
            </a:r>
          </a:p>
          <a:p>
            <a:pPr algn="ctr"/>
            <a:r>
              <a:rPr lang="ru-RU" sz="200" dirty="0"/>
              <a:t>В 1936 году шло форсированное расширение узкоколейной ветки в Сахару до города </a:t>
            </a:r>
            <a:r>
              <a:rPr lang="ru-RU" sz="200" dirty="0" err="1"/>
              <a:t>Бу</a:t>
            </a:r>
            <a:r>
              <a:rPr lang="ru-RU" sz="200" dirty="0"/>
              <a:t>-Арфа для вывоза стратегического марганца из рудников </a:t>
            </a:r>
            <a:r>
              <a:rPr lang="ru-RU" sz="200" dirty="0" err="1"/>
              <a:t>Бу-Аззер</a:t>
            </a:r>
            <a:r>
              <a:rPr lang="ru-RU" sz="200" dirty="0"/>
              <a:t>. Это была подготовка к созданию </a:t>
            </a:r>
            <a:r>
              <a:rPr lang="ru-RU" sz="200" dirty="0" err="1"/>
              <a:t>Транссахарской</a:t>
            </a:r>
            <a:r>
              <a:rPr lang="ru-RU" sz="200" dirty="0"/>
              <a:t> магистрали.</a:t>
            </a:r>
            <a:endParaRPr lang="ru-RU" sz="600" dirty="0"/>
          </a:p>
        </p:txBody>
      </p:sp>
      <p:sp>
        <p:nvSpPr>
          <p:cNvPr id="168" name="Прямоугольник 167">
            <a:extLst>
              <a:ext uri="{FF2B5EF4-FFF2-40B4-BE49-F238E27FC236}">
                <a16:creationId xmlns:a16="http://schemas.microsoft.com/office/drawing/2014/main" id="{C86CE29A-CB8F-4444-A22F-6E9A6F234F55}"/>
              </a:ext>
            </a:extLst>
          </p:cNvPr>
          <p:cNvSpPr/>
          <p:nvPr/>
        </p:nvSpPr>
        <p:spPr>
          <a:xfrm>
            <a:off x="45423909" y="17561669"/>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Поддержать проект «свободных школ»</a:t>
            </a:r>
          </a:p>
          <a:p>
            <a:pPr algn="ctr"/>
            <a:r>
              <a:rPr lang="ru-RU" sz="100" dirty="0"/>
              <a:t>(Поскольку государственное образование искусственно сдерживало марокканцев (в 1945 году в школах училось всего около 35 000 местных детей), марокканское национальное движение и буржуазия начали массово открывать «Свободные школы» (</a:t>
            </a:r>
            <a:r>
              <a:rPr lang="ru-RU" sz="100" dirty="0" err="1"/>
              <a:t>Ecoles</a:t>
            </a:r>
            <a:r>
              <a:rPr lang="ru-RU" sz="100" dirty="0"/>
              <a:t> </a:t>
            </a:r>
            <a:r>
              <a:rPr lang="ru-RU" sz="100" dirty="0" err="1"/>
              <a:t>Libres</a:t>
            </a:r>
            <a:r>
              <a:rPr lang="ru-RU" sz="100" dirty="0"/>
              <a:t>).В период 1936–1939 годов эти частные школы пережили </a:t>
            </a:r>
            <a:r>
              <a:rPr lang="ru-RU" sz="100" dirty="0" err="1"/>
              <a:t>бум.Их</a:t>
            </a:r>
            <a:r>
              <a:rPr lang="ru-RU" sz="100" dirty="0"/>
              <a:t> главная реформа заключалась в модернизации учебного плана: в отличие от традиционных коранических школ (</a:t>
            </a:r>
            <a:r>
              <a:rPr lang="ru-RU" sz="100" dirty="0" err="1"/>
              <a:t>мсid</a:t>
            </a:r>
            <a:r>
              <a:rPr lang="ru-RU" sz="100" dirty="0"/>
              <a:t>), где тексты зазубривались, здесь преподавали математику, историю и географию на арабском языке, воспитывая будущих лидеров борьбы за независимость.)</a:t>
            </a:r>
            <a:endParaRPr lang="ru-RU" sz="700" dirty="0"/>
          </a:p>
        </p:txBody>
      </p:sp>
      <p:sp>
        <p:nvSpPr>
          <p:cNvPr id="169" name="Прямоугольник 168">
            <a:extLst>
              <a:ext uri="{FF2B5EF4-FFF2-40B4-BE49-F238E27FC236}">
                <a16:creationId xmlns:a16="http://schemas.microsoft.com/office/drawing/2014/main" id="{965735E6-9298-480D-AE1F-E6C4CFFDD1A1}"/>
              </a:ext>
            </a:extLst>
          </p:cNvPr>
          <p:cNvSpPr/>
          <p:nvPr/>
        </p:nvSpPr>
        <p:spPr>
          <a:xfrm>
            <a:off x="45423910" y="19158670"/>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Санитарные реформы</a:t>
            </a:r>
          </a:p>
          <a:p>
            <a:pPr algn="ctr"/>
            <a:r>
              <a:rPr lang="ru-RU" sz="100" dirty="0"/>
              <a:t>(Голод спровоцировал эпидемии среди населения и массовый падеж скота, который был основой экономики </a:t>
            </a:r>
            <a:r>
              <a:rPr lang="ru-RU" sz="100" dirty="0" err="1"/>
              <a:t>берберов.«Операция</a:t>
            </a:r>
            <a:r>
              <a:rPr lang="ru-RU" sz="100" dirty="0"/>
              <a:t> ветеринарии»: Колониальные власти организовали принудительную бесплатную вакцинацию оставшегося скота от ящура и </a:t>
            </a:r>
            <a:r>
              <a:rPr lang="ru-RU" sz="100" dirty="0" err="1"/>
              <a:t>чумы.Мобильные</a:t>
            </a:r>
            <a:r>
              <a:rPr lang="ru-RU" sz="100" dirty="0"/>
              <a:t> госпитали: Для борьбы с сыпным тифом и чумой в 1937 году французы создали сеть мобильных медицинских отрядов, которые перемещались по Сахаре и Атласу, вакцинируя местных жителей.)</a:t>
            </a:r>
            <a:endParaRPr lang="ru-RU" sz="700" dirty="0"/>
          </a:p>
        </p:txBody>
      </p:sp>
      <p:sp>
        <p:nvSpPr>
          <p:cNvPr id="170" name="Прямоугольник 169">
            <a:extLst>
              <a:ext uri="{FF2B5EF4-FFF2-40B4-BE49-F238E27FC236}">
                <a16:creationId xmlns:a16="http://schemas.microsoft.com/office/drawing/2014/main" id="{0EA51F14-395B-4668-B146-4C4161B7EABF}"/>
              </a:ext>
            </a:extLst>
          </p:cNvPr>
          <p:cNvSpPr/>
          <p:nvPr/>
        </p:nvSpPr>
        <p:spPr>
          <a:xfrm>
            <a:off x="45423909" y="18362384"/>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800" dirty="0"/>
              <a:t>Французские дотации для феллахов</a:t>
            </a:r>
          </a:p>
          <a:p>
            <a:pPr algn="ctr"/>
            <a:r>
              <a:rPr lang="ru-RU" sz="100" dirty="0"/>
              <a:t>(Из-за сильного неурожая зерновых в предыдущие годы администрация ввела жесткое регулирование цен на хлеб и муку для предотвращения спекуляций. Султан Мухаммед V добился от французов выделения дотаций и посевного зерна для беднейших марокканских крестьян (феллахов).) Из-за полного отсутствия дождей в начале 1937 года урожай зерна в южных и центральных регионах Марокко погиб. Надвигался массовый голод среди коренного населения (феллахов).Создание «Фонда солидарности»: Администрация </a:t>
            </a:r>
            <a:r>
              <a:rPr lang="ru-RU" sz="100" dirty="0" err="1"/>
              <a:t>Ногеса</a:t>
            </a:r>
            <a:r>
              <a:rPr lang="ru-RU" sz="100" dirty="0"/>
              <a:t> ввела чрезвычайный налог на сверхприбыли крупных европейских компаний для закупки </a:t>
            </a:r>
            <a:r>
              <a:rPr lang="ru-RU" sz="100" dirty="0" err="1"/>
              <a:t>зерна.Экстренный</a:t>
            </a:r>
            <a:r>
              <a:rPr lang="ru-RU" sz="100" dirty="0"/>
              <a:t> импорт и бесплатная раздача: Были отменены пошлины на ввоз пшеницы из Алжира и Франции. В пострадавших регионах (Марракеш, </a:t>
            </a:r>
            <a:r>
              <a:rPr lang="ru-RU" sz="100" dirty="0" err="1"/>
              <a:t>Сус</a:t>
            </a:r>
            <a:r>
              <a:rPr lang="ru-RU" sz="100" dirty="0"/>
              <a:t>) французы открыли пункты бесплатной раздачи супа и зерна, чтобы остановить голодные марши на </a:t>
            </a:r>
            <a:r>
              <a:rPr lang="ru-RU" sz="100" dirty="0" err="1"/>
              <a:t>Касабланку.Запрет</a:t>
            </a:r>
            <a:r>
              <a:rPr lang="ru-RU" sz="100" dirty="0"/>
              <a:t> на вывоз хлеба: Весной 1937 года был введен полный запрет на экспорт марокканского зерна в Европу, чтобы удержать внутренние цены.</a:t>
            </a:r>
            <a:endParaRPr lang="ru-RU" sz="600" dirty="0"/>
          </a:p>
        </p:txBody>
      </p:sp>
      <p:sp>
        <p:nvSpPr>
          <p:cNvPr id="171" name="Прямоугольник 170">
            <a:extLst>
              <a:ext uri="{FF2B5EF4-FFF2-40B4-BE49-F238E27FC236}">
                <a16:creationId xmlns:a16="http://schemas.microsoft.com/office/drawing/2014/main" id="{F581326F-C887-4214-A377-CCD739D3F382}"/>
              </a:ext>
            </a:extLst>
          </p:cNvPr>
          <p:cNvSpPr/>
          <p:nvPr/>
        </p:nvSpPr>
        <p:spPr>
          <a:xfrm>
            <a:off x="44814921" y="16765383"/>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Построить плотину </a:t>
            </a:r>
            <a:r>
              <a:rPr lang="ru-RU" sz="700" dirty="0" err="1"/>
              <a:t>Касба-Тадла</a:t>
            </a:r>
            <a:endParaRPr lang="ru-RU" sz="700" dirty="0"/>
          </a:p>
          <a:p>
            <a:pPr algn="ctr"/>
            <a:r>
              <a:rPr lang="ru-RU" sz="100" dirty="0"/>
              <a:t>(Для борьбы с безработицей среди коренного населения и решения проблемы засух в 1936 году было выделено целевое государственное финансирование на новые инфраструктурные объекты. В частности, активизировалось финансирование строительства плотины </a:t>
            </a:r>
            <a:r>
              <a:rPr lang="ru-RU" sz="100" dirty="0" err="1"/>
              <a:t>Касба-Тадла</a:t>
            </a:r>
            <a:r>
              <a:rPr lang="ru-RU" sz="100" dirty="0"/>
              <a:t> и гидротехнических сооружений на ключевой реке </a:t>
            </a:r>
            <a:r>
              <a:rPr lang="ru-RU" sz="100" dirty="0" err="1"/>
              <a:t>Умм</a:t>
            </a:r>
            <a:r>
              <a:rPr lang="ru-RU" sz="100" dirty="0"/>
              <a:t>-эр-</a:t>
            </a:r>
            <a:r>
              <a:rPr lang="ru-RU" sz="100" dirty="0" err="1"/>
              <a:t>Рбия</a:t>
            </a:r>
            <a:r>
              <a:rPr lang="ru-RU" sz="100" dirty="0"/>
              <a:t>. Это дало сильный толчок строительному сектору.)</a:t>
            </a:r>
            <a:endParaRPr lang="ru-RU" sz="700" dirty="0"/>
          </a:p>
        </p:txBody>
      </p:sp>
      <p:sp>
        <p:nvSpPr>
          <p:cNvPr id="172" name="Прямоугольник 171">
            <a:extLst>
              <a:ext uri="{FF2B5EF4-FFF2-40B4-BE49-F238E27FC236}">
                <a16:creationId xmlns:a16="http://schemas.microsoft.com/office/drawing/2014/main" id="{7D0BC22F-B057-40C4-8EBE-37521534682D}"/>
              </a:ext>
            </a:extLst>
          </p:cNvPr>
          <p:cNvSpPr/>
          <p:nvPr/>
        </p:nvSpPr>
        <p:spPr>
          <a:xfrm>
            <a:off x="6468606" y="1807655"/>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Провести трудовые реформы</a:t>
            </a:r>
          </a:p>
          <a:p>
            <a:pPr algn="ctr"/>
            <a:r>
              <a:rPr lang="ru-RU" sz="100" dirty="0"/>
              <a:t>(После прихода к власти левых во Франции летом 1936 года по всему Марокко прокатилась волна рабочих протестов. Крупнейшие забастовки вспыхнули на фосфатных рудниках </a:t>
            </a:r>
            <a:r>
              <a:rPr lang="ru-RU" sz="100" dirty="0" err="1"/>
              <a:t>Хурибги</a:t>
            </a:r>
            <a:r>
              <a:rPr lang="ru-RU" sz="100" dirty="0"/>
              <a:t>. Французский генеральный резидент Шарль </a:t>
            </a:r>
            <a:r>
              <a:rPr lang="ru-RU" sz="100" dirty="0" err="1"/>
              <a:t>Ногес</a:t>
            </a:r>
            <a:r>
              <a:rPr lang="ru-RU" sz="100" dirty="0"/>
              <a:t> был вынужден пойти на экономические уступки местному </a:t>
            </a:r>
            <a:r>
              <a:rPr lang="ru-RU" sz="100" dirty="0" err="1"/>
              <a:t>населению:Была</a:t>
            </a:r>
            <a:r>
              <a:rPr lang="ru-RU" sz="100" dirty="0"/>
              <a:t> законодательно увеличена минимальная заработная плата для марокканских </a:t>
            </a:r>
            <a:r>
              <a:rPr lang="ru-RU" sz="100" dirty="0" err="1"/>
              <a:t>рабочих.Была</a:t>
            </a:r>
            <a:r>
              <a:rPr lang="ru-RU" sz="100" dirty="0"/>
              <a:t> введена официальная 40-часовая рабочая неделя (для европейских специалистов) и сокращен рабочий день для местных шахтеров.)</a:t>
            </a:r>
            <a:endParaRPr lang="ru-RU" sz="600" dirty="0"/>
          </a:p>
        </p:txBody>
      </p:sp>
      <p:sp>
        <p:nvSpPr>
          <p:cNvPr id="164" name="Прямоугольник 163">
            <a:extLst>
              <a:ext uri="{FF2B5EF4-FFF2-40B4-BE49-F238E27FC236}">
                <a16:creationId xmlns:a16="http://schemas.microsoft.com/office/drawing/2014/main" id="{CB3D1342-AF6F-45C2-8B29-2D66C97503EB}"/>
              </a:ext>
            </a:extLst>
          </p:cNvPr>
          <p:cNvSpPr/>
          <p:nvPr/>
        </p:nvSpPr>
        <p:spPr>
          <a:xfrm>
            <a:off x="47909908" y="19163101"/>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Запустить военные заводы и мастерские в </a:t>
            </a:r>
            <a:r>
              <a:rPr lang="ru-RU" sz="700" dirty="0" err="1"/>
              <a:t>Макнесе</a:t>
            </a:r>
            <a:r>
              <a:rPr lang="ru-RU" sz="700" dirty="0"/>
              <a:t> и </a:t>
            </a:r>
            <a:r>
              <a:rPr lang="ru-RU" sz="700" dirty="0" err="1"/>
              <a:t>Ребате</a:t>
            </a:r>
            <a:endParaRPr lang="ru-RU" sz="700" dirty="0"/>
          </a:p>
        </p:txBody>
      </p:sp>
      <p:cxnSp>
        <p:nvCxnSpPr>
          <p:cNvPr id="189" name="Соединительная линия уступом 620">
            <a:extLst>
              <a:ext uri="{FF2B5EF4-FFF2-40B4-BE49-F238E27FC236}">
                <a16:creationId xmlns:a16="http://schemas.microsoft.com/office/drawing/2014/main" id="{7C686C0B-B75D-4F52-8561-05F2CAD940FD}"/>
              </a:ext>
            </a:extLst>
          </p:cNvPr>
          <p:cNvCxnSpPr>
            <a:cxnSpLocks/>
            <a:stCxn id="170" idx="2"/>
            <a:endCxn id="169" idx="0"/>
          </p:cNvCxnSpPr>
          <p:nvPr/>
        </p:nvCxnSpPr>
        <p:spPr>
          <a:xfrm rot="16200000" flipH="1">
            <a:off x="45758929" y="19030526"/>
            <a:ext cx="256286"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11" name="Соединительная линия уступом 620">
            <a:extLst>
              <a:ext uri="{FF2B5EF4-FFF2-40B4-BE49-F238E27FC236}">
                <a16:creationId xmlns:a16="http://schemas.microsoft.com/office/drawing/2014/main" id="{2366AF65-0D98-447C-B7A5-6E3A72161930}"/>
              </a:ext>
            </a:extLst>
          </p:cNvPr>
          <p:cNvCxnSpPr>
            <a:cxnSpLocks/>
            <a:stCxn id="166" idx="2"/>
            <a:endCxn id="165" idx="0"/>
          </p:cNvCxnSpPr>
          <p:nvPr/>
        </p:nvCxnSpPr>
        <p:spPr>
          <a:xfrm rot="5400000">
            <a:off x="48242716" y="18232027"/>
            <a:ext cx="260714"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17" name="Соединительная линия уступом 620">
            <a:extLst>
              <a:ext uri="{FF2B5EF4-FFF2-40B4-BE49-F238E27FC236}">
                <a16:creationId xmlns:a16="http://schemas.microsoft.com/office/drawing/2014/main" id="{E7C08983-8D44-4498-99BD-254BF64E7274}"/>
              </a:ext>
            </a:extLst>
          </p:cNvPr>
          <p:cNvCxnSpPr>
            <a:cxnSpLocks/>
            <a:stCxn id="165" idx="2"/>
            <a:endCxn id="164" idx="0"/>
          </p:cNvCxnSpPr>
          <p:nvPr/>
        </p:nvCxnSpPr>
        <p:spPr>
          <a:xfrm rot="5400000">
            <a:off x="48242714" y="19032742"/>
            <a:ext cx="260717"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24" name="Соединительная линия уступом 620">
            <a:extLst>
              <a:ext uri="{FF2B5EF4-FFF2-40B4-BE49-F238E27FC236}">
                <a16:creationId xmlns:a16="http://schemas.microsoft.com/office/drawing/2014/main" id="{28E6A8E6-7749-40BE-8958-4DEE2DD96DE3}"/>
              </a:ext>
            </a:extLst>
          </p:cNvPr>
          <p:cNvCxnSpPr>
            <a:cxnSpLocks/>
            <a:stCxn id="160" idx="2"/>
            <a:endCxn id="159" idx="0"/>
          </p:cNvCxnSpPr>
          <p:nvPr/>
        </p:nvCxnSpPr>
        <p:spPr>
          <a:xfrm rot="16200000" flipH="1">
            <a:off x="47000654" y="18232027"/>
            <a:ext cx="260717" cy="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27" name="Соединительная линия уступом 620">
            <a:extLst>
              <a:ext uri="{FF2B5EF4-FFF2-40B4-BE49-F238E27FC236}">
                <a16:creationId xmlns:a16="http://schemas.microsoft.com/office/drawing/2014/main" id="{4A75F75A-BDCF-494C-A9E3-E29F4988BF22}"/>
              </a:ext>
            </a:extLst>
          </p:cNvPr>
          <p:cNvCxnSpPr>
            <a:cxnSpLocks/>
            <a:stCxn id="166" idx="2"/>
            <a:endCxn id="159" idx="0"/>
          </p:cNvCxnSpPr>
          <p:nvPr/>
        </p:nvCxnSpPr>
        <p:spPr>
          <a:xfrm rot="5400000">
            <a:off x="47621685" y="17610998"/>
            <a:ext cx="260717" cy="1242060"/>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30" name="Соединительная линия уступом 620">
            <a:extLst>
              <a:ext uri="{FF2B5EF4-FFF2-40B4-BE49-F238E27FC236}">
                <a16:creationId xmlns:a16="http://schemas.microsoft.com/office/drawing/2014/main" id="{20B6CC3A-7999-4202-8709-65A70E605078}"/>
              </a:ext>
            </a:extLst>
          </p:cNvPr>
          <p:cNvCxnSpPr>
            <a:cxnSpLocks/>
            <a:stCxn id="165" idx="2"/>
            <a:endCxn id="133" idx="0"/>
          </p:cNvCxnSpPr>
          <p:nvPr/>
        </p:nvCxnSpPr>
        <p:spPr>
          <a:xfrm rot="5400000">
            <a:off x="47621683" y="18411715"/>
            <a:ext cx="260720" cy="1242058"/>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36" name="Соединительная линия уступом 620">
            <a:extLst>
              <a:ext uri="{FF2B5EF4-FFF2-40B4-BE49-F238E27FC236}">
                <a16:creationId xmlns:a16="http://schemas.microsoft.com/office/drawing/2014/main" id="{5B8091A2-FEB0-4588-A97C-712582A9CFE4}"/>
              </a:ext>
            </a:extLst>
          </p:cNvPr>
          <p:cNvCxnSpPr>
            <a:cxnSpLocks/>
            <a:stCxn id="159" idx="2"/>
            <a:endCxn id="133" idx="0"/>
          </p:cNvCxnSpPr>
          <p:nvPr/>
        </p:nvCxnSpPr>
        <p:spPr>
          <a:xfrm rot="16200000" flipH="1">
            <a:off x="47000655" y="19032744"/>
            <a:ext cx="260717" cy="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245" name="Прямоугольник 244">
            <a:extLst>
              <a:ext uri="{FF2B5EF4-FFF2-40B4-BE49-F238E27FC236}">
                <a16:creationId xmlns:a16="http://schemas.microsoft.com/office/drawing/2014/main" id="{1ED3E070-7793-4DFC-9262-57A19B08DA47}"/>
              </a:ext>
            </a:extLst>
          </p:cNvPr>
          <p:cNvSpPr/>
          <p:nvPr/>
        </p:nvSpPr>
        <p:spPr>
          <a:xfrm>
            <a:off x="44179969" y="17561669"/>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Франко-берберские школы</a:t>
            </a:r>
          </a:p>
          <a:p>
            <a:pPr algn="ctr"/>
            <a:r>
              <a:rPr lang="ru-RU" sz="100" dirty="0"/>
              <a:t>(</a:t>
            </a:r>
            <a:r>
              <a:rPr lang="ru-RU" sz="100" b="1" dirty="0"/>
              <a:t>Франко-берберские школы:</a:t>
            </a:r>
            <a:r>
              <a:rPr lang="ru-RU" sz="100" dirty="0"/>
              <a:t> В горах Атласа </a:t>
            </a:r>
            <a:r>
              <a:rPr lang="ru-RU" sz="100" dirty="0" err="1"/>
              <a:t>Ногес</a:t>
            </a:r>
            <a:r>
              <a:rPr lang="ru-RU" sz="100" dirty="0"/>
              <a:t> продолжил развивать сеть школ, где обучение велось исключительно на французском языке, а арабский язык и исламское право были полностью исключены. Это делалось для того, чтобы оторвать берберов от арабского большинства страны.)</a:t>
            </a:r>
            <a:endParaRPr lang="ru-RU" sz="700" dirty="0"/>
          </a:p>
        </p:txBody>
      </p:sp>
      <p:cxnSp>
        <p:nvCxnSpPr>
          <p:cNvPr id="258" name="Прямая соединительная линия 257">
            <a:extLst>
              <a:ext uri="{FF2B5EF4-FFF2-40B4-BE49-F238E27FC236}">
                <a16:creationId xmlns:a16="http://schemas.microsoft.com/office/drawing/2014/main" id="{2C4F37CE-664B-436A-B255-CCE3A2F068A8}"/>
              </a:ext>
            </a:extLst>
          </p:cNvPr>
          <p:cNvCxnSpPr>
            <a:cxnSpLocks/>
            <a:stCxn id="168" idx="1"/>
            <a:endCxn id="245" idx="3"/>
          </p:cNvCxnSpPr>
          <p:nvPr/>
        </p:nvCxnSpPr>
        <p:spPr>
          <a:xfrm flipH="1">
            <a:off x="45106294" y="17831669"/>
            <a:ext cx="31761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266" name="Прямоугольник 265">
            <a:extLst>
              <a:ext uri="{FF2B5EF4-FFF2-40B4-BE49-F238E27FC236}">
                <a16:creationId xmlns:a16="http://schemas.microsoft.com/office/drawing/2014/main" id="{68B1E117-0997-408B-8E5D-B6D54012F4BC}"/>
              </a:ext>
            </a:extLst>
          </p:cNvPr>
          <p:cNvSpPr/>
          <p:nvPr/>
        </p:nvSpPr>
        <p:spPr>
          <a:xfrm>
            <a:off x="44179968" y="18362793"/>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Создать колледжи для женщин </a:t>
            </a:r>
            <a:r>
              <a:rPr lang="ru-RU" sz="200" dirty="0"/>
              <a:t>(Ближе к концу Второй мировой войны, под давлением модернизационных процессов, колониальные власти пошли на историческую уступку и заложили базу для женского среднего образования. Были созданы первые специализированные колледжи для мусульманских девушек (в частности, в Рабате и Фесе), что стало революционным шагом для традиционного марокканского общества того времени.)</a:t>
            </a:r>
            <a:endParaRPr lang="ru-RU" sz="700" dirty="0"/>
          </a:p>
        </p:txBody>
      </p:sp>
      <p:cxnSp>
        <p:nvCxnSpPr>
          <p:cNvPr id="267" name="Соединительная линия уступом 620">
            <a:extLst>
              <a:ext uri="{FF2B5EF4-FFF2-40B4-BE49-F238E27FC236}">
                <a16:creationId xmlns:a16="http://schemas.microsoft.com/office/drawing/2014/main" id="{840FDEEB-F3AE-4C87-A93A-2D8E549CDC61}"/>
              </a:ext>
            </a:extLst>
          </p:cNvPr>
          <p:cNvCxnSpPr>
            <a:cxnSpLocks/>
            <a:stCxn id="171" idx="2"/>
            <a:endCxn id="245" idx="0"/>
          </p:cNvCxnSpPr>
          <p:nvPr/>
        </p:nvCxnSpPr>
        <p:spPr>
          <a:xfrm rot="5400000">
            <a:off x="44832465" y="17116050"/>
            <a:ext cx="256286" cy="63495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72" name="Соединительная линия уступом 620">
            <a:extLst>
              <a:ext uri="{FF2B5EF4-FFF2-40B4-BE49-F238E27FC236}">
                <a16:creationId xmlns:a16="http://schemas.microsoft.com/office/drawing/2014/main" id="{C42987BF-3C90-4273-8578-F4ECAA730943}"/>
              </a:ext>
            </a:extLst>
          </p:cNvPr>
          <p:cNvCxnSpPr>
            <a:cxnSpLocks/>
            <a:stCxn id="171" idx="2"/>
            <a:endCxn id="168" idx="0"/>
          </p:cNvCxnSpPr>
          <p:nvPr/>
        </p:nvCxnSpPr>
        <p:spPr>
          <a:xfrm rot="16200000" flipH="1">
            <a:off x="45454435" y="17129032"/>
            <a:ext cx="256286" cy="60898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76" name="Соединительная линия уступом 620">
            <a:extLst>
              <a:ext uri="{FF2B5EF4-FFF2-40B4-BE49-F238E27FC236}">
                <a16:creationId xmlns:a16="http://schemas.microsoft.com/office/drawing/2014/main" id="{CC9C22C5-0599-4A63-A76A-3E6E9BB2C8AF}"/>
              </a:ext>
            </a:extLst>
          </p:cNvPr>
          <p:cNvCxnSpPr>
            <a:cxnSpLocks/>
            <a:stCxn id="168" idx="2"/>
            <a:endCxn id="266" idx="0"/>
          </p:cNvCxnSpPr>
          <p:nvPr/>
        </p:nvCxnSpPr>
        <p:spPr>
          <a:xfrm rot="5400000">
            <a:off x="45134540" y="17610261"/>
            <a:ext cx="261124" cy="124394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79" name="Соединительная линия уступом 620">
            <a:extLst>
              <a:ext uri="{FF2B5EF4-FFF2-40B4-BE49-F238E27FC236}">
                <a16:creationId xmlns:a16="http://schemas.microsoft.com/office/drawing/2014/main" id="{B37C4214-5DF9-4BB7-87F6-3E8E0886C3AC}"/>
              </a:ext>
            </a:extLst>
          </p:cNvPr>
          <p:cNvCxnSpPr>
            <a:cxnSpLocks/>
            <a:stCxn id="245" idx="2"/>
            <a:endCxn id="266" idx="0"/>
          </p:cNvCxnSpPr>
          <p:nvPr/>
        </p:nvCxnSpPr>
        <p:spPr>
          <a:xfrm rot="5400000">
            <a:off x="44512570" y="18232231"/>
            <a:ext cx="261124" cy="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91" name="Соединительная линия уступом 620">
            <a:extLst>
              <a:ext uri="{FF2B5EF4-FFF2-40B4-BE49-F238E27FC236}">
                <a16:creationId xmlns:a16="http://schemas.microsoft.com/office/drawing/2014/main" id="{066864E5-04F4-434A-9229-08D47A32E87B}"/>
              </a:ext>
            </a:extLst>
          </p:cNvPr>
          <p:cNvCxnSpPr>
            <a:cxnSpLocks/>
            <a:stCxn id="245" idx="2"/>
            <a:endCxn id="170" idx="0"/>
          </p:cNvCxnSpPr>
          <p:nvPr/>
        </p:nvCxnSpPr>
        <p:spPr>
          <a:xfrm rot="16200000" flipH="1">
            <a:off x="45134745" y="17610056"/>
            <a:ext cx="260715" cy="1243940"/>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94" name="Соединительная линия уступом 620">
            <a:extLst>
              <a:ext uri="{FF2B5EF4-FFF2-40B4-BE49-F238E27FC236}">
                <a16:creationId xmlns:a16="http://schemas.microsoft.com/office/drawing/2014/main" id="{C7785B8F-424F-443D-A8C2-43EC2C92A8DF}"/>
              </a:ext>
            </a:extLst>
          </p:cNvPr>
          <p:cNvCxnSpPr>
            <a:cxnSpLocks/>
            <a:stCxn id="168" idx="2"/>
            <a:endCxn id="170" idx="0"/>
          </p:cNvCxnSpPr>
          <p:nvPr/>
        </p:nvCxnSpPr>
        <p:spPr>
          <a:xfrm rot="5400000">
            <a:off x="45756715" y="18232026"/>
            <a:ext cx="260715" cy="12700"/>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97" name="Соединительная линия уступом 620">
            <a:extLst>
              <a:ext uri="{FF2B5EF4-FFF2-40B4-BE49-F238E27FC236}">
                <a16:creationId xmlns:a16="http://schemas.microsoft.com/office/drawing/2014/main" id="{E78ABD49-6846-4088-9270-5DAE8DC72206}"/>
              </a:ext>
            </a:extLst>
          </p:cNvPr>
          <p:cNvCxnSpPr>
            <a:cxnSpLocks/>
            <a:stCxn id="163" idx="2"/>
            <a:endCxn id="167" idx="0"/>
          </p:cNvCxnSpPr>
          <p:nvPr/>
        </p:nvCxnSpPr>
        <p:spPr>
          <a:xfrm rot="16200000" flipH="1">
            <a:off x="46374797" y="16622732"/>
            <a:ext cx="276438" cy="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306" name="Соединительная линия уступом 620">
            <a:extLst>
              <a:ext uri="{FF2B5EF4-FFF2-40B4-BE49-F238E27FC236}">
                <a16:creationId xmlns:a16="http://schemas.microsoft.com/office/drawing/2014/main" id="{7BAF9731-AEDE-4588-8E73-E99D5DAF63CC}"/>
              </a:ext>
            </a:extLst>
          </p:cNvPr>
          <p:cNvCxnSpPr>
            <a:cxnSpLocks/>
            <a:stCxn id="167" idx="2"/>
            <a:endCxn id="160" idx="0"/>
          </p:cNvCxnSpPr>
          <p:nvPr/>
        </p:nvCxnSpPr>
        <p:spPr>
          <a:xfrm rot="16200000" flipH="1">
            <a:off x="46691655" y="17122313"/>
            <a:ext cx="260718" cy="617995"/>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309" name="Соединительная линия уступом 620">
            <a:extLst>
              <a:ext uri="{FF2B5EF4-FFF2-40B4-BE49-F238E27FC236}">
                <a16:creationId xmlns:a16="http://schemas.microsoft.com/office/drawing/2014/main" id="{EB1802D9-6AEF-43B0-8B61-D88E8CD70023}"/>
              </a:ext>
            </a:extLst>
          </p:cNvPr>
          <p:cNvCxnSpPr>
            <a:cxnSpLocks/>
            <a:stCxn id="161" idx="2"/>
            <a:endCxn id="160" idx="0"/>
          </p:cNvCxnSpPr>
          <p:nvPr/>
        </p:nvCxnSpPr>
        <p:spPr>
          <a:xfrm rot="5400000">
            <a:off x="47312762" y="17118578"/>
            <a:ext cx="261343" cy="62484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312" name="Соединительная линия уступом 620">
            <a:extLst>
              <a:ext uri="{FF2B5EF4-FFF2-40B4-BE49-F238E27FC236}">
                <a16:creationId xmlns:a16="http://schemas.microsoft.com/office/drawing/2014/main" id="{8A4CC061-E820-4B91-8265-908A117C76F1}"/>
              </a:ext>
            </a:extLst>
          </p:cNvPr>
          <p:cNvCxnSpPr>
            <a:cxnSpLocks/>
            <a:stCxn id="161" idx="2"/>
            <a:endCxn id="166" idx="0"/>
          </p:cNvCxnSpPr>
          <p:nvPr/>
        </p:nvCxnSpPr>
        <p:spPr>
          <a:xfrm rot="16200000" flipH="1">
            <a:off x="47933792" y="17122388"/>
            <a:ext cx="261343" cy="61722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15" name="Соединительная линия уступом 620">
            <a:extLst>
              <a:ext uri="{FF2B5EF4-FFF2-40B4-BE49-F238E27FC236}">
                <a16:creationId xmlns:a16="http://schemas.microsoft.com/office/drawing/2014/main" id="{5ACF4EDF-5A7A-4565-8335-9607E0AC4C9F}"/>
              </a:ext>
            </a:extLst>
          </p:cNvPr>
          <p:cNvCxnSpPr>
            <a:cxnSpLocks/>
            <a:stCxn id="245" idx="2"/>
            <a:endCxn id="136" idx="0"/>
          </p:cNvCxnSpPr>
          <p:nvPr/>
        </p:nvCxnSpPr>
        <p:spPr>
          <a:xfrm rot="16200000" flipH="1">
            <a:off x="44647695" y="18097105"/>
            <a:ext cx="1861535" cy="1870661"/>
          </a:xfrm>
          <a:prstGeom prst="bentConnector3">
            <a:avLst>
              <a:gd name="adj1" fmla="val 7019"/>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319" name="Соединительная линия уступом 620">
            <a:extLst>
              <a:ext uri="{FF2B5EF4-FFF2-40B4-BE49-F238E27FC236}">
                <a16:creationId xmlns:a16="http://schemas.microsoft.com/office/drawing/2014/main" id="{EEADD502-DF21-435B-AB40-628C775C396B}"/>
              </a:ext>
            </a:extLst>
          </p:cNvPr>
          <p:cNvCxnSpPr>
            <a:cxnSpLocks/>
            <a:stCxn id="168" idx="2"/>
            <a:endCxn id="136" idx="0"/>
          </p:cNvCxnSpPr>
          <p:nvPr/>
        </p:nvCxnSpPr>
        <p:spPr>
          <a:xfrm rot="16200000" flipH="1">
            <a:off x="45269665" y="18719075"/>
            <a:ext cx="1861535" cy="626721"/>
          </a:xfrm>
          <a:prstGeom prst="bentConnector3">
            <a:avLst>
              <a:gd name="adj1" fmla="val 7019"/>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323" name="Соединительная линия уступом 620">
            <a:extLst>
              <a:ext uri="{FF2B5EF4-FFF2-40B4-BE49-F238E27FC236}">
                <a16:creationId xmlns:a16="http://schemas.microsoft.com/office/drawing/2014/main" id="{FBF4967B-DC3B-4838-96A4-4D328C5EB6C2}"/>
              </a:ext>
            </a:extLst>
          </p:cNvPr>
          <p:cNvCxnSpPr>
            <a:cxnSpLocks/>
            <a:stCxn id="245" idx="2"/>
            <a:endCxn id="137" idx="0"/>
          </p:cNvCxnSpPr>
          <p:nvPr/>
        </p:nvCxnSpPr>
        <p:spPr>
          <a:xfrm rot="16200000" flipH="1">
            <a:off x="45268725" y="17476075"/>
            <a:ext cx="1861535" cy="3112721"/>
          </a:xfrm>
          <a:prstGeom prst="bentConnector3">
            <a:avLst>
              <a:gd name="adj1" fmla="val 7019"/>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327" name="Соединительная линия уступом 620">
            <a:extLst>
              <a:ext uri="{FF2B5EF4-FFF2-40B4-BE49-F238E27FC236}">
                <a16:creationId xmlns:a16="http://schemas.microsoft.com/office/drawing/2014/main" id="{46EC63F1-0538-4C28-BA2B-A65FEC33ACED}"/>
              </a:ext>
            </a:extLst>
          </p:cNvPr>
          <p:cNvCxnSpPr>
            <a:cxnSpLocks/>
            <a:stCxn id="168" idx="2"/>
            <a:endCxn id="137" idx="0"/>
          </p:cNvCxnSpPr>
          <p:nvPr/>
        </p:nvCxnSpPr>
        <p:spPr>
          <a:xfrm rot="16200000" flipH="1">
            <a:off x="45890695" y="18098045"/>
            <a:ext cx="1861535" cy="1868781"/>
          </a:xfrm>
          <a:prstGeom prst="bentConnector3">
            <a:avLst>
              <a:gd name="adj1" fmla="val 7019"/>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333" name="Соединительная линия уступом 620">
            <a:extLst>
              <a:ext uri="{FF2B5EF4-FFF2-40B4-BE49-F238E27FC236}">
                <a16:creationId xmlns:a16="http://schemas.microsoft.com/office/drawing/2014/main" id="{4AB5D48F-D0AA-4EBC-BF72-566D53293AF6}"/>
              </a:ext>
            </a:extLst>
          </p:cNvPr>
          <p:cNvCxnSpPr>
            <a:cxnSpLocks/>
            <a:stCxn id="134" idx="2"/>
            <a:endCxn id="162" idx="0"/>
          </p:cNvCxnSpPr>
          <p:nvPr/>
        </p:nvCxnSpPr>
        <p:spPr>
          <a:xfrm rot="5400000">
            <a:off x="47000341" y="21434583"/>
            <a:ext cx="261342" cy="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52" name="Прямая соединительная линия 351">
            <a:extLst>
              <a:ext uri="{FF2B5EF4-FFF2-40B4-BE49-F238E27FC236}">
                <a16:creationId xmlns:a16="http://schemas.microsoft.com/office/drawing/2014/main" id="{1CE47EEF-D77B-4B21-8647-CDBA028F81B3}"/>
              </a:ext>
            </a:extLst>
          </p:cNvPr>
          <p:cNvCxnSpPr>
            <a:cxnSpLocks/>
            <a:stCxn id="178" idx="1"/>
            <a:endCxn id="172" idx="3"/>
          </p:cNvCxnSpPr>
          <p:nvPr/>
        </p:nvCxnSpPr>
        <p:spPr>
          <a:xfrm flipH="1">
            <a:off x="7394931" y="2077655"/>
            <a:ext cx="8622364"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56" name="Прямоугольник 155">
            <a:extLst>
              <a:ext uri="{FF2B5EF4-FFF2-40B4-BE49-F238E27FC236}">
                <a16:creationId xmlns:a16="http://schemas.microsoft.com/office/drawing/2014/main" id="{BD9685A5-0F5B-46E4-B9C4-11EF0AFB73FB}"/>
              </a:ext>
            </a:extLst>
          </p:cNvPr>
          <p:cNvSpPr/>
          <p:nvPr/>
        </p:nvSpPr>
        <p:spPr>
          <a:xfrm>
            <a:off x="44179967" y="19153202"/>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Секторы модернизации сельской местности</a:t>
            </a:r>
          </a:p>
          <a:p>
            <a:pPr algn="ctr"/>
            <a:r>
              <a:rPr lang="ru-RU" sz="100" dirty="0"/>
              <a:t>(Еще одним проявлением государственного социального планирования стали сельские районы. Наиболее заметной из этих новых государственных социальных программ стала «Секторы модернизации сельской местности» (СМП), план развития сельских районов, запущенный в 1946 году новым генеральным резидентом Эриком </a:t>
            </a:r>
            <a:r>
              <a:rPr lang="ru-RU" sz="100" dirty="0" err="1"/>
              <a:t>Лабонном</a:t>
            </a:r>
            <a:r>
              <a:rPr lang="ru-RU" sz="100" dirty="0"/>
              <a:t>, профессиональным дипломатом-реформатором, сменившим Габриэля </a:t>
            </a:r>
            <a:r>
              <a:rPr lang="ru-RU" sz="100" dirty="0" err="1"/>
              <a:t>Пуо</a:t>
            </a:r>
            <a:r>
              <a:rPr lang="ru-RU" sz="100" dirty="0"/>
              <a:t> после окончания войны. Будучи сторонником «мягкого» подхода, предполагающего использование экономического развития, а не грубой силы для сдерживания давления в целях перемен, </a:t>
            </a:r>
            <a:r>
              <a:rPr lang="ru-RU" sz="100" dirty="0" err="1"/>
              <a:t>Лабонн</a:t>
            </a:r>
            <a:r>
              <a:rPr lang="ru-RU" sz="100" dirty="0"/>
              <a:t> осуждал сорок лет «стагнации», навязанной режимом Протектората, и предлагал «новый курс» для Марокко. Представленная как начальный этап новой французской социальной политики, СМП привлекла к работе французских социологов, проникнутых эгалитарными идеалами, таких как молодой Жак </a:t>
            </a:r>
            <a:r>
              <a:rPr lang="ru-RU" sz="100" dirty="0" err="1"/>
              <a:t>Берк</a:t>
            </a:r>
            <a:r>
              <a:rPr lang="ru-RU" sz="100" dirty="0"/>
              <a:t>, который впоследствии сделал карьеру выдающегося социолога ислама. Эти идеалистически настроенные молодые люди помогли создать программы, направленные на модернизацию методов ведения сельского хозяйства, которые имитировали советскую модель колхоза, сельскохозяйственного кооператива. Несколько факторов сорвали планы </a:t>
            </a:r>
            <a:r>
              <a:rPr lang="ru-RU" sz="100" dirty="0" err="1"/>
              <a:t>Лабонна</a:t>
            </a:r>
            <a:r>
              <a:rPr lang="ru-RU" sz="100" dirty="0"/>
              <a:t>: политика упорного отказа от сотрудничества со стороны </a:t>
            </a:r>
            <a:r>
              <a:rPr lang="ru-RU" sz="100" dirty="0" err="1"/>
              <a:t>Истикляля</a:t>
            </a:r>
            <a:r>
              <a:rPr lang="ru-RU" sz="100" dirty="0"/>
              <a:t>, медлительная бюрократия Протектората и резкое возмущение крупных землевладельцев, непримиримо выступавших против ориентированного на рабочих подхода </a:t>
            </a:r>
            <a:r>
              <a:rPr lang="ru-RU" sz="100" dirty="0" err="1"/>
              <a:t>Лабонна</a:t>
            </a:r>
            <a:r>
              <a:rPr lang="ru-RU" sz="100" dirty="0"/>
              <a:t>. В совокупности эти факторы вынудили </a:t>
            </a:r>
            <a:r>
              <a:rPr lang="ru-RU" sz="100" dirty="0" err="1"/>
              <a:t>Лабонна</a:t>
            </a:r>
            <a:r>
              <a:rPr lang="ru-RU" sz="100" dirty="0"/>
              <a:t> отступить и распустить свои кадры, что привело к тому, что проект стал практически неэффективным.¬44)</a:t>
            </a:r>
          </a:p>
        </p:txBody>
      </p:sp>
      <p:cxnSp>
        <p:nvCxnSpPr>
          <p:cNvPr id="158" name="Соединительная линия уступом 620">
            <a:extLst>
              <a:ext uri="{FF2B5EF4-FFF2-40B4-BE49-F238E27FC236}">
                <a16:creationId xmlns:a16="http://schemas.microsoft.com/office/drawing/2014/main" id="{2C19DE1B-1420-4A75-9AEA-95F5D82E5583}"/>
              </a:ext>
            </a:extLst>
          </p:cNvPr>
          <p:cNvCxnSpPr>
            <a:cxnSpLocks/>
            <a:stCxn id="170" idx="2"/>
            <a:endCxn id="156" idx="0"/>
          </p:cNvCxnSpPr>
          <p:nvPr/>
        </p:nvCxnSpPr>
        <p:spPr>
          <a:xfrm rot="5400000">
            <a:off x="45139692" y="18405822"/>
            <a:ext cx="250818" cy="124394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76" name="Соединительная линия уступом 620">
            <a:extLst>
              <a:ext uri="{FF2B5EF4-FFF2-40B4-BE49-F238E27FC236}">
                <a16:creationId xmlns:a16="http://schemas.microsoft.com/office/drawing/2014/main" id="{73562267-8A4D-4264-8436-A6E73CEB01B1}"/>
              </a:ext>
            </a:extLst>
          </p:cNvPr>
          <p:cNvCxnSpPr>
            <a:cxnSpLocks/>
            <a:stCxn id="163" idx="2"/>
            <a:endCxn id="171" idx="0"/>
          </p:cNvCxnSpPr>
          <p:nvPr/>
        </p:nvCxnSpPr>
        <p:spPr>
          <a:xfrm rot="5400000">
            <a:off x="45755116" y="16007482"/>
            <a:ext cx="280869" cy="1234932"/>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177" name="Соединительная линия уступом 620">
            <a:extLst>
              <a:ext uri="{FF2B5EF4-FFF2-40B4-BE49-F238E27FC236}">
                <a16:creationId xmlns:a16="http://schemas.microsoft.com/office/drawing/2014/main" id="{00ED7BF8-0741-478A-8257-53724D844C8D}"/>
              </a:ext>
            </a:extLst>
          </p:cNvPr>
          <p:cNvCxnSpPr>
            <a:cxnSpLocks/>
            <a:stCxn id="163" idx="2"/>
            <a:endCxn id="161" idx="0"/>
          </p:cNvCxnSpPr>
          <p:nvPr/>
        </p:nvCxnSpPr>
        <p:spPr>
          <a:xfrm rot="16200000" flipH="1">
            <a:off x="46996528" y="16001001"/>
            <a:ext cx="275813" cy="1242837"/>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178" name="Прямоугольник 177">
            <a:extLst>
              <a:ext uri="{FF2B5EF4-FFF2-40B4-BE49-F238E27FC236}">
                <a16:creationId xmlns:a16="http://schemas.microsoft.com/office/drawing/2014/main" id="{B4B88F2F-4EFD-4A52-B891-709773C0E63B}"/>
              </a:ext>
            </a:extLst>
          </p:cNvPr>
          <p:cNvSpPr/>
          <p:nvPr/>
        </p:nvSpPr>
        <p:spPr>
          <a:xfrm>
            <a:off x="16017295" y="1807655"/>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Пороховая бочка красного июня</a:t>
            </a:r>
          </a:p>
        </p:txBody>
      </p:sp>
      <p:sp>
        <p:nvSpPr>
          <p:cNvPr id="181" name="Прямоугольник 180">
            <a:extLst>
              <a:ext uri="{FF2B5EF4-FFF2-40B4-BE49-F238E27FC236}">
                <a16:creationId xmlns:a16="http://schemas.microsoft.com/office/drawing/2014/main" id="{F7376C2C-9CEE-4C5F-B577-5679B2784641}"/>
              </a:ext>
            </a:extLst>
          </p:cNvPr>
          <p:cNvSpPr/>
          <p:nvPr/>
        </p:nvSpPr>
        <p:spPr>
          <a:xfrm>
            <a:off x="16605629" y="2617655"/>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Искать компромисс с новой Францией</a:t>
            </a:r>
          </a:p>
        </p:txBody>
      </p:sp>
      <p:sp>
        <p:nvSpPr>
          <p:cNvPr id="182" name="Прямоугольник 181">
            <a:extLst>
              <a:ext uri="{FF2B5EF4-FFF2-40B4-BE49-F238E27FC236}">
                <a16:creationId xmlns:a16="http://schemas.microsoft.com/office/drawing/2014/main" id="{55B2DC33-8CEE-4512-B070-84F26EE25CE0}"/>
              </a:ext>
            </a:extLst>
          </p:cNvPr>
          <p:cNvSpPr/>
          <p:nvPr/>
        </p:nvSpPr>
        <p:spPr>
          <a:xfrm>
            <a:off x="15418325" y="2617655"/>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Искать помощи у Коминтерна</a:t>
            </a:r>
          </a:p>
        </p:txBody>
      </p:sp>
      <p:sp>
        <p:nvSpPr>
          <p:cNvPr id="183" name="Прямоугольник 182">
            <a:extLst>
              <a:ext uri="{FF2B5EF4-FFF2-40B4-BE49-F238E27FC236}">
                <a16:creationId xmlns:a16="http://schemas.microsoft.com/office/drawing/2014/main" id="{4A8E4594-12D1-4A9F-BC83-2A7912C7E9C1}"/>
              </a:ext>
            </a:extLst>
          </p:cNvPr>
          <p:cNvSpPr/>
          <p:nvPr/>
        </p:nvSpPr>
        <p:spPr>
          <a:xfrm>
            <a:off x="16017293" y="3427655"/>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Провести «взрывные работы» шахтёров</a:t>
            </a:r>
          </a:p>
        </p:txBody>
      </p:sp>
      <p:sp>
        <p:nvSpPr>
          <p:cNvPr id="184" name="Прямоугольник 183">
            <a:extLst>
              <a:ext uri="{FF2B5EF4-FFF2-40B4-BE49-F238E27FC236}">
                <a16:creationId xmlns:a16="http://schemas.microsoft.com/office/drawing/2014/main" id="{9DC3C11A-ED8D-4111-8F88-E8E38E2BC526}"/>
              </a:ext>
            </a:extLst>
          </p:cNvPr>
          <p:cNvSpPr/>
          <p:nvPr/>
        </p:nvSpPr>
        <p:spPr>
          <a:xfrm>
            <a:off x="17206368" y="3427655"/>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Вооружить отряды красной гвардии</a:t>
            </a:r>
          </a:p>
        </p:txBody>
      </p:sp>
      <p:sp>
        <p:nvSpPr>
          <p:cNvPr id="185" name="Прямоугольник 184">
            <a:extLst>
              <a:ext uri="{FF2B5EF4-FFF2-40B4-BE49-F238E27FC236}">
                <a16:creationId xmlns:a16="http://schemas.microsoft.com/office/drawing/2014/main" id="{DA8DB325-2F64-4AE2-83F8-F3166E26E271}"/>
              </a:ext>
            </a:extLst>
          </p:cNvPr>
          <p:cNvSpPr/>
          <p:nvPr/>
        </p:nvSpPr>
        <p:spPr>
          <a:xfrm>
            <a:off x="14828218" y="3427654"/>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Мобилизовать племена Атласа</a:t>
            </a:r>
          </a:p>
        </p:txBody>
      </p:sp>
      <p:cxnSp>
        <p:nvCxnSpPr>
          <p:cNvPr id="186" name="Соединительная линия уступом 620">
            <a:extLst>
              <a:ext uri="{FF2B5EF4-FFF2-40B4-BE49-F238E27FC236}">
                <a16:creationId xmlns:a16="http://schemas.microsoft.com/office/drawing/2014/main" id="{613ABB53-6376-41CF-897F-500F98B80A66}"/>
              </a:ext>
            </a:extLst>
          </p:cNvPr>
          <p:cNvCxnSpPr>
            <a:cxnSpLocks/>
            <a:stCxn id="178" idx="2"/>
            <a:endCxn id="182" idx="0"/>
          </p:cNvCxnSpPr>
          <p:nvPr/>
        </p:nvCxnSpPr>
        <p:spPr>
          <a:xfrm rot="5400000">
            <a:off x="16045973" y="2183170"/>
            <a:ext cx="270000" cy="59897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87" name="Соединительная линия уступом 620">
            <a:extLst>
              <a:ext uri="{FF2B5EF4-FFF2-40B4-BE49-F238E27FC236}">
                <a16:creationId xmlns:a16="http://schemas.microsoft.com/office/drawing/2014/main" id="{270265E6-88D6-4986-81F8-E9F04325F57A}"/>
              </a:ext>
            </a:extLst>
          </p:cNvPr>
          <p:cNvCxnSpPr>
            <a:cxnSpLocks/>
            <a:stCxn id="178" idx="2"/>
            <a:endCxn id="181" idx="0"/>
          </p:cNvCxnSpPr>
          <p:nvPr/>
        </p:nvCxnSpPr>
        <p:spPr>
          <a:xfrm rot="16200000" flipH="1">
            <a:off x="16639625" y="2188488"/>
            <a:ext cx="270000" cy="58833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88" name="Прямая соединительная линия 187">
            <a:extLst>
              <a:ext uri="{FF2B5EF4-FFF2-40B4-BE49-F238E27FC236}">
                <a16:creationId xmlns:a16="http://schemas.microsoft.com/office/drawing/2014/main" id="{F79F1BE0-6109-4625-9C29-E6A8D1F422DC}"/>
              </a:ext>
            </a:extLst>
          </p:cNvPr>
          <p:cNvCxnSpPr>
            <a:cxnSpLocks/>
            <a:stCxn id="181" idx="1"/>
            <a:endCxn id="182" idx="3"/>
          </p:cNvCxnSpPr>
          <p:nvPr/>
        </p:nvCxnSpPr>
        <p:spPr>
          <a:xfrm flipH="1">
            <a:off x="16344650" y="2887655"/>
            <a:ext cx="260979"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0" name="Соединительная линия уступом 620">
            <a:extLst>
              <a:ext uri="{FF2B5EF4-FFF2-40B4-BE49-F238E27FC236}">
                <a16:creationId xmlns:a16="http://schemas.microsoft.com/office/drawing/2014/main" id="{355C520A-9137-49BB-B3DE-B42F47010ADA}"/>
              </a:ext>
            </a:extLst>
          </p:cNvPr>
          <p:cNvCxnSpPr>
            <a:cxnSpLocks/>
            <a:stCxn id="178" idx="2"/>
            <a:endCxn id="185" idx="0"/>
          </p:cNvCxnSpPr>
          <p:nvPr/>
        </p:nvCxnSpPr>
        <p:spPr>
          <a:xfrm rot="5400000">
            <a:off x="15345921" y="2293116"/>
            <a:ext cx="1079999" cy="1189077"/>
          </a:xfrm>
          <a:prstGeom prst="bentConnector3">
            <a:avLst>
              <a:gd name="adj1" fmla="val 12097"/>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91" name="Соединительная линия уступом 620">
            <a:extLst>
              <a:ext uri="{FF2B5EF4-FFF2-40B4-BE49-F238E27FC236}">
                <a16:creationId xmlns:a16="http://schemas.microsoft.com/office/drawing/2014/main" id="{2BE64C25-E8F0-401C-BA1C-5549B15D2E5B}"/>
              </a:ext>
            </a:extLst>
          </p:cNvPr>
          <p:cNvCxnSpPr>
            <a:cxnSpLocks/>
            <a:stCxn id="178" idx="2"/>
            <a:endCxn id="184" idx="0"/>
          </p:cNvCxnSpPr>
          <p:nvPr/>
        </p:nvCxnSpPr>
        <p:spPr>
          <a:xfrm rot="16200000" flipH="1">
            <a:off x="16534994" y="2293118"/>
            <a:ext cx="1080000" cy="1189073"/>
          </a:xfrm>
          <a:prstGeom prst="bentConnector3">
            <a:avLst>
              <a:gd name="adj1" fmla="val 12096"/>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92" name="Соединительная линия уступом 620">
            <a:extLst>
              <a:ext uri="{FF2B5EF4-FFF2-40B4-BE49-F238E27FC236}">
                <a16:creationId xmlns:a16="http://schemas.microsoft.com/office/drawing/2014/main" id="{971C1CBF-A3AA-408F-A1D2-9C9D75D41B8F}"/>
              </a:ext>
            </a:extLst>
          </p:cNvPr>
          <p:cNvCxnSpPr>
            <a:cxnSpLocks/>
            <a:stCxn id="178" idx="2"/>
            <a:endCxn id="183" idx="0"/>
          </p:cNvCxnSpPr>
          <p:nvPr/>
        </p:nvCxnSpPr>
        <p:spPr>
          <a:xfrm rot="5400000">
            <a:off x="15940457" y="2887654"/>
            <a:ext cx="1080000" cy="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93" name="Прямоугольник 192">
            <a:extLst>
              <a:ext uri="{FF2B5EF4-FFF2-40B4-BE49-F238E27FC236}">
                <a16:creationId xmlns:a16="http://schemas.microsoft.com/office/drawing/2014/main" id="{CEBD78CE-17CE-43A0-BD37-6E227DB122CD}"/>
              </a:ext>
            </a:extLst>
          </p:cNvPr>
          <p:cNvSpPr/>
          <p:nvPr/>
        </p:nvSpPr>
        <p:spPr>
          <a:xfrm>
            <a:off x="15418325" y="4237653"/>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Искать помощи среди националистов</a:t>
            </a:r>
          </a:p>
        </p:txBody>
      </p:sp>
      <p:sp>
        <p:nvSpPr>
          <p:cNvPr id="194" name="Прямоугольник 193">
            <a:extLst>
              <a:ext uri="{FF2B5EF4-FFF2-40B4-BE49-F238E27FC236}">
                <a16:creationId xmlns:a16="http://schemas.microsoft.com/office/drawing/2014/main" id="{DE354935-DCCA-4E3F-BE40-654491151E16}"/>
              </a:ext>
            </a:extLst>
          </p:cNvPr>
          <p:cNvSpPr/>
          <p:nvPr/>
        </p:nvSpPr>
        <p:spPr>
          <a:xfrm>
            <a:off x="16605628" y="4237653"/>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Переманить остатки марокканцев из армии</a:t>
            </a:r>
          </a:p>
        </p:txBody>
      </p:sp>
      <p:cxnSp>
        <p:nvCxnSpPr>
          <p:cNvPr id="195" name="Соединительная линия уступом 620">
            <a:extLst>
              <a:ext uri="{FF2B5EF4-FFF2-40B4-BE49-F238E27FC236}">
                <a16:creationId xmlns:a16="http://schemas.microsoft.com/office/drawing/2014/main" id="{EFBD37AD-79FE-4447-8A69-147D52878238}"/>
              </a:ext>
            </a:extLst>
          </p:cNvPr>
          <p:cNvCxnSpPr>
            <a:cxnSpLocks/>
            <a:stCxn id="181" idx="2"/>
            <a:endCxn id="229" idx="0"/>
          </p:cNvCxnSpPr>
          <p:nvPr/>
        </p:nvCxnSpPr>
        <p:spPr>
          <a:xfrm rot="16200000" flipH="1">
            <a:off x="16718745" y="3507701"/>
            <a:ext cx="1887395" cy="1187301"/>
          </a:xfrm>
          <a:prstGeom prst="bentConnector3">
            <a:avLst>
              <a:gd name="adj1" fmla="val 6904"/>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96" name="Соединительная линия уступом 620">
            <a:extLst>
              <a:ext uri="{FF2B5EF4-FFF2-40B4-BE49-F238E27FC236}">
                <a16:creationId xmlns:a16="http://schemas.microsoft.com/office/drawing/2014/main" id="{E9EB3CF6-3D48-4724-B19F-D706D559FC5D}"/>
              </a:ext>
            </a:extLst>
          </p:cNvPr>
          <p:cNvCxnSpPr>
            <a:cxnSpLocks/>
            <a:stCxn id="182" idx="2"/>
            <a:endCxn id="231" idx="0"/>
          </p:cNvCxnSpPr>
          <p:nvPr/>
        </p:nvCxnSpPr>
        <p:spPr>
          <a:xfrm rot="5400000">
            <a:off x="14344139" y="3507700"/>
            <a:ext cx="1887395" cy="1187304"/>
          </a:xfrm>
          <a:prstGeom prst="bentConnector3">
            <a:avLst>
              <a:gd name="adj1" fmla="val 7186"/>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98" name="Прямоугольник 197">
            <a:extLst>
              <a:ext uri="{FF2B5EF4-FFF2-40B4-BE49-F238E27FC236}">
                <a16:creationId xmlns:a16="http://schemas.microsoft.com/office/drawing/2014/main" id="{01483DFB-5720-4EC7-82D0-9CC2FB45BAFB}"/>
              </a:ext>
            </a:extLst>
          </p:cNvPr>
          <p:cNvSpPr/>
          <p:nvPr/>
        </p:nvSpPr>
        <p:spPr>
          <a:xfrm>
            <a:off x="16011975" y="5852447"/>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Судьба султана?</a:t>
            </a:r>
            <a:br>
              <a:rPr lang="ru-RU" sz="700" dirty="0"/>
            </a:br>
            <a:r>
              <a:rPr lang="ru-RU" sz="200" dirty="0"/>
              <a:t>Ликвидатор феодализма (</a:t>
            </a:r>
            <a:r>
              <a:rPr lang="ru-RU" sz="200" dirty="0" err="1"/>
              <a:t>Liquidator</a:t>
            </a:r>
            <a:r>
              <a:rPr lang="ru-RU" sz="200" dirty="0"/>
              <a:t> </a:t>
            </a:r>
            <a:r>
              <a:rPr lang="ru-RU" sz="200" dirty="0" err="1"/>
              <a:t>of</a:t>
            </a:r>
            <a:r>
              <a:rPr lang="ru-RU" sz="200" dirty="0"/>
              <a:t> </a:t>
            </a:r>
            <a:r>
              <a:rPr lang="ru-RU" sz="200" dirty="0" err="1"/>
              <a:t>Feudalism</a:t>
            </a:r>
            <a:r>
              <a:rPr lang="ru-RU" sz="200" dirty="0"/>
              <a:t>)Активируется через фокус «Упразднить </a:t>
            </a:r>
            <a:r>
              <a:rPr lang="ru-RU" sz="200" dirty="0" err="1"/>
              <a:t>Махзен</a:t>
            </a:r>
            <a:r>
              <a:rPr lang="ru-RU" sz="200" dirty="0"/>
              <a:t> и Султанат».🛑 Популярность нейтральной (монархической) идеологии: -0.05 в день.🛠️ Скорость конверсии гражданских фабрик в военные заводы: +15%📉 Краткосрочный штраф к стабильности: -5.00% (из-за сопротивления роялистов).</a:t>
            </a:r>
            <a:endParaRPr lang="ru-RU" sz="700" dirty="0"/>
          </a:p>
        </p:txBody>
      </p:sp>
      <p:cxnSp>
        <p:nvCxnSpPr>
          <p:cNvPr id="199" name="Соединительная линия уступом 620">
            <a:extLst>
              <a:ext uri="{FF2B5EF4-FFF2-40B4-BE49-F238E27FC236}">
                <a16:creationId xmlns:a16="http://schemas.microsoft.com/office/drawing/2014/main" id="{7D3CB62A-02A1-45FC-8FBA-E15235435620}"/>
              </a:ext>
            </a:extLst>
          </p:cNvPr>
          <p:cNvCxnSpPr>
            <a:cxnSpLocks/>
            <a:stCxn id="183" idx="2"/>
            <a:endCxn id="194" idx="0"/>
          </p:cNvCxnSpPr>
          <p:nvPr/>
        </p:nvCxnSpPr>
        <p:spPr>
          <a:xfrm rot="16200000" flipH="1">
            <a:off x="16639624" y="3808486"/>
            <a:ext cx="269998" cy="588335"/>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00" name="Соединительная линия уступом 620">
            <a:extLst>
              <a:ext uri="{FF2B5EF4-FFF2-40B4-BE49-F238E27FC236}">
                <a16:creationId xmlns:a16="http://schemas.microsoft.com/office/drawing/2014/main" id="{521B31FB-7CFF-4558-AB1E-BEC09F2E040D}"/>
              </a:ext>
            </a:extLst>
          </p:cNvPr>
          <p:cNvCxnSpPr>
            <a:cxnSpLocks/>
            <a:stCxn id="184" idx="2"/>
            <a:endCxn id="194" idx="0"/>
          </p:cNvCxnSpPr>
          <p:nvPr/>
        </p:nvCxnSpPr>
        <p:spPr>
          <a:xfrm rot="5400000">
            <a:off x="17234162" y="3802284"/>
            <a:ext cx="269998" cy="600740"/>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05" name="Соединительная линия уступом 620">
            <a:extLst>
              <a:ext uri="{FF2B5EF4-FFF2-40B4-BE49-F238E27FC236}">
                <a16:creationId xmlns:a16="http://schemas.microsoft.com/office/drawing/2014/main" id="{964295CE-967D-4989-94F2-12B863910B48}"/>
              </a:ext>
            </a:extLst>
          </p:cNvPr>
          <p:cNvCxnSpPr>
            <a:cxnSpLocks/>
            <a:stCxn id="185" idx="2"/>
            <a:endCxn id="194" idx="0"/>
          </p:cNvCxnSpPr>
          <p:nvPr/>
        </p:nvCxnSpPr>
        <p:spPr>
          <a:xfrm rot="16200000" flipH="1">
            <a:off x="16045087" y="3213948"/>
            <a:ext cx="269999" cy="1777410"/>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12" name="Соединительная линия уступом 620">
            <a:extLst>
              <a:ext uri="{FF2B5EF4-FFF2-40B4-BE49-F238E27FC236}">
                <a16:creationId xmlns:a16="http://schemas.microsoft.com/office/drawing/2014/main" id="{633F4767-5E0F-4CAE-AE5A-3F79227A395D}"/>
              </a:ext>
            </a:extLst>
          </p:cNvPr>
          <p:cNvCxnSpPr>
            <a:cxnSpLocks/>
            <a:stCxn id="185" idx="2"/>
            <a:endCxn id="193" idx="0"/>
          </p:cNvCxnSpPr>
          <p:nvPr/>
        </p:nvCxnSpPr>
        <p:spPr>
          <a:xfrm rot="16200000" flipH="1">
            <a:off x="15451435" y="3807599"/>
            <a:ext cx="269999" cy="590107"/>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14" name="Соединительная линия уступом 620">
            <a:extLst>
              <a:ext uri="{FF2B5EF4-FFF2-40B4-BE49-F238E27FC236}">
                <a16:creationId xmlns:a16="http://schemas.microsoft.com/office/drawing/2014/main" id="{4ADDAB24-CD5B-4FA7-9434-90B11D5F66B0}"/>
              </a:ext>
            </a:extLst>
          </p:cNvPr>
          <p:cNvCxnSpPr>
            <a:cxnSpLocks/>
            <a:stCxn id="183" idx="2"/>
            <a:endCxn id="193" idx="0"/>
          </p:cNvCxnSpPr>
          <p:nvPr/>
        </p:nvCxnSpPr>
        <p:spPr>
          <a:xfrm rot="5400000">
            <a:off x="16045973" y="3803170"/>
            <a:ext cx="269998" cy="598968"/>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18" name="Соединительная линия уступом 620">
            <a:extLst>
              <a:ext uri="{FF2B5EF4-FFF2-40B4-BE49-F238E27FC236}">
                <a16:creationId xmlns:a16="http://schemas.microsoft.com/office/drawing/2014/main" id="{07BCE0E3-BBFB-4A99-9140-F3998272FA21}"/>
              </a:ext>
            </a:extLst>
          </p:cNvPr>
          <p:cNvCxnSpPr>
            <a:cxnSpLocks/>
            <a:stCxn id="184" idx="2"/>
            <a:endCxn id="193" idx="0"/>
          </p:cNvCxnSpPr>
          <p:nvPr/>
        </p:nvCxnSpPr>
        <p:spPr>
          <a:xfrm rot="5400000">
            <a:off x="16640511" y="3208633"/>
            <a:ext cx="269998" cy="1788043"/>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229" name="Прямоугольник 228">
            <a:extLst>
              <a:ext uri="{FF2B5EF4-FFF2-40B4-BE49-F238E27FC236}">
                <a16:creationId xmlns:a16="http://schemas.microsoft.com/office/drawing/2014/main" id="{4F0ACAB2-A532-4A4A-BE2B-6DD898A778A6}"/>
              </a:ext>
            </a:extLst>
          </p:cNvPr>
          <p:cNvSpPr/>
          <p:nvPr/>
        </p:nvSpPr>
        <p:spPr>
          <a:xfrm>
            <a:off x="17792930" y="5045050"/>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Согласовать новое правительство Марокко</a:t>
            </a:r>
          </a:p>
        </p:txBody>
      </p:sp>
      <p:sp>
        <p:nvSpPr>
          <p:cNvPr id="231" name="Прямоугольник 230">
            <a:extLst>
              <a:ext uri="{FF2B5EF4-FFF2-40B4-BE49-F238E27FC236}">
                <a16:creationId xmlns:a16="http://schemas.microsoft.com/office/drawing/2014/main" id="{1FF530F6-3A49-4FDD-B396-8F8B8659BA04}"/>
              </a:ext>
            </a:extLst>
          </p:cNvPr>
          <p:cNvSpPr/>
          <p:nvPr/>
        </p:nvSpPr>
        <p:spPr>
          <a:xfrm>
            <a:off x="14231021" y="5045050"/>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Новая страна рабочих!</a:t>
            </a:r>
          </a:p>
        </p:txBody>
      </p:sp>
      <p:cxnSp>
        <p:nvCxnSpPr>
          <p:cNvPr id="237" name="Прямая соединительная линия 236">
            <a:extLst>
              <a:ext uri="{FF2B5EF4-FFF2-40B4-BE49-F238E27FC236}">
                <a16:creationId xmlns:a16="http://schemas.microsoft.com/office/drawing/2014/main" id="{71C9DE65-C59A-4802-9A6D-6EAE192DEEAD}"/>
              </a:ext>
            </a:extLst>
          </p:cNvPr>
          <p:cNvCxnSpPr>
            <a:cxnSpLocks/>
            <a:stCxn id="229" idx="1"/>
            <a:endCxn id="231" idx="3"/>
          </p:cNvCxnSpPr>
          <p:nvPr/>
        </p:nvCxnSpPr>
        <p:spPr>
          <a:xfrm flipH="1">
            <a:off x="15157346" y="5315050"/>
            <a:ext cx="2635584"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9" name="Соединительная линия уступом 620">
            <a:extLst>
              <a:ext uri="{FF2B5EF4-FFF2-40B4-BE49-F238E27FC236}">
                <a16:creationId xmlns:a16="http://schemas.microsoft.com/office/drawing/2014/main" id="{E9DDE346-6CA1-4730-80E4-589129037BCE}"/>
              </a:ext>
            </a:extLst>
          </p:cNvPr>
          <p:cNvCxnSpPr>
            <a:cxnSpLocks/>
            <a:stCxn id="229" idx="2"/>
            <a:endCxn id="198" idx="0"/>
          </p:cNvCxnSpPr>
          <p:nvPr/>
        </p:nvCxnSpPr>
        <p:spPr>
          <a:xfrm rot="5400000">
            <a:off x="17231918" y="4828271"/>
            <a:ext cx="267397" cy="1780955"/>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52" name="Соединительная линия уступом 620">
            <a:extLst>
              <a:ext uri="{FF2B5EF4-FFF2-40B4-BE49-F238E27FC236}">
                <a16:creationId xmlns:a16="http://schemas.microsoft.com/office/drawing/2014/main" id="{98A83083-FD9A-4D4D-BF49-0BDA5EAC70FC}"/>
              </a:ext>
            </a:extLst>
          </p:cNvPr>
          <p:cNvCxnSpPr>
            <a:cxnSpLocks/>
            <a:stCxn id="231" idx="2"/>
            <a:endCxn id="198" idx="0"/>
          </p:cNvCxnSpPr>
          <p:nvPr/>
        </p:nvCxnSpPr>
        <p:spPr>
          <a:xfrm rot="16200000" flipH="1">
            <a:off x="15450963" y="4828271"/>
            <a:ext cx="267397" cy="1780954"/>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259" name="Прямоугольник 258">
            <a:extLst>
              <a:ext uri="{FF2B5EF4-FFF2-40B4-BE49-F238E27FC236}">
                <a16:creationId xmlns:a16="http://schemas.microsoft.com/office/drawing/2014/main" id="{0F5E597A-C48B-4749-B709-20BB7A4E003E}"/>
              </a:ext>
            </a:extLst>
          </p:cNvPr>
          <p:cNvSpPr/>
          <p:nvPr/>
        </p:nvSpPr>
        <p:spPr>
          <a:xfrm>
            <a:off x="7059827" y="3427653"/>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Принять французские инвестиции</a:t>
            </a:r>
          </a:p>
        </p:txBody>
      </p:sp>
      <p:sp>
        <p:nvSpPr>
          <p:cNvPr id="263" name="Прямоугольник 262">
            <a:extLst>
              <a:ext uri="{FF2B5EF4-FFF2-40B4-BE49-F238E27FC236}">
                <a16:creationId xmlns:a16="http://schemas.microsoft.com/office/drawing/2014/main" id="{970C5735-49A0-4EC6-85CF-24E9FB4CD637}"/>
              </a:ext>
            </a:extLst>
          </p:cNvPr>
          <p:cNvSpPr/>
          <p:nvPr/>
        </p:nvSpPr>
        <p:spPr>
          <a:xfrm>
            <a:off x="8242834" y="2603290"/>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Оказать поддержку Марокканскому Комитету Действий</a:t>
            </a:r>
          </a:p>
        </p:txBody>
      </p:sp>
      <p:sp>
        <p:nvSpPr>
          <p:cNvPr id="264" name="Прямоугольник 263">
            <a:extLst>
              <a:ext uri="{FF2B5EF4-FFF2-40B4-BE49-F238E27FC236}">
                <a16:creationId xmlns:a16="http://schemas.microsoft.com/office/drawing/2014/main" id="{E9D86B21-BA50-4EED-8AF3-33349A7A2289}"/>
              </a:ext>
            </a:extLst>
          </p:cNvPr>
          <p:cNvSpPr/>
          <p:nvPr/>
        </p:nvSpPr>
        <p:spPr>
          <a:xfrm>
            <a:off x="5872525" y="3427653"/>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Запросить оружие для гарнизонов</a:t>
            </a:r>
          </a:p>
        </p:txBody>
      </p:sp>
      <p:sp>
        <p:nvSpPr>
          <p:cNvPr id="265" name="Прямоугольник 264">
            <a:extLst>
              <a:ext uri="{FF2B5EF4-FFF2-40B4-BE49-F238E27FC236}">
                <a16:creationId xmlns:a16="http://schemas.microsoft.com/office/drawing/2014/main" id="{CA5A524B-95E8-4622-98BC-8DEB6F253FBB}"/>
              </a:ext>
            </a:extLst>
          </p:cNvPr>
          <p:cNvSpPr/>
          <p:nvPr/>
        </p:nvSpPr>
        <p:spPr>
          <a:xfrm>
            <a:off x="4680775" y="2602759"/>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Противостоять Марокканскому комитету действий</a:t>
            </a:r>
          </a:p>
        </p:txBody>
      </p:sp>
      <p:cxnSp>
        <p:nvCxnSpPr>
          <p:cNvPr id="268" name="Прямая соединительная линия 267">
            <a:extLst>
              <a:ext uri="{FF2B5EF4-FFF2-40B4-BE49-F238E27FC236}">
                <a16:creationId xmlns:a16="http://schemas.microsoft.com/office/drawing/2014/main" id="{FABFED8D-A35E-4FC6-A3E3-47325AA7A5E2}"/>
              </a:ext>
            </a:extLst>
          </p:cNvPr>
          <p:cNvCxnSpPr>
            <a:cxnSpLocks/>
            <a:stCxn id="263" idx="1"/>
            <a:endCxn id="265" idx="3"/>
          </p:cNvCxnSpPr>
          <p:nvPr/>
        </p:nvCxnSpPr>
        <p:spPr>
          <a:xfrm flipH="1" flipV="1">
            <a:off x="5607100" y="2872759"/>
            <a:ext cx="2635734" cy="531"/>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9" name="Соединительная линия уступом 620">
            <a:extLst>
              <a:ext uri="{FF2B5EF4-FFF2-40B4-BE49-F238E27FC236}">
                <a16:creationId xmlns:a16="http://schemas.microsoft.com/office/drawing/2014/main" id="{29A1668A-421E-4114-AEFA-F23A40594868}"/>
              </a:ext>
            </a:extLst>
          </p:cNvPr>
          <p:cNvCxnSpPr>
            <a:cxnSpLocks/>
            <a:stCxn id="172" idx="2"/>
            <a:endCxn id="265" idx="0"/>
          </p:cNvCxnSpPr>
          <p:nvPr/>
        </p:nvCxnSpPr>
        <p:spPr>
          <a:xfrm rot="5400000">
            <a:off x="5910302" y="1581292"/>
            <a:ext cx="255104" cy="178783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73" name="Соединительная линия уступом 620">
            <a:extLst>
              <a:ext uri="{FF2B5EF4-FFF2-40B4-BE49-F238E27FC236}">
                <a16:creationId xmlns:a16="http://schemas.microsoft.com/office/drawing/2014/main" id="{81A345AD-C194-4185-B40E-0B46A19DE726}"/>
              </a:ext>
            </a:extLst>
          </p:cNvPr>
          <p:cNvCxnSpPr>
            <a:cxnSpLocks/>
            <a:stCxn id="172" idx="2"/>
            <a:endCxn id="263" idx="0"/>
          </p:cNvCxnSpPr>
          <p:nvPr/>
        </p:nvCxnSpPr>
        <p:spPr>
          <a:xfrm rot="16200000" flipH="1">
            <a:off x="7691066" y="1588358"/>
            <a:ext cx="255635" cy="177422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75" name="Прямоугольник 274">
            <a:extLst>
              <a:ext uri="{FF2B5EF4-FFF2-40B4-BE49-F238E27FC236}">
                <a16:creationId xmlns:a16="http://schemas.microsoft.com/office/drawing/2014/main" id="{FF6787D9-3183-4E89-AAFC-1047F965FF62}"/>
              </a:ext>
            </a:extLst>
          </p:cNvPr>
          <p:cNvSpPr/>
          <p:nvPr/>
        </p:nvSpPr>
        <p:spPr>
          <a:xfrm>
            <a:off x="8842200" y="4235046"/>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Заменить пост великого визиря премьер-министром</a:t>
            </a:r>
          </a:p>
        </p:txBody>
      </p:sp>
      <p:cxnSp>
        <p:nvCxnSpPr>
          <p:cNvPr id="282" name="Соединительная линия уступом 620">
            <a:extLst>
              <a:ext uri="{FF2B5EF4-FFF2-40B4-BE49-F238E27FC236}">
                <a16:creationId xmlns:a16="http://schemas.microsoft.com/office/drawing/2014/main" id="{51EA453B-083C-4FEF-80CA-54AD8C1C3055}"/>
              </a:ext>
            </a:extLst>
          </p:cNvPr>
          <p:cNvCxnSpPr>
            <a:cxnSpLocks/>
            <a:stCxn id="172" idx="2"/>
            <a:endCxn id="264" idx="0"/>
          </p:cNvCxnSpPr>
          <p:nvPr/>
        </p:nvCxnSpPr>
        <p:spPr>
          <a:xfrm rot="5400000">
            <a:off x="6093730" y="2589614"/>
            <a:ext cx="1079998" cy="596081"/>
          </a:xfrm>
          <a:prstGeom prst="bentConnector3">
            <a:avLst>
              <a:gd name="adj1" fmla="val 12589"/>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283" name="Прямоугольник 282">
            <a:extLst>
              <a:ext uri="{FF2B5EF4-FFF2-40B4-BE49-F238E27FC236}">
                <a16:creationId xmlns:a16="http://schemas.microsoft.com/office/drawing/2014/main" id="{886D9F6F-BB87-4A90-BB75-348AA8E44D4C}"/>
              </a:ext>
            </a:extLst>
          </p:cNvPr>
          <p:cNvSpPr/>
          <p:nvPr/>
        </p:nvSpPr>
        <p:spPr>
          <a:xfrm>
            <a:off x="4098299" y="3425128"/>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Распустить Марокканский комитет действий</a:t>
            </a:r>
          </a:p>
        </p:txBody>
      </p:sp>
      <p:cxnSp>
        <p:nvCxnSpPr>
          <p:cNvPr id="284" name="Соединительная линия уступом 620">
            <a:extLst>
              <a:ext uri="{FF2B5EF4-FFF2-40B4-BE49-F238E27FC236}">
                <a16:creationId xmlns:a16="http://schemas.microsoft.com/office/drawing/2014/main" id="{2030DA18-5BAC-48F1-9A6A-7E9A18C9AA51}"/>
              </a:ext>
            </a:extLst>
          </p:cNvPr>
          <p:cNvCxnSpPr>
            <a:cxnSpLocks/>
            <a:stCxn id="265" idx="2"/>
            <a:endCxn id="283" idx="0"/>
          </p:cNvCxnSpPr>
          <p:nvPr/>
        </p:nvCxnSpPr>
        <p:spPr>
          <a:xfrm rot="5400000">
            <a:off x="4711516" y="2992705"/>
            <a:ext cx="282369" cy="58247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87" name="Прямоугольник 286">
            <a:extLst>
              <a:ext uri="{FF2B5EF4-FFF2-40B4-BE49-F238E27FC236}">
                <a16:creationId xmlns:a16="http://schemas.microsoft.com/office/drawing/2014/main" id="{7C057171-F376-4B82-B319-CBAB78F0889F}"/>
              </a:ext>
            </a:extLst>
          </p:cNvPr>
          <p:cNvSpPr/>
          <p:nvPr/>
        </p:nvSpPr>
        <p:spPr>
          <a:xfrm>
            <a:off x="8838914" y="3431990"/>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Разрешить публикацию националистических газет</a:t>
            </a:r>
            <a:br>
              <a:rPr lang="ru-RU" sz="700" dirty="0"/>
            </a:br>
            <a:r>
              <a:rPr lang="ru-RU" sz="100" dirty="0"/>
              <a:t>(В январе 1937 года генерал-резидент Шарль </a:t>
            </a:r>
            <a:r>
              <a:rPr lang="ru-RU" sz="100" dirty="0" err="1"/>
              <a:t>Ногес</a:t>
            </a:r>
            <a:r>
              <a:rPr lang="ru-RU" sz="100" dirty="0"/>
              <a:t> разрешил публикацию нескольких националистических газет, что способствовало ускорению раскола внутри CAM. 12 февраля 1937 года в Рабате вышел арабоязычный еженедельник «Эль Атлас » под редакцией </a:t>
            </a:r>
            <a:r>
              <a:rPr lang="ru-RU" sz="100" dirty="0" err="1"/>
              <a:t>Мохамеда</a:t>
            </a:r>
            <a:r>
              <a:rPr lang="ru-RU" sz="100" dirty="0"/>
              <a:t> </a:t>
            </a:r>
            <a:r>
              <a:rPr lang="ru-RU" sz="100" dirty="0" err="1"/>
              <a:t>Лязиди</a:t>
            </a:r>
            <a:r>
              <a:rPr lang="ru-RU" sz="100" dirty="0"/>
              <a:t>, а 27 февраля того же года в Рабате вышел первый номер франкоязычного еженедельника « </a:t>
            </a:r>
            <a:r>
              <a:rPr lang="ru-RU" sz="100" dirty="0" err="1"/>
              <a:t>L'Action</a:t>
            </a:r>
            <a:r>
              <a:rPr lang="ru-RU" sz="100" dirty="0"/>
              <a:t> </a:t>
            </a:r>
            <a:r>
              <a:rPr lang="ru-RU" sz="100" dirty="0" err="1"/>
              <a:t>Populaire</a:t>
            </a:r>
            <a:r>
              <a:rPr lang="ru-RU" sz="100" dirty="0"/>
              <a:t> » под редакцией </a:t>
            </a:r>
            <a:r>
              <a:rPr lang="ru-RU" sz="100" dirty="0" err="1"/>
              <a:t>Мохамеда</a:t>
            </a:r>
            <a:r>
              <a:rPr lang="ru-RU" sz="100" dirty="0"/>
              <a:t> </a:t>
            </a:r>
            <a:r>
              <a:rPr lang="ru-RU" sz="100" dirty="0" err="1"/>
              <a:t>Аллала</a:t>
            </a:r>
            <a:r>
              <a:rPr lang="ru-RU" sz="100" dirty="0"/>
              <a:t> </a:t>
            </a:r>
            <a:r>
              <a:rPr lang="ru-RU" sz="100" dirty="0" err="1"/>
              <a:t>Фасси</a:t>
            </a:r>
            <a:r>
              <a:rPr lang="ru-RU" sz="100" dirty="0"/>
              <a:t> . </a:t>
            </a:r>
            <a:r>
              <a:rPr lang="ru-RU" sz="100" dirty="0" err="1"/>
              <a:t>Мохамед</a:t>
            </a:r>
            <a:r>
              <a:rPr lang="ru-RU" sz="100" dirty="0"/>
              <a:t> Хасан </a:t>
            </a:r>
            <a:r>
              <a:rPr lang="ru-RU" sz="100" dirty="0" err="1"/>
              <a:t>Уаззани</a:t>
            </a:r>
            <a:r>
              <a:rPr lang="ru-RU" sz="100" dirty="0"/>
              <a:t> получил разрешение на возобновление публикации «</a:t>
            </a:r>
            <a:r>
              <a:rPr lang="ru-RU" sz="100" dirty="0" err="1"/>
              <a:t>L'Action</a:t>
            </a:r>
            <a:r>
              <a:rPr lang="ru-RU" sz="100" dirty="0"/>
              <a:t> </a:t>
            </a:r>
            <a:r>
              <a:rPr lang="ru-RU" sz="100" dirty="0" err="1"/>
              <a:t>du</a:t>
            </a:r>
            <a:r>
              <a:rPr lang="ru-RU" sz="100" dirty="0"/>
              <a:t> </a:t>
            </a:r>
            <a:r>
              <a:rPr lang="ru-RU" sz="100" dirty="0" err="1"/>
              <a:t>Peuple</a:t>
            </a:r>
            <a:r>
              <a:rPr lang="ru-RU" sz="100" dirty="0"/>
              <a:t>» , которая начала выходить в еженедельном формате в апреле 1937 года.)</a:t>
            </a:r>
            <a:endParaRPr lang="ru-RU" sz="700" dirty="0"/>
          </a:p>
        </p:txBody>
      </p:sp>
      <p:cxnSp>
        <p:nvCxnSpPr>
          <p:cNvPr id="288" name="Соединительная линия уступом 620">
            <a:extLst>
              <a:ext uri="{FF2B5EF4-FFF2-40B4-BE49-F238E27FC236}">
                <a16:creationId xmlns:a16="http://schemas.microsoft.com/office/drawing/2014/main" id="{2D45B470-7110-45BE-A426-4B5C553565C5}"/>
              </a:ext>
            </a:extLst>
          </p:cNvPr>
          <p:cNvCxnSpPr>
            <a:cxnSpLocks/>
            <a:stCxn id="263" idx="2"/>
            <a:endCxn id="287" idx="0"/>
          </p:cNvCxnSpPr>
          <p:nvPr/>
        </p:nvCxnSpPr>
        <p:spPr>
          <a:xfrm rot="16200000" flipH="1">
            <a:off x="8859687" y="2989600"/>
            <a:ext cx="288700" cy="59608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92" name="Прямоугольник 291">
            <a:extLst>
              <a:ext uri="{FF2B5EF4-FFF2-40B4-BE49-F238E27FC236}">
                <a16:creationId xmlns:a16="http://schemas.microsoft.com/office/drawing/2014/main" id="{E32E2B1C-B462-4241-B5AE-DEE569675EFC}"/>
              </a:ext>
            </a:extLst>
          </p:cNvPr>
          <p:cNvSpPr/>
          <p:nvPr/>
        </p:nvSpPr>
        <p:spPr>
          <a:xfrm>
            <a:off x="4102345" y="4237644"/>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Довериться Франции</a:t>
            </a:r>
          </a:p>
        </p:txBody>
      </p:sp>
      <p:cxnSp>
        <p:nvCxnSpPr>
          <p:cNvPr id="293" name="Соединительная линия уступом 620">
            <a:extLst>
              <a:ext uri="{FF2B5EF4-FFF2-40B4-BE49-F238E27FC236}">
                <a16:creationId xmlns:a16="http://schemas.microsoft.com/office/drawing/2014/main" id="{757590F4-BC4D-4C90-A3CA-F02D4812C7C9}"/>
              </a:ext>
            </a:extLst>
          </p:cNvPr>
          <p:cNvCxnSpPr>
            <a:cxnSpLocks/>
            <a:stCxn id="283" idx="2"/>
            <a:endCxn id="292" idx="0"/>
          </p:cNvCxnSpPr>
          <p:nvPr/>
        </p:nvCxnSpPr>
        <p:spPr>
          <a:xfrm rot="16200000" flipH="1">
            <a:off x="4427227" y="4099363"/>
            <a:ext cx="272516" cy="404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04" name="Соединительная линия уступом 620">
            <a:extLst>
              <a:ext uri="{FF2B5EF4-FFF2-40B4-BE49-F238E27FC236}">
                <a16:creationId xmlns:a16="http://schemas.microsoft.com/office/drawing/2014/main" id="{4C914DD9-8594-48D4-B2A0-6839CED41856}"/>
              </a:ext>
            </a:extLst>
          </p:cNvPr>
          <p:cNvCxnSpPr>
            <a:cxnSpLocks/>
            <a:stCxn id="172" idx="2"/>
            <a:endCxn id="259" idx="0"/>
          </p:cNvCxnSpPr>
          <p:nvPr/>
        </p:nvCxnSpPr>
        <p:spPr>
          <a:xfrm rot="16200000" flipH="1">
            <a:off x="6687380" y="2592043"/>
            <a:ext cx="1079998" cy="591221"/>
          </a:xfrm>
          <a:prstGeom prst="bentConnector3">
            <a:avLst>
              <a:gd name="adj1" fmla="val 12097"/>
            </a:avLst>
          </a:prstGeom>
          <a:ln w="19050">
            <a:prstDash val="dash"/>
            <a:tailEnd type="arrow"/>
          </a:ln>
        </p:spPr>
        <p:style>
          <a:lnRef idx="1">
            <a:schemeClr val="accent1"/>
          </a:lnRef>
          <a:fillRef idx="0">
            <a:schemeClr val="accent1"/>
          </a:fillRef>
          <a:effectRef idx="0">
            <a:schemeClr val="accent1"/>
          </a:effectRef>
          <a:fontRef idx="minor">
            <a:schemeClr val="tx1"/>
          </a:fontRef>
        </p:style>
      </p:cxnSp>
      <p:sp>
        <p:nvSpPr>
          <p:cNvPr id="310" name="Прямоугольник 309">
            <a:extLst>
              <a:ext uri="{FF2B5EF4-FFF2-40B4-BE49-F238E27FC236}">
                <a16:creationId xmlns:a16="http://schemas.microsoft.com/office/drawing/2014/main" id="{8BEE4877-4A35-41B0-BA5E-CEC9F21FB8DF}"/>
              </a:ext>
            </a:extLst>
          </p:cNvPr>
          <p:cNvSpPr/>
          <p:nvPr/>
        </p:nvSpPr>
        <p:spPr>
          <a:xfrm>
            <a:off x="6468606" y="5045049"/>
            <a:ext cx="926325" cy="540000"/>
          </a:xfrm>
          <a:prstGeom prst="rect">
            <a:avLst/>
          </a:prstGeom>
          <a:gradFill flip="none" rotWithShape="1">
            <a:gsLst>
              <a:gs pos="0">
                <a:srgbClr val="7030A0"/>
              </a:gs>
              <a:gs pos="100000">
                <a:schemeClr val="accent1">
                  <a:lumMod val="60000"/>
                  <a:lumOff val="40000"/>
                </a:schemeClr>
              </a:gs>
            </a:gsLst>
            <a:lin ang="0" scaled="1"/>
            <a:tileRect/>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Объявить «Малый джихад»</a:t>
            </a:r>
          </a:p>
        </p:txBody>
      </p:sp>
      <p:sp>
        <p:nvSpPr>
          <p:cNvPr id="316" name="Прямоугольник 315">
            <a:extLst>
              <a:ext uri="{FF2B5EF4-FFF2-40B4-BE49-F238E27FC236}">
                <a16:creationId xmlns:a16="http://schemas.microsoft.com/office/drawing/2014/main" id="{450BAB95-3D2C-4E8B-A24B-34A46E093A03}"/>
              </a:ext>
            </a:extLst>
          </p:cNvPr>
          <p:cNvSpPr/>
          <p:nvPr/>
        </p:nvSpPr>
        <p:spPr>
          <a:xfrm>
            <a:off x="7655904" y="5042438"/>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Подготовить замену </a:t>
            </a:r>
            <a:r>
              <a:rPr lang="ru-RU" sz="700" dirty="0" err="1"/>
              <a:t>мехзену</a:t>
            </a:r>
            <a:r>
              <a:rPr lang="ru-RU" sz="700" dirty="0"/>
              <a:t> </a:t>
            </a:r>
          </a:p>
        </p:txBody>
      </p:sp>
      <p:cxnSp>
        <p:nvCxnSpPr>
          <p:cNvPr id="317" name="Соединительная линия уступом 620">
            <a:extLst>
              <a:ext uri="{FF2B5EF4-FFF2-40B4-BE49-F238E27FC236}">
                <a16:creationId xmlns:a16="http://schemas.microsoft.com/office/drawing/2014/main" id="{371B4126-1CF1-4719-8DCD-4617820F982D}"/>
              </a:ext>
            </a:extLst>
          </p:cNvPr>
          <p:cNvCxnSpPr>
            <a:cxnSpLocks/>
            <a:stCxn id="287" idx="2"/>
            <a:endCxn id="285" idx="0"/>
          </p:cNvCxnSpPr>
          <p:nvPr/>
        </p:nvCxnSpPr>
        <p:spPr>
          <a:xfrm rot="5400000">
            <a:off x="8581376" y="3514345"/>
            <a:ext cx="263056" cy="117834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20" name="Прямоугольник 319">
            <a:extLst>
              <a:ext uri="{FF2B5EF4-FFF2-40B4-BE49-F238E27FC236}">
                <a16:creationId xmlns:a16="http://schemas.microsoft.com/office/drawing/2014/main" id="{CEEF7E01-23D9-406A-B51B-D4B10D6D4533}"/>
              </a:ext>
            </a:extLst>
          </p:cNvPr>
          <p:cNvSpPr/>
          <p:nvPr/>
        </p:nvSpPr>
        <p:spPr>
          <a:xfrm>
            <a:off x="7660083" y="5849528"/>
            <a:ext cx="926325" cy="540000"/>
          </a:xfrm>
          <a:prstGeom prst="rect">
            <a:avLst/>
          </a:prstGeom>
          <a:gradFill flip="none" rotWithShape="1">
            <a:gsLst>
              <a:gs pos="0">
                <a:srgbClr val="7030A0"/>
              </a:gs>
              <a:gs pos="100000">
                <a:schemeClr val="accent1">
                  <a:lumMod val="60000"/>
                  <a:lumOff val="40000"/>
                </a:schemeClr>
              </a:gs>
            </a:gsLst>
            <a:lin ang="0" scaled="1"/>
            <a:tileRect/>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Заключить пакт с Комитетом антифашистских милиций </a:t>
            </a:r>
            <a:r>
              <a:rPr lang="ru-RU" sz="100" dirty="0"/>
              <a:t>Каталонии</a:t>
            </a:r>
            <a:br>
              <a:rPr lang="ru-RU" sz="100" dirty="0"/>
            </a:br>
            <a:r>
              <a:rPr lang="ru-RU" sz="100" dirty="0"/>
              <a:t>(Секретный пакт с каталонскими анархистами против Франко (Август — Сентябрь 1936)Это один из самых захватывающих и малоизвестных сюжетов реальной </a:t>
            </a:r>
            <a:r>
              <a:rPr lang="ru-RU" sz="100" dirty="0" err="1"/>
              <a:t>истории:В</a:t>
            </a:r>
            <a:r>
              <a:rPr lang="ru-RU" sz="100" dirty="0"/>
              <a:t> июле 1936 года в Испанском Марокко вспыхнул фашистский мятеж генерала </a:t>
            </a:r>
            <a:r>
              <a:rPr lang="ru-RU" sz="100" dirty="0" err="1"/>
              <a:t>Франко.В</a:t>
            </a:r>
            <a:r>
              <a:rPr lang="ru-RU" sz="100" dirty="0"/>
              <a:t> августе в Марокко (в Фес) тайно прибыли французские и испанские левые активисты (включая Давида Руссе и внука Карла Маркса — Роберта-Жана Лонге), чтобы скоординировать действия.19 сентября 1936 года лидеры CAM (Мухаммед Хасан аль-</a:t>
            </a:r>
            <a:r>
              <a:rPr lang="ru-RU" sz="100" dirty="0" err="1"/>
              <a:t>Уаццани</a:t>
            </a:r>
            <a:r>
              <a:rPr lang="ru-RU" sz="100" dirty="0"/>
              <a:t> и Омар </a:t>
            </a:r>
            <a:r>
              <a:rPr lang="ru-RU" sz="100" dirty="0" err="1"/>
              <a:t>Абдельджалиль</a:t>
            </a:r>
            <a:r>
              <a:rPr lang="ru-RU" sz="100" dirty="0"/>
              <a:t>) подписали в Барселоне тайный пакт с Комитетом антифашистских милиций Каталонии (в лице знаменитого анархиста Хуана Гарсии Оливера). Каталонцы пообещали признать полную независимость Испанского Марокко, если CAM поднимет восстание в тылу у </a:t>
            </a:r>
            <a:r>
              <a:rPr lang="ru-RU" sz="100" dirty="0" err="1"/>
              <a:t>Франко.Итог</a:t>
            </a:r>
            <a:r>
              <a:rPr lang="ru-RU" sz="100" dirty="0"/>
              <a:t>: План сорвался, так как премьер-министр Испании Ларго Кабальеро и премьер Франции Леон Блюм испугались колониальных бунтов и наложили вето на соглашение. В октябре аль-</a:t>
            </a:r>
            <a:r>
              <a:rPr lang="ru-RU" sz="100" dirty="0" err="1"/>
              <a:t>Уаццани</a:t>
            </a:r>
            <a:r>
              <a:rPr lang="ru-RU" sz="100" dirty="0"/>
              <a:t> лично летал в Париж, но Леон Блюм отказался его принять.)</a:t>
            </a:r>
            <a:endParaRPr lang="ru-RU" sz="700" dirty="0"/>
          </a:p>
        </p:txBody>
      </p:sp>
      <p:cxnSp>
        <p:nvCxnSpPr>
          <p:cNvPr id="321" name="Соединительная линия уступом 620">
            <a:extLst>
              <a:ext uri="{FF2B5EF4-FFF2-40B4-BE49-F238E27FC236}">
                <a16:creationId xmlns:a16="http://schemas.microsoft.com/office/drawing/2014/main" id="{A4F65A7D-8CC9-4225-8C23-9C065F3ED477}"/>
              </a:ext>
            </a:extLst>
          </p:cNvPr>
          <p:cNvCxnSpPr>
            <a:cxnSpLocks/>
            <a:stCxn id="285" idx="2"/>
            <a:endCxn id="310" idx="0"/>
          </p:cNvCxnSpPr>
          <p:nvPr/>
        </p:nvCxnSpPr>
        <p:spPr>
          <a:xfrm rot="5400000">
            <a:off x="7392749" y="4314066"/>
            <a:ext cx="270003" cy="1191962"/>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328" name="Соединительная линия уступом 620">
            <a:extLst>
              <a:ext uri="{FF2B5EF4-FFF2-40B4-BE49-F238E27FC236}">
                <a16:creationId xmlns:a16="http://schemas.microsoft.com/office/drawing/2014/main" id="{A39DDDD4-0444-47AF-A895-5B138AC5F7BD}"/>
              </a:ext>
            </a:extLst>
          </p:cNvPr>
          <p:cNvCxnSpPr>
            <a:cxnSpLocks/>
            <a:stCxn id="287" idx="2"/>
            <a:endCxn id="275" idx="0"/>
          </p:cNvCxnSpPr>
          <p:nvPr/>
        </p:nvCxnSpPr>
        <p:spPr>
          <a:xfrm rot="16200000" flipH="1">
            <a:off x="9172192" y="4101875"/>
            <a:ext cx="263056" cy="328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30" name="Прямоугольник 329">
            <a:extLst>
              <a:ext uri="{FF2B5EF4-FFF2-40B4-BE49-F238E27FC236}">
                <a16:creationId xmlns:a16="http://schemas.microsoft.com/office/drawing/2014/main" id="{77CC4BAF-A75D-4EBC-BE28-A54D5A61B12F}"/>
              </a:ext>
            </a:extLst>
          </p:cNvPr>
          <p:cNvSpPr/>
          <p:nvPr/>
        </p:nvSpPr>
        <p:spPr>
          <a:xfrm>
            <a:off x="6465287" y="9078900"/>
            <a:ext cx="926325" cy="540000"/>
          </a:xfrm>
          <a:prstGeom prst="rect">
            <a:avLst/>
          </a:prstGeom>
          <a:gradFill flip="none" rotWithShape="1">
            <a:gsLst>
              <a:gs pos="0">
                <a:srgbClr val="7030A0"/>
              </a:gs>
              <a:gs pos="100000">
                <a:schemeClr val="accent1">
                  <a:lumMod val="60000"/>
                  <a:lumOff val="40000"/>
                </a:schemeClr>
              </a:gs>
            </a:gsLst>
            <a:lin ang="0" scaled="1"/>
            <a:tileRect/>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Объявить «Большой джихад»</a:t>
            </a:r>
          </a:p>
        </p:txBody>
      </p:sp>
      <p:sp>
        <p:nvSpPr>
          <p:cNvPr id="332" name="Прямоугольник 331">
            <a:extLst>
              <a:ext uri="{FF2B5EF4-FFF2-40B4-BE49-F238E27FC236}">
                <a16:creationId xmlns:a16="http://schemas.microsoft.com/office/drawing/2014/main" id="{C0D52A2B-0B1A-46DA-A360-649D00FE7B0D}"/>
              </a:ext>
            </a:extLst>
          </p:cNvPr>
          <p:cNvSpPr/>
          <p:nvPr/>
        </p:nvSpPr>
        <p:spPr>
          <a:xfrm>
            <a:off x="8842199" y="5849830"/>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Сформировать правительство</a:t>
            </a:r>
          </a:p>
        </p:txBody>
      </p:sp>
      <p:sp>
        <p:nvSpPr>
          <p:cNvPr id="344" name="Прямоугольник 343">
            <a:extLst>
              <a:ext uri="{FF2B5EF4-FFF2-40B4-BE49-F238E27FC236}">
                <a16:creationId xmlns:a16="http://schemas.microsoft.com/office/drawing/2014/main" id="{827062AB-206B-4E55-A24F-66815255E901}"/>
              </a:ext>
            </a:extLst>
          </p:cNvPr>
          <p:cNvSpPr/>
          <p:nvPr/>
        </p:nvSpPr>
        <p:spPr>
          <a:xfrm>
            <a:off x="6465289" y="5852447"/>
            <a:ext cx="926325" cy="540000"/>
          </a:xfrm>
          <a:prstGeom prst="rect">
            <a:avLst/>
          </a:prstGeom>
          <a:gradFill flip="none" rotWithShape="1">
            <a:gsLst>
              <a:gs pos="0">
                <a:srgbClr val="7030A0"/>
              </a:gs>
              <a:gs pos="100000">
                <a:schemeClr val="accent1">
                  <a:lumMod val="60000"/>
                  <a:lumOff val="40000"/>
                </a:schemeClr>
              </a:gs>
            </a:gsLst>
            <a:lin ang="0" scaled="1"/>
            <a:tileRect/>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Поддержать волнения в Алжире</a:t>
            </a:r>
          </a:p>
        </p:txBody>
      </p:sp>
      <p:sp>
        <p:nvSpPr>
          <p:cNvPr id="346" name="Прямоугольник 345">
            <a:extLst>
              <a:ext uri="{FF2B5EF4-FFF2-40B4-BE49-F238E27FC236}">
                <a16:creationId xmlns:a16="http://schemas.microsoft.com/office/drawing/2014/main" id="{214E4ECB-84D6-4EEF-A3D3-FFCF70AB74ED}"/>
              </a:ext>
            </a:extLst>
          </p:cNvPr>
          <p:cNvSpPr/>
          <p:nvPr/>
        </p:nvSpPr>
        <p:spPr>
          <a:xfrm>
            <a:off x="6468605" y="4240251"/>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Запретить любые сходки рабочих</a:t>
            </a:r>
          </a:p>
        </p:txBody>
      </p:sp>
      <p:cxnSp>
        <p:nvCxnSpPr>
          <p:cNvPr id="357" name="Соединительная линия уступом 620">
            <a:extLst>
              <a:ext uri="{FF2B5EF4-FFF2-40B4-BE49-F238E27FC236}">
                <a16:creationId xmlns:a16="http://schemas.microsoft.com/office/drawing/2014/main" id="{4BAE7453-0BAF-47A0-808F-1B5A718A074E}"/>
              </a:ext>
            </a:extLst>
          </p:cNvPr>
          <p:cNvCxnSpPr>
            <a:cxnSpLocks/>
            <a:stCxn id="172" idx="2"/>
            <a:endCxn id="346" idx="0"/>
          </p:cNvCxnSpPr>
          <p:nvPr/>
        </p:nvCxnSpPr>
        <p:spPr>
          <a:xfrm rot="5400000">
            <a:off x="5985471" y="3293953"/>
            <a:ext cx="1892596"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02" name="Прямоугольник 201">
            <a:extLst>
              <a:ext uri="{FF2B5EF4-FFF2-40B4-BE49-F238E27FC236}">
                <a16:creationId xmlns:a16="http://schemas.microsoft.com/office/drawing/2014/main" id="{DB4B7EC3-52CB-4281-940E-582336AE03DB}"/>
              </a:ext>
            </a:extLst>
          </p:cNvPr>
          <p:cNvSpPr/>
          <p:nvPr/>
        </p:nvSpPr>
        <p:spPr>
          <a:xfrm>
            <a:off x="17206368" y="5852447"/>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Активная поддержка профсоюзов</a:t>
            </a:r>
          </a:p>
        </p:txBody>
      </p:sp>
      <p:sp>
        <p:nvSpPr>
          <p:cNvPr id="203" name="Прямоугольник 202">
            <a:extLst>
              <a:ext uri="{FF2B5EF4-FFF2-40B4-BE49-F238E27FC236}">
                <a16:creationId xmlns:a16="http://schemas.microsoft.com/office/drawing/2014/main" id="{AF793957-B76C-43EC-9B76-00309BBA6C74}"/>
              </a:ext>
            </a:extLst>
          </p:cNvPr>
          <p:cNvSpPr/>
          <p:nvPr/>
        </p:nvSpPr>
        <p:spPr>
          <a:xfrm>
            <a:off x="18400761" y="5852447"/>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Оказать поддержку альянсу Народного фронта</a:t>
            </a:r>
          </a:p>
        </p:txBody>
      </p:sp>
      <p:cxnSp>
        <p:nvCxnSpPr>
          <p:cNvPr id="204" name="Соединительная линия уступом 620">
            <a:extLst>
              <a:ext uri="{FF2B5EF4-FFF2-40B4-BE49-F238E27FC236}">
                <a16:creationId xmlns:a16="http://schemas.microsoft.com/office/drawing/2014/main" id="{CDBF821E-249F-43E7-8D63-C79A65A58854}"/>
              </a:ext>
            </a:extLst>
          </p:cNvPr>
          <p:cNvCxnSpPr>
            <a:cxnSpLocks/>
            <a:stCxn id="229" idx="2"/>
            <a:endCxn id="203" idx="0"/>
          </p:cNvCxnSpPr>
          <p:nvPr/>
        </p:nvCxnSpPr>
        <p:spPr>
          <a:xfrm rot="16200000" flipH="1">
            <a:off x="18426310" y="5414832"/>
            <a:ext cx="267397" cy="60783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07" name="Прямоугольник 206">
            <a:extLst>
              <a:ext uri="{FF2B5EF4-FFF2-40B4-BE49-F238E27FC236}">
                <a16:creationId xmlns:a16="http://schemas.microsoft.com/office/drawing/2014/main" id="{5B03BA2E-7382-48A4-9DA3-E043F9F67F46}"/>
              </a:ext>
            </a:extLst>
          </p:cNvPr>
          <p:cNvSpPr/>
          <p:nvPr/>
        </p:nvSpPr>
        <p:spPr>
          <a:xfrm>
            <a:off x="18400760" y="6659845"/>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Нанести удар по Испанскому Марокко</a:t>
            </a:r>
          </a:p>
        </p:txBody>
      </p:sp>
      <p:cxnSp>
        <p:nvCxnSpPr>
          <p:cNvPr id="208" name="Соединительная линия уступом 620">
            <a:extLst>
              <a:ext uri="{FF2B5EF4-FFF2-40B4-BE49-F238E27FC236}">
                <a16:creationId xmlns:a16="http://schemas.microsoft.com/office/drawing/2014/main" id="{D2CA9DBC-2BFF-4366-AFF1-D3F844CBCC78}"/>
              </a:ext>
            </a:extLst>
          </p:cNvPr>
          <p:cNvCxnSpPr>
            <a:cxnSpLocks/>
            <a:stCxn id="203" idx="2"/>
            <a:endCxn id="207" idx="0"/>
          </p:cNvCxnSpPr>
          <p:nvPr/>
        </p:nvCxnSpPr>
        <p:spPr>
          <a:xfrm rot="5400000">
            <a:off x="18730225" y="6526146"/>
            <a:ext cx="267398"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15" name="Прямоугольник 214">
            <a:extLst>
              <a:ext uri="{FF2B5EF4-FFF2-40B4-BE49-F238E27FC236}">
                <a16:creationId xmlns:a16="http://schemas.microsoft.com/office/drawing/2014/main" id="{51F9863C-20E0-4A0E-9B2D-06939B1023ED}"/>
              </a:ext>
            </a:extLst>
          </p:cNvPr>
          <p:cNvSpPr/>
          <p:nvPr/>
        </p:nvSpPr>
        <p:spPr>
          <a:xfrm>
            <a:off x="14817582" y="5854963"/>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Организация коммунальной ассамблеи</a:t>
            </a:r>
          </a:p>
        </p:txBody>
      </p:sp>
      <p:sp>
        <p:nvSpPr>
          <p:cNvPr id="216" name="Прямоугольник 215">
            <a:extLst>
              <a:ext uri="{FF2B5EF4-FFF2-40B4-BE49-F238E27FC236}">
                <a16:creationId xmlns:a16="http://schemas.microsoft.com/office/drawing/2014/main" id="{3C0D6112-C225-4972-BEC8-F100926161FC}"/>
              </a:ext>
            </a:extLst>
          </p:cNvPr>
          <p:cNvSpPr/>
          <p:nvPr/>
        </p:nvSpPr>
        <p:spPr>
          <a:xfrm>
            <a:off x="16011974" y="6659844"/>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Установка минимальных зарплат на заводах</a:t>
            </a:r>
          </a:p>
        </p:txBody>
      </p:sp>
      <p:sp>
        <p:nvSpPr>
          <p:cNvPr id="219" name="Прямоугольник 218">
            <a:extLst>
              <a:ext uri="{FF2B5EF4-FFF2-40B4-BE49-F238E27FC236}">
                <a16:creationId xmlns:a16="http://schemas.microsoft.com/office/drawing/2014/main" id="{F1F67AB4-5D6F-47D3-90A9-15EC729958DB}"/>
              </a:ext>
            </a:extLst>
          </p:cNvPr>
          <p:cNvSpPr/>
          <p:nvPr/>
        </p:nvSpPr>
        <p:spPr>
          <a:xfrm>
            <a:off x="14817581" y="6657240"/>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Аграрная реформа</a:t>
            </a:r>
          </a:p>
        </p:txBody>
      </p:sp>
      <p:sp>
        <p:nvSpPr>
          <p:cNvPr id="220" name="Прямоугольник 219">
            <a:extLst>
              <a:ext uri="{FF2B5EF4-FFF2-40B4-BE49-F238E27FC236}">
                <a16:creationId xmlns:a16="http://schemas.microsoft.com/office/drawing/2014/main" id="{6CCFB3F7-5D43-43AF-8632-E264B55AB257}"/>
              </a:ext>
            </a:extLst>
          </p:cNvPr>
          <p:cNvSpPr/>
          <p:nvPr/>
        </p:nvSpPr>
        <p:spPr>
          <a:xfrm>
            <a:off x="15418325" y="7469757"/>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Национализация тканевых и сахарных фабрик</a:t>
            </a:r>
          </a:p>
        </p:txBody>
      </p:sp>
      <p:sp>
        <p:nvSpPr>
          <p:cNvPr id="221" name="Прямоугольник 220">
            <a:extLst>
              <a:ext uri="{FF2B5EF4-FFF2-40B4-BE49-F238E27FC236}">
                <a16:creationId xmlns:a16="http://schemas.microsoft.com/office/drawing/2014/main" id="{2267C2D4-A1F2-44C3-A2B4-B9EB2D105F40}"/>
              </a:ext>
            </a:extLst>
          </p:cNvPr>
          <p:cNvSpPr/>
          <p:nvPr/>
        </p:nvSpPr>
        <p:spPr>
          <a:xfrm>
            <a:off x="16605627" y="7467241"/>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Национализация фосфатных кампаний</a:t>
            </a:r>
          </a:p>
        </p:txBody>
      </p:sp>
      <p:cxnSp>
        <p:nvCxnSpPr>
          <p:cNvPr id="222" name="Соединительная линия уступом 620">
            <a:extLst>
              <a:ext uri="{FF2B5EF4-FFF2-40B4-BE49-F238E27FC236}">
                <a16:creationId xmlns:a16="http://schemas.microsoft.com/office/drawing/2014/main" id="{912FD209-02E6-41E4-8354-F8280F73C209}"/>
              </a:ext>
            </a:extLst>
          </p:cNvPr>
          <p:cNvCxnSpPr>
            <a:cxnSpLocks/>
            <a:stCxn id="229" idx="2"/>
            <a:endCxn id="202" idx="0"/>
          </p:cNvCxnSpPr>
          <p:nvPr/>
        </p:nvCxnSpPr>
        <p:spPr>
          <a:xfrm rot="5400000">
            <a:off x="17829114" y="5425467"/>
            <a:ext cx="267397" cy="586562"/>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23" name="Соединительная линия уступом 620">
            <a:extLst>
              <a:ext uri="{FF2B5EF4-FFF2-40B4-BE49-F238E27FC236}">
                <a16:creationId xmlns:a16="http://schemas.microsoft.com/office/drawing/2014/main" id="{B36028A2-E427-4D95-96AB-B8A709A01839}"/>
              </a:ext>
            </a:extLst>
          </p:cNvPr>
          <p:cNvCxnSpPr>
            <a:cxnSpLocks/>
            <a:stCxn id="231" idx="2"/>
            <a:endCxn id="202" idx="0"/>
          </p:cNvCxnSpPr>
          <p:nvPr/>
        </p:nvCxnSpPr>
        <p:spPr>
          <a:xfrm rot="16200000" flipH="1">
            <a:off x="16048159" y="4231074"/>
            <a:ext cx="267397" cy="2975347"/>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25" name="Соединительная линия уступом 620">
            <a:extLst>
              <a:ext uri="{FF2B5EF4-FFF2-40B4-BE49-F238E27FC236}">
                <a16:creationId xmlns:a16="http://schemas.microsoft.com/office/drawing/2014/main" id="{3D98D337-D917-45D8-8BF8-14F56B503905}"/>
              </a:ext>
            </a:extLst>
          </p:cNvPr>
          <p:cNvCxnSpPr>
            <a:cxnSpLocks/>
            <a:stCxn id="231" idx="2"/>
            <a:endCxn id="215" idx="0"/>
          </p:cNvCxnSpPr>
          <p:nvPr/>
        </p:nvCxnSpPr>
        <p:spPr>
          <a:xfrm rot="16200000" flipH="1">
            <a:off x="14852508" y="5426725"/>
            <a:ext cx="269913" cy="58656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28" name="Соединительная линия уступом 620">
            <a:extLst>
              <a:ext uri="{FF2B5EF4-FFF2-40B4-BE49-F238E27FC236}">
                <a16:creationId xmlns:a16="http://schemas.microsoft.com/office/drawing/2014/main" id="{1A69F510-F0C4-4EB4-84C3-E59AE76B0C40}"/>
              </a:ext>
            </a:extLst>
          </p:cNvPr>
          <p:cNvCxnSpPr>
            <a:cxnSpLocks/>
            <a:stCxn id="229" idx="2"/>
            <a:endCxn id="215" idx="0"/>
          </p:cNvCxnSpPr>
          <p:nvPr/>
        </p:nvCxnSpPr>
        <p:spPr>
          <a:xfrm rot="5400000">
            <a:off x="16633463" y="4232332"/>
            <a:ext cx="269913" cy="2975348"/>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232" name="Соединительная линия уступом 620">
            <a:extLst>
              <a:ext uri="{FF2B5EF4-FFF2-40B4-BE49-F238E27FC236}">
                <a16:creationId xmlns:a16="http://schemas.microsoft.com/office/drawing/2014/main" id="{B03A89F1-681A-483E-AFD6-C51FFC56F472}"/>
              </a:ext>
            </a:extLst>
          </p:cNvPr>
          <p:cNvCxnSpPr>
            <a:cxnSpLocks/>
            <a:stCxn id="215" idx="2"/>
            <a:endCxn id="219" idx="0"/>
          </p:cNvCxnSpPr>
          <p:nvPr/>
        </p:nvCxnSpPr>
        <p:spPr>
          <a:xfrm rot="5400000">
            <a:off x="15149607" y="6526101"/>
            <a:ext cx="262277"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38" name="Соединительная линия уступом 620">
            <a:extLst>
              <a:ext uri="{FF2B5EF4-FFF2-40B4-BE49-F238E27FC236}">
                <a16:creationId xmlns:a16="http://schemas.microsoft.com/office/drawing/2014/main" id="{0ADACAE7-2BC4-427A-BD0A-7593F9AAF2D0}"/>
              </a:ext>
            </a:extLst>
          </p:cNvPr>
          <p:cNvCxnSpPr>
            <a:cxnSpLocks/>
            <a:stCxn id="202" idx="2"/>
            <a:endCxn id="216" idx="0"/>
          </p:cNvCxnSpPr>
          <p:nvPr/>
        </p:nvCxnSpPr>
        <p:spPr>
          <a:xfrm rot="5400000">
            <a:off x="16938636" y="5928948"/>
            <a:ext cx="267397" cy="119439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40" name="Соединительная линия уступом 620">
            <a:extLst>
              <a:ext uri="{FF2B5EF4-FFF2-40B4-BE49-F238E27FC236}">
                <a16:creationId xmlns:a16="http://schemas.microsoft.com/office/drawing/2014/main" id="{C102A62D-F57D-4F82-A049-D207C1479D24}"/>
              </a:ext>
            </a:extLst>
          </p:cNvPr>
          <p:cNvCxnSpPr>
            <a:cxnSpLocks/>
            <a:stCxn id="215" idx="2"/>
            <a:endCxn id="216" idx="0"/>
          </p:cNvCxnSpPr>
          <p:nvPr/>
        </p:nvCxnSpPr>
        <p:spPr>
          <a:xfrm rot="16200000" flipH="1">
            <a:off x="15745501" y="5930207"/>
            <a:ext cx="264881" cy="119439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43" name="Соединительная линия уступом 620">
            <a:extLst>
              <a:ext uri="{FF2B5EF4-FFF2-40B4-BE49-F238E27FC236}">
                <a16:creationId xmlns:a16="http://schemas.microsoft.com/office/drawing/2014/main" id="{D1218FC0-8438-4146-8E3E-536B2DE9E441}"/>
              </a:ext>
            </a:extLst>
          </p:cNvPr>
          <p:cNvCxnSpPr>
            <a:cxnSpLocks/>
            <a:stCxn id="216" idx="2"/>
            <a:endCxn id="221" idx="0"/>
          </p:cNvCxnSpPr>
          <p:nvPr/>
        </p:nvCxnSpPr>
        <p:spPr>
          <a:xfrm rot="16200000" flipH="1">
            <a:off x="16638265" y="7036715"/>
            <a:ext cx="267397" cy="59365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46" name="Соединительная линия уступом 620">
            <a:extLst>
              <a:ext uri="{FF2B5EF4-FFF2-40B4-BE49-F238E27FC236}">
                <a16:creationId xmlns:a16="http://schemas.microsoft.com/office/drawing/2014/main" id="{00A13E01-AD5E-4E3A-8064-0DCCEA40624C}"/>
              </a:ext>
            </a:extLst>
          </p:cNvPr>
          <p:cNvCxnSpPr>
            <a:cxnSpLocks/>
            <a:stCxn id="216" idx="2"/>
            <a:endCxn id="220" idx="0"/>
          </p:cNvCxnSpPr>
          <p:nvPr/>
        </p:nvCxnSpPr>
        <p:spPr>
          <a:xfrm rot="5400000">
            <a:off x="16043357" y="7037976"/>
            <a:ext cx="269913" cy="59364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50" name="Прямоугольник 249">
            <a:extLst>
              <a:ext uri="{FF2B5EF4-FFF2-40B4-BE49-F238E27FC236}">
                <a16:creationId xmlns:a16="http://schemas.microsoft.com/office/drawing/2014/main" id="{6E361355-2C93-435B-B51A-06A915035B36}"/>
              </a:ext>
            </a:extLst>
          </p:cNvPr>
          <p:cNvSpPr/>
          <p:nvPr/>
        </p:nvSpPr>
        <p:spPr>
          <a:xfrm>
            <a:off x="14231021" y="7457387"/>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Увеличить кредиты феллахам</a:t>
            </a:r>
          </a:p>
        </p:txBody>
      </p:sp>
      <p:cxnSp>
        <p:nvCxnSpPr>
          <p:cNvPr id="251" name="Соединительная линия уступом 620">
            <a:extLst>
              <a:ext uri="{FF2B5EF4-FFF2-40B4-BE49-F238E27FC236}">
                <a16:creationId xmlns:a16="http://schemas.microsoft.com/office/drawing/2014/main" id="{F1CF458C-9D44-4FE9-9658-5EEA0EC4F89C}"/>
              </a:ext>
            </a:extLst>
          </p:cNvPr>
          <p:cNvCxnSpPr>
            <a:cxnSpLocks/>
            <a:stCxn id="219" idx="2"/>
            <a:endCxn id="250" idx="0"/>
          </p:cNvCxnSpPr>
          <p:nvPr/>
        </p:nvCxnSpPr>
        <p:spPr>
          <a:xfrm rot="5400000">
            <a:off x="14857391" y="7034033"/>
            <a:ext cx="260147" cy="58656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53" name="Прямоугольник 252">
            <a:extLst>
              <a:ext uri="{FF2B5EF4-FFF2-40B4-BE49-F238E27FC236}">
                <a16:creationId xmlns:a16="http://schemas.microsoft.com/office/drawing/2014/main" id="{D02BCC77-E162-4C51-9B3A-5055FE880E72}"/>
              </a:ext>
            </a:extLst>
          </p:cNvPr>
          <p:cNvSpPr/>
          <p:nvPr/>
        </p:nvSpPr>
        <p:spPr>
          <a:xfrm>
            <a:off x="17206366" y="6657240"/>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Организовать социальную защиту</a:t>
            </a:r>
          </a:p>
        </p:txBody>
      </p:sp>
      <p:cxnSp>
        <p:nvCxnSpPr>
          <p:cNvPr id="254" name="Соединительная линия уступом 620">
            <a:extLst>
              <a:ext uri="{FF2B5EF4-FFF2-40B4-BE49-F238E27FC236}">
                <a16:creationId xmlns:a16="http://schemas.microsoft.com/office/drawing/2014/main" id="{1345971B-2793-47F1-8AC3-C60214E9857E}"/>
              </a:ext>
            </a:extLst>
          </p:cNvPr>
          <p:cNvCxnSpPr>
            <a:cxnSpLocks/>
            <a:stCxn id="202" idx="2"/>
            <a:endCxn id="253" idx="0"/>
          </p:cNvCxnSpPr>
          <p:nvPr/>
        </p:nvCxnSpPr>
        <p:spPr>
          <a:xfrm rot="5400000">
            <a:off x="17537134" y="6524842"/>
            <a:ext cx="264793" cy="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57" name="Прямоугольник 256">
            <a:extLst>
              <a:ext uri="{FF2B5EF4-FFF2-40B4-BE49-F238E27FC236}">
                <a16:creationId xmlns:a16="http://schemas.microsoft.com/office/drawing/2014/main" id="{9C8DBF37-84FD-4A37-AA9F-B532B66BAEA5}"/>
              </a:ext>
            </a:extLst>
          </p:cNvPr>
          <p:cNvSpPr/>
          <p:nvPr/>
        </p:nvSpPr>
        <p:spPr>
          <a:xfrm>
            <a:off x="17792930" y="7457387"/>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Открыть школы для феллахов</a:t>
            </a:r>
          </a:p>
        </p:txBody>
      </p:sp>
      <p:cxnSp>
        <p:nvCxnSpPr>
          <p:cNvPr id="260" name="Соединительная линия уступом 620">
            <a:extLst>
              <a:ext uri="{FF2B5EF4-FFF2-40B4-BE49-F238E27FC236}">
                <a16:creationId xmlns:a16="http://schemas.microsoft.com/office/drawing/2014/main" id="{2B9B7DB9-C3AC-4033-92B0-FDA2EF69BE71}"/>
              </a:ext>
            </a:extLst>
          </p:cNvPr>
          <p:cNvCxnSpPr>
            <a:cxnSpLocks/>
            <a:stCxn id="253" idx="2"/>
            <a:endCxn id="257" idx="0"/>
          </p:cNvCxnSpPr>
          <p:nvPr/>
        </p:nvCxnSpPr>
        <p:spPr>
          <a:xfrm rot="16200000" flipH="1">
            <a:off x="17832738" y="7034031"/>
            <a:ext cx="260147" cy="58656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61" name="Прямоугольник 260">
            <a:extLst>
              <a:ext uri="{FF2B5EF4-FFF2-40B4-BE49-F238E27FC236}">
                <a16:creationId xmlns:a16="http://schemas.microsoft.com/office/drawing/2014/main" id="{E44D532E-23E4-4EB8-A246-095F67AB1A45}"/>
              </a:ext>
            </a:extLst>
          </p:cNvPr>
          <p:cNvSpPr/>
          <p:nvPr/>
        </p:nvSpPr>
        <p:spPr>
          <a:xfrm>
            <a:off x="16011973" y="8274637"/>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Ввести плановую экономику</a:t>
            </a:r>
          </a:p>
        </p:txBody>
      </p:sp>
      <p:cxnSp>
        <p:nvCxnSpPr>
          <p:cNvPr id="262" name="Соединительная линия уступом 620">
            <a:extLst>
              <a:ext uri="{FF2B5EF4-FFF2-40B4-BE49-F238E27FC236}">
                <a16:creationId xmlns:a16="http://schemas.microsoft.com/office/drawing/2014/main" id="{964B46D5-CE1E-4FA0-9D71-6D3884088506}"/>
              </a:ext>
            </a:extLst>
          </p:cNvPr>
          <p:cNvCxnSpPr>
            <a:cxnSpLocks/>
            <a:stCxn id="216" idx="2"/>
            <a:endCxn id="261" idx="0"/>
          </p:cNvCxnSpPr>
          <p:nvPr/>
        </p:nvCxnSpPr>
        <p:spPr>
          <a:xfrm rot="5400000">
            <a:off x="15937741" y="7737240"/>
            <a:ext cx="1074793"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70" name="Прямоугольник 269">
            <a:extLst>
              <a:ext uri="{FF2B5EF4-FFF2-40B4-BE49-F238E27FC236}">
                <a16:creationId xmlns:a16="http://schemas.microsoft.com/office/drawing/2014/main" id="{4D251A9D-8A1C-4835-A529-5CFFA224CEFA}"/>
              </a:ext>
            </a:extLst>
          </p:cNvPr>
          <p:cNvSpPr/>
          <p:nvPr/>
        </p:nvSpPr>
        <p:spPr>
          <a:xfrm>
            <a:off x="14816545" y="8269517"/>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Коллективизация</a:t>
            </a:r>
          </a:p>
        </p:txBody>
      </p:sp>
      <p:cxnSp>
        <p:nvCxnSpPr>
          <p:cNvPr id="271" name="Соединительная линия уступом 620">
            <a:extLst>
              <a:ext uri="{FF2B5EF4-FFF2-40B4-BE49-F238E27FC236}">
                <a16:creationId xmlns:a16="http://schemas.microsoft.com/office/drawing/2014/main" id="{F637BBA0-9DDF-44D9-9BF3-FD42FF01036C}"/>
              </a:ext>
            </a:extLst>
          </p:cNvPr>
          <p:cNvCxnSpPr>
            <a:cxnSpLocks/>
            <a:stCxn id="219" idx="2"/>
            <a:endCxn id="270" idx="0"/>
          </p:cNvCxnSpPr>
          <p:nvPr/>
        </p:nvCxnSpPr>
        <p:spPr>
          <a:xfrm rot="5400000">
            <a:off x="14744088" y="7732860"/>
            <a:ext cx="1072277" cy="103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74" name="Прямоугольник 273">
            <a:extLst>
              <a:ext uri="{FF2B5EF4-FFF2-40B4-BE49-F238E27FC236}">
                <a16:creationId xmlns:a16="http://schemas.microsoft.com/office/drawing/2014/main" id="{EDCC40A8-AC99-442F-B0C1-B8F075BA3BBA}"/>
              </a:ext>
            </a:extLst>
          </p:cNvPr>
          <p:cNvSpPr/>
          <p:nvPr/>
        </p:nvSpPr>
        <p:spPr>
          <a:xfrm>
            <a:off x="17206365" y="8277242"/>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Реформировать армию по «современному» образцу</a:t>
            </a:r>
          </a:p>
        </p:txBody>
      </p:sp>
      <p:cxnSp>
        <p:nvCxnSpPr>
          <p:cNvPr id="278" name="Соединительная линия уступом 620">
            <a:extLst>
              <a:ext uri="{FF2B5EF4-FFF2-40B4-BE49-F238E27FC236}">
                <a16:creationId xmlns:a16="http://schemas.microsoft.com/office/drawing/2014/main" id="{75ED8A32-EBF6-4119-B63C-6489D7C5099E}"/>
              </a:ext>
            </a:extLst>
          </p:cNvPr>
          <p:cNvCxnSpPr>
            <a:cxnSpLocks/>
            <a:stCxn id="253" idx="2"/>
            <a:endCxn id="274" idx="0"/>
          </p:cNvCxnSpPr>
          <p:nvPr/>
        </p:nvCxnSpPr>
        <p:spPr>
          <a:xfrm rot="5400000">
            <a:off x="17129528" y="7737241"/>
            <a:ext cx="1080002"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80" name="Прямоугольник 279">
            <a:extLst>
              <a:ext uri="{FF2B5EF4-FFF2-40B4-BE49-F238E27FC236}">
                <a16:creationId xmlns:a16="http://schemas.microsoft.com/office/drawing/2014/main" id="{B10AA670-8579-4DAF-8ADE-4CA098BEB21A}"/>
              </a:ext>
            </a:extLst>
          </p:cNvPr>
          <p:cNvSpPr/>
          <p:nvPr/>
        </p:nvSpPr>
        <p:spPr>
          <a:xfrm>
            <a:off x="19614239" y="6652886"/>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Поддержка в Европе</a:t>
            </a:r>
          </a:p>
        </p:txBody>
      </p:sp>
      <p:cxnSp>
        <p:nvCxnSpPr>
          <p:cNvPr id="281" name="Соединительная линия уступом 620">
            <a:extLst>
              <a:ext uri="{FF2B5EF4-FFF2-40B4-BE49-F238E27FC236}">
                <a16:creationId xmlns:a16="http://schemas.microsoft.com/office/drawing/2014/main" id="{C7BAECC2-8CE9-42E6-818F-3DCFB0BC736B}"/>
              </a:ext>
            </a:extLst>
          </p:cNvPr>
          <p:cNvCxnSpPr>
            <a:cxnSpLocks/>
            <a:stCxn id="203" idx="2"/>
            <a:endCxn id="280" idx="0"/>
          </p:cNvCxnSpPr>
          <p:nvPr/>
        </p:nvCxnSpPr>
        <p:spPr>
          <a:xfrm rot="16200000" flipH="1">
            <a:off x="19340444" y="5915927"/>
            <a:ext cx="260439" cy="121347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89" name="Прямоугольник 288">
            <a:extLst>
              <a:ext uri="{FF2B5EF4-FFF2-40B4-BE49-F238E27FC236}">
                <a16:creationId xmlns:a16="http://schemas.microsoft.com/office/drawing/2014/main" id="{3DE459D3-85E5-46CD-847C-3FDFF48BAE60}"/>
              </a:ext>
            </a:extLst>
          </p:cNvPr>
          <p:cNvSpPr/>
          <p:nvPr/>
        </p:nvSpPr>
        <p:spPr>
          <a:xfrm>
            <a:off x="19007500" y="7460284"/>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Переговоры о независимости</a:t>
            </a:r>
          </a:p>
        </p:txBody>
      </p:sp>
      <p:cxnSp>
        <p:nvCxnSpPr>
          <p:cNvPr id="290" name="Соединительная линия уступом 620">
            <a:extLst>
              <a:ext uri="{FF2B5EF4-FFF2-40B4-BE49-F238E27FC236}">
                <a16:creationId xmlns:a16="http://schemas.microsoft.com/office/drawing/2014/main" id="{B9478120-EBE8-4218-A7F8-471C9CA75102}"/>
              </a:ext>
            </a:extLst>
          </p:cNvPr>
          <p:cNvCxnSpPr>
            <a:cxnSpLocks/>
            <a:stCxn id="207" idx="2"/>
            <a:endCxn id="289" idx="0"/>
          </p:cNvCxnSpPr>
          <p:nvPr/>
        </p:nvCxnSpPr>
        <p:spPr>
          <a:xfrm rot="16200000" flipH="1">
            <a:off x="19037074" y="7026694"/>
            <a:ext cx="260439" cy="60674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96" name="Соединительная линия уступом 620">
            <a:extLst>
              <a:ext uri="{FF2B5EF4-FFF2-40B4-BE49-F238E27FC236}">
                <a16:creationId xmlns:a16="http://schemas.microsoft.com/office/drawing/2014/main" id="{57CD163E-5033-4EE2-B625-AF4718E8D44C}"/>
              </a:ext>
            </a:extLst>
          </p:cNvPr>
          <p:cNvCxnSpPr>
            <a:cxnSpLocks/>
            <a:stCxn id="280" idx="2"/>
            <a:endCxn id="289" idx="0"/>
          </p:cNvCxnSpPr>
          <p:nvPr/>
        </p:nvCxnSpPr>
        <p:spPr>
          <a:xfrm rot="5400000">
            <a:off x="19640334" y="7023216"/>
            <a:ext cx="267398" cy="60673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39" name="Прямоугольник 238">
            <a:extLst>
              <a:ext uri="{FF2B5EF4-FFF2-40B4-BE49-F238E27FC236}">
                <a16:creationId xmlns:a16="http://schemas.microsoft.com/office/drawing/2014/main" id="{64A45257-8F21-40BB-B44B-74B5E2E87EFF}"/>
              </a:ext>
            </a:extLst>
          </p:cNvPr>
          <p:cNvSpPr/>
          <p:nvPr/>
        </p:nvSpPr>
        <p:spPr>
          <a:xfrm>
            <a:off x="13623189" y="5852446"/>
            <a:ext cx="926325" cy="540000"/>
          </a:xfrm>
          <a:prstGeom prst="rect">
            <a:avLst/>
          </a:prstGeom>
          <a:solidFill>
            <a:srgbClr val="FF000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Исключить французов из партии</a:t>
            </a:r>
          </a:p>
        </p:txBody>
      </p:sp>
      <p:cxnSp>
        <p:nvCxnSpPr>
          <p:cNvPr id="241" name="Соединительная линия уступом 620">
            <a:extLst>
              <a:ext uri="{FF2B5EF4-FFF2-40B4-BE49-F238E27FC236}">
                <a16:creationId xmlns:a16="http://schemas.microsoft.com/office/drawing/2014/main" id="{5488EBCC-733B-4DD5-8178-EE54CD215417}"/>
              </a:ext>
            </a:extLst>
          </p:cNvPr>
          <p:cNvCxnSpPr>
            <a:cxnSpLocks/>
            <a:stCxn id="231" idx="2"/>
            <a:endCxn id="239" idx="0"/>
          </p:cNvCxnSpPr>
          <p:nvPr/>
        </p:nvCxnSpPr>
        <p:spPr>
          <a:xfrm rot="5400000">
            <a:off x="14256570" y="5414832"/>
            <a:ext cx="267396" cy="60783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44" name="Прямоугольник 243">
            <a:extLst>
              <a:ext uri="{FF2B5EF4-FFF2-40B4-BE49-F238E27FC236}">
                <a16:creationId xmlns:a16="http://schemas.microsoft.com/office/drawing/2014/main" id="{68301316-F113-43E2-BE8C-A421E8E8F476}"/>
              </a:ext>
            </a:extLst>
          </p:cNvPr>
          <p:cNvSpPr/>
          <p:nvPr/>
        </p:nvSpPr>
        <p:spPr>
          <a:xfrm>
            <a:off x="39877061" y="25593933"/>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Создание муниципальных советов </a:t>
            </a:r>
            <a:r>
              <a:rPr lang="ru-RU" sz="300" dirty="0"/>
              <a:t>(позволяющих государству управлять своими внутренними делами)</a:t>
            </a:r>
            <a:endParaRPr lang="ru-RU" sz="700" dirty="0"/>
          </a:p>
        </p:txBody>
      </p:sp>
      <p:sp>
        <p:nvSpPr>
          <p:cNvPr id="247" name="Прямоугольник 246">
            <a:extLst>
              <a:ext uri="{FF2B5EF4-FFF2-40B4-BE49-F238E27FC236}">
                <a16:creationId xmlns:a16="http://schemas.microsoft.com/office/drawing/2014/main" id="{EFB476FA-A8C6-4F25-A4F9-0EE18F513C6F}"/>
              </a:ext>
            </a:extLst>
          </p:cNvPr>
          <p:cNvSpPr/>
          <p:nvPr/>
        </p:nvSpPr>
        <p:spPr>
          <a:xfrm>
            <a:off x="41199942" y="26406738"/>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Создание высшего совета</a:t>
            </a:r>
          </a:p>
          <a:p>
            <a:pPr algn="ctr"/>
            <a:r>
              <a:rPr lang="ru-RU" sz="200" dirty="0"/>
              <a:t>(члены которого будут избираться марокканцами)</a:t>
            </a:r>
          </a:p>
        </p:txBody>
      </p:sp>
      <p:sp>
        <p:nvSpPr>
          <p:cNvPr id="248" name="Прямоугольник 247">
            <a:extLst>
              <a:ext uri="{FF2B5EF4-FFF2-40B4-BE49-F238E27FC236}">
                <a16:creationId xmlns:a16="http://schemas.microsoft.com/office/drawing/2014/main" id="{7497650B-E51E-4E55-B162-241FE2911556}"/>
              </a:ext>
            </a:extLst>
          </p:cNvPr>
          <p:cNvSpPr/>
          <p:nvPr/>
        </p:nvSpPr>
        <p:spPr>
          <a:xfrm>
            <a:off x="39877061" y="26411862"/>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Свобода печати и выражения мнений</a:t>
            </a:r>
            <a:endParaRPr lang="en-US" sz="700" dirty="0"/>
          </a:p>
          <a:p>
            <a:pPr algn="ctr"/>
            <a:r>
              <a:rPr lang="en-US" sz="200" dirty="0"/>
              <a:t>(</a:t>
            </a:r>
            <a:r>
              <a:rPr lang="ru-RU" sz="200" dirty="0"/>
              <a:t>а также свобода создания ассоциаций, способствующих воспитанию населения в духе совести, общественного мнения и ценностей.</a:t>
            </a:r>
            <a:r>
              <a:rPr lang="en-US" sz="200" dirty="0"/>
              <a:t>)</a:t>
            </a:r>
            <a:endParaRPr lang="ru-RU" sz="700" dirty="0"/>
          </a:p>
        </p:txBody>
      </p:sp>
      <p:sp>
        <p:nvSpPr>
          <p:cNvPr id="255" name="Прямоугольник 254">
            <a:extLst>
              <a:ext uri="{FF2B5EF4-FFF2-40B4-BE49-F238E27FC236}">
                <a16:creationId xmlns:a16="http://schemas.microsoft.com/office/drawing/2014/main" id="{016A7C84-CF77-40E7-9FFC-1F5482BC29C6}"/>
              </a:ext>
            </a:extLst>
          </p:cNvPr>
          <p:cNvSpPr/>
          <p:nvPr/>
        </p:nvSpPr>
        <p:spPr>
          <a:xfrm>
            <a:off x="41195582" y="27419237"/>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Лишить влияния партию Национальных Реформ</a:t>
            </a:r>
          </a:p>
        </p:txBody>
      </p:sp>
      <p:sp>
        <p:nvSpPr>
          <p:cNvPr id="286" name="Прямоугольник 285">
            <a:extLst>
              <a:ext uri="{FF2B5EF4-FFF2-40B4-BE49-F238E27FC236}">
                <a16:creationId xmlns:a16="http://schemas.microsoft.com/office/drawing/2014/main" id="{C6D605BB-0F8F-4EBC-8939-EC314CF5EA5B}"/>
              </a:ext>
            </a:extLst>
          </p:cNvPr>
          <p:cNvSpPr/>
          <p:nvPr/>
        </p:nvSpPr>
        <p:spPr>
          <a:xfrm>
            <a:off x="39877061" y="27424363"/>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Создание движения «</a:t>
            </a:r>
            <a:r>
              <a:rPr lang="ru-RU" sz="700" dirty="0" err="1"/>
              <a:t>Фитьян</a:t>
            </a:r>
            <a:r>
              <a:rPr lang="ru-RU" sz="700" dirty="0"/>
              <a:t>»</a:t>
            </a:r>
          </a:p>
          <a:p>
            <a:pPr algn="ctr"/>
            <a:r>
              <a:rPr lang="ru-RU" sz="200" dirty="0"/>
              <a:t>(Движение «</a:t>
            </a:r>
            <a:r>
              <a:rPr lang="ru-RU" sz="200" dirty="0" err="1"/>
              <a:t>Фитьян</a:t>
            </a:r>
            <a:r>
              <a:rPr lang="ru-RU" sz="200" dirty="0"/>
              <a:t>» (араб. </a:t>
            </a:r>
            <a:r>
              <a:rPr lang="ar-AE" sz="200" dirty="0"/>
              <a:t>فتيان — «</a:t>
            </a:r>
            <a:r>
              <a:rPr lang="ru-RU" sz="200" dirty="0"/>
              <a:t>Юноши» или «Отроки») в контексте Испанского Марокко — это военизированная молодежная организация, созданная Партией национальных реформ </a:t>
            </a:r>
            <a:r>
              <a:rPr lang="ru-RU" sz="200" dirty="0" err="1"/>
              <a:t>Абд</a:t>
            </a:r>
            <a:r>
              <a:rPr lang="ru-RU" sz="200" dirty="0"/>
              <a:t> аль-</a:t>
            </a:r>
            <a:r>
              <a:rPr lang="ru-RU" sz="200" dirty="0" err="1"/>
              <a:t>Халика</a:t>
            </a:r>
            <a:r>
              <a:rPr lang="ru-RU" sz="200" dirty="0"/>
              <a:t> Торреса в конце 1930-х годов. На её создание и структуру оказали мощнейшее влияние европейские фашистские движения того времени, в особенности Испанская Фаланга)</a:t>
            </a:r>
            <a:endParaRPr lang="ru-RU" sz="700" dirty="0"/>
          </a:p>
        </p:txBody>
      </p:sp>
      <p:sp>
        <p:nvSpPr>
          <p:cNvPr id="299" name="Прямоугольник 298">
            <a:extLst>
              <a:ext uri="{FF2B5EF4-FFF2-40B4-BE49-F238E27FC236}">
                <a16:creationId xmlns:a16="http://schemas.microsoft.com/office/drawing/2014/main" id="{3DAE6CB6-1F84-4263-8B95-FD8B316CCCD2}"/>
              </a:ext>
            </a:extLst>
          </p:cNvPr>
          <p:cNvSpPr/>
          <p:nvPr/>
        </p:nvSpPr>
        <p:spPr>
          <a:xfrm>
            <a:off x="40493340" y="28237167"/>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Панарабизм и ислам</a:t>
            </a:r>
          </a:p>
          <a:p>
            <a:pPr algn="ctr"/>
            <a:r>
              <a:rPr lang="ru-RU" sz="200" dirty="0"/>
              <a:t>Вместо католицизма и испанского империализма Фаланги, «</a:t>
            </a:r>
            <a:r>
              <a:rPr lang="ru-RU" sz="200" dirty="0" err="1"/>
              <a:t>Фитьян</a:t>
            </a:r>
            <a:r>
              <a:rPr lang="ru-RU" sz="200" dirty="0"/>
              <a:t>» воспитывали молодежь на ценностях арабского возрождения, защиты ислама и гордости за историю Марокко.</a:t>
            </a:r>
            <a:endParaRPr lang="ru-RU" sz="700" dirty="0"/>
          </a:p>
        </p:txBody>
      </p:sp>
      <p:sp>
        <p:nvSpPr>
          <p:cNvPr id="300" name="Прямоугольник 299">
            <a:extLst>
              <a:ext uri="{FF2B5EF4-FFF2-40B4-BE49-F238E27FC236}">
                <a16:creationId xmlns:a16="http://schemas.microsoft.com/office/drawing/2014/main" id="{3857DF17-F437-4856-A8C3-2D2EE0D53C84}"/>
              </a:ext>
            </a:extLst>
          </p:cNvPr>
          <p:cNvSpPr/>
          <p:nvPr/>
        </p:nvSpPr>
        <p:spPr>
          <a:xfrm>
            <a:off x="39335433" y="28237167"/>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Скрытый </a:t>
            </a:r>
            <a:r>
              <a:rPr lang="ru-RU" sz="700" dirty="0" err="1"/>
              <a:t>антиколониализм</a:t>
            </a:r>
            <a:endParaRPr lang="ru-RU" sz="700" dirty="0"/>
          </a:p>
          <a:p>
            <a:pPr algn="ctr"/>
            <a:r>
              <a:rPr lang="ru-RU" sz="100" dirty="0"/>
              <a:t>Для Торреса это была «кузница кадров». Молодые люди учились маршировать и подчиняться приказам не для того, чтобы вечно служить Мадриду, а чтобы в нужный момент составить костяк армии, которая потребует независимости Марокко.</a:t>
            </a:r>
            <a:endParaRPr lang="ru-RU" sz="700" dirty="0"/>
          </a:p>
        </p:txBody>
      </p:sp>
      <p:sp>
        <p:nvSpPr>
          <p:cNvPr id="301" name="Прямоугольник 300">
            <a:extLst>
              <a:ext uri="{FF2B5EF4-FFF2-40B4-BE49-F238E27FC236}">
                <a16:creationId xmlns:a16="http://schemas.microsoft.com/office/drawing/2014/main" id="{19D409FE-ECD9-41F9-A78D-CBCA8C55DFC3}"/>
              </a:ext>
            </a:extLst>
          </p:cNvPr>
          <p:cNvSpPr/>
          <p:nvPr/>
        </p:nvSpPr>
        <p:spPr>
          <a:xfrm>
            <a:off x="39270959" y="23971840"/>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Танжер 3</a:t>
            </a:r>
          </a:p>
        </p:txBody>
      </p:sp>
      <p:sp>
        <p:nvSpPr>
          <p:cNvPr id="302" name="Прямоугольник 301">
            <a:extLst>
              <a:ext uri="{FF2B5EF4-FFF2-40B4-BE49-F238E27FC236}">
                <a16:creationId xmlns:a16="http://schemas.microsoft.com/office/drawing/2014/main" id="{8C12AE9B-0635-435B-A726-FBA33BFD39E9}"/>
              </a:ext>
            </a:extLst>
          </p:cNvPr>
          <p:cNvSpPr/>
          <p:nvPr/>
        </p:nvSpPr>
        <p:spPr>
          <a:xfrm>
            <a:off x="38030723" y="23971840"/>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Танжер 2</a:t>
            </a:r>
          </a:p>
        </p:txBody>
      </p:sp>
      <p:sp>
        <p:nvSpPr>
          <p:cNvPr id="303" name="Прямоугольник 302">
            <a:extLst>
              <a:ext uri="{FF2B5EF4-FFF2-40B4-BE49-F238E27FC236}">
                <a16:creationId xmlns:a16="http://schemas.microsoft.com/office/drawing/2014/main" id="{C6291CBF-A1B8-479E-8EB0-EC4A56B3830E}"/>
              </a:ext>
            </a:extLst>
          </p:cNvPr>
          <p:cNvSpPr/>
          <p:nvPr/>
        </p:nvSpPr>
        <p:spPr>
          <a:xfrm>
            <a:off x="38636631" y="23093893"/>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Лишить Танжер международного статуса</a:t>
            </a:r>
          </a:p>
        </p:txBody>
      </p:sp>
      <p:sp>
        <p:nvSpPr>
          <p:cNvPr id="307" name="Прямоугольник 306">
            <a:extLst>
              <a:ext uri="{FF2B5EF4-FFF2-40B4-BE49-F238E27FC236}">
                <a16:creationId xmlns:a16="http://schemas.microsoft.com/office/drawing/2014/main" id="{2DAAD328-4716-45C4-8FE9-1418B0F0515A}"/>
              </a:ext>
            </a:extLst>
          </p:cNvPr>
          <p:cNvSpPr/>
          <p:nvPr/>
        </p:nvSpPr>
        <p:spPr>
          <a:xfrm>
            <a:off x="36815611" y="23971840"/>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Мавритания 3</a:t>
            </a:r>
          </a:p>
        </p:txBody>
      </p:sp>
      <p:sp>
        <p:nvSpPr>
          <p:cNvPr id="308" name="Прямоугольник 307">
            <a:extLst>
              <a:ext uri="{FF2B5EF4-FFF2-40B4-BE49-F238E27FC236}">
                <a16:creationId xmlns:a16="http://schemas.microsoft.com/office/drawing/2014/main" id="{E64F2EC9-A188-4CC0-AF6A-2976F8412A3F}"/>
              </a:ext>
            </a:extLst>
          </p:cNvPr>
          <p:cNvSpPr/>
          <p:nvPr/>
        </p:nvSpPr>
        <p:spPr>
          <a:xfrm>
            <a:off x="36157351" y="23093893"/>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Мавритания – южная провинция Марокко</a:t>
            </a:r>
          </a:p>
        </p:txBody>
      </p:sp>
      <p:sp>
        <p:nvSpPr>
          <p:cNvPr id="311" name="Прямоугольник 310">
            <a:extLst>
              <a:ext uri="{FF2B5EF4-FFF2-40B4-BE49-F238E27FC236}">
                <a16:creationId xmlns:a16="http://schemas.microsoft.com/office/drawing/2014/main" id="{B2273294-389F-4374-B952-FAAE7A098FFF}"/>
              </a:ext>
            </a:extLst>
          </p:cNvPr>
          <p:cNvSpPr/>
          <p:nvPr/>
        </p:nvSpPr>
        <p:spPr>
          <a:xfrm>
            <a:off x="35602007" y="23971840"/>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Мавритания 2</a:t>
            </a:r>
          </a:p>
        </p:txBody>
      </p:sp>
      <p:sp>
        <p:nvSpPr>
          <p:cNvPr id="314" name="Прямоугольник 313">
            <a:extLst>
              <a:ext uri="{FF2B5EF4-FFF2-40B4-BE49-F238E27FC236}">
                <a16:creationId xmlns:a16="http://schemas.microsoft.com/office/drawing/2014/main" id="{F565E1AC-9406-408D-8DBA-69C401B5F39C}"/>
              </a:ext>
            </a:extLst>
          </p:cNvPr>
          <p:cNvSpPr/>
          <p:nvPr/>
        </p:nvSpPr>
        <p:spPr>
          <a:xfrm>
            <a:off x="38636631" y="24776003"/>
            <a:ext cx="926325" cy="540000"/>
          </a:xfrm>
          <a:prstGeom prst="rect">
            <a:avLst/>
          </a:prstGeom>
          <a:solidFill>
            <a:schemeClr val="bg1"/>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Провозгласить Великое Марокко</a:t>
            </a:r>
          </a:p>
        </p:txBody>
      </p:sp>
      <p:cxnSp>
        <p:nvCxnSpPr>
          <p:cNvPr id="318" name="Соединительная линия уступом 620">
            <a:extLst>
              <a:ext uri="{FF2B5EF4-FFF2-40B4-BE49-F238E27FC236}">
                <a16:creationId xmlns:a16="http://schemas.microsoft.com/office/drawing/2014/main" id="{2CFC8DF2-68B2-47EE-BEBC-B56651373BE0}"/>
              </a:ext>
            </a:extLst>
          </p:cNvPr>
          <p:cNvCxnSpPr>
            <a:cxnSpLocks/>
            <a:stCxn id="61" idx="2"/>
            <a:endCxn id="314" idx="0"/>
          </p:cNvCxnSpPr>
          <p:nvPr/>
        </p:nvCxnSpPr>
        <p:spPr>
          <a:xfrm rot="5400000">
            <a:off x="39768380" y="22965308"/>
            <a:ext cx="1142109" cy="2479280"/>
          </a:xfrm>
          <a:prstGeom prst="bentConnector3">
            <a:avLst>
              <a:gd name="adj1" fmla="val 15306"/>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22" name="Соединительная линия уступом 620">
            <a:extLst>
              <a:ext uri="{FF2B5EF4-FFF2-40B4-BE49-F238E27FC236}">
                <a16:creationId xmlns:a16="http://schemas.microsoft.com/office/drawing/2014/main" id="{C378D33D-192E-4BD8-8069-087FC625EAE0}"/>
              </a:ext>
            </a:extLst>
          </p:cNvPr>
          <p:cNvCxnSpPr>
            <a:cxnSpLocks/>
            <a:stCxn id="303" idx="2"/>
            <a:endCxn id="314" idx="0"/>
          </p:cNvCxnSpPr>
          <p:nvPr/>
        </p:nvCxnSpPr>
        <p:spPr>
          <a:xfrm rot="5400000">
            <a:off x="38528739" y="24204948"/>
            <a:ext cx="1142110" cy="1270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25" name="Соединительная линия уступом 620">
            <a:extLst>
              <a:ext uri="{FF2B5EF4-FFF2-40B4-BE49-F238E27FC236}">
                <a16:creationId xmlns:a16="http://schemas.microsoft.com/office/drawing/2014/main" id="{A1640AFC-145F-4409-A48E-55ED68C9F902}"/>
              </a:ext>
            </a:extLst>
          </p:cNvPr>
          <p:cNvCxnSpPr>
            <a:cxnSpLocks/>
            <a:stCxn id="308" idx="2"/>
            <a:endCxn id="314" idx="0"/>
          </p:cNvCxnSpPr>
          <p:nvPr/>
        </p:nvCxnSpPr>
        <p:spPr>
          <a:xfrm rot="16200000" flipH="1">
            <a:off x="37289099" y="22965308"/>
            <a:ext cx="1142110" cy="2479280"/>
          </a:xfrm>
          <a:prstGeom prst="bentConnector3">
            <a:avLst>
              <a:gd name="adj1" fmla="val 15306"/>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285" name="Прямоугольник 284">
            <a:extLst>
              <a:ext uri="{FF2B5EF4-FFF2-40B4-BE49-F238E27FC236}">
                <a16:creationId xmlns:a16="http://schemas.microsoft.com/office/drawing/2014/main" id="{A620BFC9-FA27-4D27-89FD-71123B8D4A03}"/>
              </a:ext>
            </a:extLst>
          </p:cNvPr>
          <p:cNvSpPr/>
          <p:nvPr/>
        </p:nvSpPr>
        <p:spPr>
          <a:xfrm>
            <a:off x="7660568" y="4235046"/>
            <a:ext cx="926325" cy="540000"/>
          </a:xfrm>
          <a:prstGeom prst="rect">
            <a:avLst/>
          </a:prstGeom>
          <a:gradFill flip="none" rotWithShape="1">
            <a:gsLst>
              <a:gs pos="0">
                <a:srgbClr val="7030A0"/>
              </a:gs>
              <a:gs pos="100000">
                <a:schemeClr val="accent1">
                  <a:lumMod val="60000"/>
                  <a:lumOff val="40000"/>
                </a:schemeClr>
              </a:gs>
            </a:gsLst>
            <a:lin ang="0" scaled="1"/>
            <a:tileRect/>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Начать пересмотр «плана реформ»</a:t>
            </a:r>
          </a:p>
        </p:txBody>
      </p:sp>
      <p:cxnSp>
        <p:nvCxnSpPr>
          <p:cNvPr id="305" name="Соединительная линия уступом 620">
            <a:extLst>
              <a:ext uri="{FF2B5EF4-FFF2-40B4-BE49-F238E27FC236}">
                <a16:creationId xmlns:a16="http://schemas.microsoft.com/office/drawing/2014/main" id="{B2A15EBA-8AB6-452B-AD69-08380A8C0834}"/>
              </a:ext>
            </a:extLst>
          </p:cNvPr>
          <p:cNvCxnSpPr>
            <a:cxnSpLocks/>
            <a:stCxn id="285" idx="2"/>
            <a:endCxn id="316" idx="0"/>
          </p:cNvCxnSpPr>
          <p:nvPr/>
        </p:nvCxnSpPr>
        <p:spPr>
          <a:xfrm rot="5400000">
            <a:off x="7987703" y="4906410"/>
            <a:ext cx="267392" cy="466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29" name="Соединительная линия уступом 620">
            <a:extLst>
              <a:ext uri="{FF2B5EF4-FFF2-40B4-BE49-F238E27FC236}">
                <a16:creationId xmlns:a16="http://schemas.microsoft.com/office/drawing/2014/main" id="{B804F62F-B20E-4406-B10B-6AF6F0F673C7}"/>
              </a:ext>
            </a:extLst>
          </p:cNvPr>
          <p:cNvCxnSpPr>
            <a:cxnSpLocks/>
            <a:stCxn id="310" idx="2"/>
            <a:endCxn id="341" idx="0"/>
          </p:cNvCxnSpPr>
          <p:nvPr/>
        </p:nvCxnSpPr>
        <p:spPr>
          <a:xfrm rot="5400000">
            <a:off x="6095832" y="5827548"/>
            <a:ext cx="1078436" cy="593439"/>
          </a:xfrm>
          <a:prstGeom prst="bentConnector3">
            <a:avLst>
              <a:gd name="adj1" fmla="val 12316"/>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34" name="Соединительная линия уступом 620">
            <a:extLst>
              <a:ext uri="{FF2B5EF4-FFF2-40B4-BE49-F238E27FC236}">
                <a16:creationId xmlns:a16="http://schemas.microsoft.com/office/drawing/2014/main" id="{D8862DE7-75C1-481F-A43A-1EDE0A9FC18C}"/>
              </a:ext>
            </a:extLst>
          </p:cNvPr>
          <p:cNvCxnSpPr>
            <a:cxnSpLocks/>
            <a:stCxn id="310" idx="2"/>
            <a:endCxn id="344" idx="0"/>
          </p:cNvCxnSpPr>
          <p:nvPr/>
        </p:nvCxnSpPr>
        <p:spPr>
          <a:xfrm rot="5400000">
            <a:off x="6796412" y="5717090"/>
            <a:ext cx="267398" cy="331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37" name="Прямоугольник 336">
            <a:extLst>
              <a:ext uri="{FF2B5EF4-FFF2-40B4-BE49-F238E27FC236}">
                <a16:creationId xmlns:a16="http://schemas.microsoft.com/office/drawing/2014/main" id="{BA4108B4-FADE-4200-9551-1CEDA6CCEBDD}"/>
              </a:ext>
            </a:extLst>
          </p:cNvPr>
          <p:cNvSpPr/>
          <p:nvPr/>
        </p:nvSpPr>
        <p:spPr>
          <a:xfrm>
            <a:off x="6465288" y="7467240"/>
            <a:ext cx="926325" cy="540000"/>
          </a:xfrm>
          <a:prstGeom prst="rect">
            <a:avLst/>
          </a:prstGeom>
          <a:gradFill flip="none" rotWithShape="1">
            <a:gsLst>
              <a:gs pos="0">
                <a:srgbClr val="7030A0"/>
              </a:gs>
              <a:gs pos="100000">
                <a:schemeClr val="accent1">
                  <a:lumMod val="60000"/>
                  <a:lumOff val="40000"/>
                </a:schemeClr>
              </a:gs>
            </a:gsLst>
            <a:lin ang="0" scaled="1"/>
            <a:tileRect/>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Начать борьбу за нашу свободу</a:t>
            </a:r>
          </a:p>
        </p:txBody>
      </p:sp>
      <p:cxnSp>
        <p:nvCxnSpPr>
          <p:cNvPr id="343" name="Соединительная линия уступом 620">
            <a:extLst>
              <a:ext uri="{FF2B5EF4-FFF2-40B4-BE49-F238E27FC236}">
                <a16:creationId xmlns:a16="http://schemas.microsoft.com/office/drawing/2014/main" id="{428D6404-6AD3-4071-945C-AE9B9272A81E}"/>
              </a:ext>
            </a:extLst>
          </p:cNvPr>
          <p:cNvCxnSpPr>
            <a:cxnSpLocks/>
            <a:stCxn id="316" idx="2"/>
            <a:endCxn id="332" idx="0"/>
          </p:cNvCxnSpPr>
          <p:nvPr/>
        </p:nvCxnSpPr>
        <p:spPr>
          <a:xfrm rot="16200000" flipH="1">
            <a:off x="8578518" y="5122986"/>
            <a:ext cx="267392" cy="118629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47" name="Соединительная линия уступом 620">
            <a:extLst>
              <a:ext uri="{FF2B5EF4-FFF2-40B4-BE49-F238E27FC236}">
                <a16:creationId xmlns:a16="http://schemas.microsoft.com/office/drawing/2014/main" id="{044D3774-F822-48CC-947E-EF6B5C279EAA}"/>
              </a:ext>
            </a:extLst>
          </p:cNvPr>
          <p:cNvCxnSpPr>
            <a:cxnSpLocks/>
            <a:stCxn id="316" idx="2"/>
          </p:cNvCxnSpPr>
          <p:nvPr/>
        </p:nvCxnSpPr>
        <p:spPr>
          <a:xfrm rot="16200000" flipH="1">
            <a:off x="7984513" y="5716992"/>
            <a:ext cx="274478" cy="5370"/>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348" name="Соединительная линия уступом 620">
            <a:extLst>
              <a:ext uri="{FF2B5EF4-FFF2-40B4-BE49-F238E27FC236}">
                <a16:creationId xmlns:a16="http://schemas.microsoft.com/office/drawing/2014/main" id="{F04D2F1B-ED28-4083-8843-EC9AD7CBF2C8}"/>
              </a:ext>
            </a:extLst>
          </p:cNvPr>
          <p:cNvCxnSpPr>
            <a:cxnSpLocks/>
            <a:stCxn id="310" idx="2"/>
            <a:endCxn id="320" idx="0"/>
          </p:cNvCxnSpPr>
          <p:nvPr/>
        </p:nvCxnSpPr>
        <p:spPr>
          <a:xfrm rot="16200000" flipH="1">
            <a:off x="7395268" y="5121549"/>
            <a:ext cx="264479" cy="119147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49" name="Прямоугольник 348">
            <a:extLst>
              <a:ext uri="{FF2B5EF4-FFF2-40B4-BE49-F238E27FC236}">
                <a16:creationId xmlns:a16="http://schemas.microsoft.com/office/drawing/2014/main" id="{EE45BD45-0A53-4C5A-98EB-0640786C19EB}"/>
              </a:ext>
            </a:extLst>
          </p:cNvPr>
          <p:cNvSpPr/>
          <p:nvPr/>
        </p:nvSpPr>
        <p:spPr>
          <a:xfrm>
            <a:off x="7054131" y="6657857"/>
            <a:ext cx="926325" cy="540000"/>
          </a:xfrm>
          <a:prstGeom prst="rect">
            <a:avLst/>
          </a:prstGeom>
          <a:gradFill flip="none" rotWithShape="1">
            <a:gsLst>
              <a:gs pos="0">
                <a:srgbClr val="7030A0"/>
              </a:gs>
              <a:gs pos="100000">
                <a:schemeClr val="accent1">
                  <a:lumMod val="60000"/>
                  <a:lumOff val="40000"/>
                </a:schemeClr>
              </a:gs>
            </a:gsLst>
            <a:lin ang="0" scaled="1"/>
            <a:tileRect/>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Поддержать волнения в Мавритании</a:t>
            </a:r>
          </a:p>
        </p:txBody>
      </p:sp>
      <p:cxnSp>
        <p:nvCxnSpPr>
          <p:cNvPr id="351" name="Соединительная линия уступом 620">
            <a:extLst>
              <a:ext uri="{FF2B5EF4-FFF2-40B4-BE49-F238E27FC236}">
                <a16:creationId xmlns:a16="http://schemas.microsoft.com/office/drawing/2014/main" id="{D82585BF-6BF8-48AC-9670-8E0C6E3EF98F}"/>
              </a:ext>
            </a:extLst>
          </p:cNvPr>
          <p:cNvCxnSpPr>
            <a:cxnSpLocks/>
            <a:stCxn id="310" idx="2"/>
            <a:endCxn id="349" idx="0"/>
          </p:cNvCxnSpPr>
          <p:nvPr/>
        </p:nvCxnSpPr>
        <p:spPr>
          <a:xfrm rot="16200000" flipH="1">
            <a:off x="6688127" y="5828690"/>
            <a:ext cx="1072808" cy="585525"/>
          </a:xfrm>
          <a:prstGeom prst="bentConnector3">
            <a:avLst>
              <a:gd name="adj1" fmla="val 12907"/>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54" name="Соединительная линия уступом 620">
            <a:extLst>
              <a:ext uri="{FF2B5EF4-FFF2-40B4-BE49-F238E27FC236}">
                <a16:creationId xmlns:a16="http://schemas.microsoft.com/office/drawing/2014/main" id="{DB4DF8F9-78F8-41F8-B641-EBCF09C12118}"/>
              </a:ext>
            </a:extLst>
          </p:cNvPr>
          <p:cNvCxnSpPr>
            <a:cxnSpLocks/>
            <a:stCxn id="349" idx="2"/>
            <a:endCxn id="337" idx="0"/>
          </p:cNvCxnSpPr>
          <p:nvPr/>
        </p:nvCxnSpPr>
        <p:spPr>
          <a:xfrm rot="5400000">
            <a:off x="7088182" y="7038127"/>
            <a:ext cx="269383" cy="588843"/>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355" name="Соединительная линия уступом 620">
            <a:extLst>
              <a:ext uri="{FF2B5EF4-FFF2-40B4-BE49-F238E27FC236}">
                <a16:creationId xmlns:a16="http://schemas.microsoft.com/office/drawing/2014/main" id="{6F4D3062-F5D9-497C-A88F-0DB499581427}"/>
              </a:ext>
            </a:extLst>
          </p:cNvPr>
          <p:cNvCxnSpPr>
            <a:cxnSpLocks/>
            <a:stCxn id="341" idx="2"/>
            <a:endCxn id="337" idx="0"/>
          </p:cNvCxnSpPr>
          <p:nvPr/>
        </p:nvCxnSpPr>
        <p:spPr>
          <a:xfrm rot="16200000" flipH="1">
            <a:off x="6501513" y="7040301"/>
            <a:ext cx="263755" cy="59012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356" name="Соединительная линия уступом 620">
            <a:extLst>
              <a:ext uri="{FF2B5EF4-FFF2-40B4-BE49-F238E27FC236}">
                <a16:creationId xmlns:a16="http://schemas.microsoft.com/office/drawing/2014/main" id="{121B70C5-1C4C-4CE5-A2C2-80B0E1D0927F}"/>
              </a:ext>
            </a:extLst>
          </p:cNvPr>
          <p:cNvCxnSpPr>
            <a:cxnSpLocks/>
            <a:stCxn id="344" idx="2"/>
            <a:endCxn id="337" idx="0"/>
          </p:cNvCxnSpPr>
          <p:nvPr/>
        </p:nvCxnSpPr>
        <p:spPr>
          <a:xfrm rot="5400000">
            <a:off x="6391056" y="6929843"/>
            <a:ext cx="1074793" cy="1"/>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360" name="Соединительная линия уступом 620">
            <a:extLst>
              <a:ext uri="{FF2B5EF4-FFF2-40B4-BE49-F238E27FC236}">
                <a16:creationId xmlns:a16="http://schemas.microsoft.com/office/drawing/2014/main" id="{D29F1913-1493-438E-B71C-8B273ED51A15}"/>
              </a:ext>
            </a:extLst>
          </p:cNvPr>
          <p:cNvCxnSpPr>
            <a:cxnSpLocks/>
            <a:stCxn id="337" idx="2"/>
            <a:endCxn id="330" idx="0"/>
          </p:cNvCxnSpPr>
          <p:nvPr/>
        </p:nvCxnSpPr>
        <p:spPr>
          <a:xfrm rot="5400000">
            <a:off x="6392621" y="8543070"/>
            <a:ext cx="1071660"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61" name="Прямоугольник 360">
            <a:extLst>
              <a:ext uri="{FF2B5EF4-FFF2-40B4-BE49-F238E27FC236}">
                <a16:creationId xmlns:a16="http://schemas.microsoft.com/office/drawing/2014/main" id="{12C9E2CA-67CA-4CAF-B79F-ADB9AA0C747B}"/>
              </a:ext>
            </a:extLst>
          </p:cNvPr>
          <p:cNvSpPr/>
          <p:nvPr/>
        </p:nvSpPr>
        <p:spPr>
          <a:xfrm>
            <a:off x="8247130" y="6652886"/>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Партия национального движения </a:t>
            </a:r>
            <a:r>
              <a:rPr lang="ru-RU" sz="700" dirty="0" err="1"/>
              <a:t>Уаззани</a:t>
            </a:r>
            <a:endParaRPr lang="ru-RU" sz="700" dirty="0"/>
          </a:p>
        </p:txBody>
      </p:sp>
      <p:sp>
        <p:nvSpPr>
          <p:cNvPr id="362" name="Прямоугольник 361">
            <a:extLst>
              <a:ext uri="{FF2B5EF4-FFF2-40B4-BE49-F238E27FC236}">
                <a16:creationId xmlns:a16="http://schemas.microsoft.com/office/drawing/2014/main" id="{E332E174-E0FF-4ADC-B062-DE062C25214B}"/>
              </a:ext>
            </a:extLst>
          </p:cNvPr>
          <p:cNvSpPr/>
          <p:nvPr/>
        </p:nvSpPr>
        <p:spPr>
          <a:xfrm>
            <a:off x="9441520" y="6654111"/>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Партия национальных реформ </a:t>
            </a:r>
            <a:r>
              <a:rPr lang="ru-RU" sz="700" dirty="0" err="1"/>
              <a:t>Фасси</a:t>
            </a:r>
            <a:endParaRPr lang="ru-RU" sz="700" dirty="0"/>
          </a:p>
        </p:txBody>
      </p:sp>
      <p:cxnSp>
        <p:nvCxnSpPr>
          <p:cNvPr id="363" name="Прямая соединительная линия 362">
            <a:extLst>
              <a:ext uri="{FF2B5EF4-FFF2-40B4-BE49-F238E27FC236}">
                <a16:creationId xmlns:a16="http://schemas.microsoft.com/office/drawing/2014/main" id="{11131FA6-1893-4E1D-9FE2-31413B226B68}"/>
              </a:ext>
            </a:extLst>
          </p:cNvPr>
          <p:cNvCxnSpPr>
            <a:cxnSpLocks/>
            <a:stCxn id="362" idx="1"/>
            <a:endCxn id="361" idx="3"/>
          </p:cNvCxnSpPr>
          <p:nvPr/>
        </p:nvCxnSpPr>
        <p:spPr>
          <a:xfrm flipH="1" flipV="1">
            <a:off x="9173455" y="6922886"/>
            <a:ext cx="268065" cy="122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4" name="Соединительная линия уступом 620">
            <a:extLst>
              <a:ext uri="{FF2B5EF4-FFF2-40B4-BE49-F238E27FC236}">
                <a16:creationId xmlns:a16="http://schemas.microsoft.com/office/drawing/2014/main" id="{4EF28AF0-E3A8-4770-8BFE-B15B9DCC626E}"/>
              </a:ext>
            </a:extLst>
          </p:cNvPr>
          <p:cNvCxnSpPr>
            <a:cxnSpLocks/>
            <a:stCxn id="332" idx="2"/>
            <a:endCxn id="362" idx="0"/>
          </p:cNvCxnSpPr>
          <p:nvPr/>
        </p:nvCxnSpPr>
        <p:spPr>
          <a:xfrm rot="16200000" flipH="1">
            <a:off x="9472882" y="6222309"/>
            <a:ext cx="264281" cy="59932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65" name="Соединительная линия уступом 620">
            <a:extLst>
              <a:ext uri="{FF2B5EF4-FFF2-40B4-BE49-F238E27FC236}">
                <a16:creationId xmlns:a16="http://schemas.microsoft.com/office/drawing/2014/main" id="{494C51AC-6E80-482F-9862-E6D4840FEA97}"/>
              </a:ext>
            </a:extLst>
          </p:cNvPr>
          <p:cNvCxnSpPr>
            <a:cxnSpLocks/>
            <a:stCxn id="332" idx="2"/>
            <a:endCxn id="361" idx="0"/>
          </p:cNvCxnSpPr>
          <p:nvPr/>
        </p:nvCxnSpPr>
        <p:spPr>
          <a:xfrm rot="5400000">
            <a:off x="8876300" y="6223824"/>
            <a:ext cx="263056" cy="59506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66" name="Соединительная линия уступом 620">
            <a:extLst>
              <a:ext uri="{FF2B5EF4-FFF2-40B4-BE49-F238E27FC236}">
                <a16:creationId xmlns:a16="http://schemas.microsoft.com/office/drawing/2014/main" id="{B6A4BAC8-9B96-4AD1-9DC1-74B87318713D}"/>
              </a:ext>
            </a:extLst>
          </p:cNvPr>
          <p:cNvCxnSpPr>
            <a:cxnSpLocks/>
            <a:stCxn id="275" idx="2"/>
            <a:endCxn id="332" idx="0"/>
          </p:cNvCxnSpPr>
          <p:nvPr/>
        </p:nvCxnSpPr>
        <p:spPr>
          <a:xfrm rot="5400000">
            <a:off x="8767971" y="5312438"/>
            <a:ext cx="1074784"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67" name="Прямоугольник 366">
            <a:extLst>
              <a:ext uri="{FF2B5EF4-FFF2-40B4-BE49-F238E27FC236}">
                <a16:creationId xmlns:a16="http://schemas.microsoft.com/office/drawing/2014/main" id="{1071E036-2CED-4B07-97A8-2333A262E453}"/>
              </a:ext>
            </a:extLst>
          </p:cNvPr>
          <p:cNvSpPr/>
          <p:nvPr/>
        </p:nvSpPr>
        <p:spPr>
          <a:xfrm>
            <a:off x="4680775" y="6654346"/>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Импровизированный аэропорт</a:t>
            </a:r>
          </a:p>
        </p:txBody>
      </p:sp>
      <p:sp>
        <p:nvSpPr>
          <p:cNvPr id="368" name="Прямоугольник 367">
            <a:extLst>
              <a:ext uri="{FF2B5EF4-FFF2-40B4-BE49-F238E27FC236}">
                <a16:creationId xmlns:a16="http://schemas.microsoft.com/office/drawing/2014/main" id="{6E3D4493-FF2E-4747-898D-4495A8488B71}"/>
              </a:ext>
            </a:extLst>
          </p:cNvPr>
          <p:cNvSpPr/>
          <p:nvPr/>
        </p:nvSpPr>
        <p:spPr>
          <a:xfrm>
            <a:off x="3508501" y="5042438"/>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Ввести меры военного времени</a:t>
            </a:r>
          </a:p>
        </p:txBody>
      </p:sp>
      <p:sp>
        <p:nvSpPr>
          <p:cNvPr id="369" name="Прямоугольник 368">
            <a:extLst>
              <a:ext uri="{FF2B5EF4-FFF2-40B4-BE49-F238E27FC236}">
                <a16:creationId xmlns:a16="http://schemas.microsoft.com/office/drawing/2014/main" id="{209D680D-DBA7-44F5-9390-4ACF118B1831}"/>
              </a:ext>
            </a:extLst>
          </p:cNvPr>
          <p:cNvSpPr/>
          <p:nvPr/>
        </p:nvSpPr>
        <p:spPr>
          <a:xfrm>
            <a:off x="4092450" y="5854962"/>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Экстренный порт для союзников</a:t>
            </a:r>
          </a:p>
        </p:txBody>
      </p:sp>
      <p:sp>
        <p:nvSpPr>
          <p:cNvPr id="370" name="Прямоугольник 369">
            <a:extLst>
              <a:ext uri="{FF2B5EF4-FFF2-40B4-BE49-F238E27FC236}">
                <a16:creationId xmlns:a16="http://schemas.microsoft.com/office/drawing/2014/main" id="{B2D85639-B01F-4996-BF83-EF0335E16D6E}"/>
              </a:ext>
            </a:extLst>
          </p:cNvPr>
          <p:cNvSpPr/>
          <p:nvPr/>
        </p:nvSpPr>
        <p:spPr>
          <a:xfrm>
            <a:off x="3505885" y="6666310"/>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Ремонтная верфь </a:t>
            </a:r>
          </a:p>
        </p:txBody>
      </p:sp>
      <p:sp>
        <p:nvSpPr>
          <p:cNvPr id="371" name="Прямоугольник 370">
            <a:extLst>
              <a:ext uri="{FF2B5EF4-FFF2-40B4-BE49-F238E27FC236}">
                <a16:creationId xmlns:a16="http://schemas.microsoft.com/office/drawing/2014/main" id="{8F135ABC-3BC0-43BB-BBED-4C8E0EB2515E}"/>
              </a:ext>
            </a:extLst>
          </p:cNvPr>
          <p:cNvSpPr/>
          <p:nvPr/>
        </p:nvSpPr>
        <p:spPr>
          <a:xfrm>
            <a:off x="5274566" y="5845935"/>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Запретить деятельность МКП</a:t>
            </a:r>
          </a:p>
        </p:txBody>
      </p:sp>
      <p:sp>
        <p:nvSpPr>
          <p:cNvPr id="372" name="Прямоугольник 371">
            <a:extLst>
              <a:ext uri="{FF2B5EF4-FFF2-40B4-BE49-F238E27FC236}">
                <a16:creationId xmlns:a16="http://schemas.microsoft.com/office/drawing/2014/main" id="{7DE89301-4366-4909-AA18-B24463FAB130}"/>
              </a:ext>
            </a:extLst>
          </p:cNvPr>
          <p:cNvSpPr/>
          <p:nvPr/>
        </p:nvSpPr>
        <p:spPr>
          <a:xfrm>
            <a:off x="2911685" y="5852446"/>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Поддержка США</a:t>
            </a:r>
          </a:p>
        </p:txBody>
      </p:sp>
      <p:cxnSp>
        <p:nvCxnSpPr>
          <p:cNvPr id="373" name="Соединительная линия уступом 620">
            <a:extLst>
              <a:ext uri="{FF2B5EF4-FFF2-40B4-BE49-F238E27FC236}">
                <a16:creationId xmlns:a16="http://schemas.microsoft.com/office/drawing/2014/main" id="{7E967D57-8385-4220-BDF1-7187168513C4}"/>
              </a:ext>
            </a:extLst>
          </p:cNvPr>
          <p:cNvCxnSpPr>
            <a:cxnSpLocks/>
            <a:stCxn id="292" idx="2"/>
            <a:endCxn id="368" idx="0"/>
          </p:cNvCxnSpPr>
          <p:nvPr/>
        </p:nvCxnSpPr>
        <p:spPr>
          <a:xfrm rot="5400000">
            <a:off x="4136189" y="4613119"/>
            <a:ext cx="264794" cy="59384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74" name="Прямоугольник 373">
            <a:extLst>
              <a:ext uri="{FF2B5EF4-FFF2-40B4-BE49-F238E27FC236}">
                <a16:creationId xmlns:a16="http://schemas.microsoft.com/office/drawing/2014/main" id="{AA67ACCE-9C2A-4946-884C-805DF0C819AE}"/>
              </a:ext>
            </a:extLst>
          </p:cNvPr>
          <p:cNvSpPr/>
          <p:nvPr/>
        </p:nvSpPr>
        <p:spPr>
          <a:xfrm>
            <a:off x="5273503" y="5034629"/>
            <a:ext cx="926325" cy="540000"/>
          </a:xfrm>
          <a:prstGeom prst="rect">
            <a:avLst/>
          </a:prstGeom>
          <a:solidFill>
            <a:schemeClr val="bg1">
              <a:lumMod val="5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Довериться Франции</a:t>
            </a:r>
          </a:p>
        </p:txBody>
      </p:sp>
      <p:cxnSp>
        <p:nvCxnSpPr>
          <p:cNvPr id="375" name="Соединительная линия уступом 620">
            <a:extLst>
              <a:ext uri="{FF2B5EF4-FFF2-40B4-BE49-F238E27FC236}">
                <a16:creationId xmlns:a16="http://schemas.microsoft.com/office/drawing/2014/main" id="{A71C41DD-31B8-4DA1-B745-70B9E50E10AF}"/>
              </a:ext>
            </a:extLst>
          </p:cNvPr>
          <p:cNvCxnSpPr>
            <a:cxnSpLocks/>
            <a:stCxn id="292" idx="2"/>
            <a:endCxn id="374" idx="0"/>
          </p:cNvCxnSpPr>
          <p:nvPr/>
        </p:nvCxnSpPr>
        <p:spPr>
          <a:xfrm rot="16200000" flipH="1">
            <a:off x="5022595" y="4320557"/>
            <a:ext cx="256985" cy="1171158"/>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76" name="Соединительная линия уступом 620">
            <a:extLst>
              <a:ext uri="{FF2B5EF4-FFF2-40B4-BE49-F238E27FC236}">
                <a16:creationId xmlns:a16="http://schemas.microsoft.com/office/drawing/2014/main" id="{5267BC9B-273F-4E1F-9D74-30F24C0A212D}"/>
              </a:ext>
            </a:extLst>
          </p:cNvPr>
          <p:cNvCxnSpPr>
            <a:cxnSpLocks/>
            <a:stCxn id="374" idx="2"/>
            <a:endCxn id="371" idx="0"/>
          </p:cNvCxnSpPr>
          <p:nvPr/>
        </p:nvCxnSpPr>
        <p:spPr>
          <a:xfrm rot="16200000" flipH="1">
            <a:off x="5601544" y="5709750"/>
            <a:ext cx="271306" cy="1063"/>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77" name="Соединительная линия уступом 620">
            <a:extLst>
              <a:ext uri="{FF2B5EF4-FFF2-40B4-BE49-F238E27FC236}">
                <a16:creationId xmlns:a16="http://schemas.microsoft.com/office/drawing/2014/main" id="{A3E09B7C-51EF-4443-9AA4-513623C2BA81}"/>
              </a:ext>
            </a:extLst>
          </p:cNvPr>
          <p:cNvCxnSpPr>
            <a:cxnSpLocks/>
            <a:stCxn id="368" idx="2"/>
            <a:endCxn id="369" idx="0"/>
          </p:cNvCxnSpPr>
          <p:nvPr/>
        </p:nvCxnSpPr>
        <p:spPr>
          <a:xfrm rot="16200000" flipH="1">
            <a:off x="4127376" y="5426725"/>
            <a:ext cx="272524" cy="58394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78" name="Соединительная линия уступом 620">
            <a:extLst>
              <a:ext uri="{FF2B5EF4-FFF2-40B4-BE49-F238E27FC236}">
                <a16:creationId xmlns:a16="http://schemas.microsoft.com/office/drawing/2014/main" id="{25A1021B-4BC5-4315-9D51-6B448B4600A3}"/>
              </a:ext>
            </a:extLst>
          </p:cNvPr>
          <p:cNvCxnSpPr>
            <a:cxnSpLocks/>
            <a:stCxn id="369" idx="2"/>
            <a:endCxn id="370" idx="0"/>
          </p:cNvCxnSpPr>
          <p:nvPr/>
        </p:nvCxnSpPr>
        <p:spPr>
          <a:xfrm rot="5400000">
            <a:off x="4126657" y="6237354"/>
            <a:ext cx="271348" cy="58656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79" name="Соединительная линия уступом 620">
            <a:extLst>
              <a:ext uri="{FF2B5EF4-FFF2-40B4-BE49-F238E27FC236}">
                <a16:creationId xmlns:a16="http://schemas.microsoft.com/office/drawing/2014/main" id="{574416BF-FDBD-4D0F-8EA8-F0120218A565}"/>
              </a:ext>
            </a:extLst>
          </p:cNvPr>
          <p:cNvCxnSpPr>
            <a:cxnSpLocks/>
            <a:stCxn id="369" idx="2"/>
            <a:endCxn id="367" idx="0"/>
          </p:cNvCxnSpPr>
          <p:nvPr/>
        </p:nvCxnSpPr>
        <p:spPr>
          <a:xfrm rot="16200000" flipH="1">
            <a:off x="4720083" y="6230491"/>
            <a:ext cx="259384" cy="58832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80" name="Соединительная линия уступом 620">
            <a:extLst>
              <a:ext uri="{FF2B5EF4-FFF2-40B4-BE49-F238E27FC236}">
                <a16:creationId xmlns:a16="http://schemas.microsoft.com/office/drawing/2014/main" id="{AB744B17-5B94-43C3-B7D2-82B5DDA82D2B}"/>
              </a:ext>
            </a:extLst>
          </p:cNvPr>
          <p:cNvCxnSpPr>
            <a:cxnSpLocks/>
            <a:stCxn id="368" idx="2"/>
            <a:endCxn id="372" idx="0"/>
          </p:cNvCxnSpPr>
          <p:nvPr/>
        </p:nvCxnSpPr>
        <p:spPr>
          <a:xfrm rot="5400000">
            <a:off x="3538252" y="5419034"/>
            <a:ext cx="270008" cy="59681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82" name="Прямоугольник 381">
            <a:extLst>
              <a:ext uri="{FF2B5EF4-FFF2-40B4-BE49-F238E27FC236}">
                <a16:creationId xmlns:a16="http://schemas.microsoft.com/office/drawing/2014/main" id="{CA6EF80F-ACB8-4828-A350-5C84B0FCAB4F}"/>
              </a:ext>
            </a:extLst>
          </p:cNvPr>
          <p:cNvSpPr/>
          <p:nvPr/>
        </p:nvSpPr>
        <p:spPr>
          <a:xfrm>
            <a:off x="5868093" y="8269517"/>
            <a:ext cx="926325" cy="540000"/>
          </a:xfrm>
          <a:prstGeom prst="rect">
            <a:avLst/>
          </a:prstGeom>
          <a:gradFill flip="none" rotWithShape="1">
            <a:gsLst>
              <a:gs pos="0">
                <a:srgbClr val="7030A0"/>
              </a:gs>
              <a:gs pos="100000">
                <a:schemeClr val="accent1">
                  <a:lumMod val="60000"/>
                  <a:lumOff val="40000"/>
                </a:schemeClr>
              </a:gs>
            </a:gsLst>
            <a:lin ang="0" scaled="1"/>
            <a:tileRect/>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Объявить о своих притязаниях на Мавританию</a:t>
            </a:r>
          </a:p>
        </p:txBody>
      </p:sp>
      <p:cxnSp>
        <p:nvCxnSpPr>
          <p:cNvPr id="383" name="Соединительная линия уступом 620">
            <a:extLst>
              <a:ext uri="{FF2B5EF4-FFF2-40B4-BE49-F238E27FC236}">
                <a16:creationId xmlns:a16="http://schemas.microsoft.com/office/drawing/2014/main" id="{B4E2BC96-252E-4E4D-B6DB-B7D7234E2CE9}"/>
              </a:ext>
            </a:extLst>
          </p:cNvPr>
          <p:cNvCxnSpPr>
            <a:cxnSpLocks/>
            <a:stCxn id="337" idx="2"/>
            <a:endCxn id="382" idx="0"/>
          </p:cNvCxnSpPr>
          <p:nvPr/>
        </p:nvCxnSpPr>
        <p:spPr>
          <a:xfrm rot="5400000">
            <a:off x="6498716" y="7839781"/>
            <a:ext cx="262277" cy="59719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86" name="Прямоугольник 385">
            <a:extLst>
              <a:ext uri="{FF2B5EF4-FFF2-40B4-BE49-F238E27FC236}">
                <a16:creationId xmlns:a16="http://schemas.microsoft.com/office/drawing/2014/main" id="{99C6CA20-455E-4DD6-A5F1-4008035CBFB8}"/>
              </a:ext>
            </a:extLst>
          </p:cNvPr>
          <p:cNvSpPr/>
          <p:nvPr/>
        </p:nvSpPr>
        <p:spPr>
          <a:xfrm>
            <a:off x="7053302" y="8269517"/>
            <a:ext cx="926325" cy="540000"/>
          </a:xfrm>
          <a:prstGeom prst="rect">
            <a:avLst/>
          </a:prstGeom>
          <a:gradFill flip="none" rotWithShape="1">
            <a:gsLst>
              <a:gs pos="0">
                <a:srgbClr val="7030A0"/>
              </a:gs>
              <a:gs pos="100000">
                <a:schemeClr val="accent1">
                  <a:lumMod val="60000"/>
                  <a:lumOff val="40000"/>
                </a:schemeClr>
              </a:gs>
            </a:gsLst>
            <a:lin ang="0" scaled="1"/>
            <a:tileRect/>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Вернуть Танжер под руку Султана</a:t>
            </a:r>
          </a:p>
        </p:txBody>
      </p:sp>
      <p:cxnSp>
        <p:nvCxnSpPr>
          <p:cNvPr id="387" name="Соединительная линия уступом 620">
            <a:extLst>
              <a:ext uri="{FF2B5EF4-FFF2-40B4-BE49-F238E27FC236}">
                <a16:creationId xmlns:a16="http://schemas.microsoft.com/office/drawing/2014/main" id="{F54D1FD9-F108-459A-BCAD-99AAA49543C5}"/>
              </a:ext>
            </a:extLst>
          </p:cNvPr>
          <p:cNvCxnSpPr>
            <a:cxnSpLocks/>
            <a:stCxn id="337" idx="2"/>
            <a:endCxn id="386" idx="0"/>
          </p:cNvCxnSpPr>
          <p:nvPr/>
        </p:nvCxnSpPr>
        <p:spPr>
          <a:xfrm rot="16200000" flipH="1">
            <a:off x="7091320" y="7844371"/>
            <a:ext cx="262277" cy="58801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94" name="Прямоугольник 393">
            <a:extLst>
              <a:ext uri="{FF2B5EF4-FFF2-40B4-BE49-F238E27FC236}">
                <a16:creationId xmlns:a16="http://schemas.microsoft.com/office/drawing/2014/main" id="{9E7EDF23-23F6-4AB2-AC8C-CF5D5F9A6C52}"/>
              </a:ext>
            </a:extLst>
          </p:cNvPr>
          <p:cNvSpPr/>
          <p:nvPr/>
        </p:nvSpPr>
        <p:spPr>
          <a:xfrm>
            <a:off x="8841776" y="7455942"/>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Разделить духовную и светскую власть</a:t>
            </a:r>
          </a:p>
        </p:txBody>
      </p:sp>
      <p:sp>
        <p:nvSpPr>
          <p:cNvPr id="395" name="Прямоугольник 394">
            <a:extLst>
              <a:ext uri="{FF2B5EF4-FFF2-40B4-BE49-F238E27FC236}">
                <a16:creationId xmlns:a16="http://schemas.microsoft.com/office/drawing/2014/main" id="{750E2224-5F10-44BD-8AC6-7D94ECEF7F8D}"/>
              </a:ext>
            </a:extLst>
          </p:cNvPr>
          <p:cNvSpPr/>
          <p:nvPr/>
        </p:nvSpPr>
        <p:spPr>
          <a:xfrm>
            <a:off x="7652593" y="7455162"/>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Сформировать правительство</a:t>
            </a:r>
          </a:p>
        </p:txBody>
      </p:sp>
      <p:sp>
        <p:nvSpPr>
          <p:cNvPr id="396" name="Прямоугольник 395">
            <a:extLst>
              <a:ext uri="{FF2B5EF4-FFF2-40B4-BE49-F238E27FC236}">
                <a16:creationId xmlns:a16="http://schemas.microsoft.com/office/drawing/2014/main" id="{2F16B681-37C5-4564-B8D6-A0A2A5BCB920}"/>
              </a:ext>
            </a:extLst>
          </p:cNvPr>
          <p:cNvSpPr/>
          <p:nvPr/>
        </p:nvSpPr>
        <p:spPr>
          <a:xfrm>
            <a:off x="10029081" y="7455162"/>
            <a:ext cx="926325" cy="540000"/>
          </a:xfrm>
          <a:prstGeom prst="rect">
            <a:avLst/>
          </a:prstGeom>
          <a:solidFill>
            <a:schemeClr val="accent1">
              <a:lumMod val="60000"/>
              <a:lumOff val="40000"/>
            </a:schemeClr>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Сформировать правительство</a:t>
            </a:r>
          </a:p>
        </p:txBody>
      </p:sp>
      <p:cxnSp>
        <p:nvCxnSpPr>
          <p:cNvPr id="397" name="Соединительная линия уступом 620">
            <a:extLst>
              <a:ext uri="{FF2B5EF4-FFF2-40B4-BE49-F238E27FC236}">
                <a16:creationId xmlns:a16="http://schemas.microsoft.com/office/drawing/2014/main" id="{B017D1EC-332A-43A1-8281-0F6E0A856BC4}"/>
              </a:ext>
            </a:extLst>
          </p:cNvPr>
          <p:cNvCxnSpPr>
            <a:cxnSpLocks/>
            <a:stCxn id="361" idx="2"/>
            <a:endCxn id="394" idx="0"/>
          </p:cNvCxnSpPr>
          <p:nvPr/>
        </p:nvCxnSpPr>
        <p:spPr>
          <a:xfrm rot="16200000" flipH="1">
            <a:off x="8876088" y="7027091"/>
            <a:ext cx="263056" cy="594646"/>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400" name="Соединительная линия уступом 620">
            <a:extLst>
              <a:ext uri="{FF2B5EF4-FFF2-40B4-BE49-F238E27FC236}">
                <a16:creationId xmlns:a16="http://schemas.microsoft.com/office/drawing/2014/main" id="{C9C933A2-E386-443A-AC73-3C26918CD7AB}"/>
              </a:ext>
            </a:extLst>
          </p:cNvPr>
          <p:cNvCxnSpPr>
            <a:cxnSpLocks/>
            <a:stCxn id="362" idx="2"/>
            <a:endCxn id="394" idx="0"/>
          </p:cNvCxnSpPr>
          <p:nvPr/>
        </p:nvCxnSpPr>
        <p:spPr>
          <a:xfrm rot="5400000">
            <a:off x="9473896" y="7025154"/>
            <a:ext cx="261831" cy="599744"/>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403" name="Соединительная линия уступом 620">
            <a:extLst>
              <a:ext uri="{FF2B5EF4-FFF2-40B4-BE49-F238E27FC236}">
                <a16:creationId xmlns:a16="http://schemas.microsoft.com/office/drawing/2014/main" id="{83EEC453-E55A-451D-A2BB-02DAD9369566}"/>
              </a:ext>
            </a:extLst>
          </p:cNvPr>
          <p:cNvCxnSpPr>
            <a:cxnSpLocks/>
            <a:stCxn id="361" idx="2"/>
            <a:endCxn id="395" idx="0"/>
          </p:cNvCxnSpPr>
          <p:nvPr/>
        </p:nvCxnSpPr>
        <p:spPr>
          <a:xfrm rot="5400000">
            <a:off x="8281887" y="7026756"/>
            <a:ext cx="262276" cy="59453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06" name="Соединительная линия уступом 620">
            <a:extLst>
              <a:ext uri="{FF2B5EF4-FFF2-40B4-BE49-F238E27FC236}">
                <a16:creationId xmlns:a16="http://schemas.microsoft.com/office/drawing/2014/main" id="{BDEF3D9D-C27F-4BFB-A9CB-84167E4DF3B3}"/>
              </a:ext>
            </a:extLst>
          </p:cNvPr>
          <p:cNvCxnSpPr>
            <a:cxnSpLocks/>
            <a:stCxn id="362" idx="2"/>
            <a:endCxn id="396" idx="0"/>
          </p:cNvCxnSpPr>
          <p:nvPr/>
        </p:nvCxnSpPr>
        <p:spPr>
          <a:xfrm rot="16200000" flipH="1">
            <a:off x="10067938" y="7030855"/>
            <a:ext cx="261051" cy="58756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36" name="Прямоугольник 335">
            <a:extLst>
              <a:ext uri="{FF2B5EF4-FFF2-40B4-BE49-F238E27FC236}">
                <a16:creationId xmlns:a16="http://schemas.microsoft.com/office/drawing/2014/main" id="{AB16E4EB-5430-4CC3-8399-29F2F6AF61BF}"/>
              </a:ext>
            </a:extLst>
          </p:cNvPr>
          <p:cNvSpPr/>
          <p:nvPr/>
        </p:nvSpPr>
        <p:spPr>
          <a:xfrm>
            <a:off x="10030978" y="5045586"/>
            <a:ext cx="926325" cy="540000"/>
          </a:xfrm>
          <a:prstGeom prst="rect">
            <a:avLst/>
          </a:prstGeom>
          <a:solidFill>
            <a:srgbClr val="7030A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Реформировать </a:t>
            </a:r>
            <a:r>
              <a:rPr lang="ru-RU" sz="700" dirty="0" err="1"/>
              <a:t>мехзен</a:t>
            </a:r>
            <a:endParaRPr lang="ru-RU" sz="700" dirty="0"/>
          </a:p>
        </p:txBody>
      </p:sp>
      <p:sp>
        <p:nvSpPr>
          <p:cNvPr id="339" name="Прямоугольник 338">
            <a:extLst>
              <a:ext uri="{FF2B5EF4-FFF2-40B4-BE49-F238E27FC236}">
                <a16:creationId xmlns:a16="http://schemas.microsoft.com/office/drawing/2014/main" id="{5897BA98-1814-4172-A9D3-A31E1B1AD080}"/>
              </a:ext>
            </a:extLst>
          </p:cNvPr>
          <p:cNvSpPr/>
          <p:nvPr/>
        </p:nvSpPr>
        <p:spPr>
          <a:xfrm>
            <a:off x="10029743" y="5844112"/>
            <a:ext cx="926325" cy="540000"/>
          </a:xfrm>
          <a:prstGeom prst="rect">
            <a:avLst/>
          </a:prstGeom>
          <a:solidFill>
            <a:srgbClr val="7030A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Принять титул короля</a:t>
            </a:r>
            <a:br>
              <a:rPr lang="ru-RU" sz="700" dirty="0"/>
            </a:br>
            <a:r>
              <a:rPr lang="ru-RU" sz="300" dirty="0"/>
              <a:t>В 1957 году он принял титул короля Марокко , чтобы символизировать единство страны, несмотря на разногласия между арабами и берберами .</a:t>
            </a:r>
            <a:endParaRPr lang="ru-RU" sz="700" dirty="0"/>
          </a:p>
        </p:txBody>
      </p:sp>
      <p:sp>
        <p:nvSpPr>
          <p:cNvPr id="345" name="Прямоугольник 344">
            <a:extLst>
              <a:ext uri="{FF2B5EF4-FFF2-40B4-BE49-F238E27FC236}">
                <a16:creationId xmlns:a16="http://schemas.microsoft.com/office/drawing/2014/main" id="{28323095-6A38-4E35-8C92-261E14205AE9}"/>
              </a:ext>
            </a:extLst>
          </p:cNvPr>
          <p:cNvSpPr/>
          <p:nvPr/>
        </p:nvSpPr>
        <p:spPr>
          <a:xfrm>
            <a:off x="11213130" y="6652886"/>
            <a:ext cx="926325" cy="540000"/>
          </a:xfrm>
          <a:prstGeom prst="rect">
            <a:avLst/>
          </a:prstGeom>
          <a:solidFill>
            <a:srgbClr val="7030A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Сократить влияние националистов</a:t>
            </a:r>
          </a:p>
        </p:txBody>
      </p:sp>
      <p:sp>
        <p:nvSpPr>
          <p:cNvPr id="385" name="Прямоугольник 384">
            <a:extLst>
              <a:ext uri="{FF2B5EF4-FFF2-40B4-BE49-F238E27FC236}">
                <a16:creationId xmlns:a16="http://schemas.microsoft.com/office/drawing/2014/main" id="{56E8842A-823E-4F0E-9699-5B2927CC325E}"/>
              </a:ext>
            </a:extLst>
          </p:cNvPr>
          <p:cNvSpPr/>
          <p:nvPr/>
        </p:nvSpPr>
        <p:spPr>
          <a:xfrm>
            <a:off x="7660083" y="9888283"/>
            <a:ext cx="926325" cy="540000"/>
          </a:xfrm>
          <a:prstGeom prst="rect">
            <a:avLst/>
          </a:prstGeom>
          <a:gradFill flip="none" rotWithShape="1">
            <a:gsLst>
              <a:gs pos="0">
                <a:srgbClr val="7030A0"/>
              </a:gs>
              <a:gs pos="100000">
                <a:schemeClr val="accent1">
                  <a:lumMod val="60000"/>
                  <a:lumOff val="40000"/>
                </a:schemeClr>
              </a:gs>
            </a:gsLst>
            <a:lin ang="0" scaled="1"/>
            <a:tileRect/>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err="1"/>
              <a:t>Панарабисткие</a:t>
            </a:r>
            <a:r>
              <a:rPr lang="ru-RU" sz="700" dirty="0"/>
              <a:t> амбиции</a:t>
            </a:r>
          </a:p>
        </p:txBody>
      </p:sp>
      <p:sp>
        <p:nvSpPr>
          <p:cNvPr id="388" name="Прямоугольник 387">
            <a:extLst>
              <a:ext uri="{FF2B5EF4-FFF2-40B4-BE49-F238E27FC236}">
                <a16:creationId xmlns:a16="http://schemas.microsoft.com/office/drawing/2014/main" id="{F8854DA0-0A68-4978-AB1E-49C2999C31BA}"/>
              </a:ext>
            </a:extLst>
          </p:cNvPr>
          <p:cNvSpPr/>
          <p:nvPr/>
        </p:nvSpPr>
        <p:spPr>
          <a:xfrm>
            <a:off x="5277983" y="9888283"/>
            <a:ext cx="926325" cy="540000"/>
          </a:xfrm>
          <a:prstGeom prst="rect">
            <a:avLst/>
          </a:prstGeom>
          <a:gradFill flip="none" rotWithShape="1">
            <a:gsLst>
              <a:gs pos="0">
                <a:srgbClr val="7030A0"/>
              </a:gs>
              <a:gs pos="100000">
                <a:schemeClr val="accent1">
                  <a:lumMod val="60000"/>
                  <a:lumOff val="40000"/>
                </a:schemeClr>
              </a:gs>
            </a:gsLst>
            <a:lin ang="0" scaled="1"/>
            <a:tileRect/>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Аль-Андалусские амбиции</a:t>
            </a:r>
          </a:p>
        </p:txBody>
      </p:sp>
      <p:cxnSp>
        <p:nvCxnSpPr>
          <p:cNvPr id="389" name="Соединительная линия уступом 620">
            <a:extLst>
              <a:ext uri="{FF2B5EF4-FFF2-40B4-BE49-F238E27FC236}">
                <a16:creationId xmlns:a16="http://schemas.microsoft.com/office/drawing/2014/main" id="{6939D681-CD5F-4237-8B2C-87DF6F68EDC8}"/>
              </a:ext>
            </a:extLst>
          </p:cNvPr>
          <p:cNvCxnSpPr>
            <a:cxnSpLocks/>
            <a:stCxn id="330" idx="2"/>
            <a:endCxn id="385" idx="0"/>
          </p:cNvCxnSpPr>
          <p:nvPr/>
        </p:nvCxnSpPr>
        <p:spPr>
          <a:xfrm rot="16200000" flipH="1">
            <a:off x="7391157" y="9156193"/>
            <a:ext cx="269383" cy="1194796"/>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90" name="Соединительная линия уступом 620">
            <a:extLst>
              <a:ext uri="{FF2B5EF4-FFF2-40B4-BE49-F238E27FC236}">
                <a16:creationId xmlns:a16="http://schemas.microsoft.com/office/drawing/2014/main" id="{58F98732-BFE8-4991-9A38-05C11FC04FDB}"/>
              </a:ext>
            </a:extLst>
          </p:cNvPr>
          <p:cNvCxnSpPr>
            <a:cxnSpLocks/>
            <a:stCxn id="330" idx="2"/>
            <a:endCxn id="388" idx="0"/>
          </p:cNvCxnSpPr>
          <p:nvPr/>
        </p:nvCxnSpPr>
        <p:spPr>
          <a:xfrm rot="5400000">
            <a:off x="6200107" y="9159939"/>
            <a:ext cx="269383" cy="118730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91" name="Прямоугольник 390">
            <a:extLst>
              <a:ext uri="{FF2B5EF4-FFF2-40B4-BE49-F238E27FC236}">
                <a16:creationId xmlns:a16="http://schemas.microsoft.com/office/drawing/2014/main" id="{F6324390-F8AE-4AB5-AD25-75C7A7634BC2}"/>
              </a:ext>
            </a:extLst>
          </p:cNvPr>
          <p:cNvSpPr/>
          <p:nvPr/>
        </p:nvSpPr>
        <p:spPr>
          <a:xfrm>
            <a:off x="5874952" y="10688572"/>
            <a:ext cx="926325" cy="540000"/>
          </a:xfrm>
          <a:prstGeom prst="rect">
            <a:avLst/>
          </a:prstGeom>
          <a:gradFill flip="none" rotWithShape="1">
            <a:gsLst>
              <a:gs pos="0">
                <a:srgbClr val="7030A0"/>
              </a:gs>
              <a:gs pos="100000">
                <a:schemeClr val="accent1">
                  <a:lumMod val="60000"/>
                  <a:lumOff val="40000"/>
                </a:schemeClr>
              </a:gs>
            </a:gsLst>
            <a:lin ang="0" scaled="1"/>
            <a:tileRect/>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Земли Испании</a:t>
            </a:r>
          </a:p>
        </p:txBody>
      </p:sp>
      <p:cxnSp>
        <p:nvCxnSpPr>
          <p:cNvPr id="392" name="Прямая соединительная линия 391">
            <a:extLst>
              <a:ext uri="{FF2B5EF4-FFF2-40B4-BE49-F238E27FC236}">
                <a16:creationId xmlns:a16="http://schemas.microsoft.com/office/drawing/2014/main" id="{69363E1E-740B-4D79-AA3E-047239836AA0}"/>
              </a:ext>
            </a:extLst>
          </p:cNvPr>
          <p:cNvCxnSpPr>
            <a:cxnSpLocks/>
            <a:stCxn id="385" idx="1"/>
            <a:endCxn id="388" idx="3"/>
          </p:cNvCxnSpPr>
          <p:nvPr/>
        </p:nvCxnSpPr>
        <p:spPr>
          <a:xfrm flipH="1">
            <a:off x="6204308" y="10158283"/>
            <a:ext cx="145577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393" name="Прямоугольник 392">
            <a:extLst>
              <a:ext uri="{FF2B5EF4-FFF2-40B4-BE49-F238E27FC236}">
                <a16:creationId xmlns:a16="http://schemas.microsoft.com/office/drawing/2014/main" id="{05D0D326-25E7-4CF1-BC8E-9F64D542575B}"/>
              </a:ext>
            </a:extLst>
          </p:cNvPr>
          <p:cNvSpPr/>
          <p:nvPr/>
        </p:nvSpPr>
        <p:spPr>
          <a:xfrm>
            <a:off x="4685222" y="10689102"/>
            <a:ext cx="926325" cy="540000"/>
          </a:xfrm>
          <a:prstGeom prst="rect">
            <a:avLst/>
          </a:prstGeom>
          <a:gradFill flip="none" rotWithShape="1">
            <a:gsLst>
              <a:gs pos="0">
                <a:srgbClr val="7030A0"/>
              </a:gs>
              <a:gs pos="100000">
                <a:schemeClr val="accent1">
                  <a:lumMod val="60000"/>
                  <a:lumOff val="40000"/>
                </a:schemeClr>
              </a:gs>
            </a:gsLst>
            <a:lin ang="0" scaled="1"/>
            <a:tileRect/>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Земли Португалии</a:t>
            </a:r>
          </a:p>
        </p:txBody>
      </p:sp>
      <p:sp>
        <p:nvSpPr>
          <p:cNvPr id="398" name="Прямоугольник 397">
            <a:extLst>
              <a:ext uri="{FF2B5EF4-FFF2-40B4-BE49-F238E27FC236}">
                <a16:creationId xmlns:a16="http://schemas.microsoft.com/office/drawing/2014/main" id="{28CEDD15-69A5-47C1-928C-D47DE891019A}"/>
              </a:ext>
            </a:extLst>
          </p:cNvPr>
          <p:cNvSpPr/>
          <p:nvPr/>
        </p:nvSpPr>
        <p:spPr>
          <a:xfrm>
            <a:off x="5277982" y="11488860"/>
            <a:ext cx="926325" cy="540000"/>
          </a:xfrm>
          <a:prstGeom prst="rect">
            <a:avLst/>
          </a:prstGeom>
          <a:gradFill flip="none" rotWithShape="1">
            <a:gsLst>
              <a:gs pos="0">
                <a:srgbClr val="7030A0"/>
              </a:gs>
              <a:gs pos="100000">
                <a:schemeClr val="accent1">
                  <a:lumMod val="60000"/>
                  <a:lumOff val="40000"/>
                </a:schemeClr>
              </a:gs>
            </a:gsLst>
            <a:lin ang="0" scaled="1"/>
            <a:tileRect/>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Оккупировать Гибралтар</a:t>
            </a:r>
          </a:p>
        </p:txBody>
      </p:sp>
      <p:sp>
        <p:nvSpPr>
          <p:cNvPr id="399" name="Прямоугольник 398">
            <a:extLst>
              <a:ext uri="{FF2B5EF4-FFF2-40B4-BE49-F238E27FC236}">
                <a16:creationId xmlns:a16="http://schemas.microsoft.com/office/drawing/2014/main" id="{2757126F-767B-49BC-8A20-3EF2F6BAD339}"/>
              </a:ext>
            </a:extLst>
          </p:cNvPr>
          <p:cNvSpPr/>
          <p:nvPr/>
        </p:nvSpPr>
        <p:spPr>
          <a:xfrm>
            <a:off x="5868092" y="12288618"/>
            <a:ext cx="926325" cy="540000"/>
          </a:xfrm>
          <a:prstGeom prst="rect">
            <a:avLst/>
          </a:prstGeom>
          <a:gradFill flip="none" rotWithShape="1">
            <a:gsLst>
              <a:gs pos="0">
                <a:srgbClr val="7030A0"/>
              </a:gs>
              <a:gs pos="100000">
                <a:schemeClr val="accent1">
                  <a:lumMod val="60000"/>
                  <a:lumOff val="40000"/>
                </a:schemeClr>
              </a:gs>
            </a:gsLst>
            <a:lin ang="0" scaled="1"/>
            <a:tileRect/>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Реформировать Иберийские провинции под эмираты</a:t>
            </a:r>
          </a:p>
        </p:txBody>
      </p:sp>
      <p:sp>
        <p:nvSpPr>
          <p:cNvPr id="401" name="Прямоугольник 400">
            <a:extLst>
              <a:ext uri="{FF2B5EF4-FFF2-40B4-BE49-F238E27FC236}">
                <a16:creationId xmlns:a16="http://schemas.microsoft.com/office/drawing/2014/main" id="{98F1BED1-5D08-4C89-AA68-C9EEB86A12A3}"/>
              </a:ext>
            </a:extLst>
          </p:cNvPr>
          <p:cNvSpPr/>
          <p:nvPr/>
        </p:nvSpPr>
        <p:spPr>
          <a:xfrm>
            <a:off x="4685221" y="12288618"/>
            <a:ext cx="926325" cy="540000"/>
          </a:xfrm>
          <a:prstGeom prst="rect">
            <a:avLst/>
          </a:prstGeom>
          <a:gradFill flip="none" rotWithShape="1">
            <a:gsLst>
              <a:gs pos="0">
                <a:srgbClr val="7030A0"/>
              </a:gs>
              <a:gs pos="100000">
                <a:schemeClr val="accent1">
                  <a:lumMod val="60000"/>
                  <a:lumOff val="40000"/>
                </a:schemeClr>
              </a:gs>
            </a:gsLst>
            <a:lin ang="0" scaled="1"/>
            <a:tileRect/>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Продвижение ислама на Пиренейском полуострове</a:t>
            </a:r>
          </a:p>
        </p:txBody>
      </p:sp>
      <p:cxnSp>
        <p:nvCxnSpPr>
          <p:cNvPr id="402" name="Соединительная линия уступом 620">
            <a:extLst>
              <a:ext uri="{FF2B5EF4-FFF2-40B4-BE49-F238E27FC236}">
                <a16:creationId xmlns:a16="http://schemas.microsoft.com/office/drawing/2014/main" id="{2EF2ABD2-BA85-4697-AE78-CF7878ADA90D}"/>
              </a:ext>
            </a:extLst>
          </p:cNvPr>
          <p:cNvCxnSpPr>
            <a:cxnSpLocks/>
            <a:stCxn id="388" idx="2"/>
            <a:endCxn id="393" idx="0"/>
          </p:cNvCxnSpPr>
          <p:nvPr/>
        </p:nvCxnSpPr>
        <p:spPr>
          <a:xfrm rot="5400000">
            <a:off x="5314357" y="10262312"/>
            <a:ext cx="260819" cy="59276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04" name="Соединительная линия уступом 620">
            <a:extLst>
              <a:ext uri="{FF2B5EF4-FFF2-40B4-BE49-F238E27FC236}">
                <a16:creationId xmlns:a16="http://schemas.microsoft.com/office/drawing/2014/main" id="{CA823A6B-39CF-47ED-A88F-0C536E2E29A6}"/>
              </a:ext>
            </a:extLst>
          </p:cNvPr>
          <p:cNvCxnSpPr>
            <a:cxnSpLocks/>
            <a:stCxn id="388" idx="2"/>
            <a:endCxn id="391" idx="0"/>
          </p:cNvCxnSpPr>
          <p:nvPr/>
        </p:nvCxnSpPr>
        <p:spPr>
          <a:xfrm rot="16200000" flipH="1">
            <a:off x="5909486" y="10259942"/>
            <a:ext cx="260289" cy="596969"/>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05" name="Соединительная линия уступом 620">
            <a:extLst>
              <a:ext uri="{FF2B5EF4-FFF2-40B4-BE49-F238E27FC236}">
                <a16:creationId xmlns:a16="http://schemas.microsoft.com/office/drawing/2014/main" id="{8C529540-B4D6-4BB9-92AD-DEE61AFB1831}"/>
              </a:ext>
            </a:extLst>
          </p:cNvPr>
          <p:cNvCxnSpPr>
            <a:cxnSpLocks/>
            <a:stCxn id="388" idx="2"/>
            <a:endCxn id="398" idx="0"/>
          </p:cNvCxnSpPr>
          <p:nvPr/>
        </p:nvCxnSpPr>
        <p:spPr>
          <a:xfrm rot="5400000">
            <a:off x="5210858" y="10958571"/>
            <a:ext cx="1060577" cy="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07" name="Соединительная линия уступом 620">
            <a:extLst>
              <a:ext uri="{FF2B5EF4-FFF2-40B4-BE49-F238E27FC236}">
                <a16:creationId xmlns:a16="http://schemas.microsoft.com/office/drawing/2014/main" id="{C222986D-1E4F-4588-B963-F7419387B849}"/>
              </a:ext>
            </a:extLst>
          </p:cNvPr>
          <p:cNvCxnSpPr>
            <a:cxnSpLocks/>
            <a:stCxn id="398" idx="2"/>
            <a:endCxn id="401" idx="0"/>
          </p:cNvCxnSpPr>
          <p:nvPr/>
        </p:nvCxnSpPr>
        <p:spPr>
          <a:xfrm rot="5400000">
            <a:off x="5314886" y="11862359"/>
            <a:ext cx="259758" cy="592761"/>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08" name="Соединительная линия уступом 620">
            <a:extLst>
              <a:ext uri="{FF2B5EF4-FFF2-40B4-BE49-F238E27FC236}">
                <a16:creationId xmlns:a16="http://schemas.microsoft.com/office/drawing/2014/main" id="{4C3C96C6-F2ED-4F21-9CE9-26F579EBDE06}"/>
              </a:ext>
            </a:extLst>
          </p:cNvPr>
          <p:cNvCxnSpPr>
            <a:cxnSpLocks/>
            <a:stCxn id="398" idx="2"/>
            <a:endCxn id="399" idx="0"/>
          </p:cNvCxnSpPr>
          <p:nvPr/>
        </p:nvCxnSpPr>
        <p:spPr>
          <a:xfrm rot="16200000" flipH="1">
            <a:off x="5906321" y="11863684"/>
            <a:ext cx="259758" cy="59011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341" name="Прямоугольник 340">
            <a:extLst>
              <a:ext uri="{FF2B5EF4-FFF2-40B4-BE49-F238E27FC236}">
                <a16:creationId xmlns:a16="http://schemas.microsoft.com/office/drawing/2014/main" id="{3C2402F4-31AF-448C-B8FA-52B3ADC9CEE0}"/>
              </a:ext>
            </a:extLst>
          </p:cNvPr>
          <p:cNvSpPr/>
          <p:nvPr/>
        </p:nvSpPr>
        <p:spPr>
          <a:xfrm>
            <a:off x="5875167" y="6663485"/>
            <a:ext cx="926325" cy="540000"/>
          </a:xfrm>
          <a:prstGeom prst="rect">
            <a:avLst/>
          </a:prstGeom>
          <a:gradFill flip="none" rotWithShape="1">
            <a:gsLst>
              <a:gs pos="0">
                <a:srgbClr val="7030A0"/>
              </a:gs>
              <a:gs pos="100000">
                <a:schemeClr val="accent1">
                  <a:lumMod val="60000"/>
                  <a:lumOff val="40000"/>
                </a:schemeClr>
              </a:gs>
            </a:gsLst>
            <a:lin ang="0" scaled="1"/>
            <a:tileRect/>
          </a:gra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Поддержать волнения в Мавритании</a:t>
            </a:r>
          </a:p>
        </p:txBody>
      </p:sp>
      <p:sp>
        <p:nvSpPr>
          <p:cNvPr id="411" name="Прямоугольник 410">
            <a:extLst>
              <a:ext uri="{FF2B5EF4-FFF2-40B4-BE49-F238E27FC236}">
                <a16:creationId xmlns:a16="http://schemas.microsoft.com/office/drawing/2014/main" id="{C688C71C-1C36-4FD3-ADF8-83A350ED6574}"/>
              </a:ext>
            </a:extLst>
          </p:cNvPr>
          <p:cNvSpPr/>
          <p:nvPr/>
        </p:nvSpPr>
        <p:spPr>
          <a:xfrm>
            <a:off x="10028508" y="4235046"/>
            <a:ext cx="926325" cy="540000"/>
          </a:xfrm>
          <a:prstGeom prst="rect">
            <a:avLst/>
          </a:prstGeom>
          <a:solidFill>
            <a:srgbClr val="7030A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Назначит лояльного королю визиря</a:t>
            </a:r>
          </a:p>
        </p:txBody>
      </p:sp>
      <p:cxnSp>
        <p:nvCxnSpPr>
          <p:cNvPr id="412" name="Прямая соединительная линия 411">
            <a:extLst>
              <a:ext uri="{FF2B5EF4-FFF2-40B4-BE49-F238E27FC236}">
                <a16:creationId xmlns:a16="http://schemas.microsoft.com/office/drawing/2014/main" id="{FE3D907B-C345-42EE-9CEE-AE0F130BD2FE}"/>
              </a:ext>
            </a:extLst>
          </p:cNvPr>
          <p:cNvCxnSpPr>
            <a:cxnSpLocks/>
            <a:stCxn id="411" idx="1"/>
            <a:endCxn id="275" idx="3"/>
          </p:cNvCxnSpPr>
          <p:nvPr/>
        </p:nvCxnSpPr>
        <p:spPr>
          <a:xfrm flipH="1">
            <a:off x="9768525" y="4505046"/>
            <a:ext cx="259983"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3" name="Соединительная линия уступом 620">
            <a:extLst>
              <a:ext uri="{FF2B5EF4-FFF2-40B4-BE49-F238E27FC236}">
                <a16:creationId xmlns:a16="http://schemas.microsoft.com/office/drawing/2014/main" id="{8B330FB8-FF98-4300-95FC-E9679674C672}"/>
              </a:ext>
            </a:extLst>
          </p:cNvPr>
          <p:cNvCxnSpPr>
            <a:cxnSpLocks/>
            <a:stCxn id="287" idx="2"/>
            <a:endCxn id="411" idx="0"/>
          </p:cNvCxnSpPr>
          <p:nvPr/>
        </p:nvCxnSpPr>
        <p:spPr>
          <a:xfrm rot="16200000" flipH="1">
            <a:off x="9765346" y="3508721"/>
            <a:ext cx="263056" cy="1189594"/>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14" name="Соединительная линия уступом 620">
            <a:extLst>
              <a:ext uri="{FF2B5EF4-FFF2-40B4-BE49-F238E27FC236}">
                <a16:creationId xmlns:a16="http://schemas.microsoft.com/office/drawing/2014/main" id="{6F7D6D57-CFAB-4E36-9036-A9781AB86AF9}"/>
              </a:ext>
            </a:extLst>
          </p:cNvPr>
          <p:cNvCxnSpPr>
            <a:cxnSpLocks/>
            <a:stCxn id="411" idx="2"/>
            <a:endCxn id="336" idx="0"/>
          </p:cNvCxnSpPr>
          <p:nvPr/>
        </p:nvCxnSpPr>
        <p:spPr>
          <a:xfrm rot="16200000" flipH="1">
            <a:off x="10357636" y="4909081"/>
            <a:ext cx="270540" cy="247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16" name="Соединительная линия уступом 620">
            <a:extLst>
              <a:ext uri="{FF2B5EF4-FFF2-40B4-BE49-F238E27FC236}">
                <a16:creationId xmlns:a16="http://schemas.microsoft.com/office/drawing/2014/main" id="{E4830A77-CFFB-4D97-BE75-3D5605CF1301}"/>
              </a:ext>
            </a:extLst>
          </p:cNvPr>
          <p:cNvCxnSpPr>
            <a:cxnSpLocks/>
            <a:stCxn id="336" idx="2"/>
            <a:endCxn id="320" idx="0"/>
          </p:cNvCxnSpPr>
          <p:nvPr/>
        </p:nvCxnSpPr>
        <p:spPr>
          <a:xfrm rot="5400000">
            <a:off x="9176723" y="4532110"/>
            <a:ext cx="263942" cy="2370895"/>
          </a:xfrm>
          <a:prstGeom prst="bentConnector3">
            <a:avLst>
              <a:gd name="adj1" fmla="val 50000"/>
            </a:avLst>
          </a:prstGeom>
          <a:ln w="19050">
            <a:prstDash val="dash"/>
            <a:tailEnd type="arrow"/>
          </a:ln>
        </p:spPr>
        <p:style>
          <a:lnRef idx="1">
            <a:schemeClr val="accent1"/>
          </a:lnRef>
          <a:fillRef idx="0">
            <a:schemeClr val="accent1"/>
          </a:fillRef>
          <a:effectRef idx="0">
            <a:schemeClr val="accent1"/>
          </a:effectRef>
          <a:fontRef idx="minor">
            <a:schemeClr val="tx1"/>
          </a:fontRef>
        </p:style>
      </p:cxnSp>
      <p:cxnSp>
        <p:nvCxnSpPr>
          <p:cNvPr id="417" name="Прямая соединительная линия 416">
            <a:extLst>
              <a:ext uri="{FF2B5EF4-FFF2-40B4-BE49-F238E27FC236}">
                <a16:creationId xmlns:a16="http://schemas.microsoft.com/office/drawing/2014/main" id="{1E429E6C-CAEA-4DE1-8529-074CBD4D666A}"/>
              </a:ext>
            </a:extLst>
          </p:cNvPr>
          <p:cNvCxnSpPr>
            <a:cxnSpLocks/>
            <a:stCxn id="336" idx="1"/>
            <a:endCxn id="316" idx="3"/>
          </p:cNvCxnSpPr>
          <p:nvPr/>
        </p:nvCxnSpPr>
        <p:spPr>
          <a:xfrm flipH="1" flipV="1">
            <a:off x="8582229" y="5312438"/>
            <a:ext cx="1448749" cy="3148"/>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8" name="Соединительная линия уступом 620">
            <a:extLst>
              <a:ext uri="{FF2B5EF4-FFF2-40B4-BE49-F238E27FC236}">
                <a16:creationId xmlns:a16="http://schemas.microsoft.com/office/drawing/2014/main" id="{39F7F08E-601C-4E17-AA63-BAB3202D746A}"/>
              </a:ext>
            </a:extLst>
          </p:cNvPr>
          <p:cNvCxnSpPr>
            <a:cxnSpLocks/>
            <a:stCxn id="336" idx="2"/>
            <a:endCxn id="339" idx="0"/>
          </p:cNvCxnSpPr>
          <p:nvPr/>
        </p:nvCxnSpPr>
        <p:spPr>
          <a:xfrm rot="5400000">
            <a:off x="10364261" y="5714232"/>
            <a:ext cx="258526" cy="123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19" name="Соединительная линия уступом 620">
            <a:extLst>
              <a:ext uri="{FF2B5EF4-FFF2-40B4-BE49-F238E27FC236}">
                <a16:creationId xmlns:a16="http://schemas.microsoft.com/office/drawing/2014/main" id="{681E0FBA-1733-43B9-98CA-A4658882A5F5}"/>
              </a:ext>
            </a:extLst>
          </p:cNvPr>
          <p:cNvCxnSpPr>
            <a:cxnSpLocks/>
            <a:stCxn id="339" idx="2"/>
            <a:endCxn id="345" idx="0"/>
          </p:cNvCxnSpPr>
          <p:nvPr/>
        </p:nvCxnSpPr>
        <p:spPr>
          <a:xfrm rot="16200000" flipH="1">
            <a:off x="10950212" y="5926805"/>
            <a:ext cx="268774" cy="1183387"/>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420" name="Прямоугольник 419">
            <a:extLst>
              <a:ext uri="{FF2B5EF4-FFF2-40B4-BE49-F238E27FC236}">
                <a16:creationId xmlns:a16="http://schemas.microsoft.com/office/drawing/2014/main" id="{D1A6BCEA-858E-4D65-ACB7-0ADE35BB1A2A}"/>
              </a:ext>
            </a:extLst>
          </p:cNvPr>
          <p:cNvSpPr/>
          <p:nvPr/>
        </p:nvSpPr>
        <p:spPr>
          <a:xfrm>
            <a:off x="11210970" y="5856916"/>
            <a:ext cx="926325" cy="540000"/>
          </a:xfrm>
          <a:prstGeom prst="rect">
            <a:avLst/>
          </a:prstGeom>
          <a:solidFill>
            <a:srgbClr val="7030A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Разрешить митинги и профсоюзы</a:t>
            </a:r>
          </a:p>
        </p:txBody>
      </p:sp>
      <p:cxnSp>
        <p:nvCxnSpPr>
          <p:cNvPr id="421" name="Соединительная линия уступом 620">
            <a:extLst>
              <a:ext uri="{FF2B5EF4-FFF2-40B4-BE49-F238E27FC236}">
                <a16:creationId xmlns:a16="http://schemas.microsoft.com/office/drawing/2014/main" id="{04418FFC-EF67-4950-A1E9-BF3730CDF1A8}"/>
              </a:ext>
            </a:extLst>
          </p:cNvPr>
          <p:cNvCxnSpPr>
            <a:cxnSpLocks/>
            <a:stCxn id="336" idx="2"/>
            <a:endCxn id="420" idx="0"/>
          </p:cNvCxnSpPr>
          <p:nvPr/>
        </p:nvCxnSpPr>
        <p:spPr>
          <a:xfrm rot="16200000" flipH="1">
            <a:off x="10948472" y="5131255"/>
            <a:ext cx="271330" cy="1179992"/>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422" name="Прямоугольник 421">
            <a:extLst>
              <a:ext uri="{FF2B5EF4-FFF2-40B4-BE49-F238E27FC236}">
                <a16:creationId xmlns:a16="http://schemas.microsoft.com/office/drawing/2014/main" id="{0CDAB3F3-F1D4-45E2-808F-9C0405D4348C}"/>
              </a:ext>
            </a:extLst>
          </p:cNvPr>
          <p:cNvSpPr/>
          <p:nvPr/>
        </p:nvSpPr>
        <p:spPr>
          <a:xfrm>
            <a:off x="11216385" y="7448856"/>
            <a:ext cx="926325" cy="540000"/>
          </a:xfrm>
          <a:prstGeom prst="rect">
            <a:avLst/>
          </a:prstGeom>
          <a:solidFill>
            <a:srgbClr val="7030A0"/>
          </a:solidFill>
          <a:ln w="19050"/>
        </p:spPr>
        <p:style>
          <a:lnRef idx="2">
            <a:schemeClr val="accent1"/>
          </a:lnRef>
          <a:fillRef idx="1">
            <a:schemeClr val="lt1"/>
          </a:fillRef>
          <a:effectRef idx="0">
            <a:schemeClr val="accent1"/>
          </a:effectRef>
          <a:fontRef idx="minor">
            <a:schemeClr val="dk1"/>
          </a:fontRef>
        </p:style>
        <p:txBody>
          <a:bodyPr lIns="124733" tIns="62367" rIns="124733" bIns="62367" rtlCol="0" anchor="ctr"/>
          <a:lstStyle/>
          <a:p>
            <a:pPr algn="ctr"/>
            <a:r>
              <a:rPr lang="ru-RU" sz="700" dirty="0"/>
              <a:t>Единоличная власть Мухаммеда </a:t>
            </a:r>
            <a:r>
              <a:rPr lang="en-US" sz="700" dirty="0"/>
              <a:t>V</a:t>
            </a:r>
            <a:endParaRPr lang="ru-RU" sz="700" dirty="0"/>
          </a:p>
        </p:txBody>
      </p:sp>
      <p:cxnSp>
        <p:nvCxnSpPr>
          <p:cNvPr id="423" name="Соединительная линия уступом 620">
            <a:extLst>
              <a:ext uri="{FF2B5EF4-FFF2-40B4-BE49-F238E27FC236}">
                <a16:creationId xmlns:a16="http://schemas.microsoft.com/office/drawing/2014/main" id="{B2211544-6FD5-4685-9C14-221F7049609B}"/>
              </a:ext>
            </a:extLst>
          </p:cNvPr>
          <p:cNvCxnSpPr>
            <a:cxnSpLocks/>
            <a:stCxn id="420" idx="2"/>
            <a:endCxn id="345" idx="0"/>
          </p:cNvCxnSpPr>
          <p:nvPr/>
        </p:nvCxnSpPr>
        <p:spPr>
          <a:xfrm rot="16200000" flipH="1">
            <a:off x="11547228" y="6523821"/>
            <a:ext cx="255970" cy="2160"/>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24" name="Соединительная линия уступом 620">
            <a:extLst>
              <a:ext uri="{FF2B5EF4-FFF2-40B4-BE49-F238E27FC236}">
                <a16:creationId xmlns:a16="http://schemas.microsoft.com/office/drawing/2014/main" id="{43B70F96-3D36-4946-9DC4-867C38D732EE}"/>
              </a:ext>
            </a:extLst>
          </p:cNvPr>
          <p:cNvCxnSpPr>
            <a:cxnSpLocks/>
            <a:stCxn id="345" idx="2"/>
            <a:endCxn id="422" idx="0"/>
          </p:cNvCxnSpPr>
          <p:nvPr/>
        </p:nvCxnSpPr>
        <p:spPr>
          <a:xfrm rot="16200000" flipH="1">
            <a:off x="11549935" y="7319243"/>
            <a:ext cx="255970" cy="3255"/>
          </a:xfrm>
          <a:prstGeom prst="bent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3188735"/>
      </p:ext>
    </p:extLst>
  </p:cSld>
  <p:clrMapOvr>
    <a:masterClrMapping/>
  </p:clrMapOvr>
</p:sld>
</file>

<file path=ppt/theme/theme1.xml><?xml version="1.0" encoding="utf-8"?>
<a:theme xmlns:a="http://schemas.openxmlformats.org/drawingml/2006/main" name="Тема Office">
  <a:themeElements>
    <a:clrScheme name="Тема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Тема 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51681</TotalTime>
  <Words>2948</Words>
  <Application>Microsoft Office PowerPoint</Application>
  <PresentationFormat>Произвольный</PresentationFormat>
  <Paragraphs>165</Paragraphs>
  <Slides>1</Slides>
  <Notes>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vt:i4>
      </vt:variant>
    </vt:vector>
  </HeadingPairs>
  <TitlesOfParts>
    <vt:vector size="5" baseType="lpstr">
      <vt:lpstr>Arial</vt:lpstr>
      <vt:lpstr>Calibri</vt:lpstr>
      <vt:lpstr>Calibri Light</vt:lpstr>
      <vt:lpstr>Тема Office</vt:lpstr>
      <vt:lpstr>Презентация PowerPoint</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Kirill</dc:creator>
  <cp:lastModifiedBy>User</cp:lastModifiedBy>
  <cp:revision>2391</cp:revision>
  <dcterms:created xsi:type="dcterms:W3CDTF">2018-10-23T08:09:21Z</dcterms:created>
  <dcterms:modified xsi:type="dcterms:W3CDTF">2026-06-17T13:25:32Z</dcterms:modified>
</cp:coreProperties>
</file>