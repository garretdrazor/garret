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200" d="100"/>
          <a:sy n="200" d="100"/>
        </p:scale>
        <p:origin x="-6091" y="-17909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01.07.2026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5856095" y="17247340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 </a:t>
            </a:r>
            <a:r>
              <a:rPr lang="ru-RU" sz="100" dirty="0"/>
              <a:t>(Опасаясь влияния Торреса, верховный комиссар генерал </a:t>
            </a:r>
            <a:r>
              <a:rPr lang="ru-RU" sz="100" dirty="0" err="1"/>
              <a:t>Бейгбедер</a:t>
            </a:r>
            <a:r>
              <a:rPr lang="ru-RU" sz="100" dirty="0"/>
              <a:t> противопоставил ему другого националистического деятеля - Мекки </a:t>
            </a:r>
            <a:r>
              <a:rPr lang="ru-RU" sz="100" dirty="0" err="1"/>
              <a:t>Насыри</a:t>
            </a:r>
            <a:r>
              <a:rPr lang="ru-RU" sz="100" dirty="0"/>
              <a:t>. Последний снискал популярность </a:t>
            </a:r>
            <a:r>
              <a:rPr lang="ru-RU" sz="100" dirty="0" err="1"/>
              <a:t>реча¬ми</a:t>
            </a:r>
            <a:r>
              <a:rPr lang="ru-RU" sz="100" dirty="0"/>
              <a:t> в Большой мечети о национальных чаяниях марокканского народа. Верховный комиссар помог </a:t>
            </a:r>
            <a:r>
              <a:rPr lang="ru-RU" sz="100" dirty="0" err="1"/>
              <a:t>Насыри</a:t>
            </a:r>
            <a:r>
              <a:rPr lang="ru-RU" sz="100" dirty="0"/>
              <a:t> создать Партию </a:t>
            </a:r>
            <a:r>
              <a:rPr lang="ru-RU" sz="100" dirty="0" err="1"/>
              <a:t>ма¬рокканского</a:t>
            </a:r>
            <a:r>
              <a:rPr lang="ru-RU" sz="100" dirty="0"/>
              <a:t> единства (ПМЕ). Лидеры обеих партий представляли одни н те же социальные слои, выдвигали практически </a:t>
            </a:r>
            <a:r>
              <a:rPr lang="ru-RU" sz="100" dirty="0" err="1"/>
              <a:t>идентич¬ные</a:t>
            </a:r>
            <a:r>
              <a:rPr lang="ru-RU" sz="100" dirty="0"/>
              <a:t> требования. Но для арабского населения партия </a:t>
            </a:r>
            <a:r>
              <a:rPr lang="ru-RU" sz="100" dirty="0" err="1"/>
              <a:t>Насыри</a:t>
            </a:r>
            <a:r>
              <a:rPr lang="ru-RU" sz="100" dirty="0"/>
              <a:t> была более привлекательной вследствие ее приверженности </a:t>
            </a:r>
            <a:r>
              <a:rPr lang="ru-RU" sz="100" dirty="0" err="1"/>
              <a:t>ара¬бизму</a:t>
            </a:r>
            <a:r>
              <a:rPr lang="ru-RU" sz="100" dirty="0"/>
              <a:t>: ПМЕ выступала за то, чтобы арабский язык был объявлен единственным официальным языком мусульманского Марокко. Обе партии первоначально не ставили перед собой конкретных задач по изменению положения в испанской зоне.)</a:t>
            </a:r>
            <a:endParaRPr lang="ru-RU" sz="7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76646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5400000">
            <a:off x="13702065" y="16914690"/>
            <a:ext cx="277930" cy="2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3384041" y="178287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16200000" flipH="1">
            <a:off x="13726593" y="17708090"/>
            <a:ext cx="233826" cy="73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7158783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7158782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654156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78362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7183286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804315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11791" y="234554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11792" y="226547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714711" y="2149452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44600" y="2332512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5299502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6562257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5301930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633524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783622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7158781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7158781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6540785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7158782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8400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8400842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6540786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91484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914842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914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5305853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8400840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6249861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733648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733646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7491586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8112617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8112615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7491587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67090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5597226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670900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5323397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945367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625472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5003502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625677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6247647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865729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7182587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8424724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5138627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760597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759657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6381627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7491591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670899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630624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6246048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7487460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</a:p>
          <a:p>
            <a:pPr algn="ctr"/>
            <a:r>
              <a:rPr lang="ru-RU" sz="200" dirty="0"/>
              <a:t>(члены которого будут избираться марокканцами)</a:t>
            </a:r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1512749" y="1950762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  <a:p>
            <a:pPr algn="ctr"/>
            <a:r>
              <a:rPr lang="ru-RU" sz="200" dirty="0"/>
              <a:t>(Движение «</a:t>
            </a:r>
            <a:r>
              <a:rPr lang="ru-RU" sz="200" dirty="0" err="1"/>
              <a:t>Фитьян</a:t>
            </a:r>
            <a:r>
              <a:rPr lang="ru-RU" sz="200" dirty="0"/>
              <a:t>» (араб. </a:t>
            </a:r>
            <a:r>
              <a:rPr lang="ar-AE" sz="200" dirty="0"/>
              <a:t>فتيان — «</a:t>
            </a:r>
            <a:r>
              <a:rPr lang="ru-RU" sz="200" dirty="0"/>
              <a:t>Юноши» или «Отроки») в контексте Испанского Марокко — это военизированная молодежная организация, созданная Партией национальных реформ </a:t>
            </a:r>
            <a:r>
              <a:rPr lang="ru-RU" sz="200" dirty="0" err="1"/>
              <a:t>Абд</a:t>
            </a:r>
            <a:r>
              <a:rPr lang="ru-RU" sz="200" dirty="0"/>
              <a:t> аль-</a:t>
            </a:r>
            <a:r>
              <a:rPr lang="ru-RU" sz="200" dirty="0" err="1"/>
              <a:t>Халика</a:t>
            </a:r>
            <a:r>
              <a:rPr lang="ru-RU" sz="200" dirty="0"/>
              <a:t> Торреса в конце 1930-х годов. На её создание и структуру оказали мощнейшее влияние европейские фашистские движения того времени, в особенности Испанская Фаланга)</a:t>
            </a:r>
            <a:endParaRPr lang="ru-RU" sz="700" dirty="0"/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731024" y="154263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br>
              <a:rPr lang="ru-RU" sz="700" dirty="0"/>
            </a:br>
            <a:r>
              <a:rPr lang="ru-RU" sz="100" dirty="0"/>
              <a:t>»: Использование уникального статуса Танжера (который долгое время был финансовой и шпионской «серой зоной»). Эффект: Дает +1 шпиона в агентство и ускоряет создание шпионской сети в Европе на 25%.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28731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описание:«Танжер</a:t>
            </a:r>
            <a:r>
              <a:rPr lang="ru-RU" sz="100" dirty="0"/>
              <a:t> — это ворота из Атлантики в Средиземное море. Объявив город зоной свободной торговли (Порто-франко), мы отменим таможенные пошлины для иностранных судов. Это привлечет в город международные торговые компании, склады и сборочные мануфактуры, превратив Танжер в главный логистический </a:t>
            </a:r>
            <a:r>
              <a:rPr lang="ru-RU" sz="100" dirty="0" err="1"/>
              <a:t>хаб</a:t>
            </a:r>
            <a:r>
              <a:rPr lang="ru-RU" sz="100" dirty="0"/>
              <a:t> Северной Африки».⚙️ Игровые </a:t>
            </a:r>
            <a:r>
              <a:rPr lang="ru-RU" sz="100" dirty="0" err="1"/>
              <a:t>эффекты:Развитие</a:t>
            </a:r>
            <a:r>
              <a:rPr lang="ru-RU" sz="100" dirty="0"/>
              <a:t> региона (Танжер):Морская база (</a:t>
            </a:r>
            <a:r>
              <a:rPr lang="ru-RU" sz="100" dirty="0" err="1"/>
              <a:t>Naval</a:t>
            </a:r>
            <a:r>
              <a:rPr lang="ru-RU" sz="100" dirty="0"/>
              <a:t> </a:t>
            </a:r>
            <a:r>
              <a:rPr lang="ru-RU" sz="100" dirty="0" err="1"/>
              <a:t>Base</a:t>
            </a:r>
            <a:r>
              <a:rPr lang="ru-RU" sz="100" dirty="0"/>
              <a:t>): +2 </a:t>
            </a:r>
            <a:r>
              <a:rPr lang="ru-RU" sz="100" dirty="0" err="1"/>
              <a:t>уровня.Гражданская</a:t>
            </a:r>
            <a:r>
              <a:rPr lang="ru-RU" sz="100" dirty="0"/>
              <a:t> фабрика (</a:t>
            </a:r>
            <a:r>
              <a:rPr lang="ru-RU" sz="100" dirty="0" err="1"/>
              <a:t>Civilian</a:t>
            </a:r>
            <a:r>
              <a:rPr lang="ru-RU" sz="100" dirty="0"/>
              <a:t> </a:t>
            </a:r>
            <a:r>
              <a:rPr lang="ru-RU" sz="100" dirty="0" err="1"/>
              <a:t>Factory</a:t>
            </a:r>
            <a:r>
              <a:rPr lang="ru-RU" sz="100" dirty="0"/>
              <a:t>): +2 штуки (за счет притока иностранного капитала).Открывается +2 свободных слота для </a:t>
            </a:r>
            <a:r>
              <a:rPr lang="ru-RU" sz="100" dirty="0" err="1"/>
              <a:t>строительства.Экономические</a:t>
            </a:r>
            <a:r>
              <a:rPr lang="ru-RU" sz="100" dirty="0"/>
              <a:t> бонусы (Национальный дух «Ворота Средиземноморья»):Скорость строительства гражданских фабрик и инфраструктуры: +10%.Эффективность торговли (</a:t>
            </a:r>
            <a:r>
              <a:rPr lang="ru-RU" sz="100" dirty="0" err="1"/>
              <a:t>Trade</a:t>
            </a:r>
            <a:r>
              <a:rPr lang="ru-RU" sz="100" dirty="0"/>
              <a:t> </a:t>
            </a:r>
            <a:r>
              <a:rPr lang="ru-RU" sz="100" dirty="0" err="1"/>
              <a:t>Influence</a:t>
            </a:r>
            <a:r>
              <a:rPr lang="ru-RU" sz="100" dirty="0"/>
              <a:t> </a:t>
            </a:r>
            <a:r>
              <a:rPr lang="ru-RU" sz="100" dirty="0" err="1"/>
              <a:t>Factor</a:t>
            </a:r>
            <a:r>
              <a:rPr lang="ru-RU" sz="100" dirty="0"/>
              <a:t>): +15% (иностранные державы охотнее покупают ваши ресурсы).)</a:t>
            </a:r>
            <a:endParaRPr lang="ru-RU" sz="700" dirty="0"/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  <a:br>
              <a:rPr lang="ru-RU" sz="700" dirty="0"/>
            </a:br>
            <a:r>
              <a:rPr lang="ru-RU" sz="100" dirty="0"/>
              <a:t>(«Южные провинции Мавритании, примыкающие к реке Сенегал, богаты лесами красного дерева (Акажу) и зарослями акаций, дающих ценнейший гуммиарабик. Наладив промышленный сбор смолы и заготовку древесины, мы обеспечим наши текстильные, химические и фармацевтические фабрики собственным сырьем, снизив зависимость от импорта». </a:t>
            </a:r>
            <a:r>
              <a:rPr lang="ru-RU" sz="100" dirty="0" err="1"/>
              <a:t>оявление</a:t>
            </a:r>
            <a:r>
              <a:rPr lang="ru-RU" sz="100" dirty="0"/>
              <a:t> </a:t>
            </a:r>
            <a:r>
              <a:rPr lang="ru-RU" sz="100" dirty="0" err="1"/>
              <a:t>ресурсов:В</a:t>
            </a:r>
            <a:r>
              <a:rPr lang="ru-RU" sz="100" dirty="0"/>
              <a:t> регионе Мавритания (или южный </a:t>
            </a:r>
            <a:r>
              <a:rPr lang="ru-RU" sz="100" dirty="0" err="1"/>
              <a:t>стейт</a:t>
            </a:r>
            <a:r>
              <a:rPr lang="ru-RU" sz="100" dirty="0"/>
              <a:t>, если регион разделен) добавляется:+10 Резины (</a:t>
            </a:r>
            <a:r>
              <a:rPr lang="ru-RU" sz="100" dirty="0" err="1"/>
              <a:t>Rubber</a:t>
            </a:r>
            <a:r>
              <a:rPr lang="ru-RU" sz="100" dirty="0"/>
              <a:t>) — в HoI4 резина отвечает за любые эластичные, химические смолы и изоляционные материалы. Это критически важно для производства грузовиков, самолетов и пехотного </a:t>
            </a:r>
            <a:r>
              <a:rPr lang="ru-RU" sz="100" dirty="0" err="1"/>
              <a:t>снаряжения.Экономические</a:t>
            </a:r>
            <a:r>
              <a:rPr lang="ru-RU" sz="100" dirty="0"/>
              <a:t> бонусы (Национальный дух):Страна получает постоянный или временный (на 365 дней) национальный дух «Мавританское </a:t>
            </a:r>
            <a:r>
              <a:rPr lang="ru-RU" sz="100" dirty="0" err="1"/>
              <a:t>сырье»:Эффективность</a:t>
            </a:r>
            <a:r>
              <a:rPr lang="ru-RU" sz="100" dirty="0"/>
              <a:t> производства (</a:t>
            </a:r>
            <a:r>
              <a:rPr lang="ru-RU" sz="100" dirty="0" err="1"/>
              <a:t>Production</a:t>
            </a:r>
            <a:r>
              <a:rPr lang="ru-RU" sz="100" dirty="0"/>
              <a:t> </a:t>
            </a:r>
            <a:r>
              <a:rPr lang="ru-RU" sz="100" dirty="0" err="1"/>
              <a:t>Efficiency</a:t>
            </a:r>
            <a:r>
              <a:rPr lang="ru-RU" sz="100" dirty="0"/>
              <a:t> </a:t>
            </a:r>
            <a:r>
              <a:rPr lang="ru-RU" sz="100" dirty="0" err="1"/>
              <a:t>Growth</a:t>
            </a:r>
            <a:r>
              <a:rPr lang="ru-RU" sz="100" dirty="0"/>
              <a:t>): +5%Скорость исследования промышленных технологий (</a:t>
            </a:r>
            <a:r>
              <a:rPr lang="ru-RU" sz="100" dirty="0" err="1"/>
              <a:t>Industry</a:t>
            </a:r>
            <a:r>
              <a:rPr lang="ru-RU" sz="100" dirty="0"/>
              <a:t> </a:t>
            </a:r>
            <a:r>
              <a:rPr lang="ru-RU" sz="100" dirty="0" err="1"/>
              <a:t>Research</a:t>
            </a:r>
            <a:r>
              <a:rPr lang="ru-RU" sz="100" dirty="0"/>
              <a:t> </a:t>
            </a:r>
            <a:r>
              <a:rPr lang="ru-RU" sz="100" dirty="0" err="1"/>
              <a:t>Speed</a:t>
            </a:r>
            <a:r>
              <a:rPr lang="ru-RU" sz="100" dirty="0"/>
              <a:t>): +10% (химическая отрасль).Развитие </a:t>
            </a:r>
            <a:r>
              <a:rPr lang="ru-RU" sz="100" dirty="0" err="1"/>
              <a:t>инфраструктуры:В</a:t>
            </a:r>
            <a:r>
              <a:rPr lang="ru-RU" sz="100" dirty="0"/>
              <a:t> южном регионе Мавритании бесплатно строится +1 уровень </a:t>
            </a:r>
            <a:r>
              <a:rPr lang="ru-RU" sz="100" dirty="0" err="1"/>
              <a:t>Инфраструктуры.Открывается</a:t>
            </a:r>
            <a:r>
              <a:rPr lang="ru-RU" sz="100" dirty="0"/>
              <a:t> +1 свободный слот для строительства фабрик в этом регионе.)</a:t>
            </a:r>
            <a:endParaRPr lang="ru-RU" sz="700" dirty="0"/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17172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409193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68300" y="13798892"/>
            <a:ext cx="1142110" cy="3733997"/>
          </a:xfrm>
          <a:prstGeom prst="bentConnector3">
            <a:avLst>
              <a:gd name="adj1" fmla="val 1441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339664" y="14704253"/>
            <a:ext cx="1144490" cy="1920894"/>
          </a:xfrm>
          <a:prstGeom prst="bentConnector3">
            <a:avLst>
              <a:gd name="adj1" fmla="val 1449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88077" y="14976734"/>
            <a:ext cx="1144490" cy="1375932"/>
          </a:xfrm>
          <a:prstGeom prst="bentConnector3">
            <a:avLst>
              <a:gd name="adj1" fmla="val 1449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03739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903548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84738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74218" y="20541864"/>
            <a:ext cx="99105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38363" y="21416009"/>
            <a:ext cx="26999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3227" y="21413904"/>
            <a:ext cx="269998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804011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7182981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</a:t>
            </a:r>
            <a:r>
              <a:rPr lang="ru-RU" sz="700" dirty="0" err="1"/>
              <a:t>Фасси</a:t>
            </a:r>
            <a:r>
              <a:rPr lang="ru-RU" sz="700" dirty="0"/>
              <a:t> и потомками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57560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  <a:br>
              <a:rPr lang="ru-RU" sz="700" dirty="0"/>
            </a:br>
            <a:r>
              <a:rPr lang="ru-RU" sz="200" dirty="0"/>
              <a:t>(Контакты между националистами на севере и личностями, вовлеченными в орбиту довоенного Берлина, такими как муфтий Иерусалима Хадж Амин аль-</a:t>
            </a:r>
            <a:r>
              <a:rPr lang="ru-RU" sz="200" dirty="0" err="1"/>
              <a:t>Хусейни</a:t>
            </a:r>
            <a:r>
              <a:rPr lang="ru-RU" sz="200" dirty="0"/>
              <a:t>, </a:t>
            </a:r>
            <a:r>
              <a:rPr lang="ru-RU" sz="200" dirty="0" err="1"/>
              <a:t>Шакиб</a:t>
            </a:r>
            <a:r>
              <a:rPr lang="ru-RU" sz="200" dirty="0"/>
              <a:t> Арслан и Рашид, также имели место.¬)</a:t>
            </a:r>
            <a:endParaRPr lang="ru-RU" sz="700" dirty="0"/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3087" y="17112510"/>
            <a:ext cx="283550" cy="12482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16200000" flipH="1">
            <a:off x="9984048" y="18555099"/>
            <a:ext cx="276431" cy="3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  <a:br>
              <a:rPr lang="ru-RU" sz="700" dirty="0"/>
            </a:br>
            <a:r>
              <a:rPr lang="ru-RU" sz="300" dirty="0"/>
              <a:t>(Ливан и Рашид) (может </a:t>
            </a:r>
            <a:r>
              <a:rPr lang="ru-RU" sz="300" dirty="0" err="1"/>
              <a:t>гуи</a:t>
            </a:r>
            <a:r>
              <a:rPr lang="ru-RU" sz="300" dirty="0"/>
              <a:t> в виде карты Арабского Мира и портреты королей на странах)</a:t>
            </a:r>
            <a:endParaRPr lang="ru-RU" sz="700" dirty="0"/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0716079" y="18247795"/>
            <a:ext cx="1912755" cy="606911"/>
          </a:xfrm>
          <a:prstGeom prst="bentConnector3">
            <a:avLst>
              <a:gd name="adj1" fmla="val 729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4" y="2264810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39988" y="22221377"/>
            <a:ext cx="260713" cy="5927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45123" y="22219247"/>
            <a:ext cx="260712" cy="5969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772615" y="14954728"/>
            <a:ext cx="337947" cy="6134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181998" y="14660937"/>
            <a:ext cx="337947" cy="12009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405892" y="14638024"/>
            <a:ext cx="333865" cy="12427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описание:«Пока</a:t>
            </a:r>
            <a:r>
              <a:rPr lang="ru-RU" sz="100" dirty="0"/>
              <a:t> в Европе разгорается Вторая мировая война, Танжер может стать тихой гаванью для бегущих капиталов. Ослабив банковский контроль и закрыв глаза на контрабандные рынки, мы превратим город в центр теневой торговли дефицитным сырьем, станками и валютой. Все это пойдет на нужды нашей марокканской промышленности».⚙️ Игровые </a:t>
            </a:r>
            <a:r>
              <a:rPr lang="ru-RU" sz="100" dirty="0" err="1"/>
              <a:t>эффекты:Прямой</a:t>
            </a:r>
            <a:r>
              <a:rPr lang="ru-RU" sz="100" dirty="0"/>
              <a:t> финансовый </a:t>
            </a:r>
            <a:r>
              <a:rPr lang="ru-RU" sz="100" dirty="0" err="1"/>
              <a:t>прирост:Прирост</a:t>
            </a:r>
            <a:r>
              <a:rPr lang="ru-RU" sz="100" dirty="0"/>
              <a:t> политической власти: +120 (символизирует взятки и налоги с банкиров).Прибыль гражданской промышленности (</a:t>
            </a:r>
            <a:r>
              <a:rPr lang="ru-RU" sz="100" dirty="0" err="1"/>
              <a:t>Consumer</a:t>
            </a:r>
            <a:r>
              <a:rPr lang="ru-RU" sz="100" dirty="0"/>
              <a:t> </a:t>
            </a:r>
            <a:r>
              <a:rPr lang="ru-RU" sz="100" dirty="0" err="1"/>
              <a:t>Goods</a:t>
            </a:r>
            <a:r>
              <a:rPr lang="ru-RU" sz="100" dirty="0"/>
              <a:t> </a:t>
            </a:r>
            <a:r>
              <a:rPr lang="ru-RU" sz="100" dirty="0" err="1"/>
              <a:t>Factories</a:t>
            </a:r>
            <a:r>
              <a:rPr lang="ru-RU" sz="100" dirty="0"/>
              <a:t>): −3% (снижение товаров народного потребления, так как экономика насыщается за счет контрабанды).)</a:t>
            </a:r>
            <a:endParaRPr lang="ru-RU" sz="700" dirty="0"/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438493" y="15475418"/>
            <a:ext cx="264792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218680" y="15502201"/>
            <a:ext cx="260710" cy="1197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293179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16200000" flipH="1">
            <a:off x="5209690" y="16511192"/>
            <a:ext cx="1087442" cy="5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803694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8112617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" name="Прямоугольник 519">
            <a:extLst>
              <a:ext uri="{FF2B5EF4-FFF2-40B4-BE49-F238E27FC236}">
                <a16:creationId xmlns:a16="http://schemas.microsoft.com/office/drawing/2014/main" id="{D879779D-C792-48BC-9465-5526A3CCE035}"/>
              </a:ext>
            </a:extLst>
          </p:cNvPr>
          <p:cNvSpPr/>
          <p:nvPr/>
        </p:nvSpPr>
        <p:spPr>
          <a:xfrm>
            <a:off x="11512748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Найти поддержку среди испанских фалангистов</a:t>
            </a:r>
          </a:p>
        </p:txBody>
      </p: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F2302FEA-DE50-42DE-827F-0248782C6D3B}"/>
              </a:ext>
            </a:extLst>
          </p:cNvPr>
          <p:cNvCxnSpPr>
            <a:cxnSpLocks/>
            <a:stCxn id="391" idx="2"/>
            <a:endCxn id="520" idx="0"/>
          </p:cNvCxnSpPr>
          <p:nvPr/>
        </p:nvCxnSpPr>
        <p:spPr>
          <a:xfrm rot="16200000" flipH="1">
            <a:off x="11578302" y="20635037"/>
            <a:ext cx="186018" cy="6091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Соединительная линия уступом 620">
            <a:extLst>
              <a:ext uri="{FF2B5EF4-FFF2-40B4-BE49-F238E27FC236}">
                <a16:creationId xmlns:a16="http://schemas.microsoft.com/office/drawing/2014/main" id="{35AE13DC-21AF-4BCC-BDB4-6EC259833CB6}"/>
              </a:ext>
            </a:extLst>
          </p:cNvPr>
          <p:cNvCxnSpPr>
            <a:cxnSpLocks/>
            <a:stCxn id="286" idx="2"/>
            <a:endCxn id="520" idx="0"/>
          </p:cNvCxnSpPr>
          <p:nvPr/>
        </p:nvCxnSpPr>
        <p:spPr>
          <a:xfrm rot="5400000">
            <a:off x="11483404" y="20540137"/>
            <a:ext cx="9850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7BE6B12E-2FC5-4352-A850-0061360A1EEE}"/>
              </a:ext>
            </a:extLst>
          </p:cNvPr>
          <p:cNvSpPr/>
          <p:nvPr/>
        </p:nvSpPr>
        <p:spPr>
          <a:xfrm>
            <a:off x="12150141" y="20306733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вертикального профсоюза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2A82F62F-8395-4C99-9757-DE13F85A4E30}"/>
              </a:ext>
            </a:extLst>
          </p:cNvPr>
          <p:cNvSpPr/>
          <p:nvPr/>
        </p:nvSpPr>
        <p:spPr>
          <a:xfrm>
            <a:off x="12752200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Объединение рабочих и работодателей по отраслям</a:t>
            </a:r>
          </a:p>
        </p:txBody>
      </p:sp>
      <p:cxnSp>
        <p:nvCxnSpPr>
          <p:cNvPr id="531" name="Соединительная линия уступом 620">
            <a:extLst>
              <a:ext uri="{FF2B5EF4-FFF2-40B4-BE49-F238E27FC236}">
                <a16:creationId xmlns:a16="http://schemas.microsoft.com/office/drawing/2014/main" id="{249B645A-AC76-46A7-A83B-C0F9A7D5B865}"/>
              </a:ext>
            </a:extLst>
          </p:cNvPr>
          <p:cNvCxnSpPr>
            <a:cxnSpLocks/>
            <a:stCxn id="286" idx="2"/>
            <a:endCxn id="527" idx="0"/>
          </p:cNvCxnSpPr>
          <p:nvPr/>
        </p:nvCxnSpPr>
        <p:spPr>
          <a:xfrm rot="16200000" flipH="1">
            <a:off x="12165056" y="19858485"/>
            <a:ext cx="259104" cy="6373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7F1E05F-B285-4962-8AFC-85A9CE71C5DE}"/>
              </a:ext>
            </a:extLst>
          </p:cNvPr>
          <p:cNvSpPr/>
          <p:nvPr/>
        </p:nvSpPr>
        <p:spPr>
          <a:xfrm>
            <a:off x="11512747" y="2265477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культ личности</a:t>
            </a:r>
          </a:p>
        </p:txBody>
      </p:sp>
      <p:sp>
        <p:nvSpPr>
          <p:cNvPr id="534" name="Прямоугольник 533">
            <a:extLst>
              <a:ext uri="{FF2B5EF4-FFF2-40B4-BE49-F238E27FC236}">
                <a16:creationId xmlns:a16="http://schemas.microsoft.com/office/drawing/2014/main" id="{439679E5-8F70-4C51-996F-EC7F24AA5DDE}"/>
              </a:ext>
            </a:extLst>
          </p:cNvPr>
          <p:cNvSpPr/>
          <p:nvPr/>
        </p:nvSpPr>
        <p:spPr>
          <a:xfrm>
            <a:off x="12752201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Передача прав собственности и средств производства в профсоюзы</a:t>
            </a:r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D4B3B65D-4D05-457E-A3ED-BDEA402DC168}"/>
              </a:ext>
            </a:extLst>
          </p:cNvPr>
          <p:cNvSpPr/>
          <p:nvPr/>
        </p:nvSpPr>
        <p:spPr>
          <a:xfrm>
            <a:off x="12752200" y="2265477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Воплотить в жизнь национал-</a:t>
            </a:r>
            <a:r>
              <a:rPr lang="ru-RU" sz="700" dirty="0" err="1"/>
              <a:t>юнионизм</a:t>
            </a:r>
            <a:endParaRPr lang="ru-RU" sz="700" dirty="0"/>
          </a:p>
        </p:txBody>
      </p:sp>
      <p:cxnSp>
        <p:nvCxnSpPr>
          <p:cNvPr id="538" name="Соединительная линия уступом 620">
            <a:extLst>
              <a:ext uri="{FF2B5EF4-FFF2-40B4-BE49-F238E27FC236}">
                <a16:creationId xmlns:a16="http://schemas.microsoft.com/office/drawing/2014/main" id="{AB0C856A-015A-4250-A7F2-0CEE1A7AE3D8}"/>
              </a:ext>
            </a:extLst>
          </p:cNvPr>
          <p:cNvCxnSpPr>
            <a:cxnSpLocks/>
            <a:stCxn id="520" idx="2"/>
            <a:endCxn id="533" idx="0"/>
          </p:cNvCxnSpPr>
          <p:nvPr/>
        </p:nvCxnSpPr>
        <p:spPr>
          <a:xfrm rot="5400000">
            <a:off x="11434849" y="22113708"/>
            <a:ext cx="108212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Соединительная линия уступом 620">
            <a:extLst>
              <a:ext uri="{FF2B5EF4-FFF2-40B4-BE49-F238E27FC236}">
                <a16:creationId xmlns:a16="http://schemas.microsoft.com/office/drawing/2014/main" id="{89AE2EBF-E461-4885-8EBB-A725AAD7537D}"/>
              </a:ext>
            </a:extLst>
          </p:cNvPr>
          <p:cNvCxnSpPr>
            <a:cxnSpLocks/>
            <a:stCxn id="527" idx="2"/>
            <a:endCxn id="530" idx="0"/>
          </p:cNvCxnSpPr>
          <p:nvPr/>
        </p:nvCxnSpPr>
        <p:spPr>
          <a:xfrm rot="16200000" flipH="1">
            <a:off x="12821377" y="20638659"/>
            <a:ext cx="185913" cy="60205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Соединительная линия уступом 620">
            <a:extLst>
              <a:ext uri="{FF2B5EF4-FFF2-40B4-BE49-F238E27FC236}">
                <a16:creationId xmlns:a16="http://schemas.microsoft.com/office/drawing/2014/main" id="{BB42ABE2-7B27-4605-A3C2-923A7B99A9F8}"/>
              </a:ext>
            </a:extLst>
          </p:cNvPr>
          <p:cNvCxnSpPr>
            <a:cxnSpLocks/>
            <a:stCxn id="530" idx="2"/>
            <a:endCxn id="534" idx="0"/>
          </p:cNvCxnSpPr>
          <p:nvPr/>
        </p:nvCxnSpPr>
        <p:spPr>
          <a:xfrm rot="16200000" flipH="1">
            <a:off x="13077992" y="21710016"/>
            <a:ext cx="27474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Соединительная линия уступом 620">
            <a:extLst>
              <a:ext uri="{FF2B5EF4-FFF2-40B4-BE49-F238E27FC236}">
                <a16:creationId xmlns:a16="http://schemas.microsoft.com/office/drawing/2014/main" id="{405B02C7-D8B4-454D-BBFE-7AE75634DDBF}"/>
              </a:ext>
            </a:extLst>
          </p:cNvPr>
          <p:cNvCxnSpPr>
            <a:cxnSpLocks/>
            <a:stCxn id="534" idx="2"/>
            <a:endCxn id="537" idx="0"/>
          </p:cNvCxnSpPr>
          <p:nvPr/>
        </p:nvCxnSpPr>
        <p:spPr>
          <a:xfrm rot="5400000">
            <a:off x="13081673" y="22521079"/>
            <a:ext cx="26738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55500</TotalTime>
  <Words>1147</Words>
  <Application>Microsoft Office PowerPoint</Application>
  <PresentationFormat>Произвольный</PresentationFormat>
  <Paragraphs>203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2466</cp:revision>
  <dcterms:created xsi:type="dcterms:W3CDTF">2018-10-23T08:09:21Z</dcterms:created>
  <dcterms:modified xsi:type="dcterms:W3CDTF">2026-07-01T18:30:19Z</dcterms:modified>
</cp:coreProperties>
</file>