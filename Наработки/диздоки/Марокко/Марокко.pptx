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33" d="100"/>
          <a:sy n="33" d="100"/>
        </p:scale>
        <p:origin x="114" y="-138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23.06.2026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5856095" y="17247340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 </a:t>
            </a:r>
            <a:r>
              <a:rPr lang="ru-RU" sz="100" dirty="0"/>
              <a:t>(Опасаясь влияния Торреса, верховный комиссар генерал </a:t>
            </a:r>
            <a:r>
              <a:rPr lang="ru-RU" sz="100" dirty="0" err="1"/>
              <a:t>Бейгбедер</a:t>
            </a:r>
            <a:r>
              <a:rPr lang="ru-RU" sz="100" dirty="0"/>
              <a:t> противопоставил ему другого националистического деятеля - Мекки </a:t>
            </a:r>
            <a:r>
              <a:rPr lang="ru-RU" sz="100" dirty="0" err="1"/>
              <a:t>Насыри</a:t>
            </a:r>
            <a:r>
              <a:rPr lang="ru-RU" sz="100" dirty="0"/>
              <a:t>. Последний снискал популярность </a:t>
            </a:r>
            <a:r>
              <a:rPr lang="ru-RU" sz="100" dirty="0" err="1"/>
              <a:t>реча¬ми</a:t>
            </a:r>
            <a:r>
              <a:rPr lang="ru-RU" sz="100" dirty="0"/>
              <a:t> в Большой мечети о национальных чаяниях марокканского народа. Верховный комиссар помог </a:t>
            </a:r>
            <a:r>
              <a:rPr lang="ru-RU" sz="100" dirty="0" err="1"/>
              <a:t>Насыри</a:t>
            </a:r>
            <a:r>
              <a:rPr lang="ru-RU" sz="100" dirty="0"/>
              <a:t> создать Партию </a:t>
            </a:r>
            <a:r>
              <a:rPr lang="ru-RU" sz="100" dirty="0" err="1"/>
              <a:t>ма¬рокканского</a:t>
            </a:r>
            <a:r>
              <a:rPr lang="ru-RU" sz="100" dirty="0"/>
              <a:t> единства (ПМЕ). Лидеры обеих партий представляли одни н те же социальные слои, выдвигали практически </a:t>
            </a:r>
            <a:r>
              <a:rPr lang="ru-RU" sz="100" dirty="0" err="1"/>
              <a:t>идентич¬ные</a:t>
            </a:r>
            <a:r>
              <a:rPr lang="ru-RU" sz="100" dirty="0"/>
              <a:t> требования. Но для арабского населения партия </a:t>
            </a:r>
            <a:r>
              <a:rPr lang="ru-RU" sz="100" dirty="0" err="1"/>
              <a:t>Насыри</a:t>
            </a:r>
            <a:r>
              <a:rPr lang="ru-RU" sz="100" dirty="0"/>
              <a:t> была более привлекательной вследствие ее приверженности </a:t>
            </a:r>
            <a:r>
              <a:rPr lang="ru-RU" sz="100" dirty="0" err="1"/>
              <a:t>ара¬бизму</a:t>
            </a:r>
            <a:r>
              <a:rPr lang="ru-RU" sz="100" dirty="0"/>
              <a:t>: ПМЕ выступала за то, чтобы арабский язык был объявлен единственным официальным языком мусульманского Марокко. Обе партии первоначально не ставили перед собой конкретных задач по изменению положения в испанской зоне.)</a:t>
            </a:r>
            <a:endParaRPr lang="ru-RU" sz="7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76646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5400000">
            <a:off x="13702065" y="16914690"/>
            <a:ext cx="277930" cy="2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4001855" y="178728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62" idx="2"/>
            <a:endCxn id="113" idx="0"/>
          </p:cNvCxnSpPr>
          <p:nvPr/>
        </p:nvCxnSpPr>
        <p:spPr>
          <a:xfrm rot="16200000" flipH="1">
            <a:off x="13605705" y="17013490"/>
            <a:ext cx="1095859" cy="622768"/>
          </a:xfrm>
          <a:prstGeom prst="bentConnector3">
            <a:avLst>
              <a:gd name="adj1" fmla="val 1198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534667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534666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917446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159506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559170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180199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01565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01566" y="2184739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801230" y="20783891"/>
            <a:ext cx="260099" cy="18668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34374" y="2251774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675386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938141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677814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009408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159506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534665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534665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916669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534666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776725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776726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916670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290725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290726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290725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681737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776724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625745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109532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109530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867470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488501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488499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867471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046785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973110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046784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699281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321251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001356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379386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001561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623531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241613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558471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800608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514511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136481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135541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757511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867475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046783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006508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621932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863344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cxnSp>
        <p:nvCxnSpPr>
          <p:cNvPr id="282" name="Соединительная линия уступом 620">
            <a:extLst>
              <a:ext uri="{FF2B5EF4-FFF2-40B4-BE49-F238E27FC236}">
                <a16:creationId xmlns:a16="http://schemas.microsoft.com/office/drawing/2014/main" id="{51EA453B-083C-4FEF-80CA-54AD8C1C3055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258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  <a:br>
              <a:rPr lang="ru-RU" sz="700" dirty="0"/>
            </a:br>
            <a:r>
              <a:rPr lang="ru-RU" sz="100" dirty="0"/>
              <a:t>(В январе 1937 года генерал-резидент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разрешил публикацию нескольких националистических газет, что способствовало ускорению раскола внутри CAM. 12 февраля 1937 года в Рабате вышел арабоязычный еженедельник «Эль Атлас » под редакцией </a:t>
            </a:r>
            <a:r>
              <a:rPr lang="ru-RU" sz="100" dirty="0" err="1"/>
              <a:t>Мохамеда</a:t>
            </a:r>
            <a:r>
              <a:rPr lang="ru-RU" sz="100" dirty="0"/>
              <a:t> </a:t>
            </a:r>
            <a:r>
              <a:rPr lang="ru-RU" sz="100" dirty="0" err="1"/>
              <a:t>Лязиди</a:t>
            </a:r>
            <a:r>
              <a:rPr lang="ru-RU" sz="100" dirty="0"/>
              <a:t>, а 27 февраля того же года в Рабате вышел первый номер франкоязычного еженедельника « </a:t>
            </a:r>
            <a:r>
              <a:rPr lang="ru-RU" sz="100" dirty="0" err="1"/>
              <a:t>L'Action</a:t>
            </a:r>
            <a:r>
              <a:rPr lang="ru-RU" sz="100" dirty="0"/>
              <a:t> </a:t>
            </a:r>
            <a:r>
              <a:rPr lang="ru-RU" sz="100" dirty="0" err="1"/>
              <a:t>Populaire</a:t>
            </a:r>
            <a:r>
              <a:rPr lang="ru-RU" sz="100" dirty="0"/>
              <a:t> » под редакцией </a:t>
            </a:r>
            <a:r>
              <a:rPr lang="ru-RU" sz="100" dirty="0" err="1"/>
              <a:t>Мохамеда</a:t>
            </a:r>
            <a:r>
              <a:rPr lang="ru-RU" sz="100" dirty="0"/>
              <a:t> </a:t>
            </a:r>
            <a:r>
              <a:rPr lang="ru-RU" sz="100" dirty="0" err="1"/>
              <a:t>Аллала</a:t>
            </a:r>
            <a:r>
              <a:rPr lang="ru-RU" sz="100" dirty="0"/>
              <a:t> </a:t>
            </a:r>
            <a:r>
              <a:rPr lang="ru-RU" sz="100" dirty="0" err="1"/>
              <a:t>Фасси</a:t>
            </a:r>
            <a:r>
              <a:rPr lang="ru-RU" sz="100" dirty="0"/>
              <a:t> . </a:t>
            </a:r>
            <a:r>
              <a:rPr lang="ru-RU" sz="100" dirty="0" err="1"/>
              <a:t>Мохамед</a:t>
            </a:r>
            <a:r>
              <a:rPr lang="ru-RU" sz="100" dirty="0"/>
              <a:t> Хасан </a:t>
            </a:r>
            <a:r>
              <a:rPr lang="ru-RU" sz="100" dirty="0" err="1"/>
              <a:t>Уаззани</a:t>
            </a:r>
            <a:r>
              <a:rPr lang="ru-RU" sz="100" dirty="0"/>
              <a:t> получил разрешение на возобновление публикации «</a:t>
            </a:r>
            <a:r>
              <a:rPr lang="ru-RU" sz="100" dirty="0" err="1"/>
              <a:t>L'Action</a:t>
            </a:r>
            <a:r>
              <a:rPr lang="ru-RU" sz="100" dirty="0"/>
              <a:t> </a:t>
            </a:r>
            <a:r>
              <a:rPr lang="ru-RU" sz="100" dirty="0" err="1"/>
              <a:t>du</a:t>
            </a:r>
            <a:r>
              <a:rPr lang="ru-RU" sz="100" dirty="0"/>
              <a:t> </a:t>
            </a:r>
            <a:r>
              <a:rPr lang="ru-RU" sz="100" dirty="0" err="1"/>
              <a:t>Peuple</a:t>
            </a:r>
            <a:r>
              <a:rPr lang="ru-RU" sz="100" dirty="0"/>
              <a:t>» , которая начала выходить в еженедельном формате в апреле 1937 года.)</a:t>
            </a:r>
            <a:endParaRPr lang="ru-RU" sz="700" dirty="0"/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Соединительная линия уступом 620">
            <a:extLst>
              <a:ext uri="{FF2B5EF4-FFF2-40B4-BE49-F238E27FC236}">
                <a16:creationId xmlns:a16="http://schemas.microsoft.com/office/drawing/2014/main" id="{4C914DD9-8594-48D4-B2A0-6839CED41856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2097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6468606" y="50450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251905" y="504243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мехзену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рямоугольник 319">
            <a:extLst>
              <a:ext uri="{FF2B5EF4-FFF2-40B4-BE49-F238E27FC236}">
                <a16:creationId xmlns:a16="http://schemas.microsoft.com/office/drawing/2014/main" id="{CEEF7E01-23D9-406A-B51B-D4B10D6D4533}"/>
              </a:ext>
            </a:extLst>
          </p:cNvPr>
          <p:cNvSpPr/>
          <p:nvPr/>
        </p:nvSpPr>
        <p:spPr>
          <a:xfrm>
            <a:off x="7660083" y="5849528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Заключить пакт с Комитетом антифашистских </a:t>
            </a:r>
            <a:r>
              <a:rPr lang="ru-RU" sz="700" dirty="0" err="1"/>
              <a:t>милиций</a:t>
            </a:r>
            <a:r>
              <a:rPr lang="ru-RU" sz="100" dirty="0" err="1"/>
              <a:t>Каталонии</a:t>
            </a:r>
            <a:br>
              <a:rPr lang="ru-RU" sz="100" dirty="0"/>
            </a:br>
            <a:r>
              <a:rPr lang="ru-RU" sz="100" dirty="0"/>
              <a:t>(Секретный пакт с каталонскими анархистами против Франко (Август — Сентябрь 1936)Это один из самых захватывающих и малоизвестных сюжетов реальной </a:t>
            </a:r>
            <a:r>
              <a:rPr lang="ru-RU" sz="100" dirty="0" err="1"/>
              <a:t>истории:В</a:t>
            </a:r>
            <a:r>
              <a:rPr lang="ru-RU" sz="100" dirty="0"/>
              <a:t> июле 1936 года в Испанском Марокко вспыхнул фашистский мятеж генерала </a:t>
            </a:r>
            <a:r>
              <a:rPr lang="ru-RU" sz="100" dirty="0" err="1"/>
              <a:t>Франко.В</a:t>
            </a:r>
            <a:r>
              <a:rPr lang="ru-RU" sz="100" dirty="0"/>
              <a:t> августе в Марокко (в Фес) тайно прибыли французские и испанские левые активисты (включая Давида Руссе и внука Карла Маркса — Роберта-Жана Лонге), чтобы скоординировать действия.19 сентября 1936 года лидеры CAM (Мухаммед Хасан аль-</a:t>
            </a:r>
            <a:r>
              <a:rPr lang="ru-RU" sz="100" dirty="0" err="1"/>
              <a:t>Уаццани</a:t>
            </a:r>
            <a:r>
              <a:rPr lang="ru-RU" sz="100" dirty="0"/>
              <a:t> и Омар </a:t>
            </a:r>
            <a:r>
              <a:rPr lang="ru-RU" sz="100" dirty="0" err="1"/>
              <a:t>Абдельджалиль</a:t>
            </a:r>
            <a:r>
              <a:rPr lang="ru-RU" sz="100" dirty="0"/>
              <a:t>) подписали в Барселоне тайный пакт с Комитетом антифашистских милиций Каталонии (в лице знаменитого анархиста Хуана Гарсии Оливера). Каталонцы пообещали признать полную независимость Испанского Марокко, если CAM поднимет восстание в тылу у </a:t>
            </a:r>
            <a:r>
              <a:rPr lang="ru-RU" sz="100" dirty="0" err="1"/>
              <a:t>Франко.Итог</a:t>
            </a:r>
            <a:r>
              <a:rPr lang="ru-RU" sz="100" dirty="0"/>
              <a:t>: План сорвался, так как премьер-министр Испании Ларго Кабальеро и премьер Франции Леон Блюм испугались колониальных бунтов и наложили вето на соглашение. В октябре аль-</a:t>
            </a:r>
            <a:r>
              <a:rPr lang="ru-RU" sz="100" dirty="0" err="1"/>
              <a:t>Уаццани</a:t>
            </a:r>
            <a:r>
              <a:rPr lang="ru-RU" sz="100" dirty="0"/>
              <a:t> лично летал в Париж, но Леон Блюм отказался его принять.)</a:t>
            </a:r>
            <a:endParaRPr lang="ru-RU" sz="700" dirty="0"/>
          </a:p>
        </p:txBody>
      </p:sp>
      <p:cxnSp>
        <p:nvCxnSpPr>
          <p:cNvPr id="321" name="Соединительная линия уступом 620">
            <a:extLst>
              <a:ext uri="{FF2B5EF4-FFF2-40B4-BE49-F238E27FC236}">
                <a16:creationId xmlns:a16="http://schemas.microsoft.com/office/drawing/2014/main" id="{A4F65A7D-8CC9-4225-8C23-9C065F3ED477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392749" y="4314066"/>
            <a:ext cx="270003" cy="119196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  <a:br>
              <a:rPr lang="ru-RU" sz="700" dirty="0"/>
            </a:br>
            <a:r>
              <a:rPr lang="ru-RU" sz="200" dirty="0"/>
              <a:t>(Создание мощной радиостанции для вещания на всю Африку и Ближний Восток (в реальности Мухаммед V финансировал «Голос Свободного Алжира»). Эффект: Увеличивает прирост популярности вашей идеологии в соседних странах.)</a:t>
            </a:r>
            <a:endParaRPr lang="ru-RU" sz="700" dirty="0"/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</a:p>
          <a:p>
            <a:pPr algn="ctr"/>
            <a:r>
              <a:rPr lang="ru-RU" sz="200" dirty="0"/>
              <a:t>(члены которого будут избираться марокканцами)</a:t>
            </a:r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33713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  <a:p>
            <a:pPr algn="ctr"/>
            <a:r>
              <a:rPr lang="ru-RU" sz="200" dirty="0"/>
              <a:t>(Движение «</a:t>
            </a:r>
            <a:r>
              <a:rPr lang="ru-RU" sz="200" dirty="0" err="1"/>
              <a:t>Фитьян</a:t>
            </a:r>
            <a:r>
              <a:rPr lang="ru-RU" sz="200" dirty="0"/>
              <a:t>» (араб. </a:t>
            </a:r>
            <a:r>
              <a:rPr lang="ar-AE" sz="200" dirty="0"/>
              <a:t>فتيان — «</a:t>
            </a:r>
            <a:r>
              <a:rPr lang="ru-RU" sz="200" dirty="0"/>
              <a:t>Юноши» или «Отроки») в контексте Испанского Марокко — это военизированная молодежная организация, созданная Партией национальных реформ </a:t>
            </a:r>
            <a:r>
              <a:rPr lang="ru-RU" sz="200" dirty="0" err="1"/>
              <a:t>Абд</a:t>
            </a:r>
            <a:r>
              <a:rPr lang="ru-RU" sz="200" dirty="0"/>
              <a:t> аль-</a:t>
            </a:r>
            <a:r>
              <a:rPr lang="ru-RU" sz="200" dirty="0" err="1"/>
              <a:t>Халика</a:t>
            </a:r>
            <a:r>
              <a:rPr lang="ru-RU" sz="200" dirty="0"/>
              <a:t> Торреса в конце 1930-х годов. На её создание и структуру оказали мощнейшее влияние европейские фашистские движения того времени, в особенности Испанская Фаланга)</a:t>
            </a:r>
            <a:endParaRPr lang="ru-RU" sz="700" dirty="0"/>
          </a:p>
        </p:txBody>
      </p:sp>
      <p:sp>
        <p:nvSpPr>
          <p:cNvPr id="299" name="Прямоугольник 298">
            <a:extLst>
              <a:ext uri="{FF2B5EF4-FFF2-40B4-BE49-F238E27FC236}">
                <a16:creationId xmlns:a16="http://schemas.microsoft.com/office/drawing/2014/main" id="{3DAE6CB6-1F84-4263-8B95-FD8B316CCCD2}"/>
              </a:ext>
            </a:extLst>
          </p:cNvPr>
          <p:cNvSpPr/>
          <p:nvPr/>
        </p:nvSpPr>
        <p:spPr>
          <a:xfrm>
            <a:off x="12750423" y="1950686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Панарабизм и ислам</a:t>
            </a:r>
          </a:p>
          <a:p>
            <a:pPr algn="ctr"/>
            <a:r>
              <a:rPr lang="ru-RU" sz="200" dirty="0"/>
              <a:t>Вместо католицизма и испанского империализма Фаланги, «</a:t>
            </a:r>
            <a:r>
              <a:rPr lang="ru-RU" sz="200" dirty="0" err="1"/>
              <a:t>Фитьян</a:t>
            </a:r>
            <a:r>
              <a:rPr lang="ru-RU" sz="200" dirty="0"/>
              <a:t>» воспитывали молодежь на ценностях арабского возрождения, защиты ислама и гордости за историю Марокко.</a:t>
            </a:r>
            <a:endParaRPr lang="ru-RU" sz="700" dirty="0"/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12262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br>
              <a:rPr lang="ru-RU" sz="700" dirty="0"/>
            </a:br>
            <a:r>
              <a:rPr lang="ru-RU" sz="100" dirty="0"/>
              <a:t>»: Использование уникального статуса Танжера (который долгое время был финансовой и шпионской «серой зоной»). Эффект: Дает +1 шпиона в агентство и ускоряет создание шпионской сети в Европе на 25%.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882391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описание:«Танжер</a:t>
            </a:r>
            <a:r>
              <a:rPr lang="ru-RU" sz="100" dirty="0"/>
              <a:t> — это ворота из Атлантики в Средиземное море. Объявив город зоной свободной торговли (Порто-франко), мы отменим таможенные пошлины для иностранных судов. Это привлечет в город международные торговые компании, склады и сборочные мануфактуры, превратив Танжер в главный логистический </a:t>
            </a:r>
            <a:r>
              <a:rPr lang="ru-RU" sz="100" dirty="0" err="1"/>
              <a:t>хаб</a:t>
            </a:r>
            <a:r>
              <a:rPr lang="ru-RU" sz="100" dirty="0"/>
              <a:t> Северной Африки».⚙️ Игровые </a:t>
            </a:r>
            <a:r>
              <a:rPr lang="ru-RU" sz="100" dirty="0" err="1"/>
              <a:t>эффекты:Развитие</a:t>
            </a:r>
            <a:r>
              <a:rPr lang="ru-RU" sz="100" dirty="0"/>
              <a:t> региона (Танжер):Морская база (</a:t>
            </a:r>
            <a:r>
              <a:rPr lang="ru-RU" sz="100" dirty="0" err="1"/>
              <a:t>Naval</a:t>
            </a:r>
            <a:r>
              <a:rPr lang="ru-RU" sz="100" dirty="0"/>
              <a:t> </a:t>
            </a:r>
            <a:r>
              <a:rPr lang="ru-RU" sz="100" dirty="0" err="1"/>
              <a:t>Base</a:t>
            </a:r>
            <a:r>
              <a:rPr lang="ru-RU" sz="100" dirty="0"/>
              <a:t>): +2 </a:t>
            </a:r>
            <a:r>
              <a:rPr lang="ru-RU" sz="100" dirty="0" err="1"/>
              <a:t>уровня.Гражданская</a:t>
            </a:r>
            <a:r>
              <a:rPr lang="ru-RU" sz="100" dirty="0"/>
              <a:t> фабрика (</a:t>
            </a:r>
            <a:r>
              <a:rPr lang="ru-RU" sz="100" dirty="0" err="1"/>
              <a:t>Civilian</a:t>
            </a:r>
            <a:r>
              <a:rPr lang="ru-RU" sz="100" dirty="0"/>
              <a:t> </a:t>
            </a:r>
            <a:r>
              <a:rPr lang="ru-RU" sz="100" dirty="0" err="1"/>
              <a:t>Factory</a:t>
            </a:r>
            <a:r>
              <a:rPr lang="ru-RU" sz="100" dirty="0"/>
              <a:t>): +2 штуки (за счет притока иностранного капитала).Открывается +2 свободных слота для </a:t>
            </a:r>
            <a:r>
              <a:rPr lang="ru-RU" sz="100" dirty="0" err="1"/>
              <a:t>строительства.Экономические</a:t>
            </a:r>
            <a:r>
              <a:rPr lang="ru-RU" sz="100" dirty="0"/>
              <a:t> бонусы (Национальный дух «Ворота Средиземноморья»):Скорость строительства гражданских фабрик и инфраструктуры: +10%.Эффективность торговли (</a:t>
            </a:r>
            <a:r>
              <a:rPr lang="ru-RU" sz="100" dirty="0" err="1"/>
              <a:t>Trade</a:t>
            </a:r>
            <a:r>
              <a:rPr lang="ru-RU" sz="100" dirty="0"/>
              <a:t> </a:t>
            </a:r>
            <a:r>
              <a:rPr lang="ru-RU" sz="100" dirty="0" err="1"/>
              <a:t>Influence</a:t>
            </a:r>
            <a:r>
              <a:rPr lang="ru-RU" sz="100" dirty="0"/>
              <a:t> </a:t>
            </a:r>
            <a:r>
              <a:rPr lang="ru-RU" sz="100" dirty="0" err="1"/>
              <a:t>Factor</a:t>
            </a:r>
            <a:r>
              <a:rPr lang="ru-RU" sz="100" dirty="0"/>
              <a:t>): +15% (иностранные державы охотнее покупают ваши ресурсы).)</a:t>
            </a:r>
            <a:endParaRPr lang="ru-RU" sz="700" dirty="0"/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  <a:br>
              <a:rPr lang="ru-RU" sz="700" dirty="0"/>
            </a:br>
            <a:r>
              <a:rPr lang="ru-RU" sz="100" dirty="0"/>
              <a:t>(«Южные провинции Мавритании, примыкающие к реке Сенегал, богаты лесами красного дерева (Акажу) и зарослями акаций, дающих ценнейший гуммиарабик. Наладив промышленный сбор смолы и заготовку древесины, мы обеспечим наши текстильные, химические и фармацевтические фабрики собственным сырьем, снизив зависимость от импорта». </a:t>
            </a:r>
            <a:r>
              <a:rPr lang="ru-RU" sz="100" dirty="0" err="1"/>
              <a:t>оявление</a:t>
            </a:r>
            <a:r>
              <a:rPr lang="ru-RU" sz="100" dirty="0"/>
              <a:t> </a:t>
            </a:r>
            <a:r>
              <a:rPr lang="ru-RU" sz="100" dirty="0" err="1"/>
              <a:t>ресурсов:В</a:t>
            </a:r>
            <a:r>
              <a:rPr lang="ru-RU" sz="100" dirty="0"/>
              <a:t> регионе Мавритания (или южный </a:t>
            </a:r>
            <a:r>
              <a:rPr lang="ru-RU" sz="100" dirty="0" err="1"/>
              <a:t>стейт</a:t>
            </a:r>
            <a:r>
              <a:rPr lang="ru-RU" sz="100" dirty="0"/>
              <a:t>, если регион разделен) добавляется:+10 Резины (</a:t>
            </a:r>
            <a:r>
              <a:rPr lang="ru-RU" sz="100" dirty="0" err="1"/>
              <a:t>Rubber</a:t>
            </a:r>
            <a:r>
              <a:rPr lang="ru-RU" sz="100" dirty="0"/>
              <a:t>) — в HoI4 резина отвечает за любые эластичные, химические смолы и изоляционные материалы. Это критически важно для производства грузовиков, самолетов и пехотного </a:t>
            </a:r>
            <a:r>
              <a:rPr lang="ru-RU" sz="100" dirty="0" err="1"/>
              <a:t>снаряжения.Экономические</a:t>
            </a:r>
            <a:r>
              <a:rPr lang="ru-RU" sz="100" dirty="0"/>
              <a:t> бонусы (Национальный дух):Страна получает постоянный или временный (на 365 дней) национальный дух «Мавританское </a:t>
            </a:r>
            <a:r>
              <a:rPr lang="ru-RU" sz="100" dirty="0" err="1"/>
              <a:t>сырье»:Эффективность</a:t>
            </a:r>
            <a:r>
              <a:rPr lang="ru-RU" sz="100" dirty="0"/>
              <a:t> производства (</a:t>
            </a:r>
            <a:r>
              <a:rPr lang="ru-RU" sz="100" dirty="0" err="1"/>
              <a:t>Production</a:t>
            </a:r>
            <a:r>
              <a:rPr lang="ru-RU" sz="100" dirty="0"/>
              <a:t> </a:t>
            </a:r>
            <a:r>
              <a:rPr lang="ru-RU" sz="100" dirty="0" err="1"/>
              <a:t>Efficiency</a:t>
            </a:r>
            <a:r>
              <a:rPr lang="ru-RU" sz="100" dirty="0"/>
              <a:t> </a:t>
            </a:r>
            <a:r>
              <a:rPr lang="ru-RU" sz="100" dirty="0" err="1"/>
              <a:t>Growth</a:t>
            </a:r>
            <a:r>
              <a:rPr lang="ru-RU" sz="100" dirty="0"/>
              <a:t>): +5%Скорость исследования промышленных технологий (</a:t>
            </a:r>
            <a:r>
              <a:rPr lang="ru-RU" sz="100" dirty="0" err="1"/>
              <a:t>Industry</a:t>
            </a:r>
            <a:r>
              <a:rPr lang="ru-RU" sz="100" dirty="0"/>
              <a:t> </a:t>
            </a:r>
            <a:r>
              <a:rPr lang="ru-RU" sz="100" dirty="0" err="1"/>
              <a:t>Research</a:t>
            </a:r>
            <a:r>
              <a:rPr lang="ru-RU" sz="100" dirty="0"/>
              <a:t> </a:t>
            </a:r>
            <a:r>
              <a:rPr lang="ru-RU" sz="100" dirty="0" err="1"/>
              <a:t>Speed</a:t>
            </a:r>
            <a:r>
              <a:rPr lang="ru-RU" sz="100" dirty="0"/>
              <a:t>): +10% (химическая отрасль).Развитие </a:t>
            </a:r>
            <a:r>
              <a:rPr lang="ru-RU" sz="100" dirty="0" err="1"/>
              <a:t>инфраструктуры:В</a:t>
            </a:r>
            <a:r>
              <a:rPr lang="ru-RU" sz="100" dirty="0"/>
              <a:t> южном регионе Мавритании бесплатно строится +1 уровень </a:t>
            </a:r>
            <a:r>
              <a:rPr lang="ru-RU" sz="100" dirty="0" err="1"/>
              <a:t>Инфраструктуры.Открывается</a:t>
            </a:r>
            <a:r>
              <a:rPr lang="ru-RU" sz="100" dirty="0"/>
              <a:t> +1 свободный слот для строительства фабрик в этом регионе.)</a:t>
            </a:r>
            <a:endParaRPr lang="ru-RU" sz="700" dirty="0"/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  <a:br>
              <a:rPr lang="ru-RU" sz="700" dirty="0"/>
            </a:br>
            <a:r>
              <a:rPr lang="ru-RU" sz="100" dirty="0"/>
              <a:t>(Умиротворение эмиров </a:t>
            </a:r>
            <a:r>
              <a:rPr lang="ru-RU" sz="100" dirty="0" err="1"/>
              <a:t>Трарзы</a:t>
            </a:r>
            <a:r>
              <a:rPr lang="ru-RU" sz="100" dirty="0"/>
              <a:t> и </a:t>
            </a:r>
            <a:r>
              <a:rPr lang="ru-RU" sz="100" dirty="0" err="1"/>
              <a:t>Адрара</a:t>
            </a:r>
            <a:r>
              <a:rPr lang="ru-RU" sz="100" dirty="0"/>
              <a:t>»: Договор с местной кочевой </a:t>
            </a:r>
            <a:r>
              <a:rPr lang="ru-RU" sz="100" dirty="0" err="1"/>
              <a:t>элитой.Эффект</a:t>
            </a:r>
            <a:r>
              <a:rPr lang="ru-RU" sz="100" dirty="0"/>
              <a:t>: Снижение подчинения (</a:t>
            </a:r>
            <a:r>
              <a:rPr lang="ru-RU" sz="100" dirty="0" err="1"/>
              <a:t>Resistance</a:t>
            </a:r>
            <a:r>
              <a:rPr lang="ru-RU" sz="100" dirty="0"/>
              <a:t>) на 20%, рост </a:t>
            </a:r>
            <a:r>
              <a:rPr lang="ru-RU" sz="100" dirty="0" err="1"/>
              <a:t>стабильности.«Суфийские</a:t>
            </a:r>
            <a:r>
              <a:rPr lang="ru-RU" sz="100" dirty="0"/>
              <a:t> братства на службе Султана»: Использование авторитета марокканских религиозных орденов (</a:t>
            </a:r>
            <a:r>
              <a:rPr lang="ru-RU" sz="100" dirty="0" err="1"/>
              <a:t>Тиджания</a:t>
            </a:r>
            <a:r>
              <a:rPr lang="ru-RU" sz="100" dirty="0"/>
              <a:t>).Эффект: Прирост политической власти (+0.5/день), ускорение роста подчинения </a:t>
            </a:r>
            <a:r>
              <a:rPr lang="ru-RU" sz="100" dirty="0" err="1"/>
              <a:t>населения.«Ликвидация</a:t>
            </a:r>
            <a:r>
              <a:rPr lang="ru-RU" sz="100" dirty="0"/>
              <a:t> французских колониальных границ»: Административная реформа и объявление Мавритании неотъемлемой южной </a:t>
            </a:r>
            <a:r>
              <a:rPr lang="ru-RU" sz="100" dirty="0" err="1"/>
              <a:t>провинцией.Эффект</a:t>
            </a:r>
            <a:r>
              <a:rPr lang="ru-RU" sz="100" dirty="0"/>
              <a:t>: Получение национальных корней (</a:t>
            </a:r>
            <a:r>
              <a:rPr lang="ru-RU" sz="100" dirty="0" err="1"/>
              <a:t>Cores</a:t>
            </a:r>
            <a:r>
              <a:rPr lang="ru-RU" sz="100" dirty="0"/>
              <a:t>) на регионы Мавритании.)</a:t>
            </a:r>
            <a:endParaRPr lang="ru-RU" sz="700" dirty="0"/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229781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 err="1"/>
              <a:t>Транссахарская</a:t>
            </a:r>
            <a:r>
              <a:rPr lang="ru-RU" sz="800" dirty="0"/>
              <a:t> железная дорога: Фес — Нуакшот</a:t>
            </a:r>
            <a:endParaRPr lang="ru-RU" sz="7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279449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03428" y="13734020"/>
            <a:ext cx="1142110" cy="3863741"/>
          </a:xfrm>
          <a:prstGeom prst="bentConnector3">
            <a:avLst>
              <a:gd name="adj1" fmla="val 1510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274792" y="14769125"/>
            <a:ext cx="1144490" cy="1791150"/>
          </a:xfrm>
          <a:prstGeom prst="bentConnector3">
            <a:avLst>
              <a:gd name="adj1" fmla="val 1517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23205" y="14911862"/>
            <a:ext cx="1144490" cy="1505676"/>
          </a:xfrm>
          <a:prstGeom prst="bentConnector3">
            <a:avLst>
              <a:gd name="adj1" fmla="val 1517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05" name="Соединительная линия уступом 620">
            <a:extLst>
              <a:ext uri="{FF2B5EF4-FFF2-40B4-BE49-F238E27FC236}">
                <a16:creationId xmlns:a16="http://schemas.microsoft.com/office/drawing/2014/main" id="{B2A15EBA-8AB6-452B-AD69-08380A8C0834}"/>
              </a:ext>
            </a:extLst>
          </p:cNvPr>
          <p:cNvCxnSpPr>
            <a:cxnSpLocks/>
            <a:stCxn id="285" idx="2"/>
            <a:endCxn id="316" idx="0"/>
          </p:cNvCxnSpPr>
          <p:nvPr/>
        </p:nvCxnSpPr>
        <p:spPr>
          <a:xfrm rot="16200000" flipH="1">
            <a:off x="8285703" y="4613073"/>
            <a:ext cx="267392" cy="591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095832" y="5827548"/>
            <a:ext cx="1078436" cy="593439"/>
          </a:xfrm>
          <a:prstGeom prst="bentConnector3">
            <a:avLst>
              <a:gd name="adj1" fmla="val 1231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6796412" y="5717090"/>
            <a:ext cx="267398" cy="331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8876519" y="5420987"/>
            <a:ext cx="267392" cy="5902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Соединительная линия уступом 620">
            <a:extLst>
              <a:ext uri="{FF2B5EF4-FFF2-40B4-BE49-F238E27FC236}">
                <a16:creationId xmlns:a16="http://schemas.microsoft.com/office/drawing/2014/main" id="{044D3774-F822-48CC-947E-EF6B5C279EAA}"/>
              </a:ext>
            </a:extLst>
          </p:cNvPr>
          <p:cNvCxnSpPr>
            <a:cxnSpLocks/>
            <a:stCxn id="316" idx="2"/>
            <a:endCxn id="320" idx="0"/>
          </p:cNvCxnSpPr>
          <p:nvPr/>
        </p:nvCxnSpPr>
        <p:spPr>
          <a:xfrm rot="5400000">
            <a:off x="8285612" y="5420072"/>
            <a:ext cx="267090" cy="59182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Соединительная линия уступом 620">
            <a:extLst>
              <a:ext uri="{FF2B5EF4-FFF2-40B4-BE49-F238E27FC236}">
                <a16:creationId xmlns:a16="http://schemas.microsoft.com/office/drawing/2014/main" id="{F04D2F1B-ED28-4083-8843-EC9AD7CBF2C8}"/>
              </a:ext>
            </a:extLst>
          </p:cNvPr>
          <p:cNvCxnSpPr>
            <a:cxnSpLocks/>
            <a:stCxn id="310" idx="2"/>
            <a:endCxn id="320" idx="0"/>
          </p:cNvCxnSpPr>
          <p:nvPr/>
        </p:nvCxnSpPr>
        <p:spPr>
          <a:xfrm rot="16200000" flipH="1">
            <a:off x="7395268" y="5121549"/>
            <a:ext cx="264479" cy="11914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680983" y="5835834"/>
            <a:ext cx="1087097" cy="585525"/>
          </a:xfrm>
          <a:prstGeom prst="bentConnector3">
            <a:avLst>
              <a:gd name="adj1" fmla="val 1276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/>
              <a:t>Национальная партия 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Соединительная линия уступом 620">
            <a:extLst>
              <a:ext uri="{FF2B5EF4-FFF2-40B4-BE49-F238E27FC236}">
                <a16:creationId xmlns:a16="http://schemas.microsoft.com/office/drawing/2014/main" id="{B6A4BAC8-9B96-4AD1-9DC1-74B87318713D}"/>
              </a:ext>
            </a:extLst>
          </p:cNvPr>
          <p:cNvCxnSpPr>
            <a:cxnSpLocks/>
            <a:stCxn id="275" idx="2"/>
            <a:endCxn id="332" idx="0"/>
          </p:cNvCxnSpPr>
          <p:nvPr/>
        </p:nvCxnSpPr>
        <p:spPr>
          <a:xfrm rot="5400000">
            <a:off x="8767971" y="5312438"/>
            <a:ext cx="107478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41776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6088" y="7027091"/>
            <a:ext cx="263056" cy="59464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3896" y="7025154"/>
            <a:ext cx="261831" cy="5997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30978" y="50455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мехзен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  <a:br>
              <a:rPr lang="ru-RU" sz="700" dirty="0"/>
            </a:br>
            <a:r>
              <a:rPr lang="ru-RU" sz="200" dirty="0"/>
              <a:t>В 1957 году он принял титул короля Марокко , чтобы символизировать единство страны, несмотря на разногласия между арабами и берберами . «Провозглашение Королевства»: Исторический шаг 1957 года. Мухаммед V меняет титул султана на короля, модернизируя образ монархии. Эффект: +15% к Стабильности, рост ежедневного прироста Политической власти (PP).</a:t>
            </a:r>
            <a:endParaRPr lang="ru-RU" sz="700" dirty="0"/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313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Панарабисткие</a:t>
            </a:r>
            <a:r>
              <a:rPr lang="ru-RU" sz="700" dirty="0"/>
              <a:t> амбиции </a:t>
            </a:r>
            <a:r>
              <a:rPr lang="ru-RU" sz="700" dirty="0" err="1"/>
              <a:t>Муххамеда</a:t>
            </a:r>
            <a:r>
              <a:rPr lang="ru-RU" sz="700" dirty="0"/>
              <a:t>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10691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89668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39455" y="20576627"/>
            <a:ext cx="106057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43483" y="21480415"/>
            <a:ext cx="259758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4918" y="21481740"/>
            <a:ext cx="259758" cy="5901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16200000" flipH="1">
            <a:off x="10357636" y="4909081"/>
            <a:ext cx="270540" cy="24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Соединительная линия уступом 620">
            <a:extLst>
              <a:ext uri="{FF2B5EF4-FFF2-40B4-BE49-F238E27FC236}">
                <a16:creationId xmlns:a16="http://schemas.microsoft.com/office/drawing/2014/main" id="{E4830A77-CFFB-4D97-BE75-3D5605CF1301}"/>
              </a:ext>
            </a:extLst>
          </p:cNvPr>
          <p:cNvCxnSpPr>
            <a:cxnSpLocks/>
            <a:stCxn id="336" idx="2"/>
            <a:endCxn id="320" idx="0"/>
          </p:cNvCxnSpPr>
          <p:nvPr/>
        </p:nvCxnSpPr>
        <p:spPr>
          <a:xfrm rot="5400000">
            <a:off x="9176723" y="4532110"/>
            <a:ext cx="263942" cy="23708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5400000">
            <a:off x="10364261" y="5714232"/>
            <a:ext cx="258526" cy="123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0212" y="5926805"/>
            <a:ext cx="268774" cy="11833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097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472" y="5131255"/>
            <a:ext cx="271330" cy="11799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16200000" flipH="1">
            <a:off x="11547228" y="6523821"/>
            <a:ext cx="255970" cy="21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16200000" flipH="1">
            <a:off x="11549935" y="7319243"/>
            <a:ext cx="255970" cy="32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8876520" y="4613595"/>
            <a:ext cx="267392" cy="5902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  <a:p>
            <a:pPr algn="ctr"/>
            <a:r>
              <a:rPr lang="ru-RU" sz="200" dirty="0"/>
              <a:t>(прогрессивная социальная политика в отношении пожилых людей и безработных;)</a:t>
            </a:r>
            <a:endParaRPr lang="ru-RU" sz="700" dirty="0"/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179895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558865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  <a:br>
              <a:rPr lang="ru-RU" sz="700" dirty="0"/>
            </a:br>
            <a:r>
              <a:rPr lang="ru-RU" sz="200" dirty="0"/>
              <a:t>(и, возможно, наиболее радикальный шаг — призыв к земельной реформе и прекращению феодальных связей между поселенцами и местными земледельцами.)</a:t>
            </a:r>
            <a:endParaRPr lang="ru-RU" sz="700" dirty="0"/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 </a:t>
            </a:r>
            <a:r>
              <a:rPr lang="ru-RU" sz="200" dirty="0"/>
              <a:t>(В качестве предзнаменования будущего План требовал повсеместного использования арабского языка в общественном пространстве, включая железную дорогу, где «все билеты и квитанции, а также вывески в вагонах и на станциях должны быть напечатаны на арабском и французском языках».)</a:t>
            </a:r>
            <a:endParaRPr lang="ru-RU" sz="700" dirty="0"/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3854" y="8134165"/>
            <a:ext cx="279309" cy="28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</a:t>
            </a:r>
            <a:r>
              <a:rPr lang="ru-RU" sz="700" dirty="0" err="1"/>
              <a:t>Фасси</a:t>
            </a:r>
            <a:r>
              <a:rPr lang="ru-RU" sz="700" dirty="0"/>
              <a:t> и потомками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57560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  <a:br>
              <a:rPr lang="ru-RU" sz="700" dirty="0"/>
            </a:br>
            <a:r>
              <a:rPr lang="ru-RU" sz="200" dirty="0"/>
              <a:t>(Контакты между националистами на севере и личностями, вовлеченными в орбиту довоенного Берлина, такими как муфтий Иерусалима Хадж Амин аль-</a:t>
            </a:r>
            <a:r>
              <a:rPr lang="ru-RU" sz="200" dirty="0" err="1"/>
              <a:t>Хусейни</a:t>
            </a:r>
            <a:r>
              <a:rPr lang="ru-RU" sz="200" dirty="0"/>
              <a:t>, </a:t>
            </a:r>
            <a:r>
              <a:rPr lang="ru-RU" sz="200" dirty="0" err="1"/>
              <a:t>Шакиб</a:t>
            </a:r>
            <a:r>
              <a:rPr lang="ru-RU" sz="200" dirty="0"/>
              <a:t> Арслан и Рашид, также имели место.¬)</a:t>
            </a:r>
            <a:endParaRPr lang="ru-RU" sz="700" dirty="0"/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3087" y="17112510"/>
            <a:ext cx="283550" cy="12482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16200000" flipH="1">
            <a:off x="9984048" y="18555099"/>
            <a:ext cx="276431" cy="3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  <a:br>
              <a:rPr lang="ru-RU" sz="700" dirty="0"/>
            </a:br>
            <a:r>
              <a:rPr lang="ru-RU" sz="300" dirty="0"/>
              <a:t>(Ливан и Рашид) (может </a:t>
            </a:r>
            <a:r>
              <a:rPr lang="ru-RU" sz="300" dirty="0" err="1"/>
              <a:t>гуи</a:t>
            </a:r>
            <a:r>
              <a:rPr lang="ru-RU" sz="300" dirty="0"/>
              <a:t> в виде карты Арабского Мира и портреты королей на странах)</a:t>
            </a:r>
            <a:endParaRPr lang="ru-RU" sz="700" dirty="0"/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2060435" y="16903439"/>
            <a:ext cx="1082637" cy="2465505"/>
          </a:xfrm>
          <a:prstGeom prst="bentConnector3">
            <a:avLst>
              <a:gd name="adj1" fmla="val 1246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Соединительная линия уступом 620">
            <a:extLst>
              <a:ext uri="{FF2B5EF4-FFF2-40B4-BE49-F238E27FC236}">
                <a16:creationId xmlns:a16="http://schemas.microsoft.com/office/drawing/2014/main" id="{2B98F768-D204-4604-B962-EA14A2C665C1}"/>
              </a:ext>
            </a:extLst>
          </p:cNvPr>
          <p:cNvCxnSpPr>
            <a:cxnSpLocks/>
            <a:stCxn id="244" idx="2"/>
            <a:endCxn id="299" idx="0"/>
          </p:cNvCxnSpPr>
          <p:nvPr/>
        </p:nvCxnSpPr>
        <p:spPr>
          <a:xfrm rot="16200000" flipH="1">
            <a:off x="12145471" y="18438753"/>
            <a:ext cx="289356" cy="184687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6FB6D578-DFA8-4CE8-937B-B828957F287F}"/>
              </a:ext>
            </a:extLst>
          </p:cNvPr>
          <p:cNvCxnSpPr>
            <a:cxnSpLocks/>
            <a:stCxn id="445" idx="2"/>
            <a:endCxn id="299" idx="0"/>
          </p:cNvCxnSpPr>
          <p:nvPr/>
        </p:nvCxnSpPr>
        <p:spPr>
          <a:xfrm rot="16200000" flipH="1">
            <a:off x="12768768" y="19062049"/>
            <a:ext cx="289357" cy="6002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650344BC-1870-4F0E-9E78-8868189D65F1}"/>
              </a:ext>
            </a:extLst>
          </p:cNvPr>
          <p:cNvSpPr/>
          <p:nvPr/>
        </p:nvSpPr>
        <p:spPr>
          <a:xfrm>
            <a:off x="12150142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Бея Туниса от французского гнёта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B4C6028A-B393-4A8F-AB7E-AA61247C9DC7}"/>
              </a:ext>
            </a:extLst>
          </p:cNvPr>
          <p:cNvSpPr/>
          <p:nvPr/>
        </p:nvSpPr>
        <p:spPr>
          <a:xfrm>
            <a:off x="11523765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Поделить Алжир между султаном и беем</a:t>
            </a:r>
          </a:p>
        </p:txBody>
      </p:sp>
      <p:cxnSp>
        <p:nvCxnSpPr>
          <p:cNvPr id="465" name="Соединительная линия уступом 620">
            <a:extLst>
              <a:ext uri="{FF2B5EF4-FFF2-40B4-BE49-F238E27FC236}">
                <a16:creationId xmlns:a16="http://schemas.microsoft.com/office/drawing/2014/main" id="{503A91C2-CF9E-4358-A873-96E06E5EDF6A}"/>
              </a:ext>
            </a:extLst>
          </p:cNvPr>
          <p:cNvCxnSpPr>
            <a:cxnSpLocks/>
            <a:stCxn id="299" idx="2"/>
            <a:endCxn id="463" idx="0"/>
          </p:cNvCxnSpPr>
          <p:nvPr/>
        </p:nvCxnSpPr>
        <p:spPr>
          <a:xfrm rot="5400000">
            <a:off x="12783566" y="19876608"/>
            <a:ext cx="259760" cy="600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620">
            <a:extLst>
              <a:ext uri="{FF2B5EF4-FFF2-40B4-BE49-F238E27FC236}">
                <a16:creationId xmlns:a16="http://schemas.microsoft.com/office/drawing/2014/main" id="{B7A2BFAC-67D6-4305-95FF-2ED05C01E2FB}"/>
              </a:ext>
            </a:extLst>
          </p:cNvPr>
          <p:cNvCxnSpPr>
            <a:cxnSpLocks/>
            <a:stCxn id="463" idx="2"/>
            <a:endCxn id="464" idx="0"/>
          </p:cNvCxnSpPr>
          <p:nvPr/>
        </p:nvCxnSpPr>
        <p:spPr>
          <a:xfrm rot="5400000">
            <a:off x="12169974" y="20663583"/>
            <a:ext cx="260287" cy="6263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1" name="Прямоугольник 470">
            <a:extLst>
              <a:ext uri="{FF2B5EF4-FFF2-40B4-BE49-F238E27FC236}">
                <a16:creationId xmlns:a16="http://schemas.microsoft.com/office/drawing/2014/main" id="{9FA1C022-691C-4F3D-B4B5-1D247E928869}"/>
              </a:ext>
            </a:extLst>
          </p:cNvPr>
          <p:cNvSpPr/>
          <p:nvPr/>
        </p:nvSpPr>
        <p:spPr>
          <a:xfrm>
            <a:off x="12752200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королевство </a:t>
            </a:r>
            <a:r>
              <a:rPr lang="ru-RU" sz="700" dirty="0" err="1"/>
              <a:t>Сенуситов</a:t>
            </a:r>
            <a:endParaRPr lang="ru-RU" sz="700" dirty="0"/>
          </a:p>
        </p:txBody>
      </p:sp>
      <p:cxnSp>
        <p:nvCxnSpPr>
          <p:cNvPr id="473" name="Соединительная линия уступом 620">
            <a:extLst>
              <a:ext uri="{FF2B5EF4-FFF2-40B4-BE49-F238E27FC236}">
                <a16:creationId xmlns:a16="http://schemas.microsoft.com/office/drawing/2014/main" id="{E20EFA4A-145D-49CC-98D7-D6C9C8DB6250}"/>
              </a:ext>
            </a:extLst>
          </p:cNvPr>
          <p:cNvCxnSpPr>
            <a:cxnSpLocks/>
            <a:stCxn id="463" idx="2"/>
            <a:endCxn id="471" idx="0"/>
          </p:cNvCxnSpPr>
          <p:nvPr/>
        </p:nvCxnSpPr>
        <p:spPr>
          <a:xfrm rot="16200000" flipH="1">
            <a:off x="12784191" y="20675742"/>
            <a:ext cx="260287" cy="60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C4877405-2FC0-41D1-89B9-92A1CE16E115}"/>
              </a:ext>
            </a:extLst>
          </p:cNvPr>
          <p:cNvSpPr/>
          <p:nvPr/>
        </p:nvSpPr>
        <p:spPr>
          <a:xfrm>
            <a:off x="14000328" y="195004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Объединиться с королями арабов</a:t>
            </a:r>
          </a:p>
        </p:txBody>
      </p:sp>
      <p:cxnSp>
        <p:nvCxnSpPr>
          <p:cNvPr id="477" name="Соединительная линия уступом 620">
            <a:extLst>
              <a:ext uri="{FF2B5EF4-FFF2-40B4-BE49-F238E27FC236}">
                <a16:creationId xmlns:a16="http://schemas.microsoft.com/office/drawing/2014/main" id="{C65BA08B-A094-49AA-9B25-ADF84BAC3B08}"/>
              </a:ext>
            </a:extLst>
          </p:cNvPr>
          <p:cNvCxnSpPr>
            <a:cxnSpLocks/>
            <a:stCxn id="445" idx="2"/>
            <a:endCxn id="476" idx="0"/>
          </p:cNvCxnSpPr>
          <p:nvPr/>
        </p:nvCxnSpPr>
        <p:spPr>
          <a:xfrm rot="16200000" flipH="1">
            <a:off x="13396950" y="18433866"/>
            <a:ext cx="282897" cy="18501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0" name="Прямоугольник 479">
            <a:extLst>
              <a:ext uri="{FF2B5EF4-FFF2-40B4-BE49-F238E27FC236}">
                <a16:creationId xmlns:a16="http://schemas.microsoft.com/office/drawing/2014/main" id="{8C02F0DB-A2BB-4711-BC0F-339E3C4ED827}"/>
              </a:ext>
            </a:extLst>
          </p:cNvPr>
          <p:cNvSpPr/>
          <p:nvPr/>
        </p:nvSpPr>
        <p:spPr>
          <a:xfrm>
            <a:off x="13377867" y="2031111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Спасти святые земли</a:t>
            </a:r>
          </a:p>
        </p:txBody>
      </p:sp>
      <p:cxnSp>
        <p:nvCxnSpPr>
          <p:cNvPr id="481" name="Прямая соединительная линия 480">
            <a:extLst>
              <a:ext uri="{FF2B5EF4-FFF2-40B4-BE49-F238E27FC236}">
                <a16:creationId xmlns:a16="http://schemas.microsoft.com/office/drawing/2014/main" id="{33A58044-D3D1-45D5-881C-2597CEC56D5B}"/>
              </a:ext>
            </a:extLst>
          </p:cNvPr>
          <p:cNvCxnSpPr>
            <a:cxnSpLocks/>
            <a:stCxn id="299" idx="1"/>
            <a:endCxn id="388" idx="3"/>
          </p:cNvCxnSpPr>
          <p:nvPr/>
        </p:nvCxnSpPr>
        <p:spPr>
          <a:xfrm flipH="1" flipV="1">
            <a:off x="11232905" y="19776339"/>
            <a:ext cx="1517518" cy="529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Соединительная линия уступом 620">
            <a:extLst>
              <a:ext uri="{FF2B5EF4-FFF2-40B4-BE49-F238E27FC236}">
                <a16:creationId xmlns:a16="http://schemas.microsoft.com/office/drawing/2014/main" id="{D723A5DC-2D38-496C-831E-DD515F89FD92}"/>
              </a:ext>
            </a:extLst>
          </p:cNvPr>
          <p:cNvCxnSpPr>
            <a:cxnSpLocks/>
            <a:stCxn id="299" idx="2"/>
            <a:endCxn id="480" idx="0"/>
          </p:cNvCxnSpPr>
          <p:nvPr/>
        </p:nvCxnSpPr>
        <p:spPr>
          <a:xfrm rot="16200000" flipH="1">
            <a:off x="13395185" y="19865269"/>
            <a:ext cx="264246" cy="6274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5" name="Прямоугольник 494">
            <a:extLst>
              <a:ext uri="{FF2B5EF4-FFF2-40B4-BE49-F238E27FC236}">
                <a16:creationId xmlns:a16="http://schemas.microsoft.com/office/drawing/2014/main" id="{B4EBCBB4-0F46-419E-B5D5-FC26FA0BF919}"/>
              </a:ext>
            </a:extLst>
          </p:cNvPr>
          <p:cNvSpPr/>
          <p:nvPr/>
        </p:nvSpPr>
        <p:spPr>
          <a:xfrm>
            <a:off x="1275219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Сместить недостойного </a:t>
            </a:r>
            <a:r>
              <a:rPr lang="ru-RU" sz="700" dirty="0" err="1"/>
              <a:t>Фаррука</a:t>
            </a:r>
            <a:endParaRPr lang="ru-RU" sz="700" dirty="0"/>
          </a:p>
        </p:txBody>
      </p:sp>
      <p:cxnSp>
        <p:nvCxnSpPr>
          <p:cNvPr id="496" name="Соединительная линия уступом 620">
            <a:extLst>
              <a:ext uri="{FF2B5EF4-FFF2-40B4-BE49-F238E27FC236}">
                <a16:creationId xmlns:a16="http://schemas.microsoft.com/office/drawing/2014/main" id="{92205E9D-8331-41D1-B409-CFD0984BFFFA}"/>
              </a:ext>
            </a:extLst>
          </p:cNvPr>
          <p:cNvCxnSpPr>
            <a:cxnSpLocks/>
            <a:stCxn id="471" idx="2"/>
            <a:endCxn id="495" idx="0"/>
          </p:cNvCxnSpPr>
          <p:nvPr/>
        </p:nvCxnSpPr>
        <p:spPr>
          <a:xfrm rot="5400000">
            <a:off x="13085484" y="21776794"/>
            <a:ext cx="25975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9" name="Прямоугольник 498">
            <a:extLst>
              <a:ext uri="{FF2B5EF4-FFF2-40B4-BE49-F238E27FC236}">
                <a16:creationId xmlns:a16="http://schemas.microsoft.com/office/drawing/2014/main" id="{8248E5C5-861C-4B3A-AB08-BEA35760CFE6}"/>
              </a:ext>
            </a:extLst>
          </p:cNvPr>
          <p:cNvSpPr/>
          <p:nvPr/>
        </p:nvSpPr>
        <p:spPr>
          <a:xfrm>
            <a:off x="14000328" y="2190342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Мекку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557FAF48-D874-470D-BE40-9E02258506A6}"/>
              </a:ext>
            </a:extLst>
          </p:cNvPr>
          <p:cNvSpPr/>
          <p:nvPr/>
        </p:nvSpPr>
        <p:spPr>
          <a:xfrm>
            <a:off x="14000329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Совет королей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46B695DF-0CE6-47C1-989E-ABB5C4051389}"/>
              </a:ext>
            </a:extLst>
          </p:cNvPr>
          <p:cNvCxnSpPr>
            <a:cxnSpLocks/>
            <a:stCxn id="480" idx="2"/>
            <a:endCxn id="501" idx="0"/>
          </p:cNvCxnSpPr>
          <p:nvPr/>
        </p:nvCxnSpPr>
        <p:spPr>
          <a:xfrm rot="16200000" flipH="1">
            <a:off x="14024361" y="20667783"/>
            <a:ext cx="255801" cy="6224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Соединительная линия уступом 620">
            <a:extLst>
              <a:ext uri="{FF2B5EF4-FFF2-40B4-BE49-F238E27FC236}">
                <a16:creationId xmlns:a16="http://schemas.microsoft.com/office/drawing/2014/main" id="{4FFBC942-3FB4-4F84-9677-3EAA1CEDCA48}"/>
              </a:ext>
            </a:extLst>
          </p:cNvPr>
          <p:cNvCxnSpPr>
            <a:cxnSpLocks/>
            <a:stCxn id="476" idx="2"/>
            <a:endCxn id="501" idx="0"/>
          </p:cNvCxnSpPr>
          <p:nvPr/>
        </p:nvCxnSpPr>
        <p:spPr>
          <a:xfrm rot="16200000" flipH="1">
            <a:off x="13930238" y="20573660"/>
            <a:ext cx="10665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3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828CC0F5-AA67-4601-B98A-88020B70EA82}"/>
              </a:ext>
            </a:extLst>
          </p:cNvPr>
          <p:cNvCxnSpPr>
            <a:cxnSpLocks/>
            <a:stCxn id="501" idx="2"/>
            <a:endCxn id="499" idx="0"/>
          </p:cNvCxnSpPr>
          <p:nvPr/>
        </p:nvCxnSpPr>
        <p:spPr>
          <a:xfrm rot="5400000">
            <a:off x="14335239" y="21775168"/>
            <a:ext cx="25650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03347" y="22317303"/>
            <a:ext cx="327134" cy="5858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11911" y="22311743"/>
            <a:ext cx="327134" cy="5969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5" name="Прямоугольник 534">
            <a:extLst>
              <a:ext uri="{FF2B5EF4-FFF2-40B4-BE49-F238E27FC236}">
                <a16:creationId xmlns:a16="http://schemas.microsoft.com/office/drawing/2014/main" id="{0EF51C39-5CDB-4991-B859-6F3CB100F62B}"/>
              </a:ext>
            </a:extLst>
          </p:cNvPr>
          <p:cNvSpPr/>
          <p:nvPr/>
        </p:nvSpPr>
        <p:spPr>
          <a:xfrm>
            <a:off x="13377867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создании Федерации арабских королевств</a:t>
            </a:r>
          </a:p>
        </p:txBody>
      </p:sp>
      <p:cxnSp>
        <p:nvCxnSpPr>
          <p:cNvPr id="536" name="Соединительная линия уступом 620">
            <a:extLst>
              <a:ext uri="{FF2B5EF4-FFF2-40B4-BE49-F238E27FC236}">
                <a16:creationId xmlns:a16="http://schemas.microsoft.com/office/drawing/2014/main" id="{70499EFD-2CD6-4B5A-BCCE-FD0B9B26485B}"/>
              </a:ext>
            </a:extLst>
          </p:cNvPr>
          <p:cNvCxnSpPr>
            <a:cxnSpLocks/>
            <a:stCxn id="495" idx="2"/>
            <a:endCxn id="535" idx="0"/>
          </p:cNvCxnSpPr>
          <p:nvPr/>
        </p:nvCxnSpPr>
        <p:spPr>
          <a:xfrm rot="16200000" flipH="1">
            <a:off x="13364629" y="22297407"/>
            <a:ext cx="327134" cy="6256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Соединительная линия уступом 620">
            <a:extLst>
              <a:ext uri="{FF2B5EF4-FFF2-40B4-BE49-F238E27FC236}">
                <a16:creationId xmlns:a16="http://schemas.microsoft.com/office/drawing/2014/main" id="{035D5408-D287-4FEE-B46A-9DAE78A1D826}"/>
              </a:ext>
            </a:extLst>
          </p:cNvPr>
          <p:cNvCxnSpPr>
            <a:cxnSpLocks/>
            <a:stCxn id="499" idx="2"/>
            <a:endCxn id="535" idx="0"/>
          </p:cNvCxnSpPr>
          <p:nvPr/>
        </p:nvCxnSpPr>
        <p:spPr>
          <a:xfrm rot="5400000">
            <a:off x="13987068" y="22297384"/>
            <a:ext cx="330387" cy="6224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 </a:t>
            </a:r>
            <a:r>
              <a:rPr lang="ru-RU" sz="400" dirty="0"/>
              <a:t>(Конституционная демократия с ограничением власти монарха и разделением властей.)</a:t>
            </a:r>
            <a:endParaRPr lang="ru-RU" sz="800" dirty="0"/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5400000">
            <a:off x="10353529" y="8131374"/>
            <a:ext cx="273575" cy="27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  <a:p>
            <a:pPr algn="ctr"/>
            <a:r>
              <a:rPr lang="ru-RU" sz="200" dirty="0"/>
              <a:t>(Исламский традиционализм и </a:t>
            </a:r>
            <a:r>
              <a:rPr lang="ru-RU" sz="200" dirty="0" err="1"/>
              <a:t>салафитский</a:t>
            </a:r>
            <a:r>
              <a:rPr lang="ru-RU" sz="200" dirty="0"/>
              <a:t> реформизм. Ставка на религиозное обновление.)</a:t>
            </a:r>
            <a:endParaRPr lang="ru-RU" sz="700" dirty="0"/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2454" y="6732103"/>
            <a:ext cx="263056" cy="118462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579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16200000" flipH="1">
            <a:off x="10353528" y="8944948"/>
            <a:ext cx="273575" cy="27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731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 (Алжир и Тунис)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Присяга Племен (</a:t>
            </a:r>
            <a:r>
              <a:rPr lang="ru-RU" sz="700" dirty="0" err="1"/>
              <a:t>Байа</a:t>
            </a:r>
            <a:r>
              <a:rPr lang="ru-RU" sz="700" dirty="0"/>
              <a:t>)</a:t>
            </a:r>
            <a:br>
              <a:rPr lang="ru-RU" sz="700" dirty="0"/>
            </a:br>
            <a:r>
              <a:rPr lang="ru-RU" sz="200" dirty="0"/>
              <a:t>Восстановление древнего ритуала, когда вожди всех племен лично клянутся в верности королю. Фокус снижает </a:t>
            </a:r>
            <a:r>
              <a:rPr lang="ru-RU" sz="200" dirty="0" err="1"/>
              <a:t>дебаффы</a:t>
            </a:r>
            <a:r>
              <a:rPr lang="ru-RU" sz="200" dirty="0"/>
              <a:t> от автономии регионов до нуля.</a:t>
            </a:r>
            <a:endParaRPr lang="ru-RU" sz="700" dirty="0"/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 (Ливия, Египет, Судан)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198459" y="10560302"/>
            <a:ext cx="264816" cy="7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800338" y="11763239"/>
            <a:ext cx="1061866" cy="15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40200" y="4539526"/>
            <a:ext cx="269100" cy="23612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801643" y="14983756"/>
            <a:ext cx="337947" cy="5553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479535" y="14958474"/>
            <a:ext cx="337947" cy="6059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099653" y="14944264"/>
            <a:ext cx="337947" cy="6343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описание:«Пока</a:t>
            </a:r>
            <a:r>
              <a:rPr lang="ru-RU" sz="100" dirty="0"/>
              <a:t> в Европе разгорается Вторая мировая война, Танжер может стать тихой гаванью для бегущих капиталов. Ослабив банковский контроль и закрыв глаза на контрабандные рынки, мы превратим город в центр теневой торговли дефицитным сырьем, станками и валютой. Все это пойдет на нужды нашей марокканской промышленности».⚙️ Игровые </a:t>
            </a:r>
            <a:r>
              <a:rPr lang="ru-RU" sz="100" dirty="0" err="1"/>
              <a:t>эффекты:Прямой</a:t>
            </a:r>
            <a:r>
              <a:rPr lang="ru-RU" sz="100" dirty="0"/>
              <a:t> финансовый </a:t>
            </a:r>
            <a:r>
              <a:rPr lang="ru-RU" sz="100" dirty="0" err="1"/>
              <a:t>прирост:Прирост</a:t>
            </a:r>
            <a:r>
              <a:rPr lang="ru-RU" sz="100" dirty="0"/>
              <a:t> политической власти: +120 (символизирует взятки и налоги с банкиров).Прибыль гражданской промышленности (</a:t>
            </a:r>
            <a:r>
              <a:rPr lang="ru-RU" sz="100" dirty="0" err="1"/>
              <a:t>Consumer</a:t>
            </a:r>
            <a:r>
              <a:rPr lang="ru-RU" sz="100" dirty="0"/>
              <a:t> </a:t>
            </a:r>
            <a:r>
              <a:rPr lang="ru-RU" sz="100" dirty="0" err="1"/>
              <a:t>Goods</a:t>
            </a:r>
            <a:r>
              <a:rPr lang="ru-RU" sz="100" dirty="0"/>
              <a:t> </a:t>
            </a:r>
            <a:r>
              <a:rPr lang="ru-RU" sz="100" dirty="0" err="1"/>
              <a:t>Factories</a:t>
            </a:r>
            <a:r>
              <a:rPr lang="ru-RU" sz="100" dirty="0"/>
              <a:t>): −3% (снижение товаров народного потребления, так как экономика насыщается за счет контрабанды).)</a:t>
            </a:r>
            <a:endParaRPr lang="ru-RU" sz="700" dirty="0"/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136336" y="15781658"/>
            <a:ext cx="260710" cy="6381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516217" y="15799738"/>
            <a:ext cx="260710" cy="6020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888253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16200000" flipH="1">
            <a:off x="5804764" y="16511192"/>
            <a:ext cx="1087442" cy="5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179578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488501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53755</TotalTime>
  <Words>2878</Words>
  <Application>Microsoft Office PowerPoint</Application>
  <PresentationFormat>Произвольный</PresentationFormat>
  <Paragraphs>210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2446</cp:revision>
  <dcterms:created xsi:type="dcterms:W3CDTF">2018-10-23T08:09:21Z</dcterms:created>
  <dcterms:modified xsi:type="dcterms:W3CDTF">2026-06-23T11:48:31Z</dcterms:modified>
</cp:coreProperties>
</file>