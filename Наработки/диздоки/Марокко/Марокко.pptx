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F13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6374" autoAdjust="0"/>
  </p:normalViewPr>
  <p:slideViewPr>
    <p:cSldViewPr snapToGrid="0">
      <p:cViewPr>
        <p:scale>
          <a:sx n="170" d="100"/>
          <a:sy n="170" d="100"/>
        </p:scale>
        <p:origin x="-8514" y="-19908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07.07.2026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07.07.2026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07.07.2026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07.07.2026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07.07.2026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07.07.2026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07.07.2026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07.07.2026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07.07.2026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07.07.2026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07.07.2026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07.07.2026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07.07.2026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18326336" y="143820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17997228" y="14467692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19232773" y="14478743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18945478" y="1606721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17079740" y="152599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19550830" y="1525996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18006065" y="15529963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19577693" y="15630912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18342147" y="15000719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17101223" y="15623153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20168137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элитных солдат в гвардию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16461249" y="1606483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16460601" y="168827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15218217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17702446" y="160699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</a:t>
            </a:r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16480060" y="15001284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16785124" y="16743474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17702445" y="168827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</a:t>
            </a:r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18029208" y="16746362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18943644" y="1688502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18945477" y="177028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</a:t>
            </a:r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19268818" y="16745202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19268817" y="17563014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17719257" y="15623609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18954803" y="15010770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18326336" y="185046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</a:t>
            </a:r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18049382" y="16540081"/>
            <a:ext cx="2704729" cy="1224494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16813836" y="16529030"/>
            <a:ext cx="2704730" cy="1246596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15542416" y="16743092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17702444" y="177028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15846283" y="177006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16477641" y="17254568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67" idx="2"/>
            <a:endCxn id="43" idx="0"/>
          </p:cNvCxnSpPr>
          <p:nvPr/>
        </p:nvCxnSpPr>
        <p:spPr>
          <a:xfrm rot="16200000" flipH="1">
            <a:off x="15856095" y="17247340"/>
            <a:ext cx="278635" cy="6280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18025571" y="17562800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20190564" y="15623392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21406988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20809990" y="15003967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18943644" y="195252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15218216" y="168820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с равнин</a:t>
            </a:r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18857855" y="18976337"/>
            <a:ext cx="480597" cy="6173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15222026" y="185046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</a:t>
            </a:r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15141966" y="17961470"/>
            <a:ext cx="1082636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21406987" y="168820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21731187" y="16743092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20170232" y="177006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Поставить </a:t>
            </a:r>
            <a:r>
              <a:rPr lang="ru-RU" sz="700" dirty="0" err="1"/>
              <a:t>марроканцев</a:t>
            </a:r>
            <a:r>
              <a:rPr lang="ru-RU" sz="700" dirty="0"/>
              <a:t> на часть генеральских должностей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19377802" y="18269697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17702443" y="195252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90" idx="0"/>
          </p:cNvCxnSpPr>
          <p:nvPr/>
        </p:nvCxnSpPr>
        <p:spPr>
          <a:xfrm rot="16200000" flipH="1">
            <a:off x="20084065" y="17151362"/>
            <a:ext cx="1096564" cy="20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18237255" y="18973045"/>
            <a:ext cx="480596" cy="6238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17702443" y="204587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20162308" y="204583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18589482" y="19641415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19819616" y="19652481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12143190" y="145548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13379087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12143191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</a:t>
            </a: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12752201" y="1543278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10904340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11513350" y="1543278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12122460" y="14948888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12741885" y="14959302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12159352" y="15789942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12778778" y="15800358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13396726" y="15791420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11539927" y="15800358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12159353" y="15180933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11830665" y="16506945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12144722" y="1705487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13381128" y="170548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16200000" flipH="1">
            <a:off x="12468155" y="16915143"/>
            <a:ext cx="277929" cy="1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16200000" flipH="1">
            <a:off x="13704305" y="16914889"/>
            <a:ext cx="277930" cy="20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13379559" y="178287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102" idx="2"/>
            <a:endCxn id="113" idx="0"/>
          </p:cNvCxnSpPr>
          <p:nvPr/>
        </p:nvCxnSpPr>
        <p:spPr>
          <a:xfrm rot="5400000">
            <a:off x="13726594" y="17711004"/>
            <a:ext cx="233826" cy="15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7158783" y="210472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7158782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учреждения в новую систему образования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6541562" y="218473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начальное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7783622" y="218473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Единая учебная программа и вечерние школы</a:t>
            </a:r>
          </a:p>
        </p:txBody>
      </p: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7183286" y="21408732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7804315" y="21404922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8411791" y="2345548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8411792" y="226547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7714711" y="21494526"/>
            <a:ext cx="1067479" cy="1253009"/>
          </a:xfrm>
          <a:prstGeom prst="bentConnector3">
            <a:avLst>
              <a:gd name="adj1" fmla="val 1056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8744600" y="23325126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5299502" y="218473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6562257" y="20787701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5301930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5633524" y="22516531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7783622" y="1864451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7158781" y="19445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7158781" y="2344881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6540785" y="178287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7158782" y="202465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8400841" y="20246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8400842" y="19445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6540786" y="186451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5914841" y="194458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5914842" y="21042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5914841" y="20246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5305853" y="186495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6468606" y="18076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  <a:p>
            <a:pPr algn="ctr"/>
            <a:r>
              <a:rPr lang="ru-RU" sz="100" dirty="0"/>
              <a:t>(После прихода к власти левых во Франции летом 1936 года по всему Марокко прокатилась волна рабочих протестов. Крупнейшие забастовки вспыхнули на фосфатных рудниках </a:t>
            </a:r>
            <a:r>
              <a:rPr lang="ru-RU" sz="100" dirty="0" err="1"/>
              <a:t>Хурибги</a:t>
            </a:r>
            <a:r>
              <a:rPr lang="ru-RU" sz="100" dirty="0"/>
              <a:t>. Французский генеральный 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был вынужден пойти на экономические уступки местному </a:t>
            </a:r>
            <a:r>
              <a:rPr lang="ru-RU" sz="100" dirty="0" err="1"/>
              <a:t>населению:Была</a:t>
            </a:r>
            <a:r>
              <a:rPr lang="ru-RU" sz="100" dirty="0"/>
              <a:t> законодательно увеличена минимальная заработная плата для марокканских </a:t>
            </a:r>
            <a:r>
              <a:rPr lang="ru-RU" sz="100" dirty="0" err="1"/>
              <a:t>рабочих.Была</a:t>
            </a:r>
            <a:r>
              <a:rPr lang="ru-RU" sz="100" dirty="0"/>
              <a:t> введена официальная 40-часовая рабочая неделя (для европейских специалистов) и сокращен рабочий день для местных шахтеров.)</a:t>
            </a:r>
            <a:endParaRPr lang="ru-RU" sz="600" dirty="0"/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8400840" y="210472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6249861" y="20914714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8733648" y="20116215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8733646" y="20916930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7491586" y="20116215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8112617" y="19495186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8112615" y="20295903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7491587" y="20916932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4670901" y="194458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5597226" y="19715857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4670900" y="2024698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</a:t>
            </a:r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5323397" y="19000238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5945367" y="19013220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5625472" y="19494449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5003502" y="20116419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5625677" y="19494244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6247647" y="20116214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6865729" y="18506920"/>
            <a:ext cx="276438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7182587" y="19006501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8424724" y="19006576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5138627" y="19981293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5760597" y="20603263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5759657" y="19360263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6381627" y="19982233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7491591" y="23318455"/>
            <a:ext cx="2607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178" idx="1"/>
            <a:endCxn id="172" idx="3"/>
          </p:cNvCxnSpPr>
          <p:nvPr/>
        </p:nvCxnSpPr>
        <p:spPr>
          <a:xfrm flipH="1">
            <a:off x="7394931" y="2077655"/>
            <a:ext cx="910463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D9685A5-0F5B-46E4-B9C4-11EF0AFB73FB}"/>
              </a:ext>
            </a:extLst>
          </p:cNvPr>
          <p:cNvSpPr/>
          <p:nvPr/>
        </p:nvSpPr>
        <p:spPr>
          <a:xfrm>
            <a:off x="4670899" y="210373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Секторы модернизации сельской местности</a:t>
            </a:r>
            <a:endParaRPr lang="ru-RU" sz="100" dirty="0"/>
          </a:p>
        </p:txBody>
      </p:sp>
      <p:cxnSp>
        <p:nvCxnSpPr>
          <p:cNvPr id="158" name="Соединительная линия уступом 620">
            <a:extLst>
              <a:ext uri="{FF2B5EF4-FFF2-40B4-BE49-F238E27FC236}">
                <a16:creationId xmlns:a16="http://schemas.microsoft.com/office/drawing/2014/main" id="{2C19DE1B-1420-4A75-9AEA-95F5D82E5583}"/>
              </a:ext>
            </a:extLst>
          </p:cNvPr>
          <p:cNvCxnSpPr>
            <a:cxnSpLocks/>
            <a:stCxn id="170" idx="2"/>
            <a:endCxn id="156" idx="0"/>
          </p:cNvCxnSpPr>
          <p:nvPr/>
        </p:nvCxnSpPr>
        <p:spPr>
          <a:xfrm rot="5400000">
            <a:off x="5630624" y="20290010"/>
            <a:ext cx="250818" cy="12439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Соединительная линия уступом 620">
            <a:extLst>
              <a:ext uri="{FF2B5EF4-FFF2-40B4-BE49-F238E27FC236}">
                <a16:creationId xmlns:a16="http://schemas.microsoft.com/office/drawing/2014/main" id="{73562267-8A4D-4264-8436-A6E73CEB01B1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6246048" y="17891670"/>
            <a:ext cx="280869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620">
            <a:extLst>
              <a:ext uri="{FF2B5EF4-FFF2-40B4-BE49-F238E27FC236}">
                <a16:creationId xmlns:a16="http://schemas.microsoft.com/office/drawing/2014/main" id="{00ED7BF8-0741-478A-8257-53724D844C8D}"/>
              </a:ext>
            </a:extLst>
          </p:cNvPr>
          <p:cNvCxnSpPr>
            <a:cxnSpLocks/>
            <a:stCxn id="163" idx="2"/>
            <a:endCxn id="161" idx="0"/>
          </p:cNvCxnSpPr>
          <p:nvPr/>
        </p:nvCxnSpPr>
        <p:spPr>
          <a:xfrm rot="16200000" flipH="1">
            <a:off x="7487460" y="17885189"/>
            <a:ext cx="275813" cy="124283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4B88F2F-4EFD-4A52-B891-709773C0E63B}"/>
              </a:ext>
            </a:extLst>
          </p:cNvPr>
          <p:cNvSpPr/>
          <p:nvPr/>
        </p:nvSpPr>
        <p:spPr>
          <a:xfrm>
            <a:off x="16499564" y="180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Пороховая бочка красного июня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F7376C2C-9CEE-4C5F-B577-5679B2784641}"/>
              </a:ext>
            </a:extLst>
          </p:cNvPr>
          <p:cNvSpPr/>
          <p:nvPr/>
        </p:nvSpPr>
        <p:spPr>
          <a:xfrm>
            <a:off x="17087898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компромисс с новой Францией</a:t>
            </a: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55B2DC33-8CEE-4512-B070-84F26EE25CE0}"/>
              </a:ext>
            </a:extLst>
          </p:cNvPr>
          <p:cNvSpPr/>
          <p:nvPr/>
        </p:nvSpPr>
        <p:spPr>
          <a:xfrm>
            <a:off x="15900594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у Коминтерна</a:t>
            </a:r>
          </a:p>
        </p:txBody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4A8E4594-12D1-4A9F-BC83-2A7912C7E9C1}"/>
              </a:ext>
            </a:extLst>
          </p:cNvPr>
          <p:cNvSpPr/>
          <p:nvPr/>
        </p:nvSpPr>
        <p:spPr>
          <a:xfrm>
            <a:off x="16499562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«взрывные работы» шахтёров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9DC3C11A-ED8D-4111-8F88-E8E38E2BC526}"/>
              </a:ext>
            </a:extLst>
          </p:cNvPr>
          <p:cNvSpPr/>
          <p:nvPr/>
        </p:nvSpPr>
        <p:spPr>
          <a:xfrm>
            <a:off x="17688637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Вооружить отряды красной гвардии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DA8DB325-2F64-4AE2-83F8-F3166E26E271}"/>
              </a:ext>
            </a:extLst>
          </p:cNvPr>
          <p:cNvSpPr/>
          <p:nvPr/>
        </p:nvSpPr>
        <p:spPr>
          <a:xfrm>
            <a:off x="15310487" y="34276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Атласа</a:t>
            </a:r>
          </a:p>
        </p:txBody>
      </p:sp>
      <p:cxnSp>
        <p:nvCxnSpPr>
          <p:cNvPr id="186" name="Соединительная линия уступом 620">
            <a:extLst>
              <a:ext uri="{FF2B5EF4-FFF2-40B4-BE49-F238E27FC236}">
                <a16:creationId xmlns:a16="http://schemas.microsoft.com/office/drawing/2014/main" id="{613ABB53-6376-41CF-897F-500F98B80A66}"/>
              </a:ext>
            </a:extLst>
          </p:cNvPr>
          <p:cNvCxnSpPr>
            <a:cxnSpLocks/>
            <a:stCxn id="178" idx="2"/>
            <a:endCxn id="182" idx="0"/>
          </p:cNvCxnSpPr>
          <p:nvPr/>
        </p:nvCxnSpPr>
        <p:spPr>
          <a:xfrm rot="5400000">
            <a:off x="16528242" y="2183170"/>
            <a:ext cx="270000" cy="5989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620">
            <a:extLst>
              <a:ext uri="{FF2B5EF4-FFF2-40B4-BE49-F238E27FC236}">
                <a16:creationId xmlns:a16="http://schemas.microsoft.com/office/drawing/2014/main" id="{270265E6-88D6-4986-81F8-E9F04325F57A}"/>
              </a:ext>
            </a:extLst>
          </p:cNvPr>
          <p:cNvCxnSpPr>
            <a:cxnSpLocks/>
            <a:stCxn id="178" idx="2"/>
            <a:endCxn id="181" idx="0"/>
          </p:cNvCxnSpPr>
          <p:nvPr/>
        </p:nvCxnSpPr>
        <p:spPr>
          <a:xfrm rot="16200000" flipH="1">
            <a:off x="17121894" y="2188488"/>
            <a:ext cx="270000" cy="58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единительная линия 187">
            <a:extLst>
              <a:ext uri="{FF2B5EF4-FFF2-40B4-BE49-F238E27FC236}">
                <a16:creationId xmlns:a16="http://schemas.microsoft.com/office/drawing/2014/main" id="{F79F1BE0-6109-4625-9C29-E6A8D1F422DC}"/>
              </a:ext>
            </a:extLst>
          </p:cNvPr>
          <p:cNvCxnSpPr>
            <a:cxnSpLocks/>
            <a:stCxn id="181" idx="1"/>
            <a:endCxn id="182" idx="3"/>
          </p:cNvCxnSpPr>
          <p:nvPr/>
        </p:nvCxnSpPr>
        <p:spPr>
          <a:xfrm flipH="1">
            <a:off x="16826919" y="2887655"/>
            <a:ext cx="26097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20">
            <a:extLst>
              <a:ext uri="{FF2B5EF4-FFF2-40B4-BE49-F238E27FC236}">
                <a16:creationId xmlns:a16="http://schemas.microsoft.com/office/drawing/2014/main" id="{355C520A-9137-49BB-B3DE-B42F47010ADA}"/>
              </a:ext>
            </a:extLst>
          </p:cNvPr>
          <p:cNvCxnSpPr>
            <a:cxnSpLocks/>
            <a:stCxn id="178" idx="2"/>
            <a:endCxn id="185" idx="0"/>
          </p:cNvCxnSpPr>
          <p:nvPr/>
        </p:nvCxnSpPr>
        <p:spPr>
          <a:xfrm rot="5400000">
            <a:off x="15828190" y="2293116"/>
            <a:ext cx="1079999" cy="1189077"/>
          </a:xfrm>
          <a:prstGeom prst="bentConnector3">
            <a:avLst>
              <a:gd name="adj1" fmla="val 1209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Соединительная линия уступом 620">
            <a:extLst>
              <a:ext uri="{FF2B5EF4-FFF2-40B4-BE49-F238E27FC236}">
                <a16:creationId xmlns:a16="http://schemas.microsoft.com/office/drawing/2014/main" id="{2BE64C25-E8F0-401C-BA1C-5549B15D2E5B}"/>
              </a:ext>
            </a:extLst>
          </p:cNvPr>
          <p:cNvCxnSpPr>
            <a:cxnSpLocks/>
            <a:stCxn id="178" idx="2"/>
            <a:endCxn id="184" idx="0"/>
          </p:cNvCxnSpPr>
          <p:nvPr/>
        </p:nvCxnSpPr>
        <p:spPr>
          <a:xfrm rot="16200000" flipH="1">
            <a:off x="17017263" y="2293118"/>
            <a:ext cx="1080000" cy="1189073"/>
          </a:xfrm>
          <a:prstGeom prst="bentConnector3">
            <a:avLst>
              <a:gd name="adj1" fmla="val 1209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Соединительная линия уступом 620">
            <a:extLst>
              <a:ext uri="{FF2B5EF4-FFF2-40B4-BE49-F238E27FC236}">
                <a16:creationId xmlns:a16="http://schemas.microsoft.com/office/drawing/2014/main" id="{971C1CBF-A3AA-408F-A1D2-9C9D75D41B8F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 rot="5400000">
            <a:off x="16422726" y="2887654"/>
            <a:ext cx="1080000" cy="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CEBD78CE-17CE-43A0-BD37-6E227DB122CD}"/>
              </a:ext>
            </a:extLst>
          </p:cNvPr>
          <p:cNvSpPr/>
          <p:nvPr/>
        </p:nvSpPr>
        <p:spPr>
          <a:xfrm>
            <a:off x="15900594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среди националистов</a:t>
            </a:r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DE354935-DCCA-4E3F-BE40-654491151E16}"/>
              </a:ext>
            </a:extLst>
          </p:cNvPr>
          <p:cNvSpPr/>
          <p:nvPr/>
        </p:nvSpPr>
        <p:spPr>
          <a:xfrm>
            <a:off x="17087897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Переманить остатки марокканцев из армии</a:t>
            </a:r>
          </a:p>
        </p:txBody>
      </p:sp>
      <p:cxnSp>
        <p:nvCxnSpPr>
          <p:cNvPr id="195" name="Соединительная линия уступом 620">
            <a:extLst>
              <a:ext uri="{FF2B5EF4-FFF2-40B4-BE49-F238E27FC236}">
                <a16:creationId xmlns:a16="http://schemas.microsoft.com/office/drawing/2014/main" id="{EFBD37AD-79FE-4447-8A69-147D52878238}"/>
              </a:ext>
            </a:extLst>
          </p:cNvPr>
          <p:cNvCxnSpPr>
            <a:cxnSpLocks/>
            <a:stCxn id="181" idx="2"/>
            <a:endCxn id="229" idx="0"/>
          </p:cNvCxnSpPr>
          <p:nvPr/>
        </p:nvCxnSpPr>
        <p:spPr>
          <a:xfrm rot="16200000" flipH="1">
            <a:off x="17507439" y="3201277"/>
            <a:ext cx="1887395" cy="1800150"/>
          </a:xfrm>
          <a:prstGeom prst="bentConnector3">
            <a:avLst>
              <a:gd name="adj1" fmla="val 51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20">
            <a:extLst>
              <a:ext uri="{FF2B5EF4-FFF2-40B4-BE49-F238E27FC236}">
                <a16:creationId xmlns:a16="http://schemas.microsoft.com/office/drawing/2014/main" id="{E9EB3CF6-3D48-4724-B19F-D706D559FC5D}"/>
              </a:ext>
            </a:extLst>
          </p:cNvPr>
          <p:cNvCxnSpPr>
            <a:cxnSpLocks/>
            <a:stCxn id="182" idx="2"/>
            <a:endCxn id="231" idx="0"/>
          </p:cNvCxnSpPr>
          <p:nvPr/>
        </p:nvCxnSpPr>
        <p:spPr>
          <a:xfrm rot="5400000">
            <a:off x="14533265" y="3211945"/>
            <a:ext cx="1884783" cy="1776202"/>
          </a:xfrm>
          <a:prstGeom prst="bentConnector3">
            <a:avLst>
              <a:gd name="adj1" fmla="val 552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Прямоугольник 197">
            <a:extLst>
              <a:ext uri="{FF2B5EF4-FFF2-40B4-BE49-F238E27FC236}">
                <a16:creationId xmlns:a16="http://schemas.microsoft.com/office/drawing/2014/main" id="{01483DFB-5720-4EC7-82D0-9CC2FB45BAFB}"/>
              </a:ext>
            </a:extLst>
          </p:cNvPr>
          <p:cNvSpPr/>
          <p:nvPr/>
        </p:nvSpPr>
        <p:spPr>
          <a:xfrm>
            <a:off x="16494244" y="58524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Судьба султана?</a:t>
            </a:r>
            <a:br>
              <a:rPr lang="ru-RU" sz="700" dirty="0"/>
            </a:br>
            <a:r>
              <a:rPr lang="ru-RU" sz="200" dirty="0"/>
              <a:t>Ликвидатор феодализма (</a:t>
            </a:r>
            <a:r>
              <a:rPr lang="ru-RU" sz="200" dirty="0" err="1"/>
              <a:t>Liquidator</a:t>
            </a:r>
            <a:r>
              <a:rPr lang="ru-RU" sz="200" dirty="0"/>
              <a:t> </a:t>
            </a:r>
            <a:r>
              <a:rPr lang="ru-RU" sz="200" dirty="0" err="1"/>
              <a:t>of</a:t>
            </a:r>
            <a:r>
              <a:rPr lang="ru-RU" sz="200" dirty="0"/>
              <a:t> </a:t>
            </a:r>
            <a:r>
              <a:rPr lang="ru-RU" sz="200" dirty="0" err="1"/>
              <a:t>Feudalism</a:t>
            </a:r>
            <a:r>
              <a:rPr lang="ru-RU" sz="200" dirty="0"/>
              <a:t>)Активируется через фокус «Упразднить </a:t>
            </a:r>
            <a:r>
              <a:rPr lang="ru-RU" sz="200" dirty="0" err="1"/>
              <a:t>Махзен</a:t>
            </a:r>
            <a:r>
              <a:rPr lang="ru-RU" sz="200" dirty="0"/>
              <a:t> и Султанат».🛑 Популярность нейтральной (монархической) идеологии: -0.05 в день.🛠️ Скорость конверсии гражданских фабрик в военные заводы: +15%📉 Краткосрочный штраф к стабильности: -5.00% (из-за сопротивления роялистов). В конце 1950-х — начале 1990-х годов видные марокканские евреи отвергали определенные политические решения монархии и ее поворот к авторитаризму. Однако они не оспаривали легитимность самой монархии. Они боролись за идеализированное видение Марокко, в то время как большинство марокканских евреев покидали страну.¬</a:t>
            </a:r>
            <a:endParaRPr lang="ru-RU" sz="700" dirty="0"/>
          </a:p>
        </p:txBody>
      </p:sp>
      <p:cxnSp>
        <p:nvCxnSpPr>
          <p:cNvPr id="199" name="Соединительная линия уступом 620">
            <a:extLst>
              <a:ext uri="{FF2B5EF4-FFF2-40B4-BE49-F238E27FC236}">
                <a16:creationId xmlns:a16="http://schemas.microsoft.com/office/drawing/2014/main" id="{7D3CB62A-02A1-45FC-8FBA-E15235435620}"/>
              </a:ext>
            </a:extLst>
          </p:cNvPr>
          <p:cNvCxnSpPr>
            <a:cxnSpLocks/>
            <a:stCxn id="183" idx="2"/>
            <a:endCxn id="194" idx="0"/>
          </p:cNvCxnSpPr>
          <p:nvPr/>
        </p:nvCxnSpPr>
        <p:spPr>
          <a:xfrm rot="16200000" flipH="1">
            <a:off x="17121893" y="3808486"/>
            <a:ext cx="269998" cy="58833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Соединительная линия уступом 620">
            <a:extLst>
              <a:ext uri="{FF2B5EF4-FFF2-40B4-BE49-F238E27FC236}">
                <a16:creationId xmlns:a16="http://schemas.microsoft.com/office/drawing/2014/main" id="{521B31FB-7CFF-4558-AB1E-BEC09F2E040D}"/>
              </a:ext>
            </a:extLst>
          </p:cNvPr>
          <p:cNvCxnSpPr>
            <a:cxnSpLocks/>
            <a:stCxn id="184" idx="2"/>
            <a:endCxn id="194" idx="0"/>
          </p:cNvCxnSpPr>
          <p:nvPr/>
        </p:nvCxnSpPr>
        <p:spPr>
          <a:xfrm rot="5400000">
            <a:off x="17716431" y="3802284"/>
            <a:ext cx="269998" cy="6007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Соединительная линия уступом 620">
            <a:extLst>
              <a:ext uri="{FF2B5EF4-FFF2-40B4-BE49-F238E27FC236}">
                <a16:creationId xmlns:a16="http://schemas.microsoft.com/office/drawing/2014/main" id="{964295CE-967D-4989-94F2-12B863910B48}"/>
              </a:ext>
            </a:extLst>
          </p:cNvPr>
          <p:cNvCxnSpPr>
            <a:cxnSpLocks/>
            <a:stCxn id="185" idx="2"/>
            <a:endCxn id="194" idx="0"/>
          </p:cNvCxnSpPr>
          <p:nvPr/>
        </p:nvCxnSpPr>
        <p:spPr>
          <a:xfrm rot="16200000" flipH="1">
            <a:off x="16527356" y="3213948"/>
            <a:ext cx="269999" cy="17774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633F4767-5E0F-4CAE-AE5A-3F79227A395D}"/>
              </a:ext>
            </a:extLst>
          </p:cNvPr>
          <p:cNvCxnSpPr>
            <a:cxnSpLocks/>
            <a:stCxn id="185" idx="2"/>
            <a:endCxn id="193" idx="0"/>
          </p:cNvCxnSpPr>
          <p:nvPr/>
        </p:nvCxnSpPr>
        <p:spPr>
          <a:xfrm rot="16200000" flipH="1">
            <a:off x="15933704" y="3807599"/>
            <a:ext cx="269999" cy="59010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Соединительная линия уступом 620">
            <a:extLst>
              <a:ext uri="{FF2B5EF4-FFF2-40B4-BE49-F238E27FC236}">
                <a16:creationId xmlns:a16="http://schemas.microsoft.com/office/drawing/2014/main" id="{4ADDAB24-CD5B-4FA7-9434-90B11D5F66B0}"/>
              </a:ext>
            </a:extLst>
          </p:cNvPr>
          <p:cNvCxnSpPr>
            <a:cxnSpLocks/>
            <a:stCxn id="183" idx="2"/>
            <a:endCxn id="193" idx="0"/>
          </p:cNvCxnSpPr>
          <p:nvPr/>
        </p:nvCxnSpPr>
        <p:spPr>
          <a:xfrm rot="5400000">
            <a:off x="16528242" y="3803170"/>
            <a:ext cx="269998" cy="59896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Соединительная линия уступом 620">
            <a:extLst>
              <a:ext uri="{FF2B5EF4-FFF2-40B4-BE49-F238E27FC236}">
                <a16:creationId xmlns:a16="http://schemas.microsoft.com/office/drawing/2014/main" id="{07BCE0E3-BBFB-4A99-9140-F3998272FA21}"/>
              </a:ext>
            </a:extLst>
          </p:cNvPr>
          <p:cNvCxnSpPr>
            <a:cxnSpLocks/>
            <a:stCxn id="184" idx="2"/>
            <a:endCxn id="193" idx="0"/>
          </p:cNvCxnSpPr>
          <p:nvPr/>
        </p:nvCxnSpPr>
        <p:spPr>
          <a:xfrm rot="5400000">
            <a:off x="17122780" y="3208633"/>
            <a:ext cx="269998" cy="17880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4F0ACAB2-A532-4A4A-BE2B-6DD898A778A6}"/>
              </a:ext>
            </a:extLst>
          </p:cNvPr>
          <p:cNvSpPr/>
          <p:nvPr/>
        </p:nvSpPr>
        <p:spPr>
          <a:xfrm>
            <a:off x="18888048" y="504505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Согласовать новое правительство Марокко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1FF530F6-3A49-4FDD-B396-8F8B8659BA04}"/>
              </a:ext>
            </a:extLst>
          </p:cNvPr>
          <p:cNvSpPr/>
          <p:nvPr/>
        </p:nvSpPr>
        <p:spPr>
          <a:xfrm>
            <a:off x="14124392" y="504243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страна рабочих!</a:t>
            </a:r>
          </a:p>
        </p:txBody>
      </p:sp>
      <p:cxnSp>
        <p:nvCxnSpPr>
          <p:cNvPr id="237" name="Прямая соединительная линия 236">
            <a:extLst>
              <a:ext uri="{FF2B5EF4-FFF2-40B4-BE49-F238E27FC236}">
                <a16:creationId xmlns:a16="http://schemas.microsoft.com/office/drawing/2014/main" id="{71C9DE65-C59A-4802-9A6D-6EAE192DEEAD}"/>
              </a:ext>
            </a:extLst>
          </p:cNvPr>
          <p:cNvCxnSpPr>
            <a:cxnSpLocks/>
            <a:stCxn id="229" idx="1"/>
            <a:endCxn id="231" idx="3"/>
          </p:cNvCxnSpPr>
          <p:nvPr/>
        </p:nvCxnSpPr>
        <p:spPr>
          <a:xfrm flipH="1" flipV="1">
            <a:off x="15050717" y="5312438"/>
            <a:ext cx="3837331" cy="261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Соединительная линия уступом 620">
            <a:extLst>
              <a:ext uri="{FF2B5EF4-FFF2-40B4-BE49-F238E27FC236}">
                <a16:creationId xmlns:a16="http://schemas.microsoft.com/office/drawing/2014/main" id="{E9DDE346-6CA1-4730-80E4-589129037BCE}"/>
              </a:ext>
            </a:extLst>
          </p:cNvPr>
          <p:cNvCxnSpPr>
            <a:cxnSpLocks/>
            <a:stCxn id="229" idx="2"/>
            <a:endCxn id="198" idx="0"/>
          </p:cNvCxnSpPr>
          <p:nvPr/>
        </p:nvCxnSpPr>
        <p:spPr>
          <a:xfrm rot="5400000">
            <a:off x="18020611" y="4521846"/>
            <a:ext cx="267397" cy="23938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Соединительная линия уступом 620">
            <a:extLst>
              <a:ext uri="{FF2B5EF4-FFF2-40B4-BE49-F238E27FC236}">
                <a16:creationId xmlns:a16="http://schemas.microsoft.com/office/drawing/2014/main" id="{98A83083-FD9A-4D4D-BF49-0BDA5EAC70FC}"/>
              </a:ext>
            </a:extLst>
          </p:cNvPr>
          <p:cNvCxnSpPr>
            <a:cxnSpLocks/>
            <a:stCxn id="231" idx="2"/>
            <a:endCxn id="198" idx="0"/>
          </p:cNvCxnSpPr>
          <p:nvPr/>
        </p:nvCxnSpPr>
        <p:spPr>
          <a:xfrm rot="16200000" flipH="1">
            <a:off x="15637477" y="4532516"/>
            <a:ext cx="270009" cy="23698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0F5E597A-C48B-4749-B709-20BB7A4E003E}"/>
              </a:ext>
            </a:extLst>
          </p:cNvPr>
          <p:cNvSpPr/>
          <p:nvPr/>
        </p:nvSpPr>
        <p:spPr>
          <a:xfrm>
            <a:off x="7059827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оружие для гарнизонов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970C5735-49A0-4EC6-85CF-24E9FB4CD637}"/>
              </a:ext>
            </a:extLst>
          </p:cNvPr>
          <p:cNvSpPr/>
          <p:nvPr/>
        </p:nvSpPr>
        <p:spPr>
          <a:xfrm>
            <a:off x="8242834" y="26032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Марокканскому Комитету Действий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E9D86B21-BA50-4EED-8AF3-33349A7A2289}"/>
              </a:ext>
            </a:extLst>
          </p:cNvPr>
          <p:cNvSpPr/>
          <p:nvPr/>
        </p:nvSpPr>
        <p:spPr>
          <a:xfrm>
            <a:off x="5872525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рабочих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CA5A524B-95E8-4622-98BC-8DEB6F253FBB}"/>
              </a:ext>
            </a:extLst>
          </p:cNvPr>
          <p:cNvSpPr/>
          <p:nvPr/>
        </p:nvSpPr>
        <p:spPr>
          <a:xfrm>
            <a:off x="4680775" y="26027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Противостоять Марокканскому комитету действий</a:t>
            </a:r>
          </a:p>
        </p:txBody>
      </p:sp>
      <p:cxnSp>
        <p:nvCxnSpPr>
          <p:cNvPr id="268" name="Прямая соединительная линия 267">
            <a:extLst>
              <a:ext uri="{FF2B5EF4-FFF2-40B4-BE49-F238E27FC236}">
                <a16:creationId xmlns:a16="http://schemas.microsoft.com/office/drawing/2014/main" id="{FABFED8D-A35E-4FC6-A3E3-47325AA7A5E2}"/>
              </a:ext>
            </a:extLst>
          </p:cNvPr>
          <p:cNvCxnSpPr>
            <a:cxnSpLocks/>
            <a:stCxn id="263" idx="1"/>
            <a:endCxn id="265" idx="3"/>
          </p:cNvCxnSpPr>
          <p:nvPr/>
        </p:nvCxnSpPr>
        <p:spPr>
          <a:xfrm flipH="1" flipV="1">
            <a:off x="5607100" y="2872759"/>
            <a:ext cx="2635734" cy="53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29A1668A-421E-4114-AEFA-F23A40594868}"/>
              </a:ext>
            </a:extLst>
          </p:cNvPr>
          <p:cNvCxnSpPr>
            <a:cxnSpLocks/>
            <a:stCxn id="172" idx="2"/>
            <a:endCxn id="265" idx="0"/>
          </p:cNvCxnSpPr>
          <p:nvPr/>
        </p:nvCxnSpPr>
        <p:spPr>
          <a:xfrm rot="5400000">
            <a:off x="5910302" y="1581292"/>
            <a:ext cx="255104" cy="17878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Соединительная линия уступом 620">
            <a:extLst>
              <a:ext uri="{FF2B5EF4-FFF2-40B4-BE49-F238E27FC236}">
                <a16:creationId xmlns:a16="http://schemas.microsoft.com/office/drawing/2014/main" id="{81A345AD-C194-4185-B40E-0B46A19DE726}"/>
              </a:ext>
            </a:extLst>
          </p:cNvPr>
          <p:cNvCxnSpPr>
            <a:cxnSpLocks/>
            <a:stCxn id="172" idx="2"/>
            <a:endCxn id="263" idx="0"/>
          </p:cNvCxnSpPr>
          <p:nvPr/>
        </p:nvCxnSpPr>
        <p:spPr>
          <a:xfrm rot="16200000" flipH="1">
            <a:off x="7691066" y="1588358"/>
            <a:ext cx="255635" cy="1774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FF6787D9-3183-4E89-AAFC-1047F965FF62}"/>
              </a:ext>
            </a:extLst>
          </p:cNvPr>
          <p:cNvSpPr/>
          <p:nvPr/>
        </p:nvSpPr>
        <p:spPr>
          <a:xfrm>
            <a:off x="8842200" y="423504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пост великого визиря премьер-министром</a:t>
            </a:r>
          </a:p>
        </p:txBody>
      </p: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886D9F6F-BB87-4A90-BB75-348AA8E44D4C}"/>
              </a:ext>
            </a:extLst>
          </p:cNvPr>
          <p:cNvSpPr/>
          <p:nvPr/>
        </p:nvSpPr>
        <p:spPr>
          <a:xfrm>
            <a:off x="4680148" y="343416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Марокканский комитет действий</a:t>
            </a:r>
          </a:p>
        </p:txBody>
      </p: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030DA18-5BAC-48F1-9A6A-7E9A18C9AA51}"/>
              </a:ext>
            </a:extLst>
          </p:cNvPr>
          <p:cNvCxnSpPr>
            <a:cxnSpLocks/>
            <a:stCxn id="265" idx="2"/>
            <a:endCxn id="283" idx="0"/>
          </p:cNvCxnSpPr>
          <p:nvPr/>
        </p:nvCxnSpPr>
        <p:spPr>
          <a:xfrm rot="5400000">
            <a:off x="4997924" y="3288147"/>
            <a:ext cx="291402" cy="6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рямоугольник 286">
            <a:extLst>
              <a:ext uri="{FF2B5EF4-FFF2-40B4-BE49-F238E27FC236}">
                <a16:creationId xmlns:a16="http://schemas.microsoft.com/office/drawing/2014/main" id="{7C057171-F376-4B82-B319-CBAB78F0889F}"/>
              </a:ext>
            </a:extLst>
          </p:cNvPr>
          <p:cNvSpPr/>
          <p:nvPr/>
        </p:nvSpPr>
        <p:spPr>
          <a:xfrm>
            <a:off x="8838914" y="34319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публикацию националистических газет</a:t>
            </a:r>
          </a:p>
        </p:txBody>
      </p:sp>
      <p:cxnSp>
        <p:nvCxnSpPr>
          <p:cNvPr id="288" name="Соединительная линия уступом 620">
            <a:extLst>
              <a:ext uri="{FF2B5EF4-FFF2-40B4-BE49-F238E27FC236}">
                <a16:creationId xmlns:a16="http://schemas.microsoft.com/office/drawing/2014/main" id="{2D45B470-7110-45BE-A426-4B5C553565C5}"/>
              </a:ext>
            </a:extLst>
          </p:cNvPr>
          <p:cNvCxnSpPr>
            <a:cxnSpLocks/>
            <a:stCxn id="263" idx="2"/>
            <a:endCxn id="287" idx="0"/>
          </p:cNvCxnSpPr>
          <p:nvPr/>
        </p:nvCxnSpPr>
        <p:spPr>
          <a:xfrm rot="16200000" flipH="1">
            <a:off x="8859687" y="2989600"/>
            <a:ext cx="288700" cy="596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E32E2B1C-B462-4241-B5AE-DEE569675EFC}"/>
              </a:ext>
            </a:extLst>
          </p:cNvPr>
          <p:cNvSpPr/>
          <p:nvPr/>
        </p:nvSpPr>
        <p:spPr>
          <a:xfrm>
            <a:off x="4679402" y="425581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Довериться Франции</a:t>
            </a:r>
          </a:p>
        </p:txBody>
      </p:sp>
      <p:cxnSp>
        <p:nvCxnSpPr>
          <p:cNvPr id="293" name="Соединительная линия уступом 620">
            <a:extLst>
              <a:ext uri="{FF2B5EF4-FFF2-40B4-BE49-F238E27FC236}">
                <a16:creationId xmlns:a16="http://schemas.microsoft.com/office/drawing/2014/main" id="{757590F4-BC4D-4C90-A3CA-F02D4812C7C9}"/>
              </a:ext>
            </a:extLst>
          </p:cNvPr>
          <p:cNvCxnSpPr>
            <a:cxnSpLocks/>
            <a:stCxn id="283" idx="2"/>
            <a:endCxn id="292" idx="0"/>
          </p:cNvCxnSpPr>
          <p:nvPr/>
        </p:nvCxnSpPr>
        <p:spPr>
          <a:xfrm rot="5400000">
            <a:off x="5002113" y="4114613"/>
            <a:ext cx="281650" cy="7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Прямоугольник 309">
            <a:extLst>
              <a:ext uri="{FF2B5EF4-FFF2-40B4-BE49-F238E27FC236}">
                <a16:creationId xmlns:a16="http://schemas.microsoft.com/office/drawing/2014/main" id="{8BEE4877-4A35-41B0-BA5E-CEC9F21FB8DF}"/>
              </a:ext>
            </a:extLst>
          </p:cNvPr>
          <p:cNvSpPr/>
          <p:nvPr/>
        </p:nvSpPr>
        <p:spPr>
          <a:xfrm>
            <a:off x="7052016" y="501806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«Малый джихад»</a:t>
            </a:r>
          </a:p>
        </p:txBody>
      </p:sp>
      <p:sp>
        <p:nvSpPr>
          <p:cNvPr id="316" name="Прямоугольник 315">
            <a:extLst>
              <a:ext uri="{FF2B5EF4-FFF2-40B4-BE49-F238E27FC236}">
                <a16:creationId xmlns:a16="http://schemas.microsoft.com/office/drawing/2014/main" id="{450BAB95-3D2C-4E8B-A24B-34A46E093A03}"/>
              </a:ext>
            </a:extLst>
          </p:cNvPr>
          <p:cNvSpPr/>
          <p:nvPr/>
        </p:nvSpPr>
        <p:spPr>
          <a:xfrm>
            <a:off x="8841975" y="504211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замену </a:t>
            </a:r>
            <a:r>
              <a:rPr lang="ru-RU" sz="700" dirty="0" err="1"/>
              <a:t>махзену</a:t>
            </a:r>
            <a:r>
              <a:rPr lang="ru-RU" sz="700" dirty="0"/>
              <a:t> </a:t>
            </a:r>
          </a:p>
        </p:txBody>
      </p:sp>
      <p:cxnSp>
        <p:nvCxnSpPr>
          <p:cNvPr id="317" name="Соединительная линия уступом 620">
            <a:extLst>
              <a:ext uri="{FF2B5EF4-FFF2-40B4-BE49-F238E27FC236}">
                <a16:creationId xmlns:a16="http://schemas.microsoft.com/office/drawing/2014/main" id="{371B4126-1CF1-4719-8DCD-4617820F982D}"/>
              </a:ext>
            </a:extLst>
          </p:cNvPr>
          <p:cNvCxnSpPr>
            <a:cxnSpLocks/>
            <a:stCxn id="287" idx="2"/>
            <a:endCxn id="285" idx="0"/>
          </p:cNvCxnSpPr>
          <p:nvPr/>
        </p:nvCxnSpPr>
        <p:spPr>
          <a:xfrm rot="5400000">
            <a:off x="8581376" y="3514345"/>
            <a:ext cx="263056" cy="11783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Соединительная линия уступом 620">
            <a:extLst>
              <a:ext uri="{FF2B5EF4-FFF2-40B4-BE49-F238E27FC236}">
                <a16:creationId xmlns:a16="http://schemas.microsoft.com/office/drawing/2014/main" id="{A39DDDD4-0444-47AF-A895-5B138AC5F7BD}"/>
              </a:ext>
            </a:extLst>
          </p:cNvPr>
          <p:cNvCxnSpPr>
            <a:cxnSpLocks/>
            <a:stCxn id="287" idx="2"/>
            <a:endCxn id="275" idx="0"/>
          </p:cNvCxnSpPr>
          <p:nvPr/>
        </p:nvCxnSpPr>
        <p:spPr>
          <a:xfrm rot="16200000" flipH="1">
            <a:off x="9172192" y="4101875"/>
            <a:ext cx="263056" cy="32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Прямоугольник 329">
            <a:extLst>
              <a:ext uri="{FF2B5EF4-FFF2-40B4-BE49-F238E27FC236}">
                <a16:creationId xmlns:a16="http://schemas.microsoft.com/office/drawing/2014/main" id="{77CC4BAF-A75D-4EBC-BE28-A54D5A61B12F}"/>
              </a:ext>
            </a:extLst>
          </p:cNvPr>
          <p:cNvSpPr/>
          <p:nvPr/>
        </p:nvSpPr>
        <p:spPr>
          <a:xfrm>
            <a:off x="6465287" y="907890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«Большой джихад»</a:t>
            </a: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C0D52A2B-0B1A-46DA-A360-649D00FE7B0D}"/>
              </a:ext>
            </a:extLst>
          </p:cNvPr>
          <p:cNvSpPr/>
          <p:nvPr/>
        </p:nvSpPr>
        <p:spPr>
          <a:xfrm>
            <a:off x="8842199" y="58498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правительство</a:t>
            </a:r>
          </a:p>
        </p:txBody>
      </p:sp>
      <p:sp>
        <p:nvSpPr>
          <p:cNvPr id="344" name="Прямоугольник 343">
            <a:extLst>
              <a:ext uri="{FF2B5EF4-FFF2-40B4-BE49-F238E27FC236}">
                <a16:creationId xmlns:a16="http://schemas.microsoft.com/office/drawing/2014/main" id="{827062AB-206B-4E55-A24F-66815255E901}"/>
              </a:ext>
            </a:extLst>
          </p:cNvPr>
          <p:cNvSpPr/>
          <p:nvPr/>
        </p:nvSpPr>
        <p:spPr>
          <a:xfrm>
            <a:off x="6465289" y="585244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Алжире</a:t>
            </a:r>
          </a:p>
        </p:txBody>
      </p:sp>
      <p:sp>
        <p:nvSpPr>
          <p:cNvPr id="346" name="Прямоугольник 345">
            <a:extLst>
              <a:ext uri="{FF2B5EF4-FFF2-40B4-BE49-F238E27FC236}">
                <a16:creationId xmlns:a16="http://schemas.microsoft.com/office/drawing/2014/main" id="{214E4ECB-84D6-4EEF-A3D3-FFCF70AB74ED}"/>
              </a:ext>
            </a:extLst>
          </p:cNvPr>
          <p:cNvSpPr/>
          <p:nvPr/>
        </p:nvSpPr>
        <p:spPr>
          <a:xfrm>
            <a:off x="6468605" y="42402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французские инвестиции</a:t>
            </a:r>
          </a:p>
        </p:txBody>
      </p:sp>
      <p:cxnSp>
        <p:nvCxnSpPr>
          <p:cNvPr id="357" name="Соединительная линия уступом 620">
            <a:extLst>
              <a:ext uri="{FF2B5EF4-FFF2-40B4-BE49-F238E27FC236}">
                <a16:creationId xmlns:a16="http://schemas.microsoft.com/office/drawing/2014/main" id="{4BAE7453-0BAF-47A0-808F-1B5A718A074E}"/>
              </a:ext>
            </a:extLst>
          </p:cNvPr>
          <p:cNvCxnSpPr>
            <a:cxnSpLocks/>
            <a:stCxn id="172" idx="2"/>
            <a:endCxn id="346" idx="0"/>
          </p:cNvCxnSpPr>
          <p:nvPr/>
        </p:nvCxnSpPr>
        <p:spPr>
          <a:xfrm rot="5400000">
            <a:off x="5985471" y="3293953"/>
            <a:ext cx="189259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Прямоугольник 201">
            <a:extLst>
              <a:ext uri="{FF2B5EF4-FFF2-40B4-BE49-F238E27FC236}">
                <a16:creationId xmlns:a16="http://schemas.microsoft.com/office/drawing/2014/main" id="{DB4B7EC3-52CB-4281-940E-582336AE03DB}"/>
              </a:ext>
            </a:extLst>
          </p:cNvPr>
          <p:cNvSpPr/>
          <p:nvPr/>
        </p:nvSpPr>
        <p:spPr>
          <a:xfrm>
            <a:off x="17688637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профсоюзов</a:t>
            </a:r>
          </a:p>
        </p:txBody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AF793957-B76C-43EC-9B76-00309BBA6C74}"/>
              </a:ext>
            </a:extLst>
          </p:cNvPr>
          <p:cNvSpPr/>
          <p:nvPr/>
        </p:nvSpPr>
        <p:spPr>
          <a:xfrm>
            <a:off x="19954023" y="753724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альянсу Народного фронта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5B03BA2E-7382-48A4-9DA3-E043F9F67F46}"/>
              </a:ext>
            </a:extLst>
          </p:cNvPr>
          <p:cNvSpPr/>
          <p:nvPr/>
        </p:nvSpPr>
        <p:spPr>
          <a:xfrm>
            <a:off x="19959104" y="832780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Нанести удар по Испанскому Марокко</a:t>
            </a:r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D2CA9DBC-2BFF-4366-AFF1-D3F844CBCC78}"/>
              </a:ext>
            </a:extLst>
          </p:cNvPr>
          <p:cNvCxnSpPr>
            <a:cxnSpLocks/>
            <a:stCxn id="203" idx="2"/>
            <a:endCxn id="207" idx="0"/>
          </p:cNvCxnSpPr>
          <p:nvPr/>
        </p:nvCxnSpPr>
        <p:spPr>
          <a:xfrm rot="16200000" flipH="1">
            <a:off x="20294445" y="8199985"/>
            <a:ext cx="250563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51F9863C-20E0-4A0E-9B2D-06939B1023ED}"/>
              </a:ext>
            </a:extLst>
          </p:cNvPr>
          <p:cNvSpPr/>
          <p:nvPr/>
        </p:nvSpPr>
        <p:spPr>
          <a:xfrm>
            <a:off x="15318108" y="584596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Организация коммунальной ассамблеи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3C0D6112-C225-4972-BEC8-F100926161FC}"/>
              </a:ext>
            </a:extLst>
          </p:cNvPr>
          <p:cNvSpPr/>
          <p:nvPr/>
        </p:nvSpPr>
        <p:spPr>
          <a:xfrm>
            <a:off x="17693717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Установка минимальных зарплат на заводах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F1F67AB4-5D6F-47D3-90A9-15EC729958DB}"/>
              </a:ext>
            </a:extLst>
          </p:cNvPr>
          <p:cNvSpPr/>
          <p:nvPr/>
        </p:nvSpPr>
        <p:spPr>
          <a:xfrm>
            <a:off x="15318107" y="66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Аграрная реформа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6CCFB3F7-5D43-43AF-8632-E264B55AB257}"/>
              </a:ext>
            </a:extLst>
          </p:cNvPr>
          <p:cNvSpPr/>
          <p:nvPr/>
        </p:nvSpPr>
        <p:spPr>
          <a:xfrm>
            <a:off x="17087319" y="747051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фосфатных кампаний</a:t>
            </a:r>
          </a:p>
        </p:txBody>
      </p:sp>
      <p:cxnSp>
        <p:nvCxnSpPr>
          <p:cNvPr id="223" name="Соединительная линия уступом 620">
            <a:extLst>
              <a:ext uri="{FF2B5EF4-FFF2-40B4-BE49-F238E27FC236}">
                <a16:creationId xmlns:a16="http://schemas.microsoft.com/office/drawing/2014/main" id="{B36028A2-E427-4D95-96AB-B8A709A01839}"/>
              </a:ext>
            </a:extLst>
          </p:cNvPr>
          <p:cNvCxnSpPr>
            <a:cxnSpLocks/>
            <a:stCxn id="231" idx="2"/>
            <a:endCxn id="447" idx="0"/>
          </p:cNvCxnSpPr>
          <p:nvPr/>
        </p:nvCxnSpPr>
        <p:spPr>
          <a:xfrm rot="16200000" flipH="1">
            <a:off x="16238841" y="3931151"/>
            <a:ext cx="261673" cy="35642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Соединительная линия уступом 620">
            <a:extLst>
              <a:ext uri="{FF2B5EF4-FFF2-40B4-BE49-F238E27FC236}">
                <a16:creationId xmlns:a16="http://schemas.microsoft.com/office/drawing/2014/main" id="{1A69F510-F0C4-4EB4-84C3-E59AE76B0C40}"/>
              </a:ext>
            </a:extLst>
          </p:cNvPr>
          <p:cNvCxnSpPr>
            <a:cxnSpLocks/>
            <a:stCxn id="229" idx="2"/>
            <a:endCxn id="215" idx="0"/>
          </p:cNvCxnSpPr>
          <p:nvPr/>
        </p:nvCxnSpPr>
        <p:spPr>
          <a:xfrm rot="5400000">
            <a:off x="17435783" y="3930538"/>
            <a:ext cx="260917" cy="3569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6E361355-2C93-435B-B51A-06A915035B36}"/>
              </a:ext>
            </a:extLst>
          </p:cNvPr>
          <p:cNvSpPr/>
          <p:nvPr/>
        </p:nvSpPr>
        <p:spPr>
          <a:xfrm>
            <a:off x="14711406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кредиты феллахам</a:t>
            </a:r>
          </a:p>
        </p:txBody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D02BCC77-E162-4C51-9B3A-5055FE880E72}"/>
              </a:ext>
            </a:extLst>
          </p:cNvPr>
          <p:cNvSpPr/>
          <p:nvPr/>
        </p:nvSpPr>
        <p:spPr>
          <a:xfrm>
            <a:off x="16501863" y="831627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социальную защиту</a:t>
            </a:r>
          </a:p>
        </p:txBody>
      </p: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9C8DBF37-84FD-4A37-AA9F-B532B66BAEA5}"/>
              </a:ext>
            </a:extLst>
          </p:cNvPr>
          <p:cNvSpPr/>
          <p:nvPr/>
        </p:nvSpPr>
        <p:spPr>
          <a:xfrm>
            <a:off x="15899440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Открыть школы для феллахов</a:t>
            </a:r>
          </a:p>
        </p:txBody>
      </p:sp>
      <p:sp>
        <p:nvSpPr>
          <p:cNvPr id="270" name="Прямоугольник 269">
            <a:extLst>
              <a:ext uri="{FF2B5EF4-FFF2-40B4-BE49-F238E27FC236}">
                <a16:creationId xmlns:a16="http://schemas.microsoft.com/office/drawing/2014/main" id="{4D251A9D-8A1C-4835-A529-5CFFA224CEFA}"/>
              </a:ext>
            </a:extLst>
          </p:cNvPr>
          <p:cNvSpPr/>
          <p:nvPr/>
        </p:nvSpPr>
        <p:spPr>
          <a:xfrm>
            <a:off x="15319740" y="832001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Коллективизация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B10AA670-8579-4DAF-8ADE-4CA098BEB21A}"/>
              </a:ext>
            </a:extLst>
          </p:cNvPr>
          <p:cNvSpPr/>
          <p:nvPr/>
        </p:nvSpPr>
        <p:spPr>
          <a:xfrm>
            <a:off x="21147590" y="833309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в Европе</a:t>
            </a:r>
          </a:p>
        </p:txBody>
      </p:sp>
      <p:cxnSp>
        <p:nvCxnSpPr>
          <p:cNvPr id="281" name="Соединительная линия уступом 620">
            <a:extLst>
              <a:ext uri="{FF2B5EF4-FFF2-40B4-BE49-F238E27FC236}">
                <a16:creationId xmlns:a16="http://schemas.microsoft.com/office/drawing/2014/main" id="{C7BAECC2-8CE9-42E6-818F-3DCFB0BC736B}"/>
              </a:ext>
            </a:extLst>
          </p:cNvPr>
          <p:cNvCxnSpPr>
            <a:cxnSpLocks/>
            <a:stCxn id="203" idx="2"/>
            <a:endCxn id="280" idx="0"/>
          </p:cNvCxnSpPr>
          <p:nvPr/>
        </p:nvCxnSpPr>
        <p:spPr>
          <a:xfrm rot="16200000" flipH="1">
            <a:off x="20886047" y="7608383"/>
            <a:ext cx="255845" cy="11935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Прямоугольник 288">
            <a:extLst>
              <a:ext uri="{FF2B5EF4-FFF2-40B4-BE49-F238E27FC236}">
                <a16:creationId xmlns:a16="http://schemas.microsoft.com/office/drawing/2014/main" id="{3DE459D3-85E5-46CD-847C-3FDFF48BAE60}"/>
              </a:ext>
            </a:extLst>
          </p:cNvPr>
          <p:cNvSpPr/>
          <p:nvPr/>
        </p:nvSpPr>
        <p:spPr>
          <a:xfrm>
            <a:off x="20550806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Переговоры о независимости</a:t>
            </a:r>
          </a:p>
        </p:txBody>
      </p:sp>
      <p:cxnSp>
        <p:nvCxnSpPr>
          <p:cNvPr id="290" name="Соединительная линия уступом 620">
            <a:extLst>
              <a:ext uri="{FF2B5EF4-FFF2-40B4-BE49-F238E27FC236}">
                <a16:creationId xmlns:a16="http://schemas.microsoft.com/office/drawing/2014/main" id="{B9478120-EBE8-4218-A7F8-471C9CA75102}"/>
              </a:ext>
            </a:extLst>
          </p:cNvPr>
          <p:cNvCxnSpPr>
            <a:cxnSpLocks/>
            <a:stCxn id="207" idx="2"/>
            <a:endCxn id="289" idx="0"/>
          </p:cNvCxnSpPr>
          <p:nvPr/>
        </p:nvCxnSpPr>
        <p:spPr>
          <a:xfrm rot="16200000" flipH="1">
            <a:off x="20611120" y="8678955"/>
            <a:ext cx="213997" cy="5917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620">
            <a:extLst>
              <a:ext uri="{FF2B5EF4-FFF2-40B4-BE49-F238E27FC236}">
                <a16:creationId xmlns:a16="http://schemas.microsoft.com/office/drawing/2014/main" id="{57CD163E-5033-4EE2-B625-AF4718E8D44C}"/>
              </a:ext>
            </a:extLst>
          </p:cNvPr>
          <p:cNvCxnSpPr>
            <a:cxnSpLocks/>
            <a:stCxn id="280" idx="2"/>
            <a:endCxn id="289" idx="0"/>
          </p:cNvCxnSpPr>
          <p:nvPr/>
        </p:nvCxnSpPr>
        <p:spPr>
          <a:xfrm rot="5400000">
            <a:off x="21208004" y="8679055"/>
            <a:ext cx="208715" cy="59678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Прямоугольник 243">
            <a:extLst>
              <a:ext uri="{FF2B5EF4-FFF2-40B4-BE49-F238E27FC236}">
                <a16:creationId xmlns:a16="http://schemas.microsoft.com/office/drawing/2014/main" id="{68301316-F113-43E2-BE8C-A421E8E8F476}"/>
              </a:ext>
            </a:extLst>
          </p:cNvPr>
          <p:cNvSpPr/>
          <p:nvPr/>
        </p:nvSpPr>
        <p:spPr>
          <a:xfrm>
            <a:off x="10903549" y="18677512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муниципальных советов </a:t>
            </a:r>
            <a:r>
              <a:rPr lang="ru-RU" sz="300" dirty="0"/>
              <a:t>(позволяющих государству управлять своими внутренними делами)</a:t>
            </a:r>
            <a:endParaRPr lang="ru-RU" sz="700" dirty="0"/>
          </a:p>
        </p:txBody>
      </p:sp>
      <p:sp>
        <p:nvSpPr>
          <p:cNvPr id="247" name="Прямоугольник 246">
            <a:extLst>
              <a:ext uri="{FF2B5EF4-FFF2-40B4-BE49-F238E27FC236}">
                <a16:creationId xmlns:a16="http://schemas.microsoft.com/office/drawing/2014/main" id="{EFB476FA-A8C6-4F25-A4F9-0EE18F513C6F}"/>
              </a:ext>
            </a:extLst>
          </p:cNvPr>
          <p:cNvSpPr/>
          <p:nvPr/>
        </p:nvSpPr>
        <p:spPr>
          <a:xfrm>
            <a:off x="10903550" y="1786767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высшего совета</a:t>
            </a:r>
            <a:endParaRPr lang="ru-RU" sz="200" dirty="0"/>
          </a:p>
        </p:txBody>
      </p:sp>
      <p:sp>
        <p:nvSpPr>
          <p:cNvPr id="286" name="Прямоугольник 285">
            <a:extLst>
              <a:ext uri="{FF2B5EF4-FFF2-40B4-BE49-F238E27FC236}">
                <a16:creationId xmlns:a16="http://schemas.microsoft.com/office/drawing/2014/main" id="{C6D605BB-0F8F-4EBC-8939-EC314CF5EA5B}"/>
              </a:ext>
            </a:extLst>
          </p:cNvPr>
          <p:cNvSpPr/>
          <p:nvPr/>
        </p:nvSpPr>
        <p:spPr>
          <a:xfrm>
            <a:off x="11512749" y="19507629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движения «</a:t>
            </a:r>
            <a:r>
              <a:rPr lang="ru-RU" sz="700" dirty="0" err="1"/>
              <a:t>Фитьян</a:t>
            </a:r>
            <a:r>
              <a:rPr lang="ru-RU" sz="700" dirty="0"/>
              <a:t>»</a:t>
            </a:r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19D409FE-ECD9-41F9-A78D-CBCA8C55DFC3}"/>
              </a:ext>
            </a:extLst>
          </p:cNvPr>
          <p:cNvSpPr/>
          <p:nvPr/>
        </p:nvSpPr>
        <p:spPr>
          <a:xfrm>
            <a:off x="7731024" y="1542632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Танжер — столица шпионажа</a:t>
            </a:r>
            <a:r>
              <a:rPr lang="ru-RU" sz="100" dirty="0"/>
              <a:t>.</a:t>
            </a:r>
            <a:endParaRPr lang="ru-RU" sz="700" dirty="0"/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8C12AE9B-0635-435B-A726-FBA33BFD39E9}"/>
              </a:ext>
            </a:extLst>
          </p:cNvPr>
          <p:cNvSpPr/>
          <p:nvPr/>
        </p:nvSpPr>
        <p:spPr>
          <a:xfrm>
            <a:off x="5287317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Свободный порт Танжера</a:t>
            </a:r>
          </a:p>
        </p:txBody>
      </p:sp>
      <p:sp>
        <p:nvSpPr>
          <p:cNvPr id="303" name="Прямоугольник 302">
            <a:extLst>
              <a:ext uri="{FF2B5EF4-FFF2-40B4-BE49-F238E27FC236}">
                <a16:creationId xmlns:a16="http://schemas.microsoft.com/office/drawing/2014/main" id="{C6291CBF-A1B8-479E-8EB0-EC4A56B3830E}"/>
              </a:ext>
            </a:extLst>
          </p:cNvPr>
          <p:cNvSpPr/>
          <p:nvPr/>
        </p:nvSpPr>
        <p:spPr>
          <a:xfrm>
            <a:off x="6488299" y="145524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Танжер международного статуса</a:t>
            </a:r>
          </a:p>
        </p:txBody>
      </p:sp>
      <p:sp>
        <p:nvSpPr>
          <p:cNvPr id="307" name="Прямоугольник 306">
            <a:extLst>
              <a:ext uri="{FF2B5EF4-FFF2-40B4-BE49-F238E27FC236}">
                <a16:creationId xmlns:a16="http://schemas.microsoft.com/office/drawing/2014/main" id="{2DAAD328-4716-45C4-8FE9-1418B0F0515A}"/>
              </a:ext>
            </a:extLst>
          </p:cNvPr>
          <p:cNvSpPr/>
          <p:nvPr/>
        </p:nvSpPr>
        <p:spPr>
          <a:xfrm>
            <a:off x="10443385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Мавританские Акажу и Гуммиарабик</a:t>
            </a:r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E64F2EC9-A188-4CC0-AF6A-2976F8412A3F}"/>
              </a:ext>
            </a:extLst>
          </p:cNvPr>
          <p:cNvSpPr/>
          <p:nvPr/>
        </p:nvSpPr>
        <p:spPr>
          <a:xfrm>
            <a:off x="9785125" y="145524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Мавритания – южная провинция Марокко</a:t>
            </a:r>
          </a:p>
        </p:txBody>
      </p:sp>
      <p:sp>
        <p:nvSpPr>
          <p:cNvPr id="311" name="Прямоугольник 310">
            <a:extLst>
              <a:ext uri="{FF2B5EF4-FFF2-40B4-BE49-F238E27FC236}">
                <a16:creationId xmlns:a16="http://schemas.microsoft.com/office/drawing/2014/main" id="{B2273294-389F-4374-B952-FAAE7A098FFF}"/>
              </a:ext>
            </a:extLst>
          </p:cNvPr>
          <p:cNvSpPr/>
          <p:nvPr/>
        </p:nvSpPr>
        <p:spPr>
          <a:xfrm>
            <a:off x="9171725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Транссахарская</a:t>
            </a:r>
            <a:r>
              <a:rPr lang="ru-RU" sz="700" dirty="0"/>
              <a:t> железная дорога: Фес — Нуакшот</a:t>
            </a:r>
            <a:endParaRPr lang="ru-RU" sz="600" dirty="0"/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F565E1AC-9406-408D-8DBA-69C401B5F39C}"/>
              </a:ext>
            </a:extLst>
          </p:cNvPr>
          <p:cNvSpPr/>
          <p:nvPr/>
        </p:nvSpPr>
        <p:spPr>
          <a:xfrm>
            <a:off x="8409193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Провозгласить Великое Марокко</a:t>
            </a:r>
          </a:p>
        </p:txBody>
      </p: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2CFC8DF2-68B2-47EE-BEBC-B56651373BE0}"/>
              </a:ext>
            </a:extLst>
          </p:cNvPr>
          <p:cNvCxnSpPr>
            <a:cxnSpLocks/>
            <a:stCxn id="61" idx="2"/>
            <a:endCxn id="314" idx="0"/>
          </p:cNvCxnSpPr>
          <p:nvPr/>
        </p:nvCxnSpPr>
        <p:spPr>
          <a:xfrm rot="5400000">
            <a:off x="10168300" y="13798892"/>
            <a:ext cx="1142110" cy="3733997"/>
          </a:xfrm>
          <a:prstGeom prst="bentConnector3">
            <a:avLst>
              <a:gd name="adj1" fmla="val 1441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C378D33D-192E-4BD8-8069-087FC625EAE0}"/>
              </a:ext>
            </a:extLst>
          </p:cNvPr>
          <p:cNvCxnSpPr>
            <a:cxnSpLocks/>
            <a:stCxn id="303" idx="2"/>
            <a:endCxn id="314" idx="0"/>
          </p:cNvCxnSpPr>
          <p:nvPr/>
        </p:nvCxnSpPr>
        <p:spPr>
          <a:xfrm rot="16200000" flipH="1">
            <a:off x="7339664" y="14704253"/>
            <a:ext cx="1144490" cy="1920894"/>
          </a:xfrm>
          <a:prstGeom prst="bentConnector3">
            <a:avLst>
              <a:gd name="adj1" fmla="val 1449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Соединительная линия уступом 620">
            <a:extLst>
              <a:ext uri="{FF2B5EF4-FFF2-40B4-BE49-F238E27FC236}">
                <a16:creationId xmlns:a16="http://schemas.microsoft.com/office/drawing/2014/main" id="{A1640AFC-145F-4409-A48E-55ED68C9F902}"/>
              </a:ext>
            </a:extLst>
          </p:cNvPr>
          <p:cNvCxnSpPr>
            <a:cxnSpLocks/>
            <a:stCxn id="308" idx="2"/>
            <a:endCxn id="314" idx="0"/>
          </p:cNvCxnSpPr>
          <p:nvPr/>
        </p:nvCxnSpPr>
        <p:spPr>
          <a:xfrm rot="5400000">
            <a:off x="8988077" y="14976734"/>
            <a:ext cx="1144490" cy="1375932"/>
          </a:xfrm>
          <a:prstGeom prst="bentConnector3">
            <a:avLst>
              <a:gd name="adj1" fmla="val 14491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Прямоугольник 284">
            <a:extLst>
              <a:ext uri="{FF2B5EF4-FFF2-40B4-BE49-F238E27FC236}">
                <a16:creationId xmlns:a16="http://schemas.microsoft.com/office/drawing/2014/main" id="{A620BFC9-FA27-4D27-89FD-71123B8D4A03}"/>
              </a:ext>
            </a:extLst>
          </p:cNvPr>
          <p:cNvSpPr/>
          <p:nvPr/>
        </p:nvSpPr>
        <p:spPr>
          <a:xfrm>
            <a:off x="7660568" y="42350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пересмотр «плана реформ»</a:t>
            </a:r>
          </a:p>
        </p:txBody>
      </p:sp>
      <p:cxnSp>
        <p:nvCxnSpPr>
          <p:cNvPr id="329" name="Соединительная линия уступом 620">
            <a:extLst>
              <a:ext uri="{FF2B5EF4-FFF2-40B4-BE49-F238E27FC236}">
                <a16:creationId xmlns:a16="http://schemas.microsoft.com/office/drawing/2014/main" id="{B804F62F-B20E-4406-B10B-6AF6F0F673C7}"/>
              </a:ext>
            </a:extLst>
          </p:cNvPr>
          <p:cNvCxnSpPr>
            <a:cxnSpLocks/>
            <a:stCxn id="310" idx="2"/>
            <a:endCxn id="341" idx="0"/>
          </p:cNvCxnSpPr>
          <p:nvPr/>
        </p:nvCxnSpPr>
        <p:spPr>
          <a:xfrm rot="5400000">
            <a:off x="6374044" y="5522349"/>
            <a:ext cx="1105423" cy="1176849"/>
          </a:xfrm>
          <a:prstGeom prst="bentConnector3">
            <a:avLst>
              <a:gd name="adj1" fmla="val 132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D8862DE7-75C1-481F-A43A-1EDE0A9FC18C}"/>
              </a:ext>
            </a:extLst>
          </p:cNvPr>
          <p:cNvCxnSpPr>
            <a:cxnSpLocks/>
            <a:stCxn id="310" idx="2"/>
            <a:endCxn id="344" idx="0"/>
          </p:cNvCxnSpPr>
          <p:nvPr/>
        </p:nvCxnSpPr>
        <p:spPr>
          <a:xfrm rot="5400000">
            <a:off x="7074624" y="5411891"/>
            <a:ext cx="294385" cy="5867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Прямоугольник 336">
            <a:extLst>
              <a:ext uri="{FF2B5EF4-FFF2-40B4-BE49-F238E27FC236}">
                <a16:creationId xmlns:a16="http://schemas.microsoft.com/office/drawing/2014/main" id="{BA4108B4-FADE-4200-9551-1CEDA6CCEBDD}"/>
              </a:ext>
            </a:extLst>
          </p:cNvPr>
          <p:cNvSpPr/>
          <p:nvPr/>
        </p:nvSpPr>
        <p:spPr>
          <a:xfrm>
            <a:off x="6465288" y="746724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борьбу за нашу свободу</a:t>
            </a:r>
          </a:p>
        </p:txBody>
      </p:sp>
      <p:cxnSp>
        <p:nvCxnSpPr>
          <p:cNvPr id="343" name="Соединительная линия уступом 620">
            <a:extLst>
              <a:ext uri="{FF2B5EF4-FFF2-40B4-BE49-F238E27FC236}">
                <a16:creationId xmlns:a16="http://schemas.microsoft.com/office/drawing/2014/main" id="{428D6404-6AD3-4071-945C-AE9B9272A81E}"/>
              </a:ext>
            </a:extLst>
          </p:cNvPr>
          <p:cNvCxnSpPr>
            <a:cxnSpLocks/>
            <a:stCxn id="316" idx="2"/>
            <a:endCxn id="332" idx="0"/>
          </p:cNvCxnSpPr>
          <p:nvPr/>
        </p:nvCxnSpPr>
        <p:spPr>
          <a:xfrm rot="16200000" flipH="1">
            <a:off x="9171394" y="5715862"/>
            <a:ext cx="267712" cy="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EE45BD45-0A53-4C5A-98EB-0640786C19EB}"/>
              </a:ext>
            </a:extLst>
          </p:cNvPr>
          <p:cNvSpPr/>
          <p:nvPr/>
        </p:nvSpPr>
        <p:spPr>
          <a:xfrm>
            <a:off x="7054131" y="66721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Тунисе</a:t>
            </a:r>
          </a:p>
        </p:txBody>
      </p:sp>
      <p:cxnSp>
        <p:nvCxnSpPr>
          <p:cNvPr id="351" name="Соединительная линия уступом 620">
            <a:extLst>
              <a:ext uri="{FF2B5EF4-FFF2-40B4-BE49-F238E27FC236}">
                <a16:creationId xmlns:a16="http://schemas.microsoft.com/office/drawing/2014/main" id="{D82585BF-6BF8-48AC-9670-8E0C6E3EF98F}"/>
              </a:ext>
            </a:extLst>
          </p:cNvPr>
          <p:cNvCxnSpPr>
            <a:cxnSpLocks/>
            <a:stCxn id="310" idx="2"/>
            <a:endCxn id="349" idx="0"/>
          </p:cNvCxnSpPr>
          <p:nvPr/>
        </p:nvCxnSpPr>
        <p:spPr>
          <a:xfrm rot="16200000" flipH="1">
            <a:off x="6959194" y="6114046"/>
            <a:ext cx="1114084" cy="21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DB4DF8F9-78F8-41F8-B641-EBCF09C12118}"/>
              </a:ext>
            </a:extLst>
          </p:cNvPr>
          <p:cNvCxnSpPr>
            <a:cxnSpLocks/>
            <a:stCxn id="349" idx="2"/>
            <a:endCxn id="337" idx="0"/>
          </p:cNvCxnSpPr>
          <p:nvPr/>
        </p:nvCxnSpPr>
        <p:spPr>
          <a:xfrm rot="5400000">
            <a:off x="7095326" y="7045272"/>
            <a:ext cx="255094" cy="5888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6F4D3062-F5D9-497C-A88F-0DB499581427}"/>
              </a:ext>
            </a:extLst>
          </p:cNvPr>
          <p:cNvCxnSpPr>
            <a:cxnSpLocks/>
            <a:stCxn id="341" idx="2"/>
            <a:endCxn id="337" idx="0"/>
          </p:cNvCxnSpPr>
          <p:nvPr/>
        </p:nvCxnSpPr>
        <p:spPr>
          <a:xfrm rot="16200000" flipH="1">
            <a:off x="6501513" y="7040301"/>
            <a:ext cx="263755" cy="59012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20">
            <a:extLst>
              <a:ext uri="{FF2B5EF4-FFF2-40B4-BE49-F238E27FC236}">
                <a16:creationId xmlns:a16="http://schemas.microsoft.com/office/drawing/2014/main" id="{121B70C5-1C4C-4CE5-A2C2-80B0E1D0927F}"/>
              </a:ext>
            </a:extLst>
          </p:cNvPr>
          <p:cNvCxnSpPr>
            <a:cxnSpLocks/>
            <a:stCxn id="344" idx="2"/>
            <a:endCxn id="337" idx="0"/>
          </p:cNvCxnSpPr>
          <p:nvPr/>
        </p:nvCxnSpPr>
        <p:spPr>
          <a:xfrm rot="5400000">
            <a:off x="6391056" y="6929843"/>
            <a:ext cx="1074793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Соединительная линия уступом 620">
            <a:extLst>
              <a:ext uri="{FF2B5EF4-FFF2-40B4-BE49-F238E27FC236}">
                <a16:creationId xmlns:a16="http://schemas.microsoft.com/office/drawing/2014/main" id="{D29F1913-1493-438E-B71C-8B273ED51A15}"/>
              </a:ext>
            </a:extLst>
          </p:cNvPr>
          <p:cNvCxnSpPr>
            <a:cxnSpLocks/>
            <a:stCxn id="337" idx="2"/>
            <a:endCxn id="330" idx="0"/>
          </p:cNvCxnSpPr>
          <p:nvPr/>
        </p:nvCxnSpPr>
        <p:spPr>
          <a:xfrm rot="5400000">
            <a:off x="6392621" y="8543070"/>
            <a:ext cx="107166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Прямоугольник 360">
            <a:extLst>
              <a:ext uri="{FF2B5EF4-FFF2-40B4-BE49-F238E27FC236}">
                <a16:creationId xmlns:a16="http://schemas.microsoft.com/office/drawing/2014/main" id="{12C9E2CA-67CA-4CAF-B79F-ADB9AA0C747B}"/>
              </a:ext>
            </a:extLst>
          </p:cNvPr>
          <p:cNvSpPr/>
          <p:nvPr/>
        </p:nvSpPr>
        <p:spPr>
          <a:xfrm>
            <a:off x="8247130" y="665288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Патриотичное движение </a:t>
            </a:r>
            <a:r>
              <a:rPr lang="ru-RU" sz="700" dirty="0" err="1"/>
              <a:t>Уаззани</a:t>
            </a:r>
            <a:endParaRPr lang="ru-RU" sz="700" dirty="0"/>
          </a:p>
        </p:txBody>
      </p:sp>
      <p:sp>
        <p:nvSpPr>
          <p:cNvPr id="362" name="Прямоугольник 361">
            <a:extLst>
              <a:ext uri="{FF2B5EF4-FFF2-40B4-BE49-F238E27FC236}">
                <a16:creationId xmlns:a16="http://schemas.microsoft.com/office/drawing/2014/main" id="{E332E174-E0FF-4ADC-B062-DE062C25214B}"/>
              </a:ext>
            </a:extLst>
          </p:cNvPr>
          <p:cNvSpPr/>
          <p:nvPr/>
        </p:nvSpPr>
        <p:spPr>
          <a:xfrm>
            <a:off x="9441520" y="665411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Национальная партия </a:t>
            </a:r>
            <a:r>
              <a:rPr lang="ru-RU" sz="700" dirty="0" err="1"/>
              <a:t>Фасси</a:t>
            </a:r>
            <a:endParaRPr lang="ru-RU" sz="700" dirty="0"/>
          </a:p>
        </p:txBody>
      </p:sp>
      <p:cxnSp>
        <p:nvCxnSpPr>
          <p:cNvPr id="363" name="Прямая соединительная линия 362">
            <a:extLst>
              <a:ext uri="{FF2B5EF4-FFF2-40B4-BE49-F238E27FC236}">
                <a16:creationId xmlns:a16="http://schemas.microsoft.com/office/drawing/2014/main" id="{11131FA6-1893-4E1D-9FE2-31413B226B68}"/>
              </a:ext>
            </a:extLst>
          </p:cNvPr>
          <p:cNvCxnSpPr>
            <a:cxnSpLocks/>
            <a:stCxn id="362" idx="1"/>
            <a:endCxn id="361" idx="3"/>
          </p:cNvCxnSpPr>
          <p:nvPr/>
        </p:nvCxnSpPr>
        <p:spPr>
          <a:xfrm flipH="1" flipV="1">
            <a:off x="9173455" y="6922886"/>
            <a:ext cx="268065" cy="122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20">
            <a:extLst>
              <a:ext uri="{FF2B5EF4-FFF2-40B4-BE49-F238E27FC236}">
                <a16:creationId xmlns:a16="http://schemas.microsoft.com/office/drawing/2014/main" id="{4EF28AF0-E3A8-4770-8BFE-B15B9DCC626E}"/>
              </a:ext>
            </a:extLst>
          </p:cNvPr>
          <p:cNvCxnSpPr>
            <a:cxnSpLocks/>
            <a:stCxn id="332" idx="2"/>
            <a:endCxn id="362" idx="0"/>
          </p:cNvCxnSpPr>
          <p:nvPr/>
        </p:nvCxnSpPr>
        <p:spPr>
          <a:xfrm rot="16200000" flipH="1">
            <a:off x="9472882" y="6222309"/>
            <a:ext cx="264281" cy="5993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620">
            <a:extLst>
              <a:ext uri="{FF2B5EF4-FFF2-40B4-BE49-F238E27FC236}">
                <a16:creationId xmlns:a16="http://schemas.microsoft.com/office/drawing/2014/main" id="{494C51AC-6E80-482F-9862-E6D4840FEA97}"/>
              </a:ext>
            </a:extLst>
          </p:cNvPr>
          <p:cNvCxnSpPr>
            <a:cxnSpLocks/>
            <a:stCxn id="332" idx="2"/>
            <a:endCxn id="361" idx="0"/>
          </p:cNvCxnSpPr>
          <p:nvPr/>
        </p:nvCxnSpPr>
        <p:spPr>
          <a:xfrm rot="5400000">
            <a:off x="8876300" y="6223824"/>
            <a:ext cx="263056" cy="5950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1071E036-2CED-4B07-97A8-2333A262E453}"/>
              </a:ext>
            </a:extLst>
          </p:cNvPr>
          <p:cNvSpPr/>
          <p:nvPr/>
        </p:nvSpPr>
        <p:spPr>
          <a:xfrm>
            <a:off x="4680775" y="666704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Проект </a:t>
            </a:r>
            <a:r>
              <a:rPr lang="ru-RU" sz="700" dirty="0" err="1"/>
              <a:t>Нуассер</a:t>
            </a:r>
            <a:br>
              <a:rPr lang="ru-RU" sz="700" dirty="0"/>
            </a:br>
            <a:endParaRPr lang="ru-RU" sz="700" dirty="0"/>
          </a:p>
        </p:txBody>
      </p:sp>
      <p:sp>
        <p:nvSpPr>
          <p:cNvPr id="368" name="Прямоугольник 367">
            <a:extLst>
              <a:ext uri="{FF2B5EF4-FFF2-40B4-BE49-F238E27FC236}">
                <a16:creationId xmlns:a16="http://schemas.microsoft.com/office/drawing/2014/main" id="{6E3D4493-FF2E-4747-898D-4495A8488B71}"/>
              </a:ext>
            </a:extLst>
          </p:cNvPr>
          <p:cNvSpPr/>
          <p:nvPr/>
        </p:nvSpPr>
        <p:spPr>
          <a:xfrm>
            <a:off x="3508501" y="504243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меры военного времени</a:t>
            </a:r>
          </a:p>
        </p:txBody>
      </p:sp>
      <p:sp>
        <p:nvSpPr>
          <p:cNvPr id="369" name="Прямоугольник 368">
            <a:extLst>
              <a:ext uri="{FF2B5EF4-FFF2-40B4-BE49-F238E27FC236}">
                <a16:creationId xmlns:a16="http://schemas.microsoft.com/office/drawing/2014/main" id="{209D680D-DBA7-44F5-9390-4ACF118B1831}"/>
              </a:ext>
            </a:extLst>
          </p:cNvPr>
          <p:cNvSpPr/>
          <p:nvPr/>
        </p:nvSpPr>
        <p:spPr>
          <a:xfrm>
            <a:off x="4681737" y="58601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порта Касабланки</a:t>
            </a:r>
          </a:p>
        </p:txBody>
      </p:sp>
      <p:sp>
        <p:nvSpPr>
          <p:cNvPr id="370" name="Прямоугольник 369">
            <a:extLst>
              <a:ext uri="{FF2B5EF4-FFF2-40B4-BE49-F238E27FC236}">
                <a16:creationId xmlns:a16="http://schemas.microsoft.com/office/drawing/2014/main" id="{B2D85639-B01F-4996-BF83-EF0335E16D6E}"/>
              </a:ext>
            </a:extLst>
          </p:cNvPr>
          <p:cNvSpPr/>
          <p:nvPr/>
        </p:nvSpPr>
        <p:spPr>
          <a:xfrm>
            <a:off x="5270896" y="744157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Ремонтная верфь </a:t>
            </a:r>
          </a:p>
        </p:txBody>
      </p: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7DE89301-4366-4909-AA18-B24463FAB130}"/>
              </a:ext>
            </a:extLst>
          </p:cNvPr>
          <p:cNvSpPr/>
          <p:nvPr/>
        </p:nvSpPr>
        <p:spPr>
          <a:xfrm>
            <a:off x="3508416" y="66685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Подводя итоги «Факела»</a:t>
            </a:r>
          </a:p>
        </p:txBody>
      </p:sp>
      <p:cxnSp>
        <p:nvCxnSpPr>
          <p:cNvPr id="373" name="Соединительная линия уступом 620">
            <a:extLst>
              <a:ext uri="{FF2B5EF4-FFF2-40B4-BE49-F238E27FC236}">
                <a16:creationId xmlns:a16="http://schemas.microsoft.com/office/drawing/2014/main" id="{7E967D57-8385-4220-BDF1-7187168513C4}"/>
              </a:ext>
            </a:extLst>
          </p:cNvPr>
          <p:cNvCxnSpPr>
            <a:cxnSpLocks/>
            <a:stCxn id="292" idx="2"/>
            <a:endCxn id="368" idx="0"/>
          </p:cNvCxnSpPr>
          <p:nvPr/>
        </p:nvCxnSpPr>
        <p:spPr>
          <a:xfrm rot="5400000">
            <a:off x="4433802" y="4333674"/>
            <a:ext cx="246627" cy="11709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AA67ACCE-9C2A-4946-884C-805DF0C819AE}"/>
              </a:ext>
            </a:extLst>
          </p:cNvPr>
          <p:cNvSpPr/>
          <p:nvPr/>
        </p:nvSpPr>
        <p:spPr>
          <a:xfrm>
            <a:off x="5273503" y="503939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деятельность компартии</a:t>
            </a:r>
          </a:p>
        </p:txBody>
      </p:sp>
      <p:cxnSp>
        <p:nvCxnSpPr>
          <p:cNvPr id="375" name="Соединительная линия уступом 620">
            <a:extLst>
              <a:ext uri="{FF2B5EF4-FFF2-40B4-BE49-F238E27FC236}">
                <a16:creationId xmlns:a16="http://schemas.microsoft.com/office/drawing/2014/main" id="{A71C41DD-31B8-4DA1-B745-70B9E50E10AF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 rot="16200000" flipH="1">
            <a:off x="5317825" y="4620550"/>
            <a:ext cx="243581" cy="5941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Соединительная линия уступом 620">
            <a:extLst>
              <a:ext uri="{FF2B5EF4-FFF2-40B4-BE49-F238E27FC236}">
                <a16:creationId xmlns:a16="http://schemas.microsoft.com/office/drawing/2014/main" id="{A3E09B7C-51EF-4443-9AA4-513623C2BA81}"/>
              </a:ext>
            </a:extLst>
          </p:cNvPr>
          <p:cNvCxnSpPr>
            <a:cxnSpLocks/>
            <a:stCxn id="368" idx="2"/>
            <a:endCxn id="369" idx="0"/>
          </p:cNvCxnSpPr>
          <p:nvPr/>
        </p:nvCxnSpPr>
        <p:spPr>
          <a:xfrm rot="16200000" flipH="1">
            <a:off x="4419422" y="5134680"/>
            <a:ext cx="277721" cy="117323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620">
            <a:extLst>
              <a:ext uri="{FF2B5EF4-FFF2-40B4-BE49-F238E27FC236}">
                <a16:creationId xmlns:a16="http://schemas.microsoft.com/office/drawing/2014/main" id="{25A1021B-4BC5-4315-9D51-6B448B4600A3}"/>
              </a:ext>
            </a:extLst>
          </p:cNvPr>
          <p:cNvCxnSpPr>
            <a:cxnSpLocks/>
            <a:stCxn id="369" idx="2"/>
            <a:endCxn id="370" idx="0"/>
          </p:cNvCxnSpPr>
          <p:nvPr/>
        </p:nvCxnSpPr>
        <p:spPr>
          <a:xfrm rot="16200000" flipH="1">
            <a:off x="4918771" y="6626287"/>
            <a:ext cx="1041416" cy="589159"/>
          </a:xfrm>
          <a:prstGeom prst="bentConnector3">
            <a:avLst>
              <a:gd name="adj1" fmla="val 115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620">
            <a:extLst>
              <a:ext uri="{FF2B5EF4-FFF2-40B4-BE49-F238E27FC236}">
                <a16:creationId xmlns:a16="http://schemas.microsoft.com/office/drawing/2014/main" id="{574416BF-FDBD-4D0F-8EA8-F0120218A565}"/>
              </a:ext>
            </a:extLst>
          </p:cNvPr>
          <p:cNvCxnSpPr>
            <a:cxnSpLocks/>
            <a:stCxn id="369" idx="2"/>
            <a:endCxn id="367" idx="0"/>
          </p:cNvCxnSpPr>
          <p:nvPr/>
        </p:nvCxnSpPr>
        <p:spPr>
          <a:xfrm rot="5400000">
            <a:off x="5010976" y="6533121"/>
            <a:ext cx="266887" cy="9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20">
            <a:extLst>
              <a:ext uri="{FF2B5EF4-FFF2-40B4-BE49-F238E27FC236}">
                <a16:creationId xmlns:a16="http://schemas.microsoft.com/office/drawing/2014/main" id="{AB744B17-5B94-43C3-B7D2-82B5DDA82D2B}"/>
              </a:ext>
            </a:extLst>
          </p:cNvPr>
          <p:cNvCxnSpPr>
            <a:cxnSpLocks/>
            <a:stCxn id="368" idx="2"/>
            <a:endCxn id="372" idx="0"/>
          </p:cNvCxnSpPr>
          <p:nvPr/>
        </p:nvCxnSpPr>
        <p:spPr>
          <a:xfrm rot="5400000">
            <a:off x="3428564" y="6125454"/>
            <a:ext cx="1086117" cy="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CA6EF80F-ACB8-4828-A350-5C84B0FCAB4F}"/>
              </a:ext>
            </a:extLst>
          </p:cNvPr>
          <p:cNvSpPr/>
          <p:nvPr/>
        </p:nvSpPr>
        <p:spPr>
          <a:xfrm>
            <a:off x="5868093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Мавританию</a:t>
            </a:r>
          </a:p>
        </p:txBody>
      </p: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B4E2BC96-252E-4E4D-B6DB-B7D7234E2CE9}"/>
              </a:ext>
            </a:extLst>
          </p:cNvPr>
          <p:cNvCxnSpPr>
            <a:cxnSpLocks/>
            <a:stCxn id="337" idx="2"/>
            <a:endCxn id="382" idx="0"/>
          </p:cNvCxnSpPr>
          <p:nvPr/>
        </p:nvCxnSpPr>
        <p:spPr>
          <a:xfrm rot="5400000">
            <a:off x="6498716" y="7839781"/>
            <a:ext cx="262277" cy="5971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99C6CA20-455E-4DD6-A5F1-4008035CBFB8}"/>
              </a:ext>
            </a:extLst>
          </p:cNvPr>
          <p:cNvSpPr/>
          <p:nvPr/>
        </p:nvSpPr>
        <p:spPr>
          <a:xfrm>
            <a:off x="7053302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Танжер под руку Султана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F54D1FD9-F108-459A-BCAD-99AAA49543C5}"/>
              </a:ext>
            </a:extLst>
          </p:cNvPr>
          <p:cNvCxnSpPr>
            <a:cxnSpLocks/>
            <a:stCxn id="337" idx="2"/>
            <a:endCxn id="386" idx="0"/>
          </p:cNvCxnSpPr>
          <p:nvPr/>
        </p:nvCxnSpPr>
        <p:spPr>
          <a:xfrm rot="16200000" flipH="1">
            <a:off x="7091320" y="7844371"/>
            <a:ext cx="262277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E7EDF23-23F6-4AB2-AC8C-CF5D5F9A6C52}"/>
              </a:ext>
            </a:extLst>
          </p:cNvPr>
          <p:cNvSpPr/>
          <p:nvPr/>
        </p:nvSpPr>
        <p:spPr>
          <a:xfrm>
            <a:off x="8838914" y="745594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духовную и светскую власть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750E2224-5F10-44BD-8AC6-7D94ECEF7F8D}"/>
              </a:ext>
            </a:extLst>
          </p:cNvPr>
          <p:cNvSpPr/>
          <p:nvPr/>
        </p:nvSpPr>
        <p:spPr>
          <a:xfrm>
            <a:off x="7652593" y="745516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западному образцу</a:t>
            </a:r>
          </a:p>
        </p:txBody>
      </p:sp>
      <p:cxnSp>
        <p:nvCxnSpPr>
          <p:cNvPr id="397" name="Соединительная линия уступом 620">
            <a:extLst>
              <a:ext uri="{FF2B5EF4-FFF2-40B4-BE49-F238E27FC236}">
                <a16:creationId xmlns:a16="http://schemas.microsoft.com/office/drawing/2014/main" id="{B017D1EC-332A-43A1-8281-0F6E0A856BC4}"/>
              </a:ext>
            </a:extLst>
          </p:cNvPr>
          <p:cNvCxnSpPr>
            <a:cxnSpLocks/>
            <a:stCxn id="361" idx="2"/>
            <a:endCxn id="394" idx="0"/>
          </p:cNvCxnSpPr>
          <p:nvPr/>
        </p:nvCxnSpPr>
        <p:spPr>
          <a:xfrm rot="16200000" flipH="1">
            <a:off x="8874657" y="7028522"/>
            <a:ext cx="263056" cy="5917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20">
            <a:extLst>
              <a:ext uri="{FF2B5EF4-FFF2-40B4-BE49-F238E27FC236}">
                <a16:creationId xmlns:a16="http://schemas.microsoft.com/office/drawing/2014/main" id="{C9C933A2-E386-443A-AC73-3C26918CD7AB}"/>
              </a:ext>
            </a:extLst>
          </p:cNvPr>
          <p:cNvCxnSpPr>
            <a:cxnSpLocks/>
            <a:stCxn id="362" idx="2"/>
            <a:endCxn id="394" idx="0"/>
          </p:cNvCxnSpPr>
          <p:nvPr/>
        </p:nvCxnSpPr>
        <p:spPr>
          <a:xfrm rot="5400000">
            <a:off x="9472465" y="7023723"/>
            <a:ext cx="261831" cy="6026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20">
            <a:extLst>
              <a:ext uri="{FF2B5EF4-FFF2-40B4-BE49-F238E27FC236}">
                <a16:creationId xmlns:a16="http://schemas.microsoft.com/office/drawing/2014/main" id="{83EEC453-E55A-451D-A2BB-02DAD9369566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rot="5400000">
            <a:off x="8281887" y="7026756"/>
            <a:ext cx="262276" cy="5945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Прямоугольник 335">
            <a:extLst>
              <a:ext uri="{FF2B5EF4-FFF2-40B4-BE49-F238E27FC236}">
                <a16:creationId xmlns:a16="http://schemas.microsoft.com/office/drawing/2014/main" id="{AB16E4EB-5430-4CC3-8399-29F2F6AF61BF}"/>
              </a:ext>
            </a:extLst>
          </p:cNvPr>
          <p:cNvSpPr/>
          <p:nvPr/>
        </p:nvSpPr>
        <p:spPr>
          <a:xfrm>
            <a:off x="10026427" y="5041884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</a:t>
            </a:r>
            <a:r>
              <a:rPr lang="ru-RU" sz="700" dirty="0" err="1"/>
              <a:t>махзен</a:t>
            </a:r>
            <a:endParaRPr lang="ru-RU" sz="700" dirty="0"/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5897BA98-1814-4172-A9D3-A31E1B1AD080}"/>
              </a:ext>
            </a:extLst>
          </p:cNvPr>
          <p:cNvSpPr/>
          <p:nvPr/>
        </p:nvSpPr>
        <p:spPr>
          <a:xfrm>
            <a:off x="10029743" y="5844112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титул короля</a:t>
            </a:r>
          </a:p>
        </p:txBody>
      </p: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28323095-6A38-4E35-8C92-261E14205AE9}"/>
              </a:ext>
            </a:extLst>
          </p:cNvPr>
          <p:cNvSpPr/>
          <p:nvPr/>
        </p:nvSpPr>
        <p:spPr>
          <a:xfrm>
            <a:off x="11216940" y="66528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Сократить влияние националистов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56E8842A-823E-4F0E-9699-5B2927CC325E}"/>
              </a:ext>
            </a:extLst>
          </p:cNvPr>
          <p:cNvSpPr/>
          <p:nvPr/>
        </p:nvSpPr>
        <p:spPr>
          <a:xfrm>
            <a:off x="7053301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Панарабские амбиции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sp>
        <p:nvSpPr>
          <p:cNvPr id="388" name="Прямоугольник 387">
            <a:extLst>
              <a:ext uri="{FF2B5EF4-FFF2-40B4-BE49-F238E27FC236}">
                <a16:creationId xmlns:a16="http://schemas.microsoft.com/office/drawing/2014/main" id="{F8854DA0-0A68-4978-AB1E-49C2999C31BA}"/>
              </a:ext>
            </a:extLst>
          </p:cNvPr>
          <p:cNvSpPr/>
          <p:nvPr/>
        </p:nvSpPr>
        <p:spPr>
          <a:xfrm>
            <a:off x="10306580" y="19506339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Аль-Андалусские амбиции</a:t>
            </a:r>
          </a:p>
        </p:txBody>
      </p:sp>
      <p:cxnSp>
        <p:nvCxnSpPr>
          <p:cNvPr id="389" name="Соединительная линия уступом 620">
            <a:extLst>
              <a:ext uri="{FF2B5EF4-FFF2-40B4-BE49-F238E27FC236}">
                <a16:creationId xmlns:a16="http://schemas.microsoft.com/office/drawing/2014/main" id="{6939D681-CD5F-4237-8B2C-87DF6F68EDC8}"/>
              </a:ext>
            </a:extLst>
          </p:cNvPr>
          <p:cNvCxnSpPr>
            <a:cxnSpLocks/>
            <a:stCxn id="330" idx="2"/>
            <a:endCxn id="385" idx="0"/>
          </p:cNvCxnSpPr>
          <p:nvPr/>
        </p:nvCxnSpPr>
        <p:spPr>
          <a:xfrm rot="16200000" flipH="1">
            <a:off x="7087766" y="9459584"/>
            <a:ext cx="269383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Соединительная линия уступом 620">
            <a:extLst>
              <a:ext uri="{FF2B5EF4-FFF2-40B4-BE49-F238E27FC236}">
                <a16:creationId xmlns:a16="http://schemas.microsoft.com/office/drawing/2014/main" id="{58F98732-BFE8-4991-9A38-05C11FC04FDB}"/>
              </a:ext>
            </a:extLst>
          </p:cNvPr>
          <p:cNvCxnSpPr>
            <a:cxnSpLocks/>
            <a:stCxn id="330" idx="2"/>
            <a:endCxn id="435" idx="0"/>
          </p:cNvCxnSpPr>
          <p:nvPr/>
        </p:nvCxnSpPr>
        <p:spPr>
          <a:xfrm rot="5400000">
            <a:off x="6495162" y="9454994"/>
            <a:ext cx="269383" cy="597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Прямоугольник 390">
            <a:extLst>
              <a:ext uri="{FF2B5EF4-FFF2-40B4-BE49-F238E27FC236}">
                <a16:creationId xmlns:a16="http://schemas.microsoft.com/office/drawing/2014/main" id="{F6324390-F8AE-4AB5-AD25-75C7A7634BC2}"/>
              </a:ext>
            </a:extLst>
          </p:cNvPr>
          <p:cNvSpPr/>
          <p:nvPr/>
        </p:nvSpPr>
        <p:spPr>
          <a:xfrm>
            <a:off x="10903549" y="2030662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Земли Испании</a:t>
            </a:r>
          </a:p>
        </p:txBody>
      </p:sp>
      <p:cxnSp>
        <p:nvCxnSpPr>
          <p:cNvPr id="392" name="Прямая соединительная линия 391">
            <a:extLst>
              <a:ext uri="{FF2B5EF4-FFF2-40B4-BE49-F238E27FC236}">
                <a16:creationId xmlns:a16="http://schemas.microsoft.com/office/drawing/2014/main" id="{69363E1E-740B-4D79-AA3E-047239836AA0}"/>
              </a:ext>
            </a:extLst>
          </p:cNvPr>
          <p:cNvCxnSpPr>
            <a:cxnSpLocks/>
            <a:stCxn id="385" idx="1"/>
            <a:endCxn id="435" idx="3"/>
          </p:cNvCxnSpPr>
          <p:nvPr/>
        </p:nvCxnSpPr>
        <p:spPr>
          <a:xfrm flipH="1">
            <a:off x="6794418" y="10158283"/>
            <a:ext cx="2588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3" name="Прямоугольник 392">
            <a:extLst>
              <a:ext uri="{FF2B5EF4-FFF2-40B4-BE49-F238E27FC236}">
                <a16:creationId xmlns:a16="http://schemas.microsoft.com/office/drawing/2014/main" id="{05D0D326-25E7-4CF1-BC8E-9F64D542575B}"/>
              </a:ext>
            </a:extLst>
          </p:cNvPr>
          <p:cNvSpPr/>
          <p:nvPr/>
        </p:nvSpPr>
        <p:spPr>
          <a:xfrm>
            <a:off x="9713819" y="2030715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Земли Португалии</a:t>
            </a:r>
          </a:p>
        </p:txBody>
      </p:sp>
      <p:sp>
        <p:nvSpPr>
          <p:cNvPr id="398" name="Прямоугольник 397">
            <a:extLst>
              <a:ext uri="{FF2B5EF4-FFF2-40B4-BE49-F238E27FC236}">
                <a16:creationId xmlns:a16="http://schemas.microsoft.com/office/drawing/2014/main" id="{28CEDD15-69A5-47C1-928C-D47DE891019A}"/>
              </a:ext>
            </a:extLst>
          </p:cNvPr>
          <p:cNvSpPr/>
          <p:nvPr/>
        </p:nvSpPr>
        <p:spPr>
          <a:xfrm>
            <a:off x="10306579" y="21037390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Оккупировать Гибралтар</a:t>
            </a:r>
          </a:p>
        </p:txBody>
      </p:sp>
      <p:sp>
        <p:nvSpPr>
          <p:cNvPr id="399" name="Прямоугольник 398">
            <a:extLst>
              <a:ext uri="{FF2B5EF4-FFF2-40B4-BE49-F238E27FC236}">
                <a16:creationId xmlns:a16="http://schemas.microsoft.com/office/drawing/2014/main" id="{2757126F-767B-49BC-8A20-3EF2F6BAD339}"/>
              </a:ext>
            </a:extLst>
          </p:cNvPr>
          <p:cNvSpPr/>
          <p:nvPr/>
        </p:nvSpPr>
        <p:spPr>
          <a:xfrm>
            <a:off x="10903548" y="2184738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Иберийские провинции под эмираты</a:t>
            </a:r>
          </a:p>
        </p:txBody>
      </p:sp>
      <p:sp>
        <p:nvSpPr>
          <p:cNvPr id="401" name="Прямоугольник 400">
            <a:extLst>
              <a:ext uri="{FF2B5EF4-FFF2-40B4-BE49-F238E27FC236}">
                <a16:creationId xmlns:a16="http://schemas.microsoft.com/office/drawing/2014/main" id="{98F1BED1-5D08-4C89-AA68-C9EEB86A12A3}"/>
              </a:ext>
            </a:extLst>
          </p:cNvPr>
          <p:cNvSpPr/>
          <p:nvPr/>
        </p:nvSpPr>
        <p:spPr>
          <a:xfrm>
            <a:off x="9713818" y="21847389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Продвижение ислама на Пиренейском полуострове</a:t>
            </a:r>
          </a:p>
        </p:txBody>
      </p:sp>
      <p:cxnSp>
        <p:nvCxnSpPr>
          <p:cNvPr id="402" name="Соединительная линия уступом 620">
            <a:extLst>
              <a:ext uri="{FF2B5EF4-FFF2-40B4-BE49-F238E27FC236}">
                <a16:creationId xmlns:a16="http://schemas.microsoft.com/office/drawing/2014/main" id="{2EF2ABD2-BA85-4697-AE78-CF7878ADA90D}"/>
              </a:ext>
            </a:extLst>
          </p:cNvPr>
          <p:cNvCxnSpPr>
            <a:cxnSpLocks/>
            <a:stCxn id="388" idx="2"/>
            <a:endCxn id="393" idx="0"/>
          </p:cNvCxnSpPr>
          <p:nvPr/>
        </p:nvCxnSpPr>
        <p:spPr>
          <a:xfrm rot="5400000">
            <a:off x="10342954" y="19880368"/>
            <a:ext cx="260819" cy="5927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Соединительная линия уступом 620">
            <a:extLst>
              <a:ext uri="{FF2B5EF4-FFF2-40B4-BE49-F238E27FC236}">
                <a16:creationId xmlns:a16="http://schemas.microsoft.com/office/drawing/2014/main" id="{CA823A6B-39CF-47ED-A88F-0C536E2E29A6}"/>
              </a:ext>
            </a:extLst>
          </p:cNvPr>
          <p:cNvCxnSpPr>
            <a:cxnSpLocks/>
            <a:stCxn id="388" idx="2"/>
            <a:endCxn id="391" idx="0"/>
          </p:cNvCxnSpPr>
          <p:nvPr/>
        </p:nvCxnSpPr>
        <p:spPr>
          <a:xfrm rot="16200000" flipH="1">
            <a:off x="10938083" y="19877998"/>
            <a:ext cx="260289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Соединительная линия уступом 620">
            <a:extLst>
              <a:ext uri="{FF2B5EF4-FFF2-40B4-BE49-F238E27FC236}">
                <a16:creationId xmlns:a16="http://schemas.microsoft.com/office/drawing/2014/main" id="{8C529540-B4D6-4BB9-92AD-DEE61AFB1831}"/>
              </a:ext>
            </a:extLst>
          </p:cNvPr>
          <p:cNvCxnSpPr>
            <a:cxnSpLocks/>
            <a:stCxn id="388" idx="2"/>
            <a:endCxn id="398" idx="0"/>
          </p:cNvCxnSpPr>
          <p:nvPr/>
        </p:nvCxnSpPr>
        <p:spPr>
          <a:xfrm rot="5400000">
            <a:off x="10274218" y="20541864"/>
            <a:ext cx="99105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Соединительная линия уступом 620">
            <a:extLst>
              <a:ext uri="{FF2B5EF4-FFF2-40B4-BE49-F238E27FC236}">
                <a16:creationId xmlns:a16="http://schemas.microsoft.com/office/drawing/2014/main" id="{C222986D-1E4F-4588-B963-F7419387B849}"/>
              </a:ext>
            </a:extLst>
          </p:cNvPr>
          <p:cNvCxnSpPr>
            <a:cxnSpLocks/>
            <a:stCxn id="398" idx="2"/>
            <a:endCxn id="401" idx="0"/>
          </p:cNvCxnSpPr>
          <p:nvPr/>
        </p:nvCxnSpPr>
        <p:spPr>
          <a:xfrm rot="5400000">
            <a:off x="10338363" y="21416009"/>
            <a:ext cx="269999" cy="5927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Соединительная линия уступом 620">
            <a:extLst>
              <a:ext uri="{FF2B5EF4-FFF2-40B4-BE49-F238E27FC236}">
                <a16:creationId xmlns:a16="http://schemas.microsoft.com/office/drawing/2014/main" id="{4C3C96C6-F2ED-4F21-9CE9-26F579EBDE06}"/>
              </a:ext>
            </a:extLst>
          </p:cNvPr>
          <p:cNvCxnSpPr>
            <a:cxnSpLocks/>
            <a:stCxn id="398" idx="2"/>
            <a:endCxn id="399" idx="0"/>
          </p:cNvCxnSpPr>
          <p:nvPr/>
        </p:nvCxnSpPr>
        <p:spPr>
          <a:xfrm rot="16200000" flipH="1">
            <a:off x="10933227" y="21413904"/>
            <a:ext cx="269998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3C2402F4-31AF-448C-B8FA-52B3ADC9CEE0}"/>
              </a:ext>
            </a:extLst>
          </p:cNvPr>
          <p:cNvSpPr/>
          <p:nvPr/>
        </p:nvSpPr>
        <p:spPr>
          <a:xfrm>
            <a:off x="5875167" y="666348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Мавритании</a:t>
            </a:r>
          </a:p>
        </p:txBody>
      </p:sp>
      <p:sp>
        <p:nvSpPr>
          <p:cNvPr id="411" name="Прямоугольник 410">
            <a:extLst>
              <a:ext uri="{FF2B5EF4-FFF2-40B4-BE49-F238E27FC236}">
                <a16:creationId xmlns:a16="http://schemas.microsoft.com/office/drawing/2014/main" id="{C688C71C-1C36-4FD3-ADF8-83A350ED6574}"/>
              </a:ext>
            </a:extLst>
          </p:cNvPr>
          <p:cNvSpPr/>
          <p:nvPr/>
        </p:nvSpPr>
        <p:spPr>
          <a:xfrm>
            <a:off x="10028508" y="423504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Назначить лояльного королю визиря</a:t>
            </a:r>
          </a:p>
        </p:txBody>
      </p:sp>
      <p:cxnSp>
        <p:nvCxnSpPr>
          <p:cNvPr id="412" name="Прямая соединительная линия 411">
            <a:extLst>
              <a:ext uri="{FF2B5EF4-FFF2-40B4-BE49-F238E27FC236}">
                <a16:creationId xmlns:a16="http://schemas.microsoft.com/office/drawing/2014/main" id="{FE3D907B-C345-42EE-9CEE-AE0F130BD2FE}"/>
              </a:ext>
            </a:extLst>
          </p:cNvPr>
          <p:cNvCxnSpPr>
            <a:cxnSpLocks/>
            <a:stCxn id="411" idx="1"/>
            <a:endCxn id="275" idx="3"/>
          </p:cNvCxnSpPr>
          <p:nvPr/>
        </p:nvCxnSpPr>
        <p:spPr>
          <a:xfrm flipH="1">
            <a:off x="9768525" y="4505046"/>
            <a:ext cx="2599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8B330FB8-FF98-4300-95FC-E9679674C672}"/>
              </a:ext>
            </a:extLst>
          </p:cNvPr>
          <p:cNvCxnSpPr>
            <a:cxnSpLocks/>
            <a:stCxn id="287" idx="2"/>
            <a:endCxn id="411" idx="0"/>
          </p:cNvCxnSpPr>
          <p:nvPr/>
        </p:nvCxnSpPr>
        <p:spPr>
          <a:xfrm rot="16200000" flipH="1">
            <a:off x="9765346" y="3508721"/>
            <a:ext cx="263056" cy="1189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Соединительная линия уступом 620">
            <a:extLst>
              <a:ext uri="{FF2B5EF4-FFF2-40B4-BE49-F238E27FC236}">
                <a16:creationId xmlns:a16="http://schemas.microsoft.com/office/drawing/2014/main" id="{6F7D6D57-CFAB-4E36-9036-A9781AB86AF9}"/>
              </a:ext>
            </a:extLst>
          </p:cNvPr>
          <p:cNvCxnSpPr>
            <a:cxnSpLocks/>
            <a:stCxn id="411" idx="2"/>
            <a:endCxn id="336" idx="0"/>
          </p:cNvCxnSpPr>
          <p:nvPr/>
        </p:nvCxnSpPr>
        <p:spPr>
          <a:xfrm rot="5400000">
            <a:off x="10357212" y="4907425"/>
            <a:ext cx="266838" cy="2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Соединительная линия уступом 620">
            <a:extLst>
              <a:ext uri="{FF2B5EF4-FFF2-40B4-BE49-F238E27FC236}">
                <a16:creationId xmlns:a16="http://schemas.microsoft.com/office/drawing/2014/main" id="{39F7F08E-601C-4E17-AA63-BAB3202D746A}"/>
              </a:ext>
            </a:extLst>
          </p:cNvPr>
          <p:cNvCxnSpPr>
            <a:cxnSpLocks/>
            <a:stCxn id="336" idx="2"/>
            <a:endCxn id="339" idx="0"/>
          </p:cNvCxnSpPr>
          <p:nvPr/>
        </p:nvCxnSpPr>
        <p:spPr>
          <a:xfrm rot="16200000" flipH="1">
            <a:off x="10360134" y="5711340"/>
            <a:ext cx="262228" cy="331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681E0FBA-1733-43B9-98CA-A4658882A5F5}"/>
              </a:ext>
            </a:extLst>
          </p:cNvPr>
          <p:cNvCxnSpPr>
            <a:cxnSpLocks/>
            <a:stCxn id="339" idx="2"/>
            <a:endCxn id="345" idx="0"/>
          </p:cNvCxnSpPr>
          <p:nvPr/>
        </p:nvCxnSpPr>
        <p:spPr>
          <a:xfrm rot="16200000" flipH="1">
            <a:off x="10952117" y="5924900"/>
            <a:ext cx="268774" cy="118719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D1A6BCEA-858E-4D65-ACB7-0ADE35BB1A2A}"/>
              </a:ext>
            </a:extLst>
          </p:cNvPr>
          <p:cNvSpPr/>
          <p:nvPr/>
        </p:nvSpPr>
        <p:spPr>
          <a:xfrm>
            <a:off x="11218590" y="585691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митинги и профсоюзы</a:t>
            </a:r>
          </a:p>
        </p:txBody>
      </p:sp>
      <p:cxnSp>
        <p:nvCxnSpPr>
          <p:cNvPr id="421" name="Соединительная линия уступом 620">
            <a:extLst>
              <a:ext uri="{FF2B5EF4-FFF2-40B4-BE49-F238E27FC236}">
                <a16:creationId xmlns:a16="http://schemas.microsoft.com/office/drawing/2014/main" id="{04418FFC-EF67-4950-A1E9-BF3730CDF1A8}"/>
              </a:ext>
            </a:extLst>
          </p:cNvPr>
          <p:cNvCxnSpPr>
            <a:cxnSpLocks/>
            <a:stCxn id="336" idx="2"/>
            <a:endCxn id="420" idx="0"/>
          </p:cNvCxnSpPr>
          <p:nvPr/>
        </p:nvCxnSpPr>
        <p:spPr>
          <a:xfrm rot="16200000" flipH="1">
            <a:off x="10948155" y="5123318"/>
            <a:ext cx="275032" cy="11921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Прямоугольник 421">
            <a:extLst>
              <a:ext uri="{FF2B5EF4-FFF2-40B4-BE49-F238E27FC236}">
                <a16:creationId xmlns:a16="http://schemas.microsoft.com/office/drawing/2014/main" id="{0CDAB3F3-F1D4-45E2-808F-9C0405D4348C}"/>
              </a:ext>
            </a:extLst>
          </p:cNvPr>
          <p:cNvSpPr/>
          <p:nvPr/>
        </p:nvSpPr>
        <p:spPr>
          <a:xfrm>
            <a:off x="11216385" y="744885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Единоличная власть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423" name="Соединительная линия уступом 620">
            <a:extLst>
              <a:ext uri="{FF2B5EF4-FFF2-40B4-BE49-F238E27FC236}">
                <a16:creationId xmlns:a16="http://schemas.microsoft.com/office/drawing/2014/main" id="{B2211544-6FD5-4685-9C14-221F7049609B}"/>
              </a:ext>
            </a:extLst>
          </p:cNvPr>
          <p:cNvCxnSpPr>
            <a:cxnSpLocks/>
            <a:stCxn id="420" idx="2"/>
            <a:endCxn id="345" idx="0"/>
          </p:cNvCxnSpPr>
          <p:nvPr/>
        </p:nvCxnSpPr>
        <p:spPr>
          <a:xfrm rot="5400000">
            <a:off x="11552943" y="6524076"/>
            <a:ext cx="255970" cy="165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620">
            <a:extLst>
              <a:ext uri="{FF2B5EF4-FFF2-40B4-BE49-F238E27FC236}">
                <a16:creationId xmlns:a16="http://schemas.microsoft.com/office/drawing/2014/main" id="{43B70F96-3D36-4946-9DC4-867C38D732EE}"/>
              </a:ext>
            </a:extLst>
          </p:cNvPr>
          <p:cNvCxnSpPr>
            <a:cxnSpLocks/>
            <a:stCxn id="345" idx="2"/>
            <a:endCxn id="422" idx="0"/>
          </p:cNvCxnSpPr>
          <p:nvPr/>
        </p:nvCxnSpPr>
        <p:spPr>
          <a:xfrm rot="5400000">
            <a:off x="11551841" y="7320594"/>
            <a:ext cx="255970" cy="5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Соединительная линия уступом 620">
            <a:extLst>
              <a:ext uri="{FF2B5EF4-FFF2-40B4-BE49-F238E27FC236}">
                <a16:creationId xmlns:a16="http://schemas.microsoft.com/office/drawing/2014/main" id="{6E4BE841-D644-4755-A037-32E5E51165D7}"/>
              </a:ext>
            </a:extLst>
          </p:cNvPr>
          <p:cNvCxnSpPr>
            <a:cxnSpLocks/>
            <a:stCxn id="275" idx="2"/>
            <a:endCxn id="316" idx="0"/>
          </p:cNvCxnSpPr>
          <p:nvPr/>
        </p:nvCxnSpPr>
        <p:spPr>
          <a:xfrm rot="5400000">
            <a:off x="9171715" y="4908470"/>
            <a:ext cx="267072" cy="2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Прямоугольник 334">
            <a:extLst>
              <a:ext uri="{FF2B5EF4-FFF2-40B4-BE49-F238E27FC236}">
                <a16:creationId xmlns:a16="http://schemas.microsoft.com/office/drawing/2014/main" id="{7EFCE7AB-5044-431F-82FE-324856B0B798}"/>
              </a:ext>
            </a:extLst>
          </p:cNvPr>
          <p:cNvSpPr/>
          <p:nvPr/>
        </p:nvSpPr>
        <p:spPr>
          <a:xfrm>
            <a:off x="8838913" y="827525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Прогрессивная социальная политика</a:t>
            </a:r>
          </a:p>
        </p:txBody>
      </p: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8169D63-F220-4099-A6E8-311745F7353C}"/>
              </a:ext>
            </a:extLst>
          </p:cNvPr>
          <p:cNvSpPr/>
          <p:nvPr/>
        </p:nvSpPr>
        <p:spPr>
          <a:xfrm>
            <a:off x="8837351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Пенитенциарная реформа</a:t>
            </a:r>
          </a:p>
        </p:txBody>
      </p: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D90A5ACA-BE43-4B65-8EB3-8DC53BDEF6A1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7804011" y="22205326"/>
            <a:ext cx="260709" cy="624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ная линия уступом 620">
            <a:extLst>
              <a:ext uri="{FF2B5EF4-FFF2-40B4-BE49-F238E27FC236}">
                <a16:creationId xmlns:a16="http://schemas.microsoft.com/office/drawing/2014/main" id="{9E03EC62-C4DD-4CA8-87AA-E384052482A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7182981" y="22209136"/>
            <a:ext cx="260709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Прямоугольник 352">
            <a:extLst>
              <a:ext uri="{FF2B5EF4-FFF2-40B4-BE49-F238E27FC236}">
                <a16:creationId xmlns:a16="http://schemas.microsoft.com/office/drawing/2014/main" id="{46489E18-82A4-4C13-B5E3-665C40DCBD81}"/>
              </a:ext>
            </a:extLst>
          </p:cNvPr>
          <p:cNvSpPr/>
          <p:nvPr/>
        </p:nvSpPr>
        <p:spPr>
          <a:xfrm>
            <a:off x="9441519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Земельная реформа</a:t>
            </a:r>
          </a:p>
        </p:txBody>
      </p:sp>
      <p:sp>
        <p:nvSpPr>
          <p:cNvPr id="358" name="Прямоугольник 357">
            <a:extLst>
              <a:ext uri="{FF2B5EF4-FFF2-40B4-BE49-F238E27FC236}">
                <a16:creationId xmlns:a16="http://schemas.microsoft.com/office/drawing/2014/main" id="{FD86CD52-56C1-4503-A47B-6517D32DD7A3}"/>
              </a:ext>
            </a:extLst>
          </p:cNvPr>
          <p:cNvSpPr/>
          <p:nvPr/>
        </p:nvSpPr>
        <p:spPr>
          <a:xfrm>
            <a:off x="12392197" y="585468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rgbClr val="FF0000"/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Арабизация страны</a:t>
            </a:r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3D6C0F7-DD06-4EB7-9199-E1E9D14A3A3D}"/>
              </a:ext>
            </a:extLst>
          </p:cNvPr>
          <p:cNvCxnSpPr>
            <a:cxnSpLocks/>
            <a:stCxn id="394" idx="2"/>
            <a:endCxn id="335" idx="0"/>
          </p:cNvCxnSpPr>
          <p:nvPr/>
        </p:nvCxnSpPr>
        <p:spPr>
          <a:xfrm rot="5400000">
            <a:off x="9162423" y="8135596"/>
            <a:ext cx="2793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Соединительная линия уступом 620">
            <a:extLst>
              <a:ext uri="{FF2B5EF4-FFF2-40B4-BE49-F238E27FC236}">
                <a16:creationId xmlns:a16="http://schemas.microsoft.com/office/drawing/2014/main" id="{583F77CA-19B7-4F81-B14D-F75296ED9C71}"/>
              </a:ext>
            </a:extLst>
          </p:cNvPr>
          <p:cNvCxnSpPr>
            <a:cxnSpLocks/>
            <a:stCxn id="335" idx="2"/>
            <a:endCxn id="338" idx="0"/>
          </p:cNvCxnSpPr>
          <p:nvPr/>
        </p:nvCxnSpPr>
        <p:spPr>
          <a:xfrm rot="5400000">
            <a:off x="9166535" y="8949230"/>
            <a:ext cx="269520" cy="15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" name="Прямоугольник 409">
            <a:extLst>
              <a:ext uri="{FF2B5EF4-FFF2-40B4-BE49-F238E27FC236}">
                <a16:creationId xmlns:a16="http://schemas.microsoft.com/office/drawing/2014/main" id="{689FCD2C-74D8-4FA5-97DB-81ADE08D74B0}"/>
              </a:ext>
            </a:extLst>
          </p:cNvPr>
          <p:cNvSpPr/>
          <p:nvPr/>
        </p:nvSpPr>
        <p:spPr>
          <a:xfrm>
            <a:off x="10905838" y="170548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Переворот Торреса</a:t>
            </a:r>
          </a:p>
        </p:txBody>
      </p:sp>
      <p:sp>
        <p:nvSpPr>
          <p:cNvPr id="415" name="Прямоугольник 414">
            <a:extLst>
              <a:ext uri="{FF2B5EF4-FFF2-40B4-BE49-F238E27FC236}">
                <a16:creationId xmlns:a16="http://schemas.microsoft.com/office/drawing/2014/main" id="{390C7082-3773-4977-8DB9-3D7B82584170}"/>
              </a:ext>
            </a:extLst>
          </p:cNvPr>
          <p:cNvSpPr/>
          <p:nvPr/>
        </p:nvSpPr>
        <p:spPr>
          <a:xfrm>
            <a:off x="9660640" y="170578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потомков Аль-Андалусской знати</a:t>
            </a:r>
          </a:p>
        </p:txBody>
      </p:sp>
      <p:cxnSp>
        <p:nvCxnSpPr>
          <p:cNvPr id="425" name="Соединительная линия уступом 620">
            <a:extLst>
              <a:ext uri="{FF2B5EF4-FFF2-40B4-BE49-F238E27FC236}">
                <a16:creationId xmlns:a16="http://schemas.microsoft.com/office/drawing/2014/main" id="{1A6E50F0-61C8-4AFD-A6D6-B74CB66D7EED}"/>
              </a:ext>
            </a:extLst>
          </p:cNvPr>
          <p:cNvCxnSpPr>
            <a:cxnSpLocks/>
            <a:stCxn id="69" idx="2"/>
            <a:endCxn id="415" idx="0"/>
          </p:cNvCxnSpPr>
          <p:nvPr/>
        </p:nvCxnSpPr>
        <p:spPr>
          <a:xfrm rot="5400000">
            <a:off x="10605204" y="16295544"/>
            <a:ext cx="280899" cy="1243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77E7A6AB-9FCE-4B7E-BFF2-ABD83A544DF0}"/>
              </a:ext>
            </a:extLst>
          </p:cNvPr>
          <p:cNvCxnSpPr>
            <a:cxnSpLocks/>
            <a:stCxn id="69" idx="2"/>
            <a:endCxn id="410" idx="0"/>
          </p:cNvCxnSpPr>
          <p:nvPr/>
        </p:nvCxnSpPr>
        <p:spPr>
          <a:xfrm rot="16200000" flipH="1">
            <a:off x="11229288" y="16915160"/>
            <a:ext cx="277929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Соединительная линия уступом 620">
            <a:extLst>
              <a:ext uri="{FF2B5EF4-FFF2-40B4-BE49-F238E27FC236}">
                <a16:creationId xmlns:a16="http://schemas.microsoft.com/office/drawing/2014/main" id="{9C6ECDC0-C4A4-41DB-A001-F0751FF81343}"/>
              </a:ext>
            </a:extLst>
          </p:cNvPr>
          <p:cNvCxnSpPr>
            <a:cxnSpLocks/>
            <a:stCxn id="415" idx="2"/>
            <a:endCxn id="388" idx="0"/>
          </p:cNvCxnSpPr>
          <p:nvPr/>
        </p:nvCxnSpPr>
        <p:spPr>
          <a:xfrm rot="16200000" flipH="1">
            <a:off x="9492526" y="18229121"/>
            <a:ext cx="1908495" cy="645940"/>
          </a:xfrm>
          <a:prstGeom prst="bentConnector3">
            <a:avLst>
              <a:gd name="adj1" fmla="val 727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Соединительная линия уступом 620">
            <a:extLst>
              <a:ext uri="{FF2B5EF4-FFF2-40B4-BE49-F238E27FC236}">
                <a16:creationId xmlns:a16="http://schemas.microsoft.com/office/drawing/2014/main" id="{B2E45BDC-02B0-4EC0-A935-4E6F3506B92D}"/>
              </a:ext>
            </a:extLst>
          </p:cNvPr>
          <p:cNvCxnSpPr>
            <a:cxnSpLocks/>
            <a:stCxn id="410" idx="2"/>
            <a:endCxn id="438" idx="0"/>
          </p:cNvCxnSpPr>
          <p:nvPr/>
        </p:nvCxnSpPr>
        <p:spPr>
          <a:xfrm rot="16200000" flipH="1">
            <a:off x="11852407" y="17111468"/>
            <a:ext cx="277493" cy="12443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Соединительная линия уступом 620">
            <a:extLst>
              <a:ext uri="{FF2B5EF4-FFF2-40B4-BE49-F238E27FC236}">
                <a16:creationId xmlns:a16="http://schemas.microsoft.com/office/drawing/2014/main" id="{A388DD1F-4756-4F8F-9216-122006CB833A}"/>
              </a:ext>
            </a:extLst>
          </p:cNvPr>
          <p:cNvCxnSpPr>
            <a:cxnSpLocks/>
            <a:stCxn id="410" idx="2"/>
            <a:endCxn id="247" idx="0"/>
          </p:cNvCxnSpPr>
          <p:nvPr/>
        </p:nvCxnSpPr>
        <p:spPr>
          <a:xfrm rot="5400000">
            <a:off x="11231455" y="17730132"/>
            <a:ext cx="272804" cy="22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Соединительная линия уступом 620">
            <a:extLst>
              <a:ext uri="{FF2B5EF4-FFF2-40B4-BE49-F238E27FC236}">
                <a16:creationId xmlns:a16="http://schemas.microsoft.com/office/drawing/2014/main" id="{467A3C7A-10BB-4FE6-8683-12B1DB01A00A}"/>
              </a:ext>
            </a:extLst>
          </p:cNvPr>
          <p:cNvCxnSpPr>
            <a:cxnSpLocks/>
            <a:stCxn id="247" idx="2"/>
            <a:endCxn id="244" idx="0"/>
          </p:cNvCxnSpPr>
          <p:nvPr/>
        </p:nvCxnSpPr>
        <p:spPr>
          <a:xfrm rot="5400000">
            <a:off x="11231796" y="18542595"/>
            <a:ext cx="26983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Соединительная линия уступом 620">
            <a:extLst>
              <a:ext uri="{FF2B5EF4-FFF2-40B4-BE49-F238E27FC236}">
                <a16:creationId xmlns:a16="http://schemas.microsoft.com/office/drawing/2014/main" id="{2425C51C-549D-421C-BF11-B0F2EB50F05A}"/>
              </a:ext>
            </a:extLst>
          </p:cNvPr>
          <p:cNvCxnSpPr>
            <a:cxnSpLocks/>
            <a:stCxn id="244" idx="2"/>
            <a:endCxn id="388" idx="0"/>
          </p:cNvCxnSpPr>
          <p:nvPr/>
        </p:nvCxnSpPr>
        <p:spPr>
          <a:xfrm rot="5400000">
            <a:off x="10923815" y="19063441"/>
            <a:ext cx="288827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>
            <a:extLst>
              <a:ext uri="{FF2B5EF4-FFF2-40B4-BE49-F238E27FC236}">
                <a16:creationId xmlns:a16="http://schemas.microsoft.com/office/drawing/2014/main" id="{9053197E-3894-45BF-B5ED-B88D53E365F5}"/>
              </a:ext>
            </a:extLst>
          </p:cNvPr>
          <p:cNvSpPr/>
          <p:nvPr/>
        </p:nvSpPr>
        <p:spPr>
          <a:xfrm>
            <a:off x="5868093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антиколониальные позиции в арабском мире</a:t>
            </a:r>
          </a:p>
        </p:txBody>
      </p:sp>
      <p:sp>
        <p:nvSpPr>
          <p:cNvPr id="437" name="Прямоугольник 436">
            <a:extLst>
              <a:ext uri="{FF2B5EF4-FFF2-40B4-BE49-F238E27FC236}">
                <a16:creationId xmlns:a16="http://schemas.microsoft.com/office/drawing/2014/main" id="{6739033B-01BE-4768-81A4-8CA2BD9F8CE9}"/>
              </a:ext>
            </a:extLst>
          </p:cNvPr>
          <p:cNvSpPr/>
          <p:nvPr/>
        </p:nvSpPr>
        <p:spPr>
          <a:xfrm>
            <a:off x="9662042" y="1787842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 с Германией</a:t>
            </a:r>
            <a:endParaRPr lang="ru-RU" sz="200" dirty="0"/>
          </a:p>
        </p:txBody>
      </p: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6E327805-D803-4557-BD42-AA00A5D18919}"/>
              </a:ext>
            </a:extLst>
          </p:cNvPr>
          <p:cNvSpPr/>
          <p:nvPr/>
        </p:nvSpPr>
        <p:spPr>
          <a:xfrm>
            <a:off x="12150142" y="17872367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муфтия Иерусалима</a:t>
            </a:r>
          </a:p>
        </p:txBody>
      </p:sp>
      <p:sp>
        <p:nvSpPr>
          <p:cNvPr id="439" name="Прямоугольник 438">
            <a:extLst>
              <a:ext uri="{FF2B5EF4-FFF2-40B4-BE49-F238E27FC236}">
                <a16:creationId xmlns:a16="http://schemas.microsoft.com/office/drawing/2014/main" id="{AFD50110-D9C3-4DE1-805E-DD1F4D0E74D7}"/>
              </a:ext>
            </a:extLst>
          </p:cNvPr>
          <p:cNvSpPr/>
          <p:nvPr/>
        </p:nvSpPr>
        <p:spPr>
          <a:xfrm>
            <a:off x="9660640" y="1869485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Изгнать марокканских евреев</a:t>
            </a:r>
            <a:endParaRPr lang="ru-RU" sz="200" dirty="0"/>
          </a:p>
        </p:txBody>
      </p:sp>
      <p:cxnSp>
        <p:nvCxnSpPr>
          <p:cNvPr id="440" name="Соединительная линия уступом 620">
            <a:extLst>
              <a:ext uri="{FF2B5EF4-FFF2-40B4-BE49-F238E27FC236}">
                <a16:creationId xmlns:a16="http://schemas.microsoft.com/office/drawing/2014/main" id="{0F9320D7-0E9A-4E2F-A90D-D650D187FDEF}"/>
              </a:ext>
            </a:extLst>
          </p:cNvPr>
          <p:cNvCxnSpPr>
            <a:cxnSpLocks/>
            <a:stCxn id="410" idx="2"/>
            <a:endCxn id="437" idx="0"/>
          </p:cNvCxnSpPr>
          <p:nvPr/>
        </p:nvCxnSpPr>
        <p:spPr>
          <a:xfrm rot="5400000">
            <a:off x="10605328" y="17114751"/>
            <a:ext cx="283550" cy="12437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1" name="Соединительная линия уступом 620">
            <a:extLst>
              <a:ext uri="{FF2B5EF4-FFF2-40B4-BE49-F238E27FC236}">
                <a16:creationId xmlns:a16="http://schemas.microsoft.com/office/drawing/2014/main" id="{289F03FB-A37E-407B-85A7-A531665E0698}"/>
              </a:ext>
            </a:extLst>
          </p:cNvPr>
          <p:cNvCxnSpPr>
            <a:cxnSpLocks/>
            <a:stCxn id="437" idx="2"/>
            <a:endCxn id="439" idx="0"/>
          </p:cNvCxnSpPr>
          <p:nvPr/>
        </p:nvCxnSpPr>
        <p:spPr>
          <a:xfrm rot="5400000">
            <a:off x="9986289" y="18555938"/>
            <a:ext cx="276431" cy="14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394C88E2-CFA8-4475-85DC-FEAC5A3AFFD9}"/>
              </a:ext>
            </a:extLst>
          </p:cNvPr>
          <p:cNvSpPr/>
          <p:nvPr/>
        </p:nvSpPr>
        <p:spPr>
          <a:xfrm>
            <a:off x="12150143" y="1867751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королей</a:t>
            </a:r>
          </a:p>
        </p:txBody>
      </p:sp>
      <p:cxnSp>
        <p:nvCxnSpPr>
          <p:cNvPr id="446" name="Соединительная линия уступом 620">
            <a:extLst>
              <a:ext uri="{FF2B5EF4-FFF2-40B4-BE49-F238E27FC236}">
                <a16:creationId xmlns:a16="http://schemas.microsoft.com/office/drawing/2014/main" id="{BAF22A48-0445-4910-9615-07B9C95F33BF}"/>
              </a:ext>
            </a:extLst>
          </p:cNvPr>
          <p:cNvCxnSpPr>
            <a:cxnSpLocks/>
            <a:stCxn id="410" idx="2"/>
            <a:endCxn id="286" idx="0"/>
          </p:cNvCxnSpPr>
          <p:nvPr/>
        </p:nvCxnSpPr>
        <p:spPr>
          <a:xfrm rot="16200000" flipH="1">
            <a:off x="10716079" y="18247795"/>
            <a:ext cx="1912755" cy="606911"/>
          </a:xfrm>
          <a:prstGeom prst="bentConnector3">
            <a:avLst>
              <a:gd name="adj1" fmla="val 729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0" name="Соединительная линия уступом 620">
            <a:extLst>
              <a:ext uri="{FF2B5EF4-FFF2-40B4-BE49-F238E27FC236}">
                <a16:creationId xmlns:a16="http://schemas.microsoft.com/office/drawing/2014/main" id="{6F3B8769-A8E1-474A-A422-7150A0893D26}"/>
              </a:ext>
            </a:extLst>
          </p:cNvPr>
          <p:cNvCxnSpPr>
            <a:cxnSpLocks/>
            <a:stCxn id="438" idx="2"/>
            <a:endCxn id="445" idx="0"/>
          </p:cNvCxnSpPr>
          <p:nvPr/>
        </p:nvCxnSpPr>
        <p:spPr>
          <a:xfrm rot="16200000" flipH="1">
            <a:off x="12480733" y="18544938"/>
            <a:ext cx="26514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38845350-9EFD-4225-BF8E-4B28D856BAB0}"/>
              </a:ext>
            </a:extLst>
          </p:cNvPr>
          <p:cNvSpPr/>
          <p:nvPr/>
        </p:nvSpPr>
        <p:spPr>
          <a:xfrm>
            <a:off x="10310814" y="2264810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воссоздании Аль-</a:t>
            </a:r>
            <a:r>
              <a:rPr lang="ru-RU" sz="700" dirty="0" err="1"/>
              <a:t>Андулуса</a:t>
            </a:r>
            <a:endParaRPr lang="ru-RU" sz="700" dirty="0"/>
          </a:p>
        </p:txBody>
      </p:sp>
      <p:cxnSp>
        <p:nvCxnSpPr>
          <p:cNvPr id="529" name="Соединительная линия уступом 620">
            <a:extLst>
              <a:ext uri="{FF2B5EF4-FFF2-40B4-BE49-F238E27FC236}">
                <a16:creationId xmlns:a16="http://schemas.microsoft.com/office/drawing/2014/main" id="{BD31974B-8C00-4D1B-8404-16ABC0BD6776}"/>
              </a:ext>
            </a:extLst>
          </p:cNvPr>
          <p:cNvCxnSpPr>
            <a:cxnSpLocks/>
            <a:stCxn id="399" idx="2"/>
            <a:endCxn id="524" idx="0"/>
          </p:cNvCxnSpPr>
          <p:nvPr/>
        </p:nvCxnSpPr>
        <p:spPr>
          <a:xfrm rot="5400000">
            <a:off x="10939988" y="22221377"/>
            <a:ext cx="260713" cy="5927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Соединительная линия уступом 620">
            <a:extLst>
              <a:ext uri="{FF2B5EF4-FFF2-40B4-BE49-F238E27FC236}">
                <a16:creationId xmlns:a16="http://schemas.microsoft.com/office/drawing/2014/main" id="{062A1D1C-4E68-49B0-89B3-9869C6922BC4}"/>
              </a:ext>
            </a:extLst>
          </p:cNvPr>
          <p:cNvCxnSpPr>
            <a:cxnSpLocks/>
            <a:stCxn id="401" idx="2"/>
            <a:endCxn id="524" idx="0"/>
          </p:cNvCxnSpPr>
          <p:nvPr/>
        </p:nvCxnSpPr>
        <p:spPr>
          <a:xfrm rot="16200000" flipH="1">
            <a:off x="10345123" y="22219247"/>
            <a:ext cx="260712" cy="5969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2B28C5F6-F8C7-4394-AFCC-203AC1D50050}"/>
              </a:ext>
            </a:extLst>
          </p:cNvPr>
          <p:cNvSpPr/>
          <p:nvPr/>
        </p:nvSpPr>
        <p:spPr>
          <a:xfrm>
            <a:off x="7653732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Ограничить власть монарха</a:t>
            </a:r>
          </a:p>
        </p:txBody>
      </p:sp>
      <p:cxnSp>
        <p:nvCxnSpPr>
          <p:cNvPr id="551" name="Соединительная линия уступом 620">
            <a:extLst>
              <a:ext uri="{FF2B5EF4-FFF2-40B4-BE49-F238E27FC236}">
                <a16:creationId xmlns:a16="http://schemas.microsoft.com/office/drawing/2014/main" id="{4ED43F8D-A46A-4BB5-A376-66E38C1E51CA}"/>
              </a:ext>
            </a:extLst>
          </p:cNvPr>
          <p:cNvCxnSpPr>
            <a:cxnSpLocks/>
            <a:stCxn id="642" idx="2"/>
            <a:endCxn id="645" idx="0"/>
          </p:cNvCxnSpPr>
          <p:nvPr/>
        </p:nvCxnSpPr>
        <p:spPr>
          <a:xfrm rot="16200000" flipH="1">
            <a:off x="10355433" y="8132179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Соединительная линия уступом 620">
            <a:extLst>
              <a:ext uri="{FF2B5EF4-FFF2-40B4-BE49-F238E27FC236}">
                <a16:creationId xmlns:a16="http://schemas.microsoft.com/office/drawing/2014/main" id="{123B5ACA-56DC-4326-AC08-8DB7CAC572B1}"/>
              </a:ext>
            </a:extLst>
          </p:cNvPr>
          <p:cNvCxnSpPr>
            <a:cxnSpLocks/>
            <a:stCxn id="395" idx="2"/>
            <a:endCxn id="545" idx="0"/>
          </p:cNvCxnSpPr>
          <p:nvPr/>
        </p:nvCxnSpPr>
        <p:spPr>
          <a:xfrm rot="16200000" flipH="1">
            <a:off x="7571521" y="8539396"/>
            <a:ext cx="1089609" cy="11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786780DD-B636-4AAA-BB44-1B2A63E40798}"/>
              </a:ext>
            </a:extLst>
          </p:cNvPr>
          <p:cNvSpPr/>
          <p:nvPr/>
        </p:nvSpPr>
        <p:spPr>
          <a:xfrm>
            <a:off x="8251905" y="9881933"/>
            <a:ext cx="926325" cy="5330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студенческие движения</a:t>
            </a:r>
          </a:p>
        </p:txBody>
      </p:sp>
      <p:cxnSp>
        <p:nvCxnSpPr>
          <p:cNvPr id="640" name="Соединительная линия уступом 620">
            <a:extLst>
              <a:ext uri="{FF2B5EF4-FFF2-40B4-BE49-F238E27FC236}">
                <a16:creationId xmlns:a16="http://schemas.microsoft.com/office/drawing/2014/main" id="{D3BB0D87-6410-459C-A997-D75EE192B481}"/>
              </a:ext>
            </a:extLst>
          </p:cNvPr>
          <p:cNvCxnSpPr>
            <a:cxnSpLocks/>
            <a:stCxn id="545" idx="2"/>
            <a:endCxn id="575" idx="0"/>
          </p:cNvCxnSpPr>
          <p:nvPr/>
        </p:nvCxnSpPr>
        <p:spPr>
          <a:xfrm rot="16200000" flipH="1">
            <a:off x="8287400" y="9454265"/>
            <a:ext cx="257162" cy="5981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Соединительная линия уступом 620">
            <a:extLst>
              <a:ext uri="{FF2B5EF4-FFF2-40B4-BE49-F238E27FC236}">
                <a16:creationId xmlns:a16="http://schemas.microsoft.com/office/drawing/2014/main" id="{7E403C6A-A16A-4AE5-83F9-8DF46F5E0B0D}"/>
              </a:ext>
            </a:extLst>
          </p:cNvPr>
          <p:cNvCxnSpPr>
            <a:cxnSpLocks/>
            <a:stCxn id="338" idx="2"/>
            <a:endCxn id="353" idx="0"/>
          </p:cNvCxnSpPr>
          <p:nvPr/>
        </p:nvCxnSpPr>
        <p:spPr>
          <a:xfrm rot="16200000" flipH="1">
            <a:off x="9470842" y="9454443"/>
            <a:ext cx="263512" cy="6041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Прямоугольник 641">
            <a:extLst>
              <a:ext uri="{FF2B5EF4-FFF2-40B4-BE49-F238E27FC236}">
                <a16:creationId xmlns:a16="http://schemas.microsoft.com/office/drawing/2014/main" id="{BB533C37-A024-420F-AF5C-27EB9E4439F4}"/>
              </a:ext>
            </a:extLst>
          </p:cNvPr>
          <p:cNvSpPr/>
          <p:nvPr/>
        </p:nvSpPr>
        <p:spPr>
          <a:xfrm>
            <a:off x="10028508" y="745594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религиозное обновление</a:t>
            </a:r>
          </a:p>
        </p:txBody>
      </p:sp>
      <p:cxnSp>
        <p:nvCxnSpPr>
          <p:cNvPr id="643" name="Соединительная линия уступом 620">
            <a:extLst>
              <a:ext uri="{FF2B5EF4-FFF2-40B4-BE49-F238E27FC236}">
                <a16:creationId xmlns:a16="http://schemas.microsoft.com/office/drawing/2014/main" id="{C965B5A5-794E-42B5-AB1C-407349D08A33}"/>
              </a:ext>
            </a:extLst>
          </p:cNvPr>
          <p:cNvCxnSpPr>
            <a:cxnSpLocks/>
            <a:stCxn id="362" idx="2"/>
            <a:endCxn id="642" idx="0"/>
          </p:cNvCxnSpPr>
          <p:nvPr/>
        </p:nvCxnSpPr>
        <p:spPr>
          <a:xfrm rot="16200000" flipH="1">
            <a:off x="10067262" y="7031532"/>
            <a:ext cx="261831" cy="58698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Соединительная линия уступом 620">
            <a:extLst>
              <a:ext uri="{FF2B5EF4-FFF2-40B4-BE49-F238E27FC236}">
                <a16:creationId xmlns:a16="http://schemas.microsoft.com/office/drawing/2014/main" id="{F4438365-BF06-4E75-9F42-3B2A80D3D5BE}"/>
              </a:ext>
            </a:extLst>
          </p:cNvPr>
          <p:cNvCxnSpPr>
            <a:cxnSpLocks/>
            <a:stCxn id="345" idx="2"/>
            <a:endCxn id="642" idx="0"/>
          </p:cNvCxnSpPr>
          <p:nvPr/>
        </p:nvCxnSpPr>
        <p:spPr>
          <a:xfrm rot="5400000">
            <a:off x="10954359" y="6730198"/>
            <a:ext cx="263056" cy="11884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5" name="Прямоугольник 644">
            <a:extLst>
              <a:ext uri="{FF2B5EF4-FFF2-40B4-BE49-F238E27FC236}">
                <a16:creationId xmlns:a16="http://schemas.microsoft.com/office/drawing/2014/main" id="{7B37F56A-E948-4527-A037-80458BB9A7B2}"/>
              </a:ext>
            </a:extLst>
          </p:cNvPr>
          <p:cNvSpPr/>
          <p:nvPr/>
        </p:nvSpPr>
        <p:spPr>
          <a:xfrm>
            <a:off x="10029607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</a:t>
            </a:r>
            <a:r>
              <a:rPr lang="ru-RU" sz="700" dirty="0" err="1"/>
              <a:t>закят</a:t>
            </a:r>
            <a:endParaRPr lang="ru-RU" sz="700" dirty="0"/>
          </a:p>
        </p:txBody>
      </p: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71C433BE-2815-434C-9894-ED547310B728}"/>
              </a:ext>
            </a:extLst>
          </p:cNvPr>
          <p:cNvSpPr/>
          <p:nvPr/>
        </p:nvSpPr>
        <p:spPr>
          <a:xfrm>
            <a:off x="10028508" y="908309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движения</a:t>
            </a:r>
          </a:p>
        </p:txBody>
      </p:sp>
      <p:cxnSp>
        <p:nvCxnSpPr>
          <p:cNvPr id="647" name="Соединительная линия уступом 620">
            <a:extLst>
              <a:ext uri="{FF2B5EF4-FFF2-40B4-BE49-F238E27FC236}">
                <a16:creationId xmlns:a16="http://schemas.microsoft.com/office/drawing/2014/main" id="{CB4958D7-7B1D-4C5E-A8C9-2E07977098A4}"/>
              </a:ext>
            </a:extLst>
          </p:cNvPr>
          <p:cNvCxnSpPr>
            <a:cxnSpLocks/>
            <a:stCxn id="645" idx="2"/>
            <a:endCxn id="646" idx="0"/>
          </p:cNvCxnSpPr>
          <p:nvPr/>
        </p:nvCxnSpPr>
        <p:spPr>
          <a:xfrm rot="5400000">
            <a:off x="10355434" y="8945755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Прямоугольник 647">
            <a:extLst>
              <a:ext uri="{FF2B5EF4-FFF2-40B4-BE49-F238E27FC236}">
                <a16:creationId xmlns:a16="http://schemas.microsoft.com/office/drawing/2014/main" id="{D82C8962-4A55-40F2-92BE-18230CFEFB9E}"/>
              </a:ext>
            </a:extLst>
          </p:cNvPr>
          <p:cNvSpPr/>
          <p:nvPr/>
        </p:nvSpPr>
        <p:spPr>
          <a:xfrm>
            <a:off x="5865720" y="1068689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Снять кандалы с берберов</a:t>
            </a:r>
          </a:p>
        </p:txBody>
      </p:sp>
      <p:sp>
        <p:nvSpPr>
          <p:cNvPr id="650" name="Прямоугольник 649">
            <a:extLst>
              <a:ext uri="{FF2B5EF4-FFF2-40B4-BE49-F238E27FC236}">
                <a16:creationId xmlns:a16="http://schemas.microsoft.com/office/drawing/2014/main" id="{B9D1C4C9-A2D5-4A7D-990E-D8E0541A843E}"/>
              </a:ext>
            </a:extLst>
          </p:cNvPr>
          <p:cNvSpPr/>
          <p:nvPr/>
        </p:nvSpPr>
        <p:spPr>
          <a:xfrm>
            <a:off x="11216384" y="8269651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Присяга племён</a:t>
            </a:r>
          </a:p>
        </p:txBody>
      </p:sp>
      <p:sp>
        <p:nvSpPr>
          <p:cNvPr id="651" name="Прямоугольник 650">
            <a:extLst>
              <a:ext uri="{FF2B5EF4-FFF2-40B4-BE49-F238E27FC236}">
                <a16:creationId xmlns:a16="http://schemas.microsoft.com/office/drawing/2014/main" id="{ECEB2BDC-5C22-4C53-874C-0D93BC34C179}"/>
              </a:ext>
            </a:extLst>
          </p:cNvPr>
          <p:cNvSpPr/>
          <p:nvPr/>
        </p:nvSpPr>
        <p:spPr>
          <a:xfrm>
            <a:off x="11216385" y="90789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евреям укрытие и защиту</a:t>
            </a:r>
          </a:p>
        </p:txBody>
      </p:sp>
      <p:cxnSp>
        <p:nvCxnSpPr>
          <p:cNvPr id="652" name="Соединительная линия уступом 620">
            <a:extLst>
              <a:ext uri="{FF2B5EF4-FFF2-40B4-BE49-F238E27FC236}">
                <a16:creationId xmlns:a16="http://schemas.microsoft.com/office/drawing/2014/main" id="{6B19BAA7-B876-4FDF-8720-711CCAF6895F}"/>
              </a:ext>
            </a:extLst>
          </p:cNvPr>
          <p:cNvCxnSpPr>
            <a:cxnSpLocks/>
            <a:stCxn id="422" idx="2"/>
            <a:endCxn id="650" idx="0"/>
          </p:cNvCxnSpPr>
          <p:nvPr/>
        </p:nvCxnSpPr>
        <p:spPr>
          <a:xfrm rot="5400000">
            <a:off x="11539151" y="8129253"/>
            <a:ext cx="28079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Соединительная линия уступом 620">
            <a:extLst>
              <a:ext uri="{FF2B5EF4-FFF2-40B4-BE49-F238E27FC236}">
                <a16:creationId xmlns:a16="http://schemas.microsoft.com/office/drawing/2014/main" id="{AA676E65-2BF0-4B34-A2D0-5D1E66729705}"/>
              </a:ext>
            </a:extLst>
          </p:cNvPr>
          <p:cNvCxnSpPr>
            <a:cxnSpLocks/>
            <a:stCxn id="650" idx="2"/>
            <a:endCxn id="651" idx="0"/>
          </p:cNvCxnSpPr>
          <p:nvPr/>
        </p:nvCxnSpPr>
        <p:spPr>
          <a:xfrm rot="16200000" flipH="1">
            <a:off x="11544923" y="8944274"/>
            <a:ext cx="26924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18C3F344-7D3E-437B-BFE4-9B6FC17E03FD}"/>
              </a:ext>
            </a:extLst>
          </p:cNvPr>
          <p:cNvSpPr/>
          <p:nvPr/>
        </p:nvSpPr>
        <p:spPr>
          <a:xfrm>
            <a:off x="705171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Распространить свою власть на Магриб</a:t>
            </a:r>
          </a:p>
        </p:txBody>
      </p:sp>
      <p:sp>
        <p:nvSpPr>
          <p:cNvPr id="655" name="Прямоугольник 654">
            <a:extLst>
              <a:ext uri="{FF2B5EF4-FFF2-40B4-BE49-F238E27FC236}">
                <a16:creationId xmlns:a16="http://schemas.microsoft.com/office/drawing/2014/main" id="{60FF396B-0DD4-4BCC-B80F-1FD9B4AA67F3}"/>
              </a:ext>
            </a:extLst>
          </p:cNvPr>
          <p:cNvSpPr/>
          <p:nvPr/>
        </p:nvSpPr>
        <p:spPr>
          <a:xfrm>
            <a:off x="4687924" y="1069309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Прогнать колонизаторов с Ливийского плата</a:t>
            </a:r>
          </a:p>
        </p:txBody>
      </p:sp>
      <p:cxnSp>
        <p:nvCxnSpPr>
          <p:cNvPr id="656" name="Соединительная линия уступом 620">
            <a:extLst>
              <a:ext uri="{FF2B5EF4-FFF2-40B4-BE49-F238E27FC236}">
                <a16:creationId xmlns:a16="http://schemas.microsoft.com/office/drawing/2014/main" id="{9AE567B0-4A3A-4FF3-9DBD-A84E5CC1C1FF}"/>
              </a:ext>
            </a:extLst>
          </p:cNvPr>
          <p:cNvCxnSpPr>
            <a:cxnSpLocks/>
            <a:stCxn id="435" idx="2"/>
            <a:endCxn id="655" idx="0"/>
          </p:cNvCxnSpPr>
          <p:nvPr/>
        </p:nvCxnSpPr>
        <p:spPr>
          <a:xfrm rot="5400000">
            <a:off x="5608764" y="9970607"/>
            <a:ext cx="264816" cy="11801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Соединительная линия уступом 620">
            <a:extLst>
              <a:ext uri="{FF2B5EF4-FFF2-40B4-BE49-F238E27FC236}">
                <a16:creationId xmlns:a16="http://schemas.microsoft.com/office/drawing/2014/main" id="{A529821E-5D37-4BEC-98C4-B1362AD5926A}"/>
              </a:ext>
            </a:extLst>
          </p:cNvPr>
          <p:cNvCxnSpPr>
            <a:cxnSpLocks/>
            <a:stCxn id="435" idx="2"/>
            <a:endCxn id="648" idx="0"/>
          </p:cNvCxnSpPr>
          <p:nvPr/>
        </p:nvCxnSpPr>
        <p:spPr>
          <a:xfrm rot="5400000">
            <a:off x="6200766" y="10556401"/>
            <a:ext cx="258608" cy="23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8" name="Прямоугольник 657">
            <a:extLst>
              <a:ext uri="{FF2B5EF4-FFF2-40B4-BE49-F238E27FC236}">
                <a16:creationId xmlns:a16="http://schemas.microsoft.com/office/drawing/2014/main" id="{3CAB67B9-2BAC-4278-83A4-4C135EE9E7FE}"/>
              </a:ext>
            </a:extLst>
          </p:cNvPr>
          <p:cNvSpPr/>
          <p:nvPr/>
        </p:nvSpPr>
        <p:spPr>
          <a:xfrm>
            <a:off x="5278009" y="1149791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Аравийский полуостров</a:t>
            </a:r>
          </a:p>
        </p:txBody>
      </p:sp>
      <p:cxnSp>
        <p:nvCxnSpPr>
          <p:cNvPr id="659" name="Соединительная линия уступом 620">
            <a:extLst>
              <a:ext uri="{FF2B5EF4-FFF2-40B4-BE49-F238E27FC236}">
                <a16:creationId xmlns:a16="http://schemas.microsoft.com/office/drawing/2014/main" id="{80BCEB1D-113A-4DA9-BDFF-F4C5FEE9E390}"/>
              </a:ext>
            </a:extLst>
          </p:cNvPr>
          <p:cNvCxnSpPr>
            <a:cxnSpLocks/>
            <a:stCxn id="435" idx="2"/>
            <a:endCxn id="658" idx="0"/>
          </p:cNvCxnSpPr>
          <p:nvPr/>
        </p:nvCxnSpPr>
        <p:spPr>
          <a:xfrm rot="5400000">
            <a:off x="5501398" y="10668057"/>
            <a:ext cx="1069632" cy="590084"/>
          </a:xfrm>
          <a:prstGeom prst="bentConnector3">
            <a:avLst>
              <a:gd name="adj1" fmla="val 125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0" name="Прямоугольник 659">
            <a:extLst>
              <a:ext uri="{FF2B5EF4-FFF2-40B4-BE49-F238E27FC236}">
                <a16:creationId xmlns:a16="http://schemas.microsoft.com/office/drawing/2014/main" id="{4656699D-0F42-4F89-9AB6-5CB375631316}"/>
              </a:ext>
            </a:extLst>
          </p:cNvPr>
          <p:cNvSpPr/>
          <p:nvPr/>
        </p:nvSpPr>
        <p:spPr>
          <a:xfrm>
            <a:off x="5868901" y="1229496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Никаких мандатов в </a:t>
            </a:r>
            <a:r>
              <a:rPr lang="ru-RU" sz="700" dirty="0" err="1"/>
              <a:t>Сириийском</a:t>
            </a:r>
            <a:r>
              <a:rPr lang="ru-RU" sz="700" dirty="0"/>
              <a:t> регионе</a:t>
            </a:r>
          </a:p>
        </p:txBody>
      </p:sp>
      <p:cxnSp>
        <p:nvCxnSpPr>
          <p:cNvPr id="661" name="Соединительная линия уступом 620">
            <a:extLst>
              <a:ext uri="{FF2B5EF4-FFF2-40B4-BE49-F238E27FC236}">
                <a16:creationId xmlns:a16="http://schemas.microsoft.com/office/drawing/2014/main" id="{AFCC26D8-BC8C-4064-ACF4-66E1DE8CBB42}"/>
              </a:ext>
            </a:extLst>
          </p:cNvPr>
          <p:cNvCxnSpPr>
            <a:cxnSpLocks/>
            <a:stCxn id="658" idx="2"/>
            <a:endCxn id="660" idx="0"/>
          </p:cNvCxnSpPr>
          <p:nvPr/>
        </p:nvCxnSpPr>
        <p:spPr>
          <a:xfrm rot="16200000" flipH="1">
            <a:off x="5908093" y="11870994"/>
            <a:ext cx="257050" cy="5908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Прямоугольник 661">
            <a:extLst>
              <a:ext uri="{FF2B5EF4-FFF2-40B4-BE49-F238E27FC236}">
                <a16:creationId xmlns:a16="http://schemas.microsoft.com/office/drawing/2014/main" id="{1219FAEA-FC53-44D6-AC37-F9E43A549BD0}"/>
              </a:ext>
            </a:extLst>
          </p:cNvPr>
          <p:cNvSpPr/>
          <p:nvPr/>
        </p:nvSpPr>
        <p:spPr>
          <a:xfrm>
            <a:off x="825552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Поход на Ливийское плато</a:t>
            </a:r>
          </a:p>
        </p:txBody>
      </p:sp>
      <p:sp>
        <p:nvSpPr>
          <p:cNvPr id="663" name="Прямоугольник 662">
            <a:extLst>
              <a:ext uri="{FF2B5EF4-FFF2-40B4-BE49-F238E27FC236}">
                <a16:creationId xmlns:a16="http://schemas.microsoft.com/office/drawing/2014/main" id="{C2F8030A-BF54-4D2A-A7C1-1359E169CA4E}"/>
              </a:ext>
            </a:extLst>
          </p:cNvPr>
          <p:cNvSpPr/>
          <p:nvPr/>
        </p:nvSpPr>
        <p:spPr>
          <a:xfrm>
            <a:off x="7652592" y="11493724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религиозные святыни Аравии</a:t>
            </a:r>
          </a:p>
        </p:txBody>
      </p:sp>
      <p:sp>
        <p:nvSpPr>
          <p:cNvPr id="664" name="Прямоугольник 663">
            <a:extLst>
              <a:ext uri="{FF2B5EF4-FFF2-40B4-BE49-F238E27FC236}">
                <a16:creationId xmlns:a16="http://schemas.microsoft.com/office/drawing/2014/main" id="{76793256-FEF2-42F0-A25D-EF1883BE28E0}"/>
              </a:ext>
            </a:extLst>
          </p:cNvPr>
          <p:cNvSpPr/>
          <p:nvPr/>
        </p:nvSpPr>
        <p:spPr>
          <a:xfrm>
            <a:off x="7051713" y="122943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Захват дальних земель</a:t>
            </a:r>
          </a:p>
        </p:txBody>
      </p: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88E696FF-E321-472E-92CA-77E983DEE5D4}"/>
              </a:ext>
            </a:extLst>
          </p:cNvPr>
          <p:cNvSpPr/>
          <p:nvPr/>
        </p:nvSpPr>
        <p:spPr>
          <a:xfrm>
            <a:off x="6460696" y="130913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Отец всех арабов</a:t>
            </a:r>
          </a:p>
        </p:txBody>
      </p:sp>
      <p:cxnSp>
        <p:nvCxnSpPr>
          <p:cNvPr id="666" name="Соединительная линия уступом 620">
            <a:extLst>
              <a:ext uri="{FF2B5EF4-FFF2-40B4-BE49-F238E27FC236}">
                <a16:creationId xmlns:a16="http://schemas.microsoft.com/office/drawing/2014/main" id="{D736B8FF-A872-48FA-AAEA-B10681769268}"/>
              </a:ext>
            </a:extLst>
          </p:cNvPr>
          <p:cNvCxnSpPr>
            <a:cxnSpLocks/>
            <a:stCxn id="655" idx="2"/>
            <a:endCxn id="660" idx="0"/>
          </p:cNvCxnSpPr>
          <p:nvPr/>
        </p:nvCxnSpPr>
        <p:spPr>
          <a:xfrm rot="16200000" flipH="1">
            <a:off x="5210642" y="11173543"/>
            <a:ext cx="1061866" cy="1180977"/>
          </a:xfrm>
          <a:prstGeom prst="bentConnector3">
            <a:avLst>
              <a:gd name="adj1" fmla="val 93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Соединительная линия уступом 620">
            <a:extLst>
              <a:ext uri="{FF2B5EF4-FFF2-40B4-BE49-F238E27FC236}">
                <a16:creationId xmlns:a16="http://schemas.microsoft.com/office/drawing/2014/main" id="{891731BE-0C06-4A6D-875D-C186699E09EC}"/>
              </a:ext>
            </a:extLst>
          </p:cNvPr>
          <p:cNvCxnSpPr>
            <a:cxnSpLocks/>
            <a:stCxn id="648" idx="2"/>
            <a:endCxn id="660" idx="0"/>
          </p:cNvCxnSpPr>
          <p:nvPr/>
        </p:nvCxnSpPr>
        <p:spPr>
          <a:xfrm rot="16200000" flipH="1">
            <a:off x="5796436" y="11759337"/>
            <a:ext cx="1068074" cy="31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Соединительная линия уступом 620">
            <a:extLst>
              <a:ext uri="{FF2B5EF4-FFF2-40B4-BE49-F238E27FC236}">
                <a16:creationId xmlns:a16="http://schemas.microsoft.com/office/drawing/2014/main" id="{A2DB622B-75CB-4ECD-822F-58B46441EC42}"/>
              </a:ext>
            </a:extLst>
          </p:cNvPr>
          <p:cNvCxnSpPr>
            <a:cxnSpLocks/>
            <a:stCxn id="385" idx="2"/>
            <a:endCxn id="662" idx="0"/>
          </p:cNvCxnSpPr>
          <p:nvPr/>
        </p:nvCxnSpPr>
        <p:spPr>
          <a:xfrm rot="16200000" flipH="1">
            <a:off x="7985168" y="9959579"/>
            <a:ext cx="264816" cy="1202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Соединительная линия уступом 620">
            <a:extLst>
              <a:ext uri="{FF2B5EF4-FFF2-40B4-BE49-F238E27FC236}">
                <a16:creationId xmlns:a16="http://schemas.microsoft.com/office/drawing/2014/main" id="{BC7070B2-A274-4CFB-9239-E5C1E89FB4DE}"/>
              </a:ext>
            </a:extLst>
          </p:cNvPr>
          <p:cNvCxnSpPr>
            <a:cxnSpLocks/>
            <a:stCxn id="385" idx="2"/>
            <a:endCxn id="654" idx="0"/>
          </p:cNvCxnSpPr>
          <p:nvPr/>
        </p:nvCxnSpPr>
        <p:spPr>
          <a:xfrm rot="5400000">
            <a:off x="7383263" y="10559898"/>
            <a:ext cx="264816" cy="15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Соединительная линия уступом 620">
            <a:extLst>
              <a:ext uri="{FF2B5EF4-FFF2-40B4-BE49-F238E27FC236}">
                <a16:creationId xmlns:a16="http://schemas.microsoft.com/office/drawing/2014/main" id="{9A4E2F1D-8712-4D2A-924B-A0C92EF6AEEC}"/>
              </a:ext>
            </a:extLst>
          </p:cNvPr>
          <p:cNvCxnSpPr>
            <a:cxnSpLocks/>
            <a:stCxn id="385" idx="2"/>
            <a:endCxn id="663" idx="0"/>
          </p:cNvCxnSpPr>
          <p:nvPr/>
        </p:nvCxnSpPr>
        <p:spPr>
          <a:xfrm rot="16200000" flipH="1">
            <a:off x="7283389" y="10661357"/>
            <a:ext cx="1065441" cy="599291"/>
          </a:xfrm>
          <a:prstGeom prst="bentConnector3">
            <a:avLst>
              <a:gd name="adj1" fmla="val 1200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Соединительная линия уступом 620">
            <a:extLst>
              <a:ext uri="{FF2B5EF4-FFF2-40B4-BE49-F238E27FC236}">
                <a16:creationId xmlns:a16="http://schemas.microsoft.com/office/drawing/2014/main" id="{AF048FC1-75E1-4A69-9262-337B413790DB}"/>
              </a:ext>
            </a:extLst>
          </p:cNvPr>
          <p:cNvCxnSpPr>
            <a:cxnSpLocks/>
            <a:stCxn id="654" idx="2"/>
            <a:endCxn id="664" idx="0"/>
          </p:cNvCxnSpPr>
          <p:nvPr/>
        </p:nvCxnSpPr>
        <p:spPr>
          <a:xfrm rot="5400000">
            <a:off x="6984252" y="11763724"/>
            <a:ext cx="106125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Соединительная линия уступом 620">
            <a:extLst>
              <a:ext uri="{FF2B5EF4-FFF2-40B4-BE49-F238E27FC236}">
                <a16:creationId xmlns:a16="http://schemas.microsoft.com/office/drawing/2014/main" id="{F00985B5-C9B1-4C58-871B-155E5500E864}"/>
              </a:ext>
            </a:extLst>
          </p:cNvPr>
          <p:cNvCxnSpPr>
            <a:cxnSpLocks/>
            <a:stCxn id="662" idx="2"/>
            <a:endCxn id="664" idx="0"/>
          </p:cNvCxnSpPr>
          <p:nvPr/>
        </p:nvCxnSpPr>
        <p:spPr>
          <a:xfrm rot="5400000">
            <a:off x="7586157" y="11161818"/>
            <a:ext cx="1061250" cy="1203812"/>
          </a:xfrm>
          <a:prstGeom prst="bentConnector3">
            <a:avLst>
              <a:gd name="adj1" fmla="val 871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Соединительная линия уступом 620">
            <a:extLst>
              <a:ext uri="{FF2B5EF4-FFF2-40B4-BE49-F238E27FC236}">
                <a16:creationId xmlns:a16="http://schemas.microsoft.com/office/drawing/2014/main" id="{54C45103-9610-4747-AF7B-92360349A296}"/>
              </a:ext>
            </a:extLst>
          </p:cNvPr>
          <p:cNvCxnSpPr>
            <a:cxnSpLocks/>
            <a:stCxn id="663" idx="2"/>
            <a:endCxn id="664" idx="0"/>
          </p:cNvCxnSpPr>
          <p:nvPr/>
        </p:nvCxnSpPr>
        <p:spPr>
          <a:xfrm rot="5400000">
            <a:off x="7685004" y="11863597"/>
            <a:ext cx="260625" cy="60087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Соединительная линия уступом 620">
            <a:extLst>
              <a:ext uri="{FF2B5EF4-FFF2-40B4-BE49-F238E27FC236}">
                <a16:creationId xmlns:a16="http://schemas.microsoft.com/office/drawing/2014/main" id="{DE2D8494-1503-4DF6-A629-C5B24D7D0A7A}"/>
              </a:ext>
            </a:extLst>
          </p:cNvPr>
          <p:cNvCxnSpPr>
            <a:cxnSpLocks/>
            <a:stCxn id="664" idx="2"/>
            <a:endCxn id="665" idx="0"/>
          </p:cNvCxnSpPr>
          <p:nvPr/>
        </p:nvCxnSpPr>
        <p:spPr>
          <a:xfrm rot="5400000">
            <a:off x="7090843" y="12667366"/>
            <a:ext cx="257050" cy="59101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20">
            <a:extLst>
              <a:ext uri="{FF2B5EF4-FFF2-40B4-BE49-F238E27FC236}">
                <a16:creationId xmlns:a16="http://schemas.microsoft.com/office/drawing/2014/main" id="{2C209F84-093F-4DE0-AB5F-949879174C14}"/>
              </a:ext>
            </a:extLst>
          </p:cNvPr>
          <p:cNvCxnSpPr>
            <a:cxnSpLocks/>
            <a:stCxn id="660" idx="2"/>
            <a:endCxn id="665" idx="0"/>
          </p:cNvCxnSpPr>
          <p:nvPr/>
        </p:nvCxnSpPr>
        <p:spPr>
          <a:xfrm rot="16200000" flipH="1">
            <a:off x="6499744" y="12667284"/>
            <a:ext cx="256434" cy="5917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Прямоугольник 408">
            <a:extLst>
              <a:ext uri="{FF2B5EF4-FFF2-40B4-BE49-F238E27FC236}">
                <a16:creationId xmlns:a16="http://schemas.microsoft.com/office/drawing/2014/main" id="{F94A8CD5-CDDE-4607-989B-0C72CA0A2183}"/>
              </a:ext>
            </a:extLst>
          </p:cNvPr>
          <p:cNvSpPr/>
          <p:nvPr/>
        </p:nvSpPr>
        <p:spPr>
          <a:xfrm>
            <a:off x="3508161" y="827724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Железнодорожная петля Танжер - Фес</a:t>
            </a:r>
          </a:p>
        </p:txBody>
      </p:sp>
      <p:sp>
        <p:nvSpPr>
          <p:cNvPr id="417" name="Прямоугольник 416">
            <a:extLst>
              <a:ext uri="{FF2B5EF4-FFF2-40B4-BE49-F238E27FC236}">
                <a16:creationId xmlns:a16="http://schemas.microsoft.com/office/drawing/2014/main" id="{8D4076E3-5173-4E28-AAAB-8723F6E1B29D}"/>
              </a:ext>
            </a:extLst>
          </p:cNvPr>
          <p:cNvSpPr/>
          <p:nvPr/>
        </p:nvSpPr>
        <p:spPr>
          <a:xfrm>
            <a:off x="4086253" y="907346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Военные госпитали эвакуации</a:t>
            </a:r>
          </a:p>
        </p:txBody>
      </p: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3D111D3C-3C2E-4B44-9FB8-2691F7F68F40}"/>
              </a:ext>
            </a:extLst>
          </p:cNvPr>
          <p:cNvSpPr/>
          <p:nvPr/>
        </p:nvSpPr>
        <p:spPr>
          <a:xfrm>
            <a:off x="3508415" y="744885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США</a:t>
            </a:r>
          </a:p>
        </p:txBody>
      </p:sp>
      <p:cxnSp>
        <p:nvCxnSpPr>
          <p:cNvPr id="433" name="Соединительная линия уступом 620">
            <a:extLst>
              <a:ext uri="{FF2B5EF4-FFF2-40B4-BE49-F238E27FC236}">
                <a16:creationId xmlns:a16="http://schemas.microsoft.com/office/drawing/2014/main" id="{6EE2660D-766B-4A4B-8513-1F262155B5E7}"/>
              </a:ext>
            </a:extLst>
          </p:cNvPr>
          <p:cNvCxnSpPr>
            <a:cxnSpLocks/>
            <a:stCxn id="372" idx="2"/>
            <a:endCxn id="427" idx="0"/>
          </p:cNvCxnSpPr>
          <p:nvPr/>
        </p:nvCxnSpPr>
        <p:spPr>
          <a:xfrm rot="5400000">
            <a:off x="3851429" y="7328705"/>
            <a:ext cx="24030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Соединительная линия уступом 620">
            <a:extLst>
              <a:ext uri="{FF2B5EF4-FFF2-40B4-BE49-F238E27FC236}">
                <a16:creationId xmlns:a16="http://schemas.microsoft.com/office/drawing/2014/main" id="{2F6B1CB6-50E2-4B75-BFBB-E2C6E8B4DCE6}"/>
              </a:ext>
            </a:extLst>
          </p:cNvPr>
          <p:cNvCxnSpPr>
            <a:cxnSpLocks/>
            <a:stCxn id="427" idx="2"/>
            <a:endCxn id="409" idx="0"/>
          </p:cNvCxnSpPr>
          <p:nvPr/>
        </p:nvCxnSpPr>
        <p:spPr>
          <a:xfrm rot="5400000">
            <a:off x="3827258" y="8132922"/>
            <a:ext cx="288386" cy="2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Соединительная линия уступом 620">
            <a:extLst>
              <a:ext uri="{FF2B5EF4-FFF2-40B4-BE49-F238E27FC236}">
                <a16:creationId xmlns:a16="http://schemas.microsoft.com/office/drawing/2014/main" id="{593B12CD-5F29-4B60-BD55-0E6F2A16BF27}"/>
              </a:ext>
            </a:extLst>
          </p:cNvPr>
          <p:cNvCxnSpPr>
            <a:cxnSpLocks/>
            <a:stCxn id="427" idx="2"/>
            <a:endCxn id="417" idx="0"/>
          </p:cNvCxnSpPr>
          <p:nvPr/>
        </p:nvCxnSpPr>
        <p:spPr>
          <a:xfrm rot="16200000" flipH="1">
            <a:off x="3718193" y="8242241"/>
            <a:ext cx="1084608" cy="577838"/>
          </a:xfrm>
          <a:prstGeom prst="bentConnector3">
            <a:avLst>
              <a:gd name="adj1" fmla="val 129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558E7069-282C-4D0D-A06F-74949CAC250A}"/>
              </a:ext>
            </a:extLst>
          </p:cNvPr>
          <p:cNvSpPr/>
          <p:nvPr/>
        </p:nvSpPr>
        <p:spPr>
          <a:xfrm>
            <a:off x="4675386" y="826996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Военно-морская авиабаза Порт-</a:t>
            </a:r>
            <a:r>
              <a:rPr lang="ru-RU" sz="700" dirty="0" err="1"/>
              <a:t>Лиоте</a:t>
            </a:r>
            <a:endParaRPr lang="ru-RU" sz="700" dirty="0"/>
          </a:p>
        </p:txBody>
      </p:sp>
      <p:cxnSp>
        <p:nvCxnSpPr>
          <p:cNvPr id="443" name="Соединительная линия уступом 620">
            <a:extLst>
              <a:ext uri="{FF2B5EF4-FFF2-40B4-BE49-F238E27FC236}">
                <a16:creationId xmlns:a16="http://schemas.microsoft.com/office/drawing/2014/main" id="{6DC2BB2F-54F8-4A05-ACB6-FC77D8E80346}"/>
              </a:ext>
            </a:extLst>
          </p:cNvPr>
          <p:cNvCxnSpPr>
            <a:cxnSpLocks/>
            <a:stCxn id="427" idx="2"/>
            <a:endCxn id="442" idx="0"/>
          </p:cNvCxnSpPr>
          <p:nvPr/>
        </p:nvCxnSpPr>
        <p:spPr>
          <a:xfrm rot="16200000" flipH="1">
            <a:off x="4414509" y="7545924"/>
            <a:ext cx="281109" cy="1166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Соединительная линия уступом 620">
            <a:extLst>
              <a:ext uri="{FF2B5EF4-FFF2-40B4-BE49-F238E27FC236}">
                <a16:creationId xmlns:a16="http://schemas.microsoft.com/office/drawing/2014/main" id="{413DC653-93E2-404F-B9A6-2F1EB8C5C198}"/>
              </a:ext>
            </a:extLst>
          </p:cNvPr>
          <p:cNvCxnSpPr>
            <a:cxnSpLocks/>
            <a:stCxn id="370" idx="2"/>
            <a:endCxn id="442" idx="0"/>
          </p:cNvCxnSpPr>
          <p:nvPr/>
        </p:nvCxnSpPr>
        <p:spPr>
          <a:xfrm rot="5400000">
            <a:off x="5292109" y="7828015"/>
            <a:ext cx="288390" cy="5955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B0F75998-AA54-4F32-B805-812B3D0FE1D3}"/>
              </a:ext>
            </a:extLst>
          </p:cNvPr>
          <p:cNvSpPr/>
          <p:nvPr/>
        </p:nvSpPr>
        <p:spPr>
          <a:xfrm>
            <a:off x="17688637" y="58441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банков</a:t>
            </a:r>
          </a:p>
        </p:txBody>
      </p: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5CE1941D-08BE-4787-8655-E09661F81408}"/>
              </a:ext>
            </a:extLst>
          </p:cNvPr>
          <p:cNvSpPr/>
          <p:nvPr/>
        </p:nvSpPr>
        <p:spPr>
          <a:xfrm>
            <a:off x="16506944" y="907761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Повышение уровня жизни населения</a:t>
            </a:r>
          </a:p>
        </p:txBody>
      </p:sp>
      <p:sp>
        <p:nvSpPr>
          <p:cNvPr id="452" name="Прямоугольник 451">
            <a:extLst>
              <a:ext uri="{FF2B5EF4-FFF2-40B4-BE49-F238E27FC236}">
                <a16:creationId xmlns:a16="http://schemas.microsoft.com/office/drawing/2014/main" id="{C1BA60D6-76AC-482A-A00A-454B8631DDB7}"/>
              </a:ext>
            </a:extLst>
          </p:cNvPr>
          <p:cNvSpPr/>
          <p:nvPr/>
        </p:nvSpPr>
        <p:spPr>
          <a:xfrm>
            <a:off x="14124393" y="83059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Мароккансая</a:t>
            </a:r>
            <a:r>
              <a:rPr lang="ru-RU" sz="700" dirty="0"/>
              <a:t> молодёжная коммунистическая партия</a:t>
            </a:r>
          </a:p>
        </p:txBody>
      </p:sp>
      <p:sp>
        <p:nvSpPr>
          <p:cNvPr id="453" name="Прямоугольник 452">
            <a:extLst>
              <a:ext uri="{FF2B5EF4-FFF2-40B4-BE49-F238E27FC236}">
                <a16:creationId xmlns:a16="http://schemas.microsoft.com/office/drawing/2014/main" id="{E8ED2674-4FC5-4881-BA08-77010A80A3AA}"/>
              </a:ext>
            </a:extLst>
          </p:cNvPr>
          <p:cNvSpPr/>
          <p:nvPr/>
        </p:nvSpPr>
        <p:spPr>
          <a:xfrm>
            <a:off x="16491703" y="1159326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600" dirty="0"/>
              <a:t>Продвигать арабо-мусульманскую марокканскую национальную идентичность</a:t>
            </a:r>
            <a:br>
              <a:rPr lang="ru-RU" sz="100" dirty="0"/>
            </a:br>
            <a:r>
              <a:rPr lang="ru-RU" sz="100" dirty="0"/>
              <a:t>В ходе своего выступления Султан утверждал, что для победы над фашизмом необходимо «единство французского и марокканского народов, независимо от религии, которое является частным и личным».136 Действительно, Султан однажды заявил, что в Коране нет ничего, что препятствовало бы мусульманам участвовать в коммунистической или профсоюзной деятельности, потому что, в конце концов, «в 600 году Сиди Мухаммад не думал ни о Всеобщей конфедерации труда, ни о Коммунистической партии»)</a:t>
            </a:r>
            <a:endParaRPr lang="ru-RU" sz="600" dirty="0"/>
          </a:p>
        </p:txBody>
      </p: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A16A72A1-4D21-4526-A383-B4ACAA398993}"/>
              </a:ext>
            </a:extLst>
          </p:cNvPr>
          <p:cNvSpPr/>
          <p:nvPr/>
        </p:nvSpPr>
        <p:spPr>
          <a:xfrm>
            <a:off x="16501863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Идеальное Марокко</a:t>
            </a:r>
            <a:br>
              <a:rPr lang="ru-RU" sz="700" dirty="0"/>
            </a:br>
            <a:r>
              <a:rPr lang="ru-RU" sz="300" dirty="0"/>
              <a:t>(Марокканские еврейские коммунисты боролись за идеализированное Марокко, которое так и не воплотилось в жизнь.)</a:t>
            </a:r>
            <a:endParaRPr lang="ru-RU" sz="700" dirty="0"/>
          </a:p>
        </p:txBody>
      </p: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A9E2206B-36B0-4366-A016-75A2CE7F86BD}"/>
              </a:ext>
            </a:extLst>
          </p:cNvPr>
          <p:cNvSpPr/>
          <p:nvPr/>
        </p:nvSpPr>
        <p:spPr>
          <a:xfrm>
            <a:off x="18883030" y="66399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Легализовать Антифашистский комитет</a:t>
            </a:r>
            <a:br>
              <a:rPr lang="ru-RU" sz="700" dirty="0"/>
            </a:br>
            <a:r>
              <a:rPr lang="ru-RU" sz="100" dirty="0"/>
              <a:t>(В июне 1935 года в Марокко был создан официальный «Антифашистский комитет», члены которого уже предпринимали значительные действия. Будучи предшественником Марокканского народного фронта (официально основанного в марте 1936 года), Антифашистский комитет включал в себя многочисленные организации «</a:t>
            </a:r>
            <a:r>
              <a:rPr lang="ru-RU" sz="100" dirty="0" err="1"/>
              <a:t>Амикале</a:t>
            </a:r>
            <a:r>
              <a:rPr lang="ru-RU" sz="100" dirty="0"/>
              <a:t>» и профессиональные федерации, созданные европейцами до того, как было разрешено создание профсоюзов, Марокканскую федерацию Лиги за права человека, Федерацию борцов за мир, SFIO и Молодежную социалистическую организацию, Федерацию республиканских борцов, секции группы «Свободная мысль», группу «Друзья СССР» и другие левые организации, которые чиновники протектората назвали «экстремистскими». К комитету также присоединились видные деятели марокканских мусульманских националистических организаций, в том числе Хасан </a:t>
            </a:r>
            <a:r>
              <a:rPr lang="ru-RU" sz="100" dirty="0" err="1"/>
              <a:t>Уаззани</a:t>
            </a:r>
            <a:r>
              <a:rPr lang="ru-RU" sz="100" dirty="0"/>
              <a:t>, Мухаммад </a:t>
            </a:r>
            <a:r>
              <a:rPr lang="ru-RU" sz="100" dirty="0" err="1"/>
              <a:t>Холти</a:t>
            </a:r>
            <a:r>
              <a:rPr lang="ru-RU" sz="100" dirty="0"/>
              <a:t>, Омар бен </a:t>
            </a:r>
            <a:r>
              <a:rPr lang="ru-RU" sz="100" dirty="0" err="1"/>
              <a:t>Абдельджелил</a:t>
            </a:r>
            <a:r>
              <a:rPr lang="ru-RU" sz="100" dirty="0"/>
              <a:t>, Ахмед </a:t>
            </a:r>
            <a:r>
              <a:rPr lang="ru-RU" sz="100" dirty="0" err="1"/>
              <a:t>Балафредж</a:t>
            </a:r>
            <a:r>
              <a:rPr lang="ru-RU" sz="100" dirty="0"/>
              <a:t>, Мухаммад аль-</a:t>
            </a:r>
            <a:r>
              <a:rPr lang="ru-RU" sz="100" dirty="0" err="1"/>
              <a:t>Фасси</a:t>
            </a:r>
            <a:r>
              <a:rPr lang="ru-RU" sz="100" dirty="0"/>
              <a:t> и Ахмед </a:t>
            </a:r>
            <a:r>
              <a:rPr lang="ru-RU" sz="100" dirty="0" err="1"/>
              <a:t>Уаззани</a:t>
            </a:r>
            <a:r>
              <a:rPr lang="ru-RU" sz="100" dirty="0"/>
              <a:t>. Представитель ведомства подверг критике европейские правительства за их «слабость» и инертность перед лицом коммунистической и революционной активности в Северной Африке, жалуясь на то, что «все используется» в революционных целях, от антисемитизма до «очевидного неравенства между расами». Он предупредил, что такие тенденции, если их не остановить, приведут к «психическому заражению» и «ненависти» среди колониальных подданных Французской Северной Африки к Франции, их «защитнику». Несмотря на все попытки предотвратить левую </a:t>
            </a:r>
            <a:r>
              <a:rPr lang="ru-RU" sz="100" dirty="0" err="1"/>
              <a:t>марокканско</a:t>
            </a:r>
            <a:r>
              <a:rPr lang="ru-RU" sz="100" dirty="0"/>
              <a:t>-европейскую солидарность и мусульманско-еврейскую организацию, власти Французского протектората с растущей тревогой отмечали 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происхождения.111)</a:t>
            </a:r>
            <a:endParaRPr lang="ru-RU" sz="7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400071D4-0AE7-4BD3-BDEC-D359A88C0B61}"/>
              </a:ext>
            </a:extLst>
          </p:cNvPr>
          <p:cNvSpPr/>
          <p:nvPr/>
        </p:nvSpPr>
        <p:spPr>
          <a:xfrm>
            <a:off x="1649372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</a:t>
            </a:r>
            <a:r>
              <a:rPr lang="ru-RU" sz="700" dirty="0" err="1"/>
              <a:t>нац</a:t>
            </a:r>
            <a:r>
              <a:rPr lang="ru-RU" sz="700" dirty="0"/>
              <a:t> меньшинств</a:t>
            </a:r>
          </a:p>
        </p:txBody>
      </p:sp>
      <p:sp>
        <p:nvSpPr>
          <p:cNvPr id="459" name="Прямоугольник 458">
            <a:extLst>
              <a:ext uri="{FF2B5EF4-FFF2-40B4-BE49-F238E27FC236}">
                <a16:creationId xmlns:a16="http://schemas.microsoft.com/office/drawing/2014/main" id="{09264916-28B5-459C-9A21-1DAA5E36DA13}"/>
              </a:ext>
            </a:extLst>
          </p:cNvPr>
          <p:cNvSpPr/>
          <p:nvPr/>
        </p:nvSpPr>
        <p:spPr>
          <a:xfrm>
            <a:off x="15899439" y="1243181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Предложить Израилю объединиться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EA75BDB-B6D7-432C-916F-4F73C1D348D0}"/>
              </a:ext>
            </a:extLst>
          </p:cNvPr>
          <p:cNvSpPr/>
          <p:nvPr/>
        </p:nvSpPr>
        <p:spPr>
          <a:xfrm>
            <a:off x="17087318" y="1243491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Святую землю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82D94EEE-15DE-4B9E-A9F6-F24B5C818A61}"/>
              </a:ext>
            </a:extLst>
          </p:cNvPr>
          <p:cNvSpPr/>
          <p:nvPr/>
        </p:nvSpPr>
        <p:spPr>
          <a:xfrm>
            <a:off x="1769371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Связи с мировыми сионистскими движениями</a:t>
            </a:r>
            <a:br>
              <a:rPr lang="ru-RU" sz="700" dirty="0"/>
            </a:br>
            <a:r>
              <a:rPr lang="ru-RU" sz="200" dirty="0"/>
              <a:t>(быстрый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происхождения.)</a:t>
            </a:r>
            <a:endParaRPr lang="ru-RU" sz="700" dirty="0"/>
          </a:p>
        </p:txBody>
      </p:sp>
      <p:sp>
        <p:nvSpPr>
          <p:cNvPr id="462" name="Прямоугольник 461">
            <a:extLst>
              <a:ext uri="{FF2B5EF4-FFF2-40B4-BE49-F238E27FC236}">
                <a16:creationId xmlns:a16="http://schemas.microsoft.com/office/drawing/2014/main" id="{074A91A3-FDD6-45FB-B9F8-A16E806C5E50}"/>
              </a:ext>
            </a:extLst>
          </p:cNvPr>
          <p:cNvSpPr/>
          <p:nvPr/>
        </p:nvSpPr>
        <p:spPr>
          <a:xfrm>
            <a:off x="1530931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Привлечь испанских беженцев</a:t>
            </a:r>
          </a:p>
        </p:txBody>
      </p: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B0A795A-6556-4388-9326-2B1D5C99B424}"/>
              </a:ext>
            </a:extLst>
          </p:cNvPr>
          <p:cNvSpPr/>
          <p:nvPr/>
        </p:nvSpPr>
        <p:spPr>
          <a:xfrm>
            <a:off x="16496783" y="99161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интернационализма</a:t>
            </a:r>
          </a:p>
        </p:txBody>
      </p:sp>
      <p:sp>
        <p:nvSpPr>
          <p:cNvPr id="469" name="Прямоугольник 468">
            <a:extLst>
              <a:ext uri="{FF2B5EF4-FFF2-40B4-BE49-F238E27FC236}">
                <a16:creationId xmlns:a16="http://schemas.microsoft.com/office/drawing/2014/main" id="{A0FE13A0-495E-411D-906E-F3A66E09A857}"/>
              </a:ext>
            </a:extLst>
          </p:cNvPr>
          <p:cNvSpPr/>
          <p:nvPr/>
        </p:nvSpPr>
        <p:spPr>
          <a:xfrm>
            <a:off x="17690014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Поддерживать всеобщие права человека</a:t>
            </a:r>
          </a:p>
        </p:txBody>
      </p:sp>
      <p:sp>
        <p:nvSpPr>
          <p:cNvPr id="470" name="Прямоугольник 469">
            <a:extLst>
              <a:ext uri="{FF2B5EF4-FFF2-40B4-BE49-F238E27FC236}">
                <a16:creationId xmlns:a16="http://schemas.microsoft.com/office/drawing/2014/main" id="{EE9C3761-85EE-4A6D-A59B-A63F7E66CDE1}"/>
              </a:ext>
            </a:extLst>
          </p:cNvPr>
          <p:cNvSpPr/>
          <p:nvPr/>
        </p:nvSpPr>
        <p:spPr>
          <a:xfrm>
            <a:off x="18270119" y="746652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Прекратить вопиющую эксплуатацию женщин</a:t>
            </a:r>
          </a:p>
        </p:txBody>
      </p:sp>
      <p:sp>
        <p:nvSpPr>
          <p:cNvPr id="472" name="Прямоугольник 471">
            <a:extLst>
              <a:ext uri="{FF2B5EF4-FFF2-40B4-BE49-F238E27FC236}">
                <a16:creationId xmlns:a16="http://schemas.microsoft.com/office/drawing/2014/main" id="{6E9F1647-F412-4B77-A2E3-7F643FCC3DBD}"/>
              </a:ext>
            </a:extLst>
          </p:cNvPr>
          <p:cNvSpPr/>
          <p:nvPr/>
        </p:nvSpPr>
        <p:spPr>
          <a:xfrm>
            <a:off x="14126730" y="662849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Коммунистические ассоциации </a:t>
            </a:r>
            <a:r>
              <a:rPr lang="ru-RU" sz="300" dirty="0"/>
              <a:t>(создав в 1945 году «Коммунистические ассоциации» (</a:t>
            </a:r>
            <a:r>
              <a:rPr lang="ru-RU" sz="300" dirty="0" err="1"/>
              <a:t>Amicales</a:t>
            </a:r>
            <a:r>
              <a:rPr lang="ru-RU" sz="300" dirty="0"/>
              <a:t> </a:t>
            </a:r>
            <a:r>
              <a:rPr lang="ru-RU" sz="300" dirty="0" err="1"/>
              <a:t>Communistes</a:t>
            </a:r>
            <a:r>
              <a:rPr lang="ru-RU" sz="300" dirty="0"/>
              <a:t>) с целью вербовки в сельской местности.)</a:t>
            </a:r>
            <a:endParaRPr lang="ru-RU" sz="700" dirty="0"/>
          </a:p>
        </p:txBody>
      </p:sp>
      <p:sp>
        <p:nvSpPr>
          <p:cNvPr id="474" name="Прямоугольник 473">
            <a:extLst>
              <a:ext uri="{FF2B5EF4-FFF2-40B4-BE49-F238E27FC236}">
                <a16:creationId xmlns:a16="http://schemas.microsoft.com/office/drawing/2014/main" id="{7CCBFDA2-886A-4C3B-A834-114B4FFE7251}"/>
              </a:ext>
            </a:extLst>
          </p:cNvPr>
          <p:cNvSpPr/>
          <p:nvPr/>
        </p:nvSpPr>
        <p:spPr>
          <a:xfrm>
            <a:off x="18880490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Союзом женщин Марокко</a:t>
            </a:r>
            <a:br>
              <a:rPr lang="ru-RU" sz="700" dirty="0"/>
            </a:br>
            <a:r>
              <a:rPr lang="ru-RU" sz="200" dirty="0"/>
              <a:t>(во главе с мадам Фортуне Султан (женой Леона Султана), </a:t>
            </a:r>
            <a:r>
              <a:rPr lang="ru-RU" sz="200" dirty="0" err="1"/>
              <a:t>Люсетт</a:t>
            </a:r>
            <a:r>
              <a:rPr lang="ru-RU" sz="200" dirty="0"/>
              <a:t> </a:t>
            </a:r>
            <a:r>
              <a:rPr lang="ru-RU" sz="200" dirty="0" err="1"/>
              <a:t>Мазелла</a:t>
            </a:r>
            <a:r>
              <a:rPr lang="ru-RU" sz="200" dirty="0"/>
              <a:t> (женой Мишеля </a:t>
            </a:r>
            <a:r>
              <a:rPr lang="ru-RU" sz="200" dirty="0" err="1"/>
              <a:t>Мазеллы</a:t>
            </a:r>
            <a:r>
              <a:rPr lang="ru-RU" sz="200" dirty="0"/>
              <a:t>) и </a:t>
            </a:r>
            <a:r>
              <a:rPr lang="ru-RU" sz="200" dirty="0" err="1"/>
              <a:t>Фреей</a:t>
            </a:r>
            <a:r>
              <a:rPr lang="ru-RU" sz="200" dirty="0"/>
              <a:t> </a:t>
            </a:r>
            <a:r>
              <a:rPr lang="ru-RU" sz="200" dirty="0" err="1"/>
              <a:t>Айаш</a:t>
            </a:r>
            <a:r>
              <a:rPr lang="ru-RU" sz="200" dirty="0"/>
              <a:t> (женой </a:t>
            </a:r>
            <a:r>
              <a:rPr lang="ru-RU" sz="200" dirty="0" err="1"/>
              <a:t>Жермена</a:t>
            </a:r>
            <a:r>
              <a:rPr lang="ru-RU" sz="200" dirty="0"/>
              <a:t> </a:t>
            </a:r>
            <a:r>
              <a:rPr lang="ru-RU" sz="200" dirty="0" err="1"/>
              <a:t>Айаша</a:t>
            </a:r>
            <a:r>
              <a:rPr lang="ru-RU" sz="200" dirty="0"/>
              <a:t>, марокканской еврейкой из Сале) — работали с «</a:t>
            </a:r>
            <a:r>
              <a:rPr lang="ru-RU" sz="200" dirty="0" err="1"/>
              <a:t>Амикалес</a:t>
            </a:r>
            <a:r>
              <a:rPr lang="ru-RU" sz="200" dirty="0"/>
              <a:t>» над расширением вербовки как в городских, так и в сельских общинах.)</a:t>
            </a:r>
            <a:endParaRPr lang="ru-RU" sz="700" dirty="0"/>
          </a:p>
        </p:txBody>
      </p: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F3614565-66FF-43E4-A9C0-09A7111CF91B}"/>
              </a:ext>
            </a:extLst>
          </p:cNvPr>
          <p:cNvSpPr/>
          <p:nvPr/>
        </p:nvSpPr>
        <p:spPr>
          <a:xfrm>
            <a:off x="16494244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Программы повышения грамотности</a:t>
            </a:r>
            <a:br>
              <a:rPr lang="ru-RU" sz="700" dirty="0"/>
            </a:br>
            <a:r>
              <a:rPr lang="ru-RU" sz="100" dirty="0"/>
              <a:t>(Помимо не совсем эффективных программ повышения грамотности, проводимых МКМ, участие в деятельности МКМ само по себе представляло собой своего рода «школу», как писал Саймон Леви.&lt;</a:t>
            </a:r>
            <a:r>
              <a:rPr lang="ru-RU" sz="100" dirty="0" err="1"/>
              <a:t>sup</a:t>
            </a:r>
            <a:r>
              <a:rPr lang="ru-RU" sz="100" dirty="0"/>
              <a:t>&gt;167&lt;/</a:t>
            </a:r>
            <a:r>
              <a:rPr lang="ru-RU" sz="100" dirty="0" err="1"/>
              <a:t>sup</a:t>
            </a:r>
            <a:r>
              <a:rPr lang="ru-RU" sz="100" dirty="0"/>
              <a:t>&gt; Леви писал: «Для многих евреев [МКМ] была плавильным котлом солидарности в борьбе. Демократический призыв после войны привел в движение скрытые силы. Когда независимость стала конкретной целью, МКМ предложила четкие ответы для меньшинств и вовлекла их в трудовую и политическую деятельность».)</a:t>
            </a:r>
            <a:endParaRPr lang="ru-RU" sz="700" dirty="0"/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87B8F8F9-1B80-41A2-B2AC-7511FE35B053}"/>
              </a:ext>
            </a:extLst>
          </p:cNvPr>
          <p:cNvSpPr/>
          <p:nvPr/>
        </p:nvSpPr>
        <p:spPr>
          <a:xfrm>
            <a:off x="18880490" y="584410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французских беженцев</a:t>
            </a:r>
          </a:p>
        </p:txBody>
      </p:sp>
      <p:cxnSp>
        <p:nvCxnSpPr>
          <p:cNvPr id="479" name="Соединительная линия уступом 620">
            <a:extLst>
              <a:ext uri="{FF2B5EF4-FFF2-40B4-BE49-F238E27FC236}">
                <a16:creationId xmlns:a16="http://schemas.microsoft.com/office/drawing/2014/main" id="{98560C68-CEA5-4F2F-B43B-A9BC34BD1102}"/>
              </a:ext>
            </a:extLst>
          </p:cNvPr>
          <p:cNvCxnSpPr>
            <a:cxnSpLocks/>
            <a:stCxn id="231" idx="2"/>
            <a:endCxn id="215" idx="0"/>
          </p:cNvCxnSpPr>
          <p:nvPr/>
        </p:nvCxnSpPr>
        <p:spPr>
          <a:xfrm rot="16200000" flipH="1">
            <a:off x="15052649" y="5117344"/>
            <a:ext cx="263529" cy="1193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7294AAD0-0FD1-43C8-B469-906C5EA921AB}"/>
              </a:ext>
            </a:extLst>
          </p:cNvPr>
          <p:cNvCxnSpPr>
            <a:cxnSpLocks/>
            <a:stCxn id="229" idx="2"/>
            <a:endCxn id="447" idx="0"/>
          </p:cNvCxnSpPr>
          <p:nvPr/>
        </p:nvCxnSpPr>
        <p:spPr>
          <a:xfrm rot="5400000">
            <a:off x="18621976" y="5114875"/>
            <a:ext cx="259061" cy="11994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69DFD40F-7A77-4675-8435-0E943B9818CF}"/>
              </a:ext>
            </a:extLst>
          </p:cNvPr>
          <p:cNvCxnSpPr>
            <a:cxnSpLocks/>
            <a:stCxn id="447" idx="2"/>
            <a:endCxn id="475" idx="0"/>
          </p:cNvCxnSpPr>
          <p:nvPr/>
        </p:nvCxnSpPr>
        <p:spPr>
          <a:xfrm rot="5400000">
            <a:off x="17426545" y="5914974"/>
            <a:ext cx="256118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E5D476AA-1A04-497F-A84C-8B24048ABCFD}"/>
              </a:ext>
            </a:extLst>
          </p:cNvPr>
          <p:cNvCxnSpPr>
            <a:cxnSpLocks/>
            <a:stCxn id="215" idx="2"/>
            <a:endCxn id="219" idx="0"/>
          </p:cNvCxnSpPr>
          <p:nvPr/>
        </p:nvCxnSpPr>
        <p:spPr>
          <a:xfrm rot="5400000">
            <a:off x="15658204" y="6509034"/>
            <a:ext cx="24613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A11EE601-D377-4053-9856-66E2957DD134}"/>
              </a:ext>
            </a:extLst>
          </p:cNvPr>
          <p:cNvCxnSpPr>
            <a:cxnSpLocks/>
            <a:stCxn id="215" idx="2"/>
            <a:endCxn id="472" idx="0"/>
          </p:cNvCxnSpPr>
          <p:nvPr/>
        </p:nvCxnSpPr>
        <p:spPr>
          <a:xfrm rot="5400000">
            <a:off x="15064317" y="5911543"/>
            <a:ext cx="242530" cy="11913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Соединительная линия уступом 620">
            <a:extLst>
              <a:ext uri="{FF2B5EF4-FFF2-40B4-BE49-F238E27FC236}">
                <a16:creationId xmlns:a16="http://schemas.microsoft.com/office/drawing/2014/main" id="{103F8ECF-F1D5-4944-9E9B-C99E3A1A44AC}"/>
              </a:ext>
            </a:extLst>
          </p:cNvPr>
          <p:cNvCxnSpPr>
            <a:cxnSpLocks/>
            <a:stCxn id="219" idx="2"/>
            <a:endCxn id="250" idx="0"/>
          </p:cNvCxnSpPr>
          <p:nvPr/>
        </p:nvCxnSpPr>
        <p:spPr>
          <a:xfrm rot="5400000">
            <a:off x="15326843" y="7019829"/>
            <a:ext cx="302155" cy="6067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Соединительная линия уступом 620">
            <a:extLst>
              <a:ext uri="{FF2B5EF4-FFF2-40B4-BE49-F238E27FC236}">
                <a16:creationId xmlns:a16="http://schemas.microsoft.com/office/drawing/2014/main" id="{D4B80950-8155-4084-8E34-082B98922699}"/>
              </a:ext>
            </a:extLst>
          </p:cNvPr>
          <p:cNvCxnSpPr>
            <a:cxnSpLocks/>
            <a:stCxn id="219" idx="2"/>
            <a:endCxn id="270" idx="0"/>
          </p:cNvCxnSpPr>
          <p:nvPr/>
        </p:nvCxnSpPr>
        <p:spPr>
          <a:xfrm rot="16200000" flipH="1">
            <a:off x="15208129" y="7745242"/>
            <a:ext cx="1147915" cy="16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A68C80CE-2CAB-4ADC-9C54-E26116F6EBC4}"/>
              </a:ext>
            </a:extLst>
          </p:cNvPr>
          <p:cNvCxnSpPr>
            <a:cxnSpLocks/>
            <a:stCxn id="475" idx="2"/>
            <a:endCxn id="257" idx="0"/>
          </p:cNvCxnSpPr>
          <p:nvPr/>
        </p:nvCxnSpPr>
        <p:spPr>
          <a:xfrm rot="5400000">
            <a:off x="16512991" y="7029841"/>
            <a:ext cx="294028" cy="5948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Соединительная линия уступом 620">
            <a:extLst>
              <a:ext uri="{FF2B5EF4-FFF2-40B4-BE49-F238E27FC236}">
                <a16:creationId xmlns:a16="http://schemas.microsoft.com/office/drawing/2014/main" id="{8193FEB3-3195-4F87-B110-408DF9F3DCEC}"/>
              </a:ext>
            </a:extLst>
          </p:cNvPr>
          <p:cNvCxnSpPr>
            <a:cxnSpLocks/>
            <a:stCxn id="475" idx="2"/>
            <a:endCxn id="253" idx="0"/>
          </p:cNvCxnSpPr>
          <p:nvPr/>
        </p:nvCxnSpPr>
        <p:spPr>
          <a:xfrm rot="16200000" flipH="1">
            <a:off x="16393194" y="7744441"/>
            <a:ext cx="1136045" cy="761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C3FA3928-BB9E-44E3-A6A9-027303C8B10F}"/>
              </a:ext>
            </a:extLst>
          </p:cNvPr>
          <p:cNvCxnSpPr>
            <a:cxnSpLocks/>
            <a:stCxn id="253" idx="2"/>
            <a:endCxn id="449" idx="0"/>
          </p:cNvCxnSpPr>
          <p:nvPr/>
        </p:nvCxnSpPr>
        <p:spPr>
          <a:xfrm rot="16200000" flipH="1">
            <a:off x="16856898" y="8964401"/>
            <a:ext cx="221336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Соединительная линия уступом 620">
            <a:extLst>
              <a:ext uri="{FF2B5EF4-FFF2-40B4-BE49-F238E27FC236}">
                <a16:creationId xmlns:a16="http://schemas.microsoft.com/office/drawing/2014/main" id="{1348DB09-1CBA-4AF4-9106-18AA30A8BD7F}"/>
              </a:ext>
            </a:extLst>
          </p:cNvPr>
          <p:cNvCxnSpPr>
            <a:cxnSpLocks/>
            <a:stCxn id="202" idx="2"/>
            <a:endCxn id="253" idx="0"/>
          </p:cNvCxnSpPr>
          <p:nvPr/>
        </p:nvCxnSpPr>
        <p:spPr>
          <a:xfrm rot="5400000">
            <a:off x="16990391" y="7154864"/>
            <a:ext cx="1136045" cy="1186774"/>
          </a:xfrm>
          <a:prstGeom prst="bentConnector3">
            <a:avLst>
              <a:gd name="adj1" fmla="val 128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001F07AD-046C-491B-BF2B-7BC150C1E326}"/>
              </a:ext>
            </a:extLst>
          </p:cNvPr>
          <p:cNvCxnSpPr>
            <a:cxnSpLocks/>
            <a:stCxn id="202" idx="2"/>
            <a:endCxn id="220" idx="0"/>
          </p:cNvCxnSpPr>
          <p:nvPr/>
        </p:nvCxnSpPr>
        <p:spPr>
          <a:xfrm rot="5400000">
            <a:off x="17705998" y="7024713"/>
            <a:ext cx="290286" cy="601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Соединительная линия уступом 620">
            <a:extLst>
              <a:ext uri="{FF2B5EF4-FFF2-40B4-BE49-F238E27FC236}">
                <a16:creationId xmlns:a16="http://schemas.microsoft.com/office/drawing/2014/main" id="{9D081202-8E8F-42EB-97F7-F4801E18AE3E}"/>
              </a:ext>
            </a:extLst>
          </p:cNvPr>
          <p:cNvCxnSpPr>
            <a:cxnSpLocks/>
            <a:stCxn id="202" idx="2"/>
            <a:endCxn id="470" idx="0"/>
          </p:cNvCxnSpPr>
          <p:nvPr/>
        </p:nvCxnSpPr>
        <p:spPr>
          <a:xfrm rot="16200000" flipH="1">
            <a:off x="18299393" y="7032636"/>
            <a:ext cx="286296" cy="5814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96D22CD3-8E70-48FE-BF72-B36B25D9BA07}"/>
              </a:ext>
            </a:extLst>
          </p:cNvPr>
          <p:cNvCxnSpPr>
            <a:cxnSpLocks/>
            <a:stCxn id="202" idx="2"/>
            <a:endCxn id="216" idx="0"/>
          </p:cNvCxnSpPr>
          <p:nvPr/>
        </p:nvCxnSpPr>
        <p:spPr>
          <a:xfrm rot="16200000" flipH="1">
            <a:off x="17584447" y="7747582"/>
            <a:ext cx="1139787" cy="5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Соединительная линия уступом 620">
            <a:extLst>
              <a:ext uri="{FF2B5EF4-FFF2-40B4-BE49-F238E27FC236}">
                <a16:creationId xmlns:a16="http://schemas.microsoft.com/office/drawing/2014/main" id="{520634DA-2FC9-48C7-AC46-1859AD0C2EF6}"/>
              </a:ext>
            </a:extLst>
          </p:cNvPr>
          <p:cNvCxnSpPr>
            <a:cxnSpLocks/>
            <a:stCxn id="216" idx="2"/>
            <a:endCxn id="449" idx="0"/>
          </p:cNvCxnSpPr>
          <p:nvPr/>
        </p:nvCxnSpPr>
        <p:spPr>
          <a:xfrm rot="5400000">
            <a:off x="17454697" y="8375427"/>
            <a:ext cx="217594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Соединительная линия уступом 620">
            <a:extLst>
              <a:ext uri="{FF2B5EF4-FFF2-40B4-BE49-F238E27FC236}">
                <a16:creationId xmlns:a16="http://schemas.microsoft.com/office/drawing/2014/main" id="{29361F29-95E6-4334-B5E4-E011ED5CB776}"/>
              </a:ext>
            </a:extLst>
          </p:cNvPr>
          <p:cNvCxnSpPr>
            <a:cxnSpLocks/>
            <a:stCxn id="270" idx="2"/>
            <a:endCxn id="449" idx="0"/>
          </p:cNvCxnSpPr>
          <p:nvPr/>
        </p:nvCxnSpPr>
        <p:spPr>
          <a:xfrm rot="16200000" flipH="1">
            <a:off x="16267709" y="8375211"/>
            <a:ext cx="217593" cy="11872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620">
            <a:extLst>
              <a:ext uri="{FF2B5EF4-FFF2-40B4-BE49-F238E27FC236}">
                <a16:creationId xmlns:a16="http://schemas.microsoft.com/office/drawing/2014/main" id="{E9C3D880-6F0F-46CA-A860-2FA56B8391C2}"/>
              </a:ext>
            </a:extLst>
          </p:cNvPr>
          <p:cNvCxnSpPr>
            <a:cxnSpLocks/>
            <a:stCxn id="470" idx="2"/>
            <a:endCxn id="474" idx="0"/>
          </p:cNvCxnSpPr>
          <p:nvPr/>
        </p:nvCxnSpPr>
        <p:spPr>
          <a:xfrm rot="16200000" flipH="1">
            <a:off x="18881722" y="7858084"/>
            <a:ext cx="313491" cy="6103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620">
            <a:extLst>
              <a:ext uri="{FF2B5EF4-FFF2-40B4-BE49-F238E27FC236}">
                <a16:creationId xmlns:a16="http://schemas.microsoft.com/office/drawing/2014/main" id="{13BF0CA5-FC10-4E83-8E36-B72C083DC2DE}"/>
              </a:ext>
            </a:extLst>
          </p:cNvPr>
          <p:cNvCxnSpPr>
            <a:cxnSpLocks/>
            <a:stCxn id="472" idx="2"/>
            <a:endCxn id="452" idx="0"/>
          </p:cNvCxnSpPr>
          <p:nvPr/>
        </p:nvCxnSpPr>
        <p:spPr>
          <a:xfrm rot="5400000">
            <a:off x="14020000" y="7736054"/>
            <a:ext cx="1137450" cy="2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620">
            <a:extLst>
              <a:ext uri="{FF2B5EF4-FFF2-40B4-BE49-F238E27FC236}">
                <a16:creationId xmlns:a16="http://schemas.microsoft.com/office/drawing/2014/main" id="{9AFE2E3D-7649-454E-9945-F7739EF8EDE4}"/>
              </a:ext>
            </a:extLst>
          </p:cNvPr>
          <p:cNvCxnSpPr>
            <a:cxnSpLocks/>
            <a:stCxn id="456" idx="2"/>
            <a:endCxn id="474" idx="0"/>
          </p:cNvCxnSpPr>
          <p:nvPr/>
        </p:nvCxnSpPr>
        <p:spPr>
          <a:xfrm rot="5400000">
            <a:off x="18774893" y="7748715"/>
            <a:ext cx="1140061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10C0898C-B086-4CCF-8E4C-CD9650831642}"/>
              </a:ext>
            </a:extLst>
          </p:cNvPr>
          <p:cNvCxnSpPr>
            <a:cxnSpLocks/>
            <a:stCxn id="447" idx="2"/>
            <a:endCxn id="456" idx="0"/>
          </p:cNvCxnSpPr>
          <p:nvPr/>
        </p:nvCxnSpPr>
        <p:spPr>
          <a:xfrm rot="16200000" flipH="1">
            <a:off x="18621074" y="5914836"/>
            <a:ext cx="255844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Прямоугольник 543">
            <a:extLst>
              <a:ext uri="{FF2B5EF4-FFF2-40B4-BE49-F238E27FC236}">
                <a16:creationId xmlns:a16="http://schemas.microsoft.com/office/drawing/2014/main" id="{2B23A7A3-C6CC-4FA1-83CD-C97089BD720A}"/>
              </a:ext>
            </a:extLst>
          </p:cNvPr>
          <p:cNvSpPr/>
          <p:nvPr/>
        </p:nvSpPr>
        <p:spPr>
          <a:xfrm>
            <a:off x="1531810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концепцию «</a:t>
            </a:r>
            <a:r>
              <a:rPr lang="ru-RU" sz="700" dirty="0" err="1"/>
              <a:t>Ахуват</a:t>
            </a:r>
            <a:r>
              <a:rPr lang="ru-RU" sz="700" dirty="0"/>
              <a:t> </a:t>
            </a:r>
            <a:r>
              <a:rPr lang="ru-RU" sz="700" dirty="0" err="1"/>
              <a:t>амим</a:t>
            </a:r>
            <a:r>
              <a:rPr lang="ru-RU" sz="700" dirty="0"/>
              <a:t>» </a:t>
            </a:r>
            <a:r>
              <a:rPr lang="ru-RU" sz="100" dirty="0"/>
              <a:t>(то ключевая идеологическая доктрина израильского коммунистического движения в XX веке. Она служила главным противовесом как сионистскому, так и арабскому национализму.🎯 Суть </a:t>
            </a:r>
            <a:r>
              <a:rPr lang="ru-RU" sz="100" dirty="0" err="1"/>
              <a:t>концепцииВ</a:t>
            </a:r>
            <a:r>
              <a:rPr lang="ru-RU" sz="100" dirty="0"/>
              <a:t> основе «</a:t>
            </a:r>
            <a:r>
              <a:rPr lang="ru-RU" sz="100" dirty="0" err="1"/>
              <a:t>Ахуват</a:t>
            </a:r>
            <a:r>
              <a:rPr lang="ru-RU" sz="100" dirty="0"/>
              <a:t> </a:t>
            </a:r>
            <a:r>
              <a:rPr lang="ru-RU" sz="100" dirty="0" err="1"/>
              <a:t>амим</a:t>
            </a:r>
            <a:r>
              <a:rPr lang="ru-RU" sz="100" dirty="0"/>
              <a:t>» лежит классический марксистский тезис: главное разделение между людьми — классовое, а не </a:t>
            </a:r>
            <a:r>
              <a:rPr lang="ru-RU" sz="100" dirty="0" err="1"/>
              <a:t>национальное.Движение</a:t>
            </a:r>
            <a:r>
              <a:rPr lang="ru-RU" sz="100" dirty="0"/>
              <a:t> утверждало, что у арабских и еврейских трудящихся один враг — крупный капитал и </a:t>
            </a:r>
            <a:r>
              <a:rPr lang="ru-RU" sz="100" dirty="0" err="1"/>
              <a:t>империализм.Концепция</a:t>
            </a:r>
            <a:r>
              <a:rPr lang="ru-RU" sz="100" dirty="0"/>
              <a:t> требовала полного отказа от шовинизма. Арабские коммунисты боролись с антисемитизмом и призывами «сбросить евреев в море», а еврейские коммунисты — с расизмом, дискриминацией арабов и идеей «трансфера» (выселения) коренного населения.)</a:t>
            </a:r>
            <a:endParaRPr lang="ru-RU" sz="700" dirty="0"/>
          </a:p>
        </p:txBody>
      </p:sp>
      <p:cxnSp>
        <p:nvCxnSpPr>
          <p:cNvPr id="548" name="Соединительная линия уступом 620">
            <a:extLst>
              <a:ext uri="{FF2B5EF4-FFF2-40B4-BE49-F238E27FC236}">
                <a16:creationId xmlns:a16="http://schemas.microsoft.com/office/drawing/2014/main" id="{245903BA-9B58-47BE-861F-CE2C572E03E8}"/>
              </a:ext>
            </a:extLst>
          </p:cNvPr>
          <p:cNvCxnSpPr>
            <a:cxnSpLocks/>
            <a:stCxn id="459" idx="2"/>
            <a:endCxn id="544" idx="0"/>
          </p:cNvCxnSpPr>
          <p:nvPr/>
        </p:nvCxnSpPr>
        <p:spPr>
          <a:xfrm rot="5400000">
            <a:off x="15922660" y="12830428"/>
            <a:ext cx="298552" cy="5813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20">
            <a:extLst>
              <a:ext uri="{FF2B5EF4-FFF2-40B4-BE49-F238E27FC236}">
                <a16:creationId xmlns:a16="http://schemas.microsoft.com/office/drawing/2014/main" id="{AE0754C8-C7CD-49A7-A8A9-E1A6E1D41A5C}"/>
              </a:ext>
            </a:extLst>
          </p:cNvPr>
          <p:cNvCxnSpPr>
            <a:cxnSpLocks/>
            <a:stCxn id="460" idx="2"/>
            <a:endCxn id="544" idx="0"/>
          </p:cNvCxnSpPr>
          <p:nvPr/>
        </p:nvCxnSpPr>
        <p:spPr>
          <a:xfrm rot="5400000">
            <a:off x="16518148" y="12238036"/>
            <a:ext cx="295457" cy="17692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FCCAFA67-A758-429A-AE1A-9B3B06E0541D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 rot="16200000" flipH="1">
            <a:off x="17110465" y="12223955"/>
            <a:ext cx="298552" cy="17942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43B8C75E-30B8-428B-9E75-E4E1DD5B817F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rot="16200000" flipH="1">
            <a:off x="17705952" y="12819441"/>
            <a:ext cx="295457" cy="60639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Соединительная линия уступом 620">
            <a:extLst>
              <a:ext uri="{FF2B5EF4-FFF2-40B4-BE49-F238E27FC236}">
                <a16:creationId xmlns:a16="http://schemas.microsoft.com/office/drawing/2014/main" id="{6AB63DF3-B448-4E13-9B39-655A22258632}"/>
              </a:ext>
            </a:extLst>
          </p:cNvPr>
          <p:cNvCxnSpPr>
            <a:cxnSpLocks/>
            <a:stCxn id="229" idx="2"/>
            <a:endCxn id="203" idx="0"/>
          </p:cNvCxnSpPr>
          <p:nvPr/>
        </p:nvCxnSpPr>
        <p:spPr>
          <a:xfrm rot="16200000" flipH="1">
            <a:off x="18908101" y="6028159"/>
            <a:ext cx="1952195" cy="1065975"/>
          </a:xfrm>
          <a:prstGeom prst="bentConnector3">
            <a:avLst>
              <a:gd name="adj1" fmla="val 680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Соединительная линия уступом 620">
            <a:extLst>
              <a:ext uri="{FF2B5EF4-FFF2-40B4-BE49-F238E27FC236}">
                <a16:creationId xmlns:a16="http://schemas.microsoft.com/office/drawing/2014/main" id="{E202C518-A64C-4973-B337-9DF8FEF64A7B}"/>
              </a:ext>
            </a:extLst>
          </p:cNvPr>
          <p:cNvCxnSpPr>
            <a:cxnSpLocks/>
            <a:stCxn id="467" idx="2"/>
            <a:endCxn id="462" idx="0"/>
          </p:cNvCxnSpPr>
          <p:nvPr/>
        </p:nvCxnSpPr>
        <p:spPr>
          <a:xfrm rot="5400000">
            <a:off x="16216938" y="10011706"/>
            <a:ext cx="298552" cy="11874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620">
            <a:extLst>
              <a:ext uri="{FF2B5EF4-FFF2-40B4-BE49-F238E27FC236}">
                <a16:creationId xmlns:a16="http://schemas.microsoft.com/office/drawing/2014/main" id="{8358C2D3-F58C-4FBB-9CF4-0FAF330B2EC6}"/>
              </a:ext>
            </a:extLst>
          </p:cNvPr>
          <p:cNvCxnSpPr>
            <a:cxnSpLocks/>
            <a:stCxn id="467" idx="2"/>
            <a:endCxn id="469" idx="0"/>
          </p:cNvCxnSpPr>
          <p:nvPr/>
        </p:nvCxnSpPr>
        <p:spPr>
          <a:xfrm rot="16200000" flipH="1">
            <a:off x="17407285" y="10008822"/>
            <a:ext cx="298552" cy="11932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20">
            <a:extLst>
              <a:ext uri="{FF2B5EF4-FFF2-40B4-BE49-F238E27FC236}">
                <a16:creationId xmlns:a16="http://schemas.microsoft.com/office/drawing/2014/main" id="{DB43D146-32E5-4B0D-A45C-B3BC81315958}"/>
              </a:ext>
            </a:extLst>
          </p:cNvPr>
          <p:cNvCxnSpPr>
            <a:cxnSpLocks/>
            <a:stCxn id="467" idx="2"/>
            <a:endCxn id="457" idx="0"/>
          </p:cNvCxnSpPr>
          <p:nvPr/>
        </p:nvCxnSpPr>
        <p:spPr>
          <a:xfrm rot="5400000">
            <a:off x="16809143" y="10603911"/>
            <a:ext cx="298552" cy="30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Соединительная линия уступом 620">
            <a:extLst>
              <a:ext uri="{FF2B5EF4-FFF2-40B4-BE49-F238E27FC236}">
                <a16:creationId xmlns:a16="http://schemas.microsoft.com/office/drawing/2014/main" id="{BA3B4AFA-5FE2-439F-8A1D-B01A400164E4}"/>
              </a:ext>
            </a:extLst>
          </p:cNvPr>
          <p:cNvCxnSpPr>
            <a:cxnSpLocks/>
            <a:stCxn id="457" idx="2"/>
            <a:endCxn id="453" idx="0"/>
          </p:cNvCxnSpPr>
          <p:nvPr/>
        </p:nvCxnSpPr>
        <p:spPr>
          <a:xfrm rot="5400000">
            <a:off x="16806603" y="11442978"/>
            <a:ext cx="298552" cy="20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Соединительная линия уступом 620">
            <a:extLst>
              <a:ext uri="{FF2B5EF4-FFF2-40B4-BE49-F238E27FC236}">
                <a16:creationId xmlns:a16="http://schemas.microsoft.com/office/drawing/2014/main" id="{AABB4E71-9FE1-4A20-9647-4E13D7300A28}"/>
              </a:ext>
            </a:extLst>
          </p:cNvPr>
          <p:cNvCxnSpPr>
            <a:cxnSpLocks/>
            <a:stCxn id="453" idx="2"/>
            <a:endCxn id="459" idx="0"/>
          </p:cNvCxnSpPr>
          <p:nvPr/>
        </p:nvCxnSpPr>
        <p:spPr>
          <a:xfrm rot="5400000">
            <a:off x="16509458" y="11986410"/>
            <a:ext cx="298552" cy="5922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Соединительная линия уступом 620">
            <a:extLst>
              <a:ext uri="{FF2B5EF4-FFF2-40B4-BE49-F238E27FC236}">
                <a16:creationId xmlns:a16="http://schemas.microsoft.com/office/drawing/2014/main" id="{67A4AAC9-1C72-4507-B30A-1C80434BB64E}"/>
              </a:ext>
            </a:extLst>
          </p:cNvPr>
          <p:cNvCxnSpPr>
            <a:cxnSpLocks/>
            <a:stCxn id="453" idx="2"/>
            <a:endCxn id="460" idx="0"/>
          </p:cNvCxnSpPr>
          <p:nvPr/>
        </p:nvCxnSpPr>
        <p:spPr>
          <a:xfrm rot="16200000" flipH="1">
            <a:off x="17101850" y="11986281"/>
            <a:ext cx="301647" cy="5956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Соединительная линия уступом 620">
            <a:extLst>
              <a:ext uri="{FF2B5EF4-FFF2-40B4-BE49-F238E27FC236}">
                <a16:creationId xmlns:a16="http://schemas.microsoft.com/office/drawing/2014/main" id="{53E3C412-DEA6-40C0-90E0-F7470B6BECD1}"/>
              </a:ext>
            </a:extLst>
          </p:cNvPr>
          <p:cNvCxnSpPr>
            <a:cxnSpLocks/>
            <a:stCxn id="229" idx="2"/>
            <a:endCxn id="478" idx="0"/>
          </p:cNvCxnSpPr>
          <p:nvPr/>
        </p:nvCxnSpPr>
        <p:spPr>
          <a:xfrm rot="5400000">
            <a:off x="19217903" y="5710800"/>
            <a:ext cx="259059" cy="7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Прямоугольник 604">
            <a:extLst>
              <a:ext uri="{FF2B5EF4-FFF2-40B4-BE49-F238E27FC236}">
                <a16:creationId xmlns:a16="http://schemas.microsoft.com/office/drawing/2014/main" id="{E337B5E4-6092-4A99-913F-23B110D867B2}"/>
              </a:ext>
            </a:extLst>
          </p:cNvPr>
          <p:cNvSpPr/>
          <p:nvPr/>
        </p:nvSpPr>
        <p:spPr>
          <a:xfrm>
            <a:off x="13561717" y="585407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Исключить французов из партии</a:t>
            </a:r>
          </a:p>
        </p:txBody>
      </p:sp>
      <p:cxnSp>
        <p:nvCxnSpPr>
          <p:cNvPr id="626" name="Соединительная линия уступом 620">
            <a:extLst>
              <a:ext uri="{FF2B5EF4-FFF2-40B4-BE49-F238E27FC236}">
                <a16:creationId xmlns:a16="http://schemas.microsoft.com/office/drawing/2014/main" id="{BDAA3EA9-B00C-4072-ACCE-CF6588B70FBD}"/>
              </a:ext>
            </a:extLst>
          </p:cNvPr>
          <p:cNvCxnSpPr>
            <a:cxnSpLocks/>
            <a:stCxn id="289" idx="2"/>
            <a:endCxn id="467" idx="0"/>
          </p:cNvCxnSpPr>
          <p:nvPr/>
        </p:nvCxnSpPr>
        <p:spPr>
          <a:xfrm rot="5400000">
            <a:off x="18839780" y="7741972"/>
            <a:ext cx="294357" cy="405402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Соединительная линия уступом 620">
            <a:extLst>
              <a:ext uri="{FF2B5EF4-FFF2-40B4-BE49-F238E27FC236}">
                <a16:creationId xmlns:a16="http://schemas.microsoft.com/office/drawing/2014/main" id="{1A9262D3-BC8A-42AD-A524-EA6E00F3D5C6}"/>
              </a:ext>
            </a:extLst>
          </p:cNvPr>
          <p:cNvCxnSpPr>
            <a:cxnSpLocks/>
            <a:stCxn id="459" idx="2"/>
            <a:endCxn id="454" idx="0"/>
          </p:cNvCxnSpPr>
          <p:nvPr/>
        </p:nvCxnSpPr>
        <p:spPr>
          <a:xfrm rot="16200000" flipH="1">
            <a:off x="16514538" y="12819882"/>
            <a:ext cx="298552" cy="6024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Соединительная линия уступом 620">
            <a:extLst>
              <a:ext uri="{FF2B5EF4-FFF2-40B4-BE49-F238E27FC236}">
                <a16:creationId xmlns:a16="http://schemas.microsoft.com/office/drawing/2014/main" id="{CB2E3E8A-AA7A-4B6A-B31E-041278D0202D}"/>
              </a:ext>
            </a:extLst>
          </p:cNvPr>
          <p:cNvCxnSpPr>
            <a:cxnSpLocks/>
            <a:stCxn id="460" idx="2"/>
            <a:endCxn id="454" idx="0"/>
          </p:cNvCxnSpPr>
          <p:nvPr/>
        </p:nvCxnSpPr>
        <p:spPr>
          <a:xfrm rot="5400000">
            <a:off x="17110026" y="12829914"/>
            <a:ext cx="295457" cy="58545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Прямая соединительная линия 634">
            <a:extLst>
              <a:ext uri="{FF2B5EF4-FFF2-40B4-BE49-F238E27FC236}">
                <a16:creationId xmlns:a16="http://schemas.microsoft.com/office/drawing/2014/main" id="{6BE52F0A-B2EE-4D5C-89C1-F14F989FF99E}"/>
              </a:ext>
            </a:extLst>
          </p:cNvPr>
          <p:cNvCxnSpPr>
            <a:cxnSpLocks/>
            <a:stCxn id="460" idx="1"/>
            <a:endCxn id="459" idx="3"/>
          </p:cNvCxnSpPr>
          <p:nvPr/>
        </p:nvCxnSpPr>
        <p:spPr>
          <a:xfrm flipH="1" flipV="1">
            <a:off x="16825764" y="12701818"/>
            <a:ext cx="261554" cy="30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Соединительная линия уступом 620">
            <a:extLst>
              <a:ext uri="{FF2B5EF4-FFF2-40B4-BE49-F238E27FC236}">
                <a16:creationId xmlns:a16="http://schemas.microsoft.com/office/drawing/2014/main" id="{BAEA8480-DD49-412D-99D7-E0097C2EE541}"/>
              </a:ext>
            </a:extLst>
          </p:cNvPr>
          <p:cNvCxnSpPr>
            <a:cxnSpLocks/>
            <a:stCxn id="231" idx="2"/>
            <a:endCxn id="605" idx="0"/>
          </p:cNvCxnSpPr>
          <p:nvPr/>
        </p:nvCxnSpPr>
        <p:spPr>
          <a:xfrm rot="5400000">
            <a:off x="14170399" y="5436920"/>
            <a:ext cx="271639" cy="56267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Прямоугольник 671">
            <a:extLst>
              <a:ext uri="{FF2B5EF4-FFF2-40B4-BE49-F238E27FC236}">
                <a16:creationId xmlns:a16="http://schemas.microsoft.com/office/drawing/2014/main" id="{CFE91351-277E-4E4C-8EAA-BE1186BEF4CF}"/>
              </a:ext>
            </a:extLst>
          </p:cNvPr>
          <p:cNvSpPr/>
          <p:nvPr/>
        </p:nvSpPr>
        <p:spPr>
          <a:xfrm>
            <a:off x="13558688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Полная национализация французского имущества</a:t>
            </a:r>
          </a:p>
        </p:txBody>
      </p:sp>
      <p:cxnSp>
        <p:nvCxnSpPr>
          <p:cNvPr id="673" name="Соединительная линия уступом 620">
            <a:extLst>
              <a:ext uri="{FF2B5EF4-FFF2-40B4-BE49-F238E27FC236}">
                <a16:creationId xmlns:a16="http://schemas.microsoft.com/office/drawing/2014/main" id="{B7632463-B8F9-4CE2-9D4D-A8817A8CA83B}"/>
              </a:ext>
            </a:extLst>
          </p:cNvPr>
          <p:cNvCxnSpPr>
            <a:cxnSpLocks/>
            <a:stCxn id="605" idx="2"/>
            <a:endCxn id="672" idx="0"/>
          </p:cNvCxnSpPr>
          <p:nvPr/>
        </p:nvCxnSpPr>
        <p:spPr>
          <a:xfrm rot="5400000">
            <a:off x="12679502" y="7736427"/>
            <a:ext cx="2687728" cy="30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Соединительная линия уступом 620">
            <a:extLst>
              <a:ext uri="{FF2B5EF4-FFF2-40B4-BE49-F238E27FC236}">
                <a16:creationId xmlns:a16="http://schemas.microsoft.com/office/drawing/2014/main" id="{B768D324-794D-4757-A700-B6ED49687AE3}"/>
              </a:ext>
            </a:extLst>
          </p:cNvPr>
          <p:cNvCxnSpPr>
            <a:cxnSpLocks/>
            <a:stCxn id="672" idx="2"/>
            <a:endCxn id="467" idx="0"/>
          </p:cNvCxnSpPr>
          <p:nvPr/>
        </p:nvCxnSpPr>
        <p:spPr>
          <a:xfrm rot="16200000" flipH="1">
            <a:off x="15343720" y="8299935"/>
            <a:ext cx="294357" cy="29380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Соединительная линия уступом 620">
            <a:extLst>
              <a:ext uri="{FF2B5EF4-FFF2-40B4-BE49-F238E27FC236}">
                <a16:creationId xmlns:a16="http://schemas.microsoft.com/office/drawing/2014/main" id="{107A50E5-4279-4F78-BB4D-D0EE1845AA2E}"/>
              </a:ext>
            </a:extLst>
          </p:cNvPr>
          <p:cNvCxnSpPr>
            <a:cxnSpLocks/>
            <a:stCxn id="336" idx="2"/>
            <a:endCxn id="358" idx="0"/>
          </p:cNvCxnSpPr>
          <p:nvPr/>
        </p:nvCxnSpPr>
        <p:spPr>
          <a:xfrm rot="16200000" flipH="1">
            <a:off x="11536074" y="4535400"/>
            <a:ext cx="272802" cy="236577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Соединительная линия уступом 620">
            <a:extLst>
              <a:ext uri="{FF2B5EF4-FFF2-40B4-BE49-F238E27FC236}">
                <a16:creationId xmlns:a16="http://schemas.microsoft.com/office/drawing/2014/main" id="{0BE6AA82-FCC9-4929-AAB7-F0B54221683C}"/>
              </a:ext>
            </a:extLst>
          </p:cNvPr>
          <p:cNvCxnSpPr>
            <a:cxnSpLocks/>
            <a:stCxn id="231" idx="2"/>
            <a:endCxn id="358" idx="0"/>
          </p:cNvCxnSpPr>
          <p:nvPr/>
        </p:nvCxnSpPr>
        <p:spPr>
          <a:xfrm rot="5400000">
            <a:off x="13585334" y="4852465"/>
            <a:ext cx="272248" cy="17321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Прямоугольник 681">
            <a:extLst>
              <a:ext uri="{FF2B5EF4-FFF2-40B4-BE49-F238E27FC236}">
                <a16:creationId xmlns:a16="http://schemas.microsoft.com/office/drawing/2014/main" id="{47EC0B54-2B64-4C65-B4C0-70F9B959A7B0}"/>
              </a:ext>
            </a:extLst>
          </p:cNvPr>
          <p:cNvSpPr/>
          <p:nvPr/>
        </p:nvSpPr>
        <p:spPr>
          <a:xfrm>
            <a:off x="20550806" y="991616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Остаться союзником Франции</a:t>
            </a:r>
          </a:p>
        </p:txBody>
      </p:sp>
      <p:sp>
        <p:nvSpPr>
          <p:cNvPr id="684" name="Прямоугольник 683">
            <a:extLst>
              <a:ext uri="{FF2B5EF4-FFF2-40B4-BE49-F238E27FC236}">
                <a16:creationId xmlns:a16="http://schemas.microsoft.com/office/drawing/2014/main" id="{441B5A07-9519-45BC-9B4D-4EA0DD9C5CA5}"/>
              </a:ext>
            </a:extLst>
          </p:cNvPr>
          <p:cNvSpPr/>
          <p:nvPr/>
        </p:nvSpPr>
        <p:spPr>
          <a:xfrm>
            <a:off x="13558539" y="99203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Вступить в Коминтерн</a:t>
            </a:r>
          </a:p>
        </p:txBody>
      </p:sp>
      <p:cxnSp>
        <p:nvCxnSpPr>
          <p:cNvPr id="685" name="Соединительная линия уступом 620">
            <a:extLst>
              <a:ext uri="{FF2B5EF4-FFF2-40B4-BE49-F238E27FC236}">
                <a16:creationId xmlns:a16="http://schemas.microsoft.com/office/drawing/2014/main" id="{30DEDB27-1BFF-4A10-A5D0-5B8EB220E568}"/>
              </a:ext>
            </a:extLst>
          </p:cNvPr>
          <p:cNvCxnSpPr>
            <a:cxnSpLocks/>
            <a:stCxn id="672" idx="2"/>
            <a:endCxn id="684" idx="0"/>
          </p:cNvCxnSpPr>
          <p:nvPr/>
        </p:nvCxnSpPr>
        <p:spPr>
          <a:xfrm rot="5400000">
            <a:off x="13872503" y="9771005"/>
            <a:ext cx="298549" cy="1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Соединительная линия уступом 620">
            <a:extLst>
              <a:ext uri="{FF2B5EF4-FFF2-40B4-BE49-F238E27FC236}">
                <a16:creationId xmlns:a16="http://schemas.microsoft.com/office/drawing/2014/main" id="{AFB626DD-C424-4137-9D19-667C6B93FBFB}"/>
              </a:ext>
            </a:extLst>
          </p:cNvPr>
          <p:cNvCxnSpPr>
            <a:cxnSpLocks/>
            <a:stCxn id="289" idx="2"/>
            <a:endCxn id="682" idx="0"/>
          </p:cNvCxnSpPr>
          <p:nvPr/>
        </p:nvCxnSpPr>
        <p:spPr>
          <a:xfrm rot="5400000">
            <a:off x="20866791" y="9768983"/>
            <a:ext cx="294356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C2E25588-1DBF-4AFC-8AD0-2B705FB8FBDC}"/>
              </a:ext>
            </a:extLst>
          </p:cNvPr>
          <p:cNvCxnSpPr>
            <a:cxnSpLocks/>
            <a:stCxn id="308" idx="2"/>
            <a:endCxn id="311" idx="0"/>
          </p:cNvCxnSpPr>
          <p:nvPr/>
        </p:nvCxnSpPr>
        <p:spPr>
          <a:xfrm rot="5400000">
            <a:off x="9772615" y="14954728"/>
            <a:ext cx="337947" cy="6134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E1F63AED-8F53-410D-97A5-29896073417B}"/>
              </a:ext>
            </a:extLst>
          </p:cNvPr>
          <p:cNvCxnSpPr>
            <a:cxnSpLocks/>
            <a:stCxn id="308" idx="2"/>
            <a:endCxn id="307" idx="0"/>
          </p:cNvCxnSpPr>
          <p:nvPr/>
        </p:nvCxnSpPr>
        <p:spPr>
          <a:xfrm rot="16200000" flipH="1">
            <a:off x="10408445" y="14932298"/>
            <a:ext cx="337947" cy="65826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52081357-7316-4DC8-82BA-0E8B295FB117}"/>
              </a:ext>
            </a:extLst>
          </p:cNvPr>
          <p:cNvCxnSpPr>
            <a:cxnSpLocks/>
            <a:stCxn id="303" idx="2"/>
            <a:endCxn id="302" idx="0"/>
          </p:cNvCxnSpPr>
          <p:nvPr/>
        </p:nvCxnSpPr>
        <p:spPr>
          <a:xfrm rot="5400000">
            <a:off x="6181998" y="14660937"/>
            <a:ext cx="337947" cy="12009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Соединительная линия уступом 620">
            <a:extLst>
              <a:ext uri="{FF2B5EF4-FFF2-40B4-BE49-F238E27FC236}">
                <a16:creationId xmlns:a16="http://schemas.microsoft.com/office/drawing/2014/main" id="{1FC3434E-63FB-4C17-9AAA-7F3F13F81A01}"/>
              </a:ext>
            </a:extLst>
          </p:cNvPr>
          <p:cNvCxnSpPr>
            <a:cxnSpLocks/>
            <a:stCxn id="303" idx="2"/>
            <a:endCxn id="301" idx="0"/>
          </p:cNvCxnSpPr>
          <p:nvPr/>
        </p:nvCxnSpPr>
        <p:spPr>
          <a:xfrm rot="16200000" flipH="1">
            <a:off x="7405892" y="14638024"/>
            <a:ext cx="333865" cy="12427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46E197FE-2A45-4F0F-9B6C-9BF43DFB2083}"/>
              </a:ext>
            </a:extLst>
          </p:cNvPr>
          <p:cNvSpPr/>
          <p:nvPr/>
        </p:nvSpPr>
        <p:spPr>
          <a:xfrm>
            <a:off x="6484428" y="1623111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Танжерский</a:t>
            </a:r>
            <a:r>
              <a:rPr lang="ru-RU" sz="700" dirty="0"/>
              <a:t> офшор и контрабанда</a:t>
            </a:r>
          </a:p>
        </p:txBody>
      </p:sp>
      <p:cxnSp>
        <p:nvCxnSpPr>
          <p:cNvPr id="509" name="Соединительная линия уступом 620">
            <a:extLst>
              <a:ext uri="{FF2B5EF4-FFF2-40B4-BE49-F238E27FC236}">
                <a16:creationId xmlns:a16="http://schemas.microsoft.com/office/drawing/2014/main" id="{B6557F02-1289-420C-B9C0-FD17946E8DBA}"/>
              </a:ext>
            </a:extLst>
          </p:cNvPr>
          <p:cNvCxnSpPr>
            <a:cxnSpLocks/>
            <a:stCxn id="301" idx="2"/>
            <a:endCxn id="508" idx="0"/>
          </p:cNvCxnSpPr>
          <p:nvPr/>
        </p:nvCxnSpPr>
        <p:spPr>
          <a:xfrm rot="5400000">
            <a:off x="7438493" y="15475418"/>
            <a:ext cx="264792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20">
            <a:extLst>
              <a:ext uri="{FF2B5EF4-FFF2-40B4-BE49-F238E27FC236}">
                <a16:creationId xmlns:a16="http://schemas.microsoft.com/office/drawing/2014/main" id="{93DCDEC9-BCF1-404B-B8A7-351298345583}"/>
              </a:ext>
            </a:extLst>
          </p:cNvPr>
          <p:cNvCxnSpPr>
            <a:cxnSpLocks/>
            <a:stCxn id="302" idx="2"/>
            <a:endCxn id="508" idx="0"/>
          </p:cNvCxnSpPr>
          <p:nvPr/>
        </p:nvCxnSpPr>
        <p:spPr>
          <a:xfrm rot="16200000" flipH="1">
            <a:off x="6218680" y="15502201"/>
            <a:ext cx="260710" cy="11971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29342093-D9E4-4C0B-AB04-1B4C6FB72429}"/>
              </a:ext>
            </a:extLst>
          </p:cNvPr>
          <p:cNvSpPr/>
          <p:nvPr/>
        </p:nvSpPr>
        <p:spPr>
          <a:xfrm>
            <a:off x="5286829" y="170578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Танжерская</a:t>
            </a:r>
            <a:r>
              <a:rPr lang="ru-RU" sz="700" dirty="0"/>
              <a:t> судостроительная верфь</a:t>
            </a:r>
          </a:p>
        </p:txBody>
      </p:sp>
      <p:cxnSp>
        <p:nvCxnSpPr>
          <p:cNvPr id="512" name="Соединительная линия уступом 620">
            <a:extLst>
              <a:ext uri="{FF2B5EF4-FFF2-40B4-BE49-F238E27FC236}">
                <a16:creationId xmlns:a16="http://schemas.microsoft.com/office/drawing/2014/main" id="{8E9AF91D-7B78-4A46-8C41-9626DB43DAD7}"/>
              </a:ext>
            </a:extLst>
          </p:cNvPr>
          <p:cNvCxnSpPr>
            <a:cxnSpLocks/>
            <a:stCxn id="302" idx="2"/>
            <a:endCxn id="511" idx="0"/>
          </p:cNvCxnSpPr>
          <p:nvPr/>
        </p:nvCxnSpPr>
        <p:spPr>
          <a:xfrm rot="5400000">
            <a:off x="5206515" y="16513879"/>
            <a:ext cx="1087442" cy="4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Соединительная линия уступом 620">
            <a:extLst>
              <a:ext uri="{FF2B5EF4-FFF2-40B4-BE49-F238E27FC236}">
                <a16:creationId xmlns:a16="http://schemas.microsoft.com/office/drawing/2014/main" id="{A10160AE-185D-4BBF-8C85-3CFE3904D664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7803694" y="19002766"/>
            <a:ext cx="261343" cy="6248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20">
            <a:extLst>
              <a:ext uri="{FF2B5EF4-FFF2-40B4-BE49-F238E27FC236}">
                <a16:creationId xmlns:a16="http://schemas.microsoft.com/office/drawing/2014/main" id="{4141F6BE-135E-42B6-8DA8-5C6264A94EF0}"/>
              </a:ext>
            </a:extLst>
          </p:cNvPr>
          <p:cNvCxnSpPr>
            <a:cxnSpLocks/>
            <a:stCxn id="159" idx="2"/>
            <a:endCxn id="164" idx="0"/>
          </p:cNvCxnSpPr>
          <p:nvPr/>
        </p:nvCxnSpPr>
        <p:spPr>
          <a:xfrm rot="16200000" flipH="1">
            <a:off x="8112617" y="20295903"/>
            <a:ext cx="260714" cy="124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Соединительная линия уступом 620">
            <a:extLst>
              <a:ext uri="{FF2B5EF4-FFF2-40B4-BE49-F238E27FC236}">
                <a16:creationId xmlns:a16="http://schemas.microsoft.com/office/drawing/2014/main" id="{A356C9BA-845A-426A-A20D-4848C123BB5D}"/>
              </a:ext>
            </a:extLst>
          </p:cNvPr>
          <p:cNvCxnSpPr>
            <a:cxnSpLocks/>
            <a:stCxn id="264" idx="2"/>
            <a:endCxn id="374" idx="0"/>
          </p:cNvCxnSpPr>
          <p:nvPr/>
        </p:nvCxnSpPr>
        <p:spPr>
          <a:xfrm rot="5400000">
            <a:off x="5500308" y="4204011"/>
            <a:ext cx="1071739" cy="599022"/>
          </a:xfrm>
          <a:prstGeom prst="bentConnector3">
            <a:avLst>
              <a:gd name="adj1" fmla="val 1326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5" name="Прямоугольник 514">
            <a:extLst>
              <a:ext uri="{FF2B5EF4-FFF2-40B4-BE49-F238E27FC236}">
                <a16:creationId xmlns:a16="http://schemas.microsoft.com/office/drawing/2014/main" id="{6E79AED0-B7B4-4B26-8F6F-1B9F3FADC429}"/>
              </a:ext>
            </a:extLst>
          </p:cNvPr>
          <p:cNvSpPr/>
          <p:nvPr/>
        </p:nvSpPr>
        <p:spPr>
          <a:xfrm>
            <a:off x="5266684" y="907761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часть Алжира</a:t>
            </a:r>
          </a:p>
        </p:txBody>
      </p:sp>
      <p:cxnSp>
        <p:nvCxnSpPr>
          <p:cNvPr id="517" name="Соединительная линия уступом 620">
            <a:extLst>
              <a:ext uri="{FF2B5EF4-FFF2-40B4-BE49-F238E27FC236}">
                <a16:creationId xmlns:a16="http://schemas.microsoft.com/office/drawing/2014/main" id="{1AF2E4DF-76F0-4A1D-BCBB-B56C8D29AD8F}"/>
              </a:ext>
            </a:extLst>
          </p:cNvPr>
          <p:cNvCxnSpPr>
            <a:cxnSpLocks/>
            <a:stCxn id="382" idx="2"/>
            <a:endCxn id="515" idx="0"/>
          </p:cNvCxnSpPr>
          <p:nvPr/>
        </p:nvCxnSpPr>
        <p:spPr>
          <a:xfrm rot="5400000">
            <a:off x="5896506" y="8642859"/>
            <a:ext cx="268093" cy="60140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Соединительная линия уступом 620">
            <a:extLst>
              <a:ext uri="{FF2B5EF4-FFF2-40B4-BE49-F238E27FC236}">
                <a16:creationId xmlns:a16="http://schemas.microsoft.com/office/drawing/2014/main" id="{3D9A0A63-01EF-4F72-9F6F-5E911DB25ED6}"/>
              </a:ext>
            </a:extLst>
          </p:cNvPr>
          <p:cNvCxnSpPr>
            <a:cxnSpLocks/>
            <a:stCxn id="285" idx="2"/>
            <a:endCxn id="310" idx="0"/>
          </p:cNvCxnSpPr>
          <p:nvPr/>
        </p:nvCxnSpPr>
        <p:spPr>
          <a:xfrm rot="5400000">
            <a:off x="7697947" y="4592278"/>
            <a:ext cx="243016" cy="6085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Соединительная линия уступом 620">
            <a:extLst>
              <a:ext uri="{FF2B5EF4-FFF2-40B4-BE49-F238E27FC236}">
                <a16:creationId xmlns:a16="http://schemas.microsoft.com/office/drawing/2014/main" id="{CF280879-F9DA-45EA-935F-D2A3FAE4B7BE}"/>
              </a:ext>
            </a:extLst>
          </p:cNvPr>
          <p:cNvCxnSpPr>
            <a:cxnSpLocks/>
            <a:stCxn id="172" idx="2"/>
            <a:endCxn id="264" idx="0"/>
          </p:cNvCxnSpPr>
          <p:nvPr/>
        </p:nvCxnSpPr>
        <p:spPr>
          <a:xfrm rot="5400000">
            <a:off x="6093730" y="2589614"/>
            <a:ext cx="1079998" cy="59608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Соединительная линия уступом 620">
            <a:extLst>
              <a:ext uri="{FF2B5EF4-FFF2-40B4-BE49-F238E27FC236}">
                <a16:creationId xmlns:a16="http://schemas.microsoft.com/office/drawing/2014/main" id="{8EE97878-30E9-4D69-8407-1AA5DB433643}"/>
              </a:ext>
            </a:extLst>
          </p:cNvPr>
          <p:cNvCxnSpPr>
            <a:cxnSpLocks/>
            <a:stCxn id="172" idx="2"/>
            <a:endCxn id="259" idx="0"/>
          </p:cNvCxnSpPr>
          <p:nvPr/>
        </p:nvCxnSpPr>
        <p:spPr>
          <a:xfrm rot="16200000" flipH="1">
            <a:off x="6687380" y="2592043"/>
            <a:ext cx="1079998" cy="59122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0" name="Прямоугольник 519">
            <a:extLst>
              <a:ext uri="{FF2B5EF4-FFF2-40B4-BE49-F238E27FC236}">
                <a16:creationId xmlns:a16="http://schemas.microsoft.com/office/drawing/2014/main" id="{D879779D-C792-48BC-9465-5526A3CCE035}"/>
              </a:ext>
            </a:extLst>
          </p:cNvPr>
          <p:cNvSpPr/>
          <p:nvPr/>
        </p:nvSpPr>
        <p:spPr>
          <a:xfrm>
            <a:off x="11512748" y="21032646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Найти поддержку среди испанских фалангистов</a:t>
            </a:r>
          </a:p>
        </p:txBody>
      </p:sp>
      <p:cxnSp>
        <p:nvCxnSpPr>
          <p:cNvPr id="521" name="Соединительная линия уступом 620">
            <a:extLst>
              <a:ext uri="{FF2B5EF4-FFF2-40B4-BE49-F238E27FC236}">
                <a16:creationId xmlns:a16="http://schemas.microsoft.com/office/drawing/2014/main" id="{F2302FEA-DE50-42DE-827F-0248782C6D3B}"/>
              </a:ext>
            </a:extLst>
          </p:cNvPr>
          <p:cNvCxnSpPr>
            <a:cxnSpLocks/>
            <a:stCxn id="391" idx="2"/>
            <a:endCxn id="520" idx="0"/>
          </p:cNvCxnSpPr>
          <p:nvPr/>
        </p:nvCxnSpPr>
        <p:spPr>
          <a:xfrm rot="16200000" flipH="1">
            <a:off x="11578302" y="20635037"/>
            <a:ext cx="186018" cy="6091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3" name="Соединительная линия уступом 620">
            <a:extLst>
              <a:ext uri="{FF2B5EF4-FFF2-40B4-BE49-F238E27FC236}">
                <a16:creationId xmlns:a16="http://schemas.microsoft.com/office/drawing/2014/main" id="{35AE13DC-21AF-4BCC-BDB4-6EC259833CB6}"/>
              </a:ext>
            </a:extLst>
          </p:cNvPr>
          <p:cNvCxnSpPr>
            <a:cxnSpLocks/>
            <a:stCxn id="286" idx="2"/>
            <a:endCxn id="520" idx="0"/>
          </p:cNvCxnSpPr>
          <p:nvPr/>
        </p:nvCxnSpPr>
        <p:spPr>
          <a:xfrm rot="5400000">
            <a:off x="11483404" y="20540137"/>
            <a:ext cx="9850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Прямоугольник 526">
            <a:extLst>
              <a:ext uri="{FF2B5EF4-FFF2-40B4-BE49-F238E27FC236}">
                <a16:creationId xmlns:a16="http://schemas.microsoft.com/office/drawing/2014/main" id="{7BE6B12E-2FC5-4352-A850-0061360A1EEE}"/>
              </a:ext>
            </a:extLst>
          </p:cNvPr>
          <p:cNvSpPr/>
          <p:nvPr/>
        </p:nvSpPr>
        <p:spPr>
          <a:xfrm>
            <a:off x="12150141" y="20306733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вертикального профсоюза</a:t>
            </a:r>
          </a:p>
        </p:txBody>
      </p:sp>
      <p:sp>
        <p:nvSpPr>
          <p:cNvPr id="530" name="Прямоугольник 529">
            <a:extLst>
              <a:ext uri="{FF2B5EF4-FFF2-40B4-BE49-F238E27FC236}">
                <a16:creationId xmlns:a16="http://schemas.microsoft.com/office/drawing/2014/main" id="{2A82F62F-8395-4C99-9757-DE13F85A4E30}"/>
              </a:ext>
            </a:extLst>
          </p:cNvPr>
          <p:cNvSpPr/>
          <p:nvPr/>
        </p:nvSpPr>
        <p:spPr>
          <a:xfrm>
            <a:off x="12752200" y="21032646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Объединение рабочих и работодателей по отраслям</a:t>
            </a:r>
          </a:p>
        </p:txBody>
      </p:sp>
      <p:cxnSp>
        <p:nvCxnSpPr>
          <p:cNvPr id="531" name="Соединительная линия уступом 620">
            <a:extLst>
              <a:ext uri="{FF2B5EF4-FFF2-40B4-BE49-F238E27FC236}">
                <a16:creationId xmlns:a16="http://schemas.microsoft.com/office/drawing/2014/main" id="{249B645A-AC76-46A7-A83B-C0F9A7D5B865}"/>
              </a:ext>
            </a:extLst>
          </p:cNvPr>
          <p:cNvCxnSpPr>
            <a:cxnSpLocks/>
            <a:stCxn id="286" idx="2"/>
            <a:endCxn id="527" idx="0"/>
          </p:cNvCxnSpPr>
          <p:nvPr/>
        </p:nvCxnSpPr>
        <p:spPr>
          <a:xfrm rot="16200000" flipH="1">
            <a:off x="12165056" y="19858485"/>
            <a:ext cx="259104" cy="6373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3" name="Прямоугольник 532">
            <a:extLst>
              <a:ext uri="{FF2B5EF4-FFF2-40B4-BE49-F238E27FC236}">
                <a16:creationId xmlns:a16="http://schemas.microsoft.com/office/drawing/2014/main" id="{07F1E05F-B285-4962-8AFC-85A9CE71C5DE}"/>
              </a:ext>
            </a:extLst>
          </p:cNvPr>
          <p:cNvSpPr/>
          <p:nvPr/>
        </p:nvSpPr>
        <p:spPr>
          <a:xfrm>
            <a:off x="11512747" y="22654770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культ личности</a:t>
            </a:r>
          </a:p>
        </p:txBody>
      </p:sp>
      <p:sp>
        <p:nvSpPr>
          <p:cNvPr id="534" name="Прямоугольник 533">
            <a:extLst>
              <a:ext uri="{FF2B5EF4-FFF2-40B4-BE49-F238E27FC236}">
                <a16:creationId xmlns:a16="http://schemas.microsoft.com/office/drawing/2014/main" id="{439679E5-8F70-4C51-996F-EC7F24AA5DDE}"/>
              </a:ext>
            </a:extLst>
          </p:cNvPr>
          <p:cNvSpPr/>
          <p:nvPr/>
        </p:nvSpPr>
        <p:spPr>
          <a:xfrm>
            <a:off x="12752201" y="2184738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Передача прав собственности и средств производства в профсоюзы</a:t>
            </a:r>
          </a:p>
        </p:txBody>
      </p:sp>
      <p:cxnSp>
        <p:nvCxnSpPr>
          <p:cNvPr id="538" name="Соединительная линия уступом 620">
            <a:extLst>
              <a:ext uri="{FF2B5EF4-FFF2-40B4-BE49-F238E27FC236}">
                <a16:creationId xmlns:a16="http://schemas.microsoft.com/office/drawing/2014/main" id="{AB0C856A-015A-4250-A7F2-0CEE1A7AE3D8}"/>
              </a:ext>
            </a:extLst>
          </p:cNvPr>
          <p:cNvCxnSpPr>
            <a:cxnSpLocks/>
            <a:stCxn id="520" idx="2"/>
            <a:endCxn id="533" idx="0"/>
          </p:cNvCxnSpPr>
          <p:nvPr/>
        </p:nvCxnSpPr>
        <p:spPr>
          <a:xfrm rot="5400000">
            <a:off x="11434849" y="22113708"/>
            <a:ext cx="108212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0" name="Соединительная линия уступом 620">
            <a:extLst>
              <a:ext uri="{FF2B5EF4-FFF2-40B4-BE49-F238E27FC236}">
                <a16:creationId xmlns:a16="http://schemas.microsoft.com/office/drawing/2014/main" id="{89AE2EBF-E461-4885-8EBB-A725AAD7537D}"/>
              </a:ext>
            </a:extLst>
          </p:cNvPr>
          <p:cNvCxnSpPr>
            <a:cxnSpLocks/>
            <a:stCxn id="527" idx="2"/>
            <a:endCxn id="530" idx="0"/>
          </p:cNvCxnSpPr>
          <p:nvPr/>
        </p:nvCxnSpPr>
        <p:spPr>
          <a:xfrm rot="16200000" flipH="1">
            <a:off x="12821377" y="20638659"/>
            <a:ext cx="185913" cy="60205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1" name="Соединительная линия уступом 620">
            <a:extLst>
              <a:ext uri="{FF2B5EF4-FFF2-40B4-BE49-F238E27FC236}">
                <a16:creationId xmlns:a16="http://schemas.microsoft.com/office/drawing/2014/main" id="{BB42ABE2-7B27-4605-A3C2-923A7B99A9F8}"/>
              </a:ext>
            </a:extLst>
          </p:cNvPr>
          <p:cNvCxnSpPr>
            <a:cxnSpLocks/>
            <a:stCxn id="530" idx="2"/>
            <a:endCxn id="534" idx="0"/>
          </p:cNvCxnSpPr>
          <p:nvPr/>
        </p:nvCxnSpPr>
        <p:spPr>
          <a:xfrm rot="16200000" flipH="1">
            <a:off x="13077992" y="21710016"/>
            <a:ext cx="27474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56251</TotalTime>
  <Words>1600</Words>
  <Application>Microsoft Office PowerPoint</Application>
  <PresentationFormat>Произвольный</PresentationFormat>
  <Paragraphs>200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2476</cp:revision>
  <dcterms:created xsi:type="dcterms:W3CDTF">2018-10-23T08:09:21Z</dcterms:created>
  <dcterms:modified xsi:type="dcterms:W3CDTF">2026-07-07T10:27:08Z</dcterms:modified>
</cp:coreProperties>
</file>