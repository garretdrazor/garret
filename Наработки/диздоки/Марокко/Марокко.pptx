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150" d="100"/>
          <a:sy n="150" d="100"/>
        </p:scale>
        <p:origin x="-6852" y="-16716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02.07.2026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02.07.2026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02.07.2026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02.07.2026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02.07.2026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02.07.2026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02.07.2026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02.07.2026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02.07.2026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02.07.2026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02.07.2026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02.07.2026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02.07.2026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8326336" y="143820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7997228" y="14467692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9232773" y="14478743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8945478" y="1606721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7079740" y="152599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9550830" y="1525996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8006065" y="15529963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9577693" y="15630912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8342147" y="15000719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7101223" y="15623153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2016813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16461249" y="1606483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16460601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1521821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7702446" y="160699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16480060" y="15001284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6785124" y="16743474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7702445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8029208" y="16746362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8943644" y="168850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8945477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9268818" y="16745202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9268817" y="17563014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7719257" y="15623609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8954803" y="15010770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832633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8049382" y="16540081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6813836" y="16529030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15542416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7702444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15846283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16477641" y="17254568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15856095" y="17247340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8025571" y="17562800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20190564" y="15623392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21406988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20809990" y="15003967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8943644" y="195252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15218216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8857855" y="18976337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1522202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15141966" y="17961470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21406987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21731187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20170232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9377802" y="18269697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7702443" y="19525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20084065" y="17151362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8237255" y="18973045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7702443" y="204587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20162308" y="204583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8589482" y="19641415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9819616" y="19652481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12143190" y="145548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13379087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12143191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 </a:t>
            </a:r>
            <a:r>
              <a:rPr lang="ru-RU" sz="100" dirty="0"/>
              <a:t>(Опасаясь влияния Торреса, верховный комиссар генерал </a:t>
            </a:r>
            <a:r>
              <a:rPr lang="ru-RU" sz="100" dirty="0" err="1"/>
              <a:t>Бейгбедер</a:t>
            </a:r>
            <a:r>
              <a:rPr lang="ru-RU" sz="100" dirty="0"/>
              <a:t> противопоставил ему другого националистического деятеля - Мекки </a:t>
            </a:r>
            <a:r>
              <a:rPr lang="ru-RU" sz="100" dirty="0" err="1"/>
              <a:t>Насыри</a:t>
            </a:r>
            <a:r>
              <a:rPr lang="ru-RU" sz="100" dirty="0"/>
              <a:t>. Последний снискал популярность </a:t>
            </a:r>
            <a:r>
              <a:rPr lang="ru-RU" sz="100" dirty="0" err="1"/>
              <a:t>реча¬ми</a:t>
            </a:r>
            <a:r>
              <a:rPr lang="ru-RU" sz="100" dirty="0"/>
              <a:t> в Большой мечети о национальных чаяниях марокканского народа. Верховный комиссар помог </a:t>
            </a:r>
            <a:r>
              <a:rPr lang="ru-RU" sz="100" dirty="0" err="1"/>
              <a:t>Насыри</a:t>
            </a:r>
            <a:r>
              <a:rPr lang="ru-RU" sz="100" dirty="0"/>
              <a:t> создать Партию </a:t>
            </a:r>
            <a:r>
              <a:rPr lang="ru-RU" sz="100" dirty="0" err="1"/>
              <a:t>ма¬рокканского</a:t>
            </a:r>
            <a:r>
              <a:rPr lang="ru-RU" sz="100" dirty="0"/>
              <a:t> единства (ПМЕ). Лидеры обеих партий представляли одни н те же социальные слои, выдвигали практически </a:t>
            </a:r>
            <a:r>
              <a:rPr lang="ru-RU" sz="100" dirty="0" err="1"/>
              <a:t>идентич¬ные</a:t>
            </a:r>
            <a:r>
              <a:rPr lang="ru-RU" sz="100" dirty="0"/>
              <a:t> требования. Но для арабского населения партия </a:t>
            </a:r>
            <a:r>
              <a:rPr lang="ru-RU" sz="100" dirty="0" err="1"/>
              <a:t>Насыри</a:t>
            </a:r>
            <a:r>
              <a:rPr lang="ru-RU" sz="100" dirty="0"/>
              <a:t> была более привлекательной вследствие ее приверженности </a:t>
            </a:r>
            <a:r>
              <a:rPr lang="ru-RU" sz="100" dirty="0" err="1"/>
              <a:t>ара¬бизму</a:t>
            </a:r>
            <a:r>
              <a:rPr lang="ru-RU" sz="100" dirty="0"/>
              <a:t>: ПМЕ выступала за то, чтобы арабский язык был объявлен единственным официальным языком мусульманского Марокко. Обе партии первоначально не ставили перед собой конкретных задач по изменению положения в испанской зоне.)</a:t>
            </a:r>
            <a:endParaRPr lang="ru-RU" sz="700" dirty="0"/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12752201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10904340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11513350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12122460" y="14948888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12741885" y="14959302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12159352" y="15789942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12778778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13396726" y="15791420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11539927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12159353" y="15180933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11830665" y="16506945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12144722" y="1705487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13376646" y="170548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12468155" y="16915143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5400000">
            <a:off x="13702065" y="16914690"/>
            <a:ext cx="277930" cy="24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13384041" y="178287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102" idx="2"/>
            <a:endCxn id="113" idx="0"/>
          </p:cNvCxnSpPr>
          <p:nvPr/>
        </p:nvCxnSpPr>
        <p:spPr>
          <a:xfrm rot="16200000" flipH="1">
            <a:off x="13726593" y="17708090"/>
            <a:ext cx="233826" cy="73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7158783" y="210472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7158782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6541562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7783622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7183286" y="2140873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7804315" y="2140492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8411791" y="2345548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8411792" y="226547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7714711" y="21494526"/>
            <a:ext cx="1067479" cy="1253009"/>
          </a:xfrm>
          <a:prstGeom prst="bentConnector3">
            <a:avLst>
              <a:gd name="adj1" fmla="val 1056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8744600" y="2332512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5299502" y="2184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6562257" y="2078770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5301930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5633524" y="2251653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7783622" y="1864451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7158781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7158781" y="2344881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6540785" y="178287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7158782" y="20246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8400841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8400842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6540786" y="186451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914841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914842" y="21042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914841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5305853" y="18649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8400840" y="21047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6249861" y="2091471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8733648" y="2011621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8733646" y="2091693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7491586" y="2011621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8112617" y="1949518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8112615" y="2029590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7491587" y="2091693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4670901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5597226" y="1971585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4670900" y="2024698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5323397" y="1900023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945367" y="1901322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5625472" y="1949444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5003502" y="2011641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5625677" y="1949424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6247647" y="2011621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865729" y="1850692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7182587" y="1900650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8424724" y="1900657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5138627" y="1998129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5760597" y="2060326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5759657" y="1936026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6381627" y="1998223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7491591" y="2331845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4670899" y="2103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5630624" y="2029001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6246048" y="1789167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7487460" y="1788518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900594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087897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  <a:br>
              <a:rPr lang="ru-RU" sz="700" dirty="0"/>
            </a:br>
            <a:r>
              <a:rPr lang="ru-RU" sz="200" dirty="0"/>
              <a:t>Ликвидатор феодализма (</a:t>
            </a:r>
            <a:r>
              <a:rPr lang="ru-RU" sz="200" dirty="0" err="1"/>
              <a:t>Liquidator</a:t>
            </a:r>
            <a:r>
              <a:rPr lang="ru-RU" sz="200" dirty="0"/>
              <a:t> </a:t>
            </a:r>
            <a:r>
              <a:rPr lang="ru-RU" sz="200" dirty="0" err="1"/>
              <a:t>of</a:t>
            </a:r>
            <a:r>
              <a:rPr lang="ru-RU" sz="200" dirty="0"/>
              <a:t> </a:t>
            </a:r>
            <a:r>
              <a:rPr lang="ru-RU" sz="200" dirty="0" err="1"/>
              <a:t>Feudalism</a:t>
            </a:r>
            <a:r>
              <a:rPr lang="ru-RU" sz="200" dirty="0"/>
              <a:t>)Активируется через фокус «Упразднить </a:t>
            </a:r>
            <a:r>
              <a:rPr lang="ru-RU" sz="200" dirty="0" err="1"/>
              <a:t>Махзен</a:t>
            </a:r>
            <a:r>
              <a:rPr lang="ru-RU" sz="200" dirty="0"/>
              <a:t> и Султанат».🛑 Популярность нейтральной (монархической) идеологии: -0.05 в день.🛠️ Скорость конверсии гражданских фабрик в военные заводы: +15%📉 Краткосрочный штраф к стабильности: -5.00% (из-за сопротивления роялистов). В конце 1950-х — начале 1990-х годов видные марокканские евреи отвергали определенные политические решения монархии и ее поворот к авторитаризму. Однако они не оспаривали легитимность самой монархии. Они боролись за идеализированное видение Марокко, в то время как большинство марокканских евреев покидали страну.¬</a:t>
            </a:r>
            <a:endParaRPr lang="ru-RU" sz="700" dirty="0"/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121893" y="3808486"/>
            <a:ext cx="269998" cy="58833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7716431" y="3802284"/>
            <a:ext cx="269998" cy="6007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527356" y="3213948"/>
            <a:ext cx="269999" cy="17774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16200000" flipH="1">
            <a:off x="15933704" y="3807599"/>
            <a:ext cx="269999" cy="59010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528242" y="3803170"/>
            <a:ext cx="269998" cy="59896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7122780" y="3208633"/>
            <a:ext cx="269998" cy="17880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Согласовать новое правительство Марокко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7052016" y="501806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841975" y="504211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махзену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8863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Прямоугольник 243">
            <a:extLst>
              <a:ext uri="{FF2B5EF4-FFF2-40B4-BE49-F238E27FC236}">
                <a16:creationId xmlns:a16="http://schemas.microsoft.com/office/drawing/2014/main" id="{68301316-F113-43E2-BE8C-A421E8E8F476}"/>
              </a:ext>
            </a:extLst>
          </p:cNvPr>
          <p:cNvSpPr/>
          <p:nvPr/>
        </p:nvSpPr>
        <p:spPr>
          <a:xfrm>
            <a:off x="10903549" y="18677512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муниципальных советов </a:t>
            </a:r>
            <a:r>
              <a:rPr lang="ru-RU" sz="300" dirty="0"/>
              <a:t>(позволяющих государству управлять своими внутренними делами)</a:t>
            </a:r>
            <a:endParaRPr lang="ru-RU" sz="700" dirty="0"/>
          </a:p>
        </p:txBody>
      </p:sp>
      <p:sp>
        <p:nvSpPr>
          <p:cNvPr id="247" name="Прямоугольник 246">
            <a:extLst>
              <a:ext uri="{FF2B5EF4-FFF2-40B4-BE49-F238E27FC236}">
                <a16:creationId xmlns:a16="http://schemas.microsoft.com/office/drawing/2014/main" id="{EFB476FA-A8C6-4F25-A4F9-0EE18F513C6F}"/>
              </a:ext>
            </a:extLst>
          </p:cNvPr>
          <p:cNvSpPr/>
          <p:nvPr/>
        </p:nvSpPr>
        <p:spPr>
          <a:xfrm>
            <a:off x="10903550" y="1786767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высшего совета</a:t>
            </a:r>
          </a:p>
          <a:p>
            <a:pPr algn="ctr"/>
            <a:r>
              <a:rPr lang="ru-RU" sz="200" dirty="0"/>
              <a:t>(члены которого будут избираться марокканцами)</a:t>
            </a:r>
          </a:p>
        </p:txBody>
      </p: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11512749" y="1950762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движения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  <a:p>
            <a:pPr algn="ctr"/>
            <a:r>
              <a:rPr lang="ru-RU" sz="200" dirty="0"/>
              <a:t>(Движение «</a:t>
            </a:r>
            <a:r>
              <a:rPr lang="ru-RU" sz="200" dirty="0" err="1"/>
              <a:t>Фитьян</a:t>
            </a:r>
            <a:r>
              <a:rPr lang="ru-RU" sz="200" dirty="0"/>
              <a:t>» (араб. </a:t>
            </a:r>
            <a:r>
              <a:rPr lang="ar-AE" sz="200" dirty="0"/>
              <a:t>فتيان — «</a:t>
            </a:r>
            <a:r>
              <a:rPr lang="ru-RU" sz="200" dirty="0"/>
              <a:t>Юноши» или «Отроки») в контексте Испанского Марокко — это военизированная молодежная организация, созданная Партией национальных реформ </a:t>
            </a:r>
            <a:r>
              <a:rPr lang="ru-RU" sz="200" dirty="0" err="1"/>
              <a:t>Абд</a:t>
            </a:r>
            <a:r>
              <a:rPr lang="ru-RU" sz="200" dirty="0"/>
              <a:t> аль-</a:t>
            </a:r>
            <a:r>
              <a:rPr lang="ru-RU" sz="200" dirty="0" err="1"/>
              <a:t>Халика</a:t>
            </a:r>
            <a:r>
              <a:rPr lang="ru-RU" sz="200" dirty="0"/>
              <a:t> Торреса в конце 1930-х годов. На её создание и структуру оказали мощнейшее влияние европейские фашистские движения того времени, в особенности Испанская Фаланга)</a:t>
            </a:r>
            <a:endParaRPr lang="ru-RU" sz="700" dirty="0"/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7731024" y="1542632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r>
              <a:rPr lang="ru-RU" sz="100" dirty="0"/>
              <a:t>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5287317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6488299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0443385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9785125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9171725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Транссахарская</a:t>
            </a:r>
            <a:r>
              <a:rPr lang="ru-RU" sz="700" dirty="0"/>
              <a:t> железная дорога: Фес — Нуакшот</a:t>
            </a:r>
            <a:endParaRPr lang="ru-RU" sz="6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8409193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0168300" y="13798892"/>
            <a:ext cx="1142110" cy="3733997"/>
          </a:xfrm>
          <a:prstGeom prst="bentConnector3">
            <a:avLst>
              <a:gd name="adj1" fmla="val 1441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7339664" y="14704253"/>
            <a:ext cx="1144490" cy="1920894"/>
          </a:xfrm>
          <a:prstGeom prst="bentConnector3">
            <a:avLst>
              <a:gd name="adj1" fmla="val 1449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8988077" y="14976734"/>
            <a:ext cx="1144490" cy="1375932"/>
          </a:xfrm>
          <a:prstGeom prst="bentConnector3">
            <a:avLst>
              <a:gd name="adj1" fmla="val 14491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374044" y="5522349"/>
            <a:ext cx="1105423" cy="1176849"/>
          </a:xfrm>
          <a:prstGeom prst="bentConnector3">
            <a:avLst>
              <a:gd name="adj1" fmla="val 132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7074624" y="5411891"/>
            <a:ext cx="294385" cy="5867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9171394" y="5715862"/>
            <a:ext cx="267712" cy="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959194" y="6114046"/>
            <a:ext cx="1114084" cy="21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партия </a:t>
            </a:r>
            <a:r>
              <a:rPr lang="ru-RU" sz="700" dirty="0" err="1"/>
              <a:t>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38914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4657" y="7028522"/>
            <a:ext cx="263056" cy="5917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2465" y="7023723"/>
            <a:ext cx="261831" cy="6026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26427" y="504188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махзен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694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Панарабские амбиции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sp>
        <p:nvSpPr>
          <p:cNvPr id="388" name="Прямоугольник 387">
            <a:extLst>
              <a:ext uri="{FF2B5EF4-FFF2-40B4-BE49-F238E27FC236}">
                <a16:creationId xmlns:a16="http://schemas.microsoft.com/office/drawing/2014/main" id="{F8854DA0-0A68-4978-AB1E-49C2999C31BA}"/>
              </a:ext>
            </a:extLst>
          </p:cNvPr>
          <p:cNvSpPr/>
          <p:nvPr/>
        </p:nvSpPr>
        <p:spPr>
          <a:xfrm>
            <a:off x="10306580" y="1950633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Аль-Андалусские амбиции</a:t>
            </a:r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Прямоугольник 390">
            <a:extLst>
              <a:ext uri="{FF2B5EF4-FFF2-40B4-BE49-F238E27FC236}">
                <a16:creationId xmlns:a16="http://schemas.microsoft.com/office/drawing/2014/main" id="{F6324390-F8AE-4AB5-AD25-75C7A7634BC2}"/>
              </a:ext>
            </a:extLst>
          </p:cNvPr>
          <p:cNvSpPr/>
          <p:nvPr/>
        </p:nvSpPr>
        <p:spPr>
          <a:xfrm>
            <a:off x="10903549" y="2030662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Испании</a:t>
            </a:r>
          </a:p>
        </p:txBody>
      </p: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3" name="Прямоугольник 392">
            <a:extLst>
              <a:ext uri="{FF2B5EF4-FFF2-40B4-BE49-F238E27FC236}">
                <a16:creationId xmlns:a16="http://schemas.microsoft.com/office/drawing/2014/main" id="{05D0D326-25E7-4CF1-BC8E-9F64D542575B}"/>
              </a:ext>
            </a:extLst>
          </p:cNvPr>
          <p:cNvSpPr/>
          <p:nvPr/>
        </p:nvSpPr>
        <p:spPr>
          <a:xfrm>
            <a:off x="9713819" y="2030715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Португалии</a:t>
            </a:r>
          </a:p>
        </p:txBody>
      </p:sp>
      <p:sp>
        <p:nvSpPr>
          <p:cNvPr id="398" name="Прямоугольник 397">
            <a:extLst>
              <a:ext uri="{FF2B5EF4-FFF2-40B4-BE49-F238E27FC236}">
                <a16:creationId xmlns:a16="http://schemas.microsoft.com/office/drawing/2014/main" id="{28CEDD15-69A5-47C1-928C-D47DE891019A}"/>
              </a:ext>
            </a:extLst>
          </p:cNvPr>
          <p:cNvSpPr/>
          <p:nvPr/>
        </p:nvSpPr>
        <p:spPr>
          <a:xfrm>
            <a:off x="10306579" y="21037390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Оккупировать Гибралтар</a:t>
            </a:r>
          </a:p>
        </p:txBody>
      </p:sp>
      <p:sp>
        <p:nvSpPr>
          <p:cNvPr id="399" name="Прямоугольник 398">
            <a:extLst>
              <a:ext uri="{FF2B5EF4-FFF2-40B4-BE49-F238E27FC236}">
                <a16:creationId xmlns:a16="http://schemas.microsoft.com/office/drawing/2014/main" id="{2757126F-767B-49BC-8A20-3EF2F6BAD339}"/>
              </a:ext>
            </a:extLst>
          </p:cNvPr>
          <p:cNvSpPr/>
          <p:nvPr/>
        </p:nvSpPr>
        <p:spPr>
          <a:xfrm>
            <a:off x="10903548" y="2184738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Иберийские провинции под эмираты</a:t>
            </a:r>
          </a:p>
        </p:txBody>
      </p:sp>
      <p:sp>
        <p:nvSpPr>
          <p:cNvPr id="401" name="Прямоугольник 400">
            <a:extLst>
              <a:ext uri="{FF2B5EF4-FFF2-40B4-BE49-F238E27FC236}">
                <a16:creationId xmlns:a16="http://schemas.microsoft.com/office/drawing/2014/main" id="{98F1BED1-5D08-4C89-AA68-C9EEB86A12A3}"/>
              </a:ext>
            </a:extLst>
          </p:cNvPr>
          <p:cNvSpPr/>
          <p:nvPr/>
        </p:nvSpPr>
        <p:spPr>
          <a:xfrm>
            <a:off x="9713818" y="2184738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Продвижение ислама на Пиренейском полуострове</a:t>
            </a:r>
          </a:p>
        </p:txBody>
      </p:sp>
      <p:cxnSp>
        <p:nvCxnSpPr>
          <p:cNvPr id="402" name="Соединительная линия уступом 620">
            <a:extLst>
              <a:ext uri="{FF2B5EF4-FFF2-40B4-BE49-F238E27FC236}">
                <a16:creationId xmlns:a16="http://schemas.microsoft.com/office/drawing/2014/main" id="{2EF2ABD2-BA85-4697-AE78-CF7878ADA90D}"/>
              </a:ext>
            </a:extLst>
          </p:cNvPr>
          <p:cNvCxnSpPr>
            <a:cxnSpLocks/>
            <a:stCxn id="388" idx="2"/>
            <a:endCxn id="393" idx="0"/>
          </p:cNvCxnSpPr>
          <p:nvPr/>
        </p:nvCxnSpPr>
        <p:spPr>
          <a:xfrm rot="5400000">
            <a:off x="10342954" y="19880368"/>
            <a:ext cx="260819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Соединительная линия уступом 620">
            <a:extLst>
              <a:ext uri="{FF2B5EF4-FFF2-40B4-BE49-F238E27FC236}">
                <a16:creationId xmlns:a16="http://schemas.microsoft.com/office/drawing/2014/main" id="{CA823A6B-39CF-47ED-A88F-0C536E2E29A6}"/>
              </a:ext>
            </a:extLst>
          </p:cNvPr>
          <p:cNvCxnSpPr>
            <a:cxnSpLocks/>
            <a:stCxn id="388" idx="2"/>
            <a:endCxn id="391" idx="0"/>
          </p:cNvCxnSpPr>
          <p:nvPr/>
        </p:nvCxnSpPr>
        <p:spPr>
          <a:xfrm rot="16200000" flipH="1">
            <a:off x="10938083" y="19877998"/>
            <a:ext cx="260289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Соединительная линия уступом 620">
            <a:extLst>
              <a:ext uri="{FF2B5EF4-FFF2-40B4-BE49-F238E27FC236}">
                <a16:creationId xmlns:a16="http://schemas.microsoft.com/office/drawing/2014/main" id="{8C529540-B4D6-4BB9-92AD-DEE61AFB1831}"/>
              </a:ext>
            </a:extLst>
          </p:cNvPr>
          <p:cNvCxnSpPr>
            <a:cxnSpLocks/>
            <a:stCxn id="388" idx="2"/>
            <a:endCxn id="398" idx="0"/>
          </p:cNvCxnSpPr>
          <p:nvPr/>
        </p:nvCxnSpPr>
        <p:spPr>
          <a:xfrm rot="5400000">
            <a:off x="10274218" y="20541864"/>
            <a:ext cx="99105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Соединительная линия уступом 620">
            <a:extLst>
              <a:ext uri="{FF2B5EF4-FFF2-40B4-BE49-F238E27FC236}">
                <a16:creationId xmlns:a16="http://schemas.microsoft.com/office/drawing/2014/main" id="{C222986D-1E4F-4588-B963-F7419387B849}"/>
              </a:ext>
            </a:extLst>
          </p:cNvPr>
          <p:cNvCxnSpPr>
            <a:cxnSpLocks/>
            <a:stCxn id="398" idx="2"/>
            <a:endCxn id="401" idx="0"/>
          </p:cNvCxnSpPr>
          <p:nvPr/>
        </p:nvCxnSpPr>
        <p:spPr>
          <a:xfrm rot="5400000">
            <a:off x="10338363" y="21416009"/>
            <a:ext cx="269999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Соединительная линия уступом 620">
            <a:extLst>
              <a:ext uri="{FF2B5EF4-FFF2-40B4-BE49-F238E27FC236}">
                <a16:creationId xmlns:a16="http://schemas.microsoft.com/office/drawing/2014/main" id="{4C3C96C6-F2ED-4F21-9CE9-26F579EBDE06}"/>
              </a:ext>
            </a:extLst>
          </p:cNvPr>
          <p:cNvCxnSpPr>
            <a:cxnSpLocks/>
            <a:stCxn id="398" idx="2"/>
            <a:endCxn id="399" idx="0"/>
          </p:cNvCxnSpPr>
          <p:nvPr/>
        </p:nvCxnSpPr>
        <p:spPr>
          <a:xfrm rot="16200000" flipH="1">
            <a:off x="10933227" y="21413904"/>
            <a:ext cx="269998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Назначить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5400000">
            <a:off x="10357212" y="4907425"/>
            <a:ext cx="266838" cy="2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16200000" flipH="1">
            <a:off x="10360134" y="5711340"/>
            <a:ext cx="262228" cy="331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2117" y="5924900"/>
            <a:ext cx="268774" cy="11871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859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155" y="5123318"/>
            <a:ext cx="275032" cy="11921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5400000">
            <a:off x="11552943" y="6524076"/>
            <a:ext cx="255970" cy="16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5400000">
            <a:off x="11551841" y="7320594"/>
            <a:ext cx="255970" cy="5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9171715" y="4908470"/>
            <a:ext cx="267072" cy="2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7804011" y="2220532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7182981" y="2220913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</a:t>
            </a:r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2423" y="8135596"/>
            <a:ext cx="2793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" name="Прямоугольник 409">
            <a:extLst>
              <a:ext uri="{FF2B5EF4-FFF2-40B4-BE49-F238E27FC236}">
                <a16:creationId xmlns:a16="http://schemas.microsoft.com/office/drawing/2014/main" id="{689FCD2C-74D8-4FA5-97DB-81ADE08D74B0}"/>
              </a:ext>
            </a:extLst>
          </p:cNvPr>
          <p:cNvSpPr/>
          <p:nvPr/>
        </p:nvSpPr>
        <p:spPr>
          <a:xfrm>
            <a:off x="10905838" y="170548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Переворот Торреса</a:t>
            </a:r>
          </a:p>
        </p:txBody>
      </p: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9660640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</a:t>
            </a:r>
            <a:r>
              <a:rPr lang="ru-RU" sz="700" dirty="0" err="1"/>
              <a:t>Фасси</a:t>
            </a:r>
            <a:r>
              <a:rPr lang="ru-RU" sz="700" dirty="0"/>
              <a:t> и потомками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10605204" y="16295544"/>
            <a:ext cx="280899" cy="1243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  <a:endCxn id="410" idx="0"/>
          </p:cNvCxnSpPr>
          <p:nvPr/>
        </p:nvCxnSpPr>
        <p:spPr>
          <a:xfrm rot="16200000" flipH="1">
            <a:off x="11229288" y="16915160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Соединительная линия уступом 620">
            <a:extLst>
              <a:ext uri="{FF2B5EF4-FFF2-40B4-BE49-F238E27FC236}">
                <a16:creationId xmlns:a16="http://schemas.microsoft.com/office/drawing/2014/main" id="{9C6ECDC0-C4A4-41DB-A001-F0751FF81343}"/>
              </a:ext>
            </a:extLst>
          </p:cNvPr>
          <p:cNvCxnSpPr>
            <a:cxnSpLocks/>
            <a:stCxn id="415" idx="2"/>
            <a:endCxn id="388" idx="0"/>
          </p:cNvCxnSpPr>
          <p:nvPr/>
        </p:nvCxnSpPr>
        <p:spPr>
          <a:xfrm rot="16200000" flipH="1">
            <a:off x="9492526" y="18229121"/>
            <a:ext cx="1908495" cy="645940"/>
          </a:xfrm>
          <a:prstGeom prst="bentConnector3">
            <a:avLst>
              <a:gd name="adj1" fmla="val 727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Соединительная линия уступом 620">
            <a:extLst>
              <a:ext uri="{FF2B5EF4-FFF2-40B4-BE49-F238E27FC236}">
                <a16:creationId xmlns:a16="http://schemas.microsoft.com/office/drawing/2014/main" id="{B2E45BDC-02B0-4EC0-A935-4E6F3506B92D}"/>
              </a:ext>
            </a:extLst>
          </p:cNvPr>
          <p:cNvCxnSpPr>
            <a:cxnSpLocks/>
            <a:stCxn id="410" idx="2"/>
            <a:endCxn id="438" idx="0"/>
          </p:cNvCxnSpPr>
          <p:nvPr/>
        </p:nvCxnSpPr>
        <p:spPr>
          <a:xfrm rot="16200000" flipH="1">
            <a:off x="11852407" y="17111468"/>
            <a:ext cx="277493" cy="12443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Соединительная линия уступом 620">
            <a:extLst>
              <a:ext uri="{FF2B5EF4-FFF2-40B4-BE49-F238E27FC236}">
                <a16:creationId xmlns:a16="http://schemas.microsoft.com/office/drawing/2014/main" id="{A388DD1F-4756-4F8F-9216-122006CB833A}"/>
              </a:ext>
            </a:extLst>
          </p:cNvPr>
          <p:cNvCxnSpPr>
            <a:cxnSpLocks/>
            <a:stCxn id="410" idx="2"/>
            <a:endCxn id="247" idx="0"/>
          </p:cNvCxnSpPr>
          <p:nvPr/>
        </p:nvCxnSpPr>
        <p:spPr>
          <a:xfrm rot="5400000">
            <a:off x="11231455" y="17730132"/>
            <a:ext cx="272804" cy="22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Соединительная линия уступом 620">
            <a:extLst>
              <a:ext uri="{FF2B5EF4-FFF2-40B4-BE49-F238E27FC236}">
                <a16:creationId xmlns:a16="http://schemas.microsoft.com/office/drawing/2014/main" id="{467A3C7A-10BB-4FE6-8683-12B1DB01A00A}"/>
              </a:ext>
            </a:extLst>
          </p:cNvPr>
          <p:cNvCxnSpPr>
            <a:cxnSpLocks/>
            <a:stCxn id="247" idx="2"/>
            <a:endCxn id="244" idx="0"/>
          </p:cNvCxnSpPr>
          <p:nvPr/>
        </p:nvCxnSpPr>
        <p:spPr>
          <a:xfrm rot="5400000">
            <a:off x="11231796" y="18542595"/>
            <a:ext cx="26983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Соединительная линия уступом 620">
            <a:extLst>
              <a:ext uri="{FF2B5EF4-FFF2-40B4-BE49-F238E27FC236}">
                <a16:creationId xmlns:a16="http://schemas.microsoft.com/office/drawing/2014/main" id="{2425C51C-549D-421C-BF11-B0F2EB50F05A}"/>
              </a:ext>
            </a:extLst>
          </p:cNvPr>
          <p:cNvCxnSpPr>
            <a:cxnSpLocks/>
            <a:stCxn id="244" idx="2"/>
            <a:endCxn id="388" idx="0"/>
          </p:cNvCxnSpPr>
          <p:nvPr/>
        </p:nvCxnSpPr>
        <p:spPr>
          <a:xfrm rot="5400000">
            <a:off x="10923815" y="19063441"/>
            <a:ext cx="288827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7" name="Прямоугольник 436">
            <a:extLst>
              <a:ext uri="{FF2B5EF4-FFF2-40B4-BE49-F238E27FC236}">
                <a16:creationId xmlns:a16="http://schemas.microsoft.com/office/drawing/2014/main" id="{6739033B-01BE-4768-81A4-8CA2BD9F8CE9}"/>
              </a:ext>
            </a:extLst>
          </p:cNvPr>
          <p:cNvSpPr/>
          <p:nvPr/>
        </p:nvSpPr>
        <p:spPr>
          <a:xfrm>
            <a:off x="9657560" y="1787842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 с Германией</a:t>
            </a:r>
            <a:endParaRPr lang="ru-RU" sz="200" dirty="0"/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2150142" y="17872367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  <a:br>
              <a:rPr lang="ru-RU" sz="700" dirty="0"/>
            </a:br>
            <a:r>
              <a:rPr lang="ru-RU" sz="200" dirty="0"/>
              <a:t>(Контакты между националистами на севере и личностями, вовлеченными в орбиту довоенного Берлина, такими как муфтий Иерусалима Хадж Амин аль-</a:t>
            </a:r>
            <a:r>
              <a:rPr lang="ru-RU" sz="200" dirty="0" err="1"/>
              <a:t>Хусейни</a:t>
            </a:r>
            <a:r>
              <a:rPr lang="ru-RU" sz="200" dirty="0"/>
              <a:t>, </a:t>
            </a:r>
            <a:r>
              <a:rPr lang="ru-RU" sz="200" dirty="0" err="1"/>
              <a:t>Шакиб</a:t>
            </a:r>
            <a:r>
              <a:rPr lang="ru-RU" sz="200" dirty="0"/>
              <a:t> Арслан и Рашид, также имели место.¬)</a:t>
            </a:r>
            <a:endParaRPr lang="ru-RU" sz="700" dirty="0"/>
          </a:p>
        </p:txBody>
      </p:sp>
      <p:sp>
        <p:nvSpPr>
          <p:cNvPr id="439" name="Прямоугольник 438">
            <a:extLst>
              <a:ext uri="{FF2B5EF4-FFF2-40B4-BE49-F238E27FC236}">
                <a16:creationId xmlns:a16="http://schemas.microsoft.com/office/drawing/2014/main" id="{AFD50110-D9C3-4DE1-805E-DD1F4D0E74D7}"/>
              </a:ext>
            </a:extLst>
          </p:cNvPr>
          <p:cNvSpPr/>
          <p:nvPr/>
        </p:nvSpPr>
        <p:spPr>
          <a:xfrm>
            <a:off x="9660640" y="1869485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Изгнать марокканских евреев</a:t>
            </a:r>
            <a:endParaRPr lang="ru-RU" sz="200" dirty="0"/>
          </a:p>
        </p:txBody>
      </p:sp>
      <p:cxnSp>
        <p:nvCxnSpPr>
          <p:cNvPr id="440" name="Соединительная линия уступом 620">
            <a:extLst>
              <a:ext uri="{FF2B5EF4-FFF2-40B4-BE49-F238E27FC236}">
                <a16:creationId xmlns:a16="http://schemas.microsoft.com/office/drawing/2014/main" id="{0F9320D7-0E9A-4E2F-A90D-D650D187FDEF}"/>
              </a:ext>
            </a:extLst>
          </p:cNvPr>
          <p:cNvCxnSpPr>
            <a:cxnSpLocks/>
            <a:stCxn id="410" idx="2"/>
            <a:endCxn id="437" idx="0"/>
          </p:cNvCxnSpPr>
          <p:nvPr/>
        </p:nvCxnSpPr>
        <p:spPr>
          <a:xfrm rot="5400000">
            <a:off x="10603087" y="17112510"/>
            <a:ext cx="283550" cy="12482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Соединительная линия уступом 620">
            <a:extLst>
              <a:ext uri="{FF2B5EF4-FFF2-40B4-BE49-F238E27FC236}">
                <a16:creationId xmlns:a16="http://schemas.microsoft.com/office/drawing/2014/main" id="{289F03FB-A37E-407B-85A7-A531665E0698}"/>
              </a:ext>
            </a:extLst>
          </p:cNvPr>
          <p:cNvCxnSpPr>
            <a:cxnSpLocks/>
            <a:stCxn id="437" idx="2"/>
            <a:endCxn id="439" idx="0"/>
          </p:cNvCxnSpPr>
          <p:nvPr/>
        </p:nvCxnSpPr>
        <p:spPr>
          <a:xfrm rot="16200000" flipH="1">
            <a:off x="9984048" y="18555099"/>
            <a:ext cx="276431" cy="3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2150143" y="1867751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  <a:br>
              <a:rPr lang="ru-RU" sz="700" dirty="0"/>
            </a:br>
            <a:r>
              <a:rPr lang="ru-RU" sz="300" dirty="0"/>
              <a:t>(Ливан и Рашид) (может </a:t>
            </a:r>
            <a:r>
              <a:rPr lang="ru-RU" sz="300" dirty="0" err="1"/>
              <a:t>гуи</a:t>
            </a:r>
            <a:r>
              <a:rPr lang="ru-RU" sz="300" dirty="0"/>
              <a:t> в виде карты Арабского Мира и портреты королей на странах)</a:t>
            </a:r>
            <a:endParaRPr lang="ru-RU" sz="700" dirty="0"/>
          </a:p>
        </p:txBody>
      </p:sp>
      <p:cxnSp>
        <p:nvCxnSpPr>
          <p:cNvPr id="446" name="Соединительная линия уступом 620">
            <a:extLst>
              <a:ext uri="{FF2B5EF4-FFF2-40B4-BE49-F238E27FC236}">
                <a16:creationId xmlns:a16="http://schemas.microsoft.com/office/drawing/2014/main" id="{BAF22A48-0445-4910-9615-07B9C95F33BF}"/>
              </a:ext>
            </a:extLst>
          </p:cNvPr>
          <p:cNvCxnSpPr>
            <a:cxnSpLocks/>
            <a:stCxn id="410" idx="2"/>
            <a:endCxn id="286" idx="0"/>
          </p:cNvCxnSpPr>
          <p:nvPr/>
        </p:nvCxnSpPr>
        <p:spPr>
          <a:xfrm rot="16200000" flipH="1">
            <a:off x="10716079" y="18247795"/>
            <a:ext cx="1912755" cy="606911"/>
          </a:xfrm>
          <a:prstGeom prst="bentConnector3">
            <a:avLst>
              <a:gd name="adj1" fmla="val 729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16200000" flipH="1">
            <a:off x="12480733" y="18544938"/>
            <a:ext cx="26514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38845350-9EFD-4225-BF8E-4B28D856BAB0}"/>
              </a:ext>
            </a:extLst>
          </p:cNvPr>
          <p:cNvSpPr/>
          <p:nvPr/>
        </p:nvSpPr>
        <p:spPr>
          <a:xfrm>
            <a:off x="10310814" y="2264810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воссоздании Аль-</a:t>
            </a:r>
            <a:r>
              <a:rPr lang="ru-RU" sz="700" dirty="0" err="1"/>
              <a:t>Андулуса</a:t>
            </a:r>
            <a:endParaRPr lang="ru-RU" sz="700" dirty="0"/>
          </a:p>
        </p:txBody>
      </p:sp>
      <p:cxnSp>
        <p:nvCxnSpPr>
          <p:cNvPr id="529" name="Соединительная линия уступом 620">
            <a:extLst>
              <a:ext uri="{FF2B5EF4-FFF2-40B4-BE49-F238E27FC236}">
                <a16:creationId xmlns:a16="http://schemas.microsoft.com/office/drawing/2014/main" id="{BD31974B-8C00-4D1B-8404-16ABC0BD6776}"/>
              </a:ext>
            </a:extLst>
          </p:cNvPr>
          <p:cNvCxnSpPr>
            <a:cxnSpLocks/>
            <a:stCxn id="399" idx="2"/>
            <a:endCxn id="524" idx="0"/>
          </p:cNvCxnSpPr>
          <p:nvPr/>
        </p:nvCxnSpPr>
        <p:spPr>
          <a:xfrm rot="5400000">
            <a:off x="10939988" y="22221377"/>
            <a:ext cx="260713" cy="5927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Соединительная линия уступом 620">
            <a:extLst>
              <a:ext uri="{FF2B5EF4-FFF2-40B4-BE49-F238E27FC236}">
                <a16:creationId xmlns:a16="http://schemas.microsoft.com/office/drawing/2014/main" id="{062A1D1C-4E68-49B0-89B3-9869C6922BC4}"/>
              </a:ext>
            </a:extLst>
          </p:cNvPr>
          <p:cNvCxnSpPr>
            <a:cxnSpLocks/>
            <a:stCxn id="401" idx="2"/>
            <a:endCxn id="524" idx="0"/>
          </p:cNvCxnSpPr>
          <p:nvPr/>
        </p:nvCxnSpPr>
        <p:spPr>
          <a:xfrm rot="16200000" flipH="1">
            <a:off x="10345123" y="22219247"/>
            <a:ext cx="260712" cy="5969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</a:t>
            </a:r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16200000" flipH="1">
            <a:off x="10355433" y="8132179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4359" y="6730198"/>
            <a:ext cx="263056" cy="11884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960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5400000">
            <a:off x="10355434" y="8945755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5720" y="106868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Присяга племён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200766" y="10556401"/>
            <a:ext cx="258608" cy="23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796436" y="11759337"/>
            <a:ext cx="1068074" cy="31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Мароккансая</a:t>
            </a:r>
            <a:r>
              <a:rPr lang="ru-RU" sz="700" dirty="0"/>
              <a:t>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  <a:br>
              <a:rPr lang="ru-RU" sz="700" dirty="0"/>
            </a:br>
            <a:r>
              <a:rPr lang="ru-RU" sz="100" dirty="0"/>
              <a:t>(В июне 1935 года в Марокко был создан официальный «Антифашистский комитет», члены которого уже предпринимали значительные действия. Будучи предшественником Марокканского народного фронта (официально основанного в марте 1936 года), Антифашистский комитет включал в себя многочисленные организации «</a:t>
            </a:r>
            <a:r>
              <a:rPr lang="ru-RU" sz="100" dirty="0" err="1"/>
              <a:t>Амикале</a:t>
            </a:r>
            <a:r>
              <a:rPr lang="ru-RU" sz="100" dirty="0"/>
              <a:t>» и профессиональные федерации, созданные европейцами до того, как было разрешено создание профсоюзов, Марокканскую федерацию Лиги за права человека, Федерацию борцов за мир, SFIO и Молодежную социалистическую организацию, Федерацию республиканских борцов, секции группы «Свободная мысль», группу «Друзья СССР» и другие левые организации, которые чиновники протектората назвали «экстремистскими». К комитету также присоединились видные деятели марокканских мусульманских националистических организаций, в том числе Хасан </a:t>
            </a:r>
            <a:r>
              <a:rPr lang="ru-RU" sz="100" dirty="0" err="1"/>
              <a:t>Уаззани</a:t>
            </a:r>
            <a:r>
              <a:rPr lang="ru-RU" sz="100" dirty="0"/>
              <a:t>, Мухаммад </a:t>
            </a:r>
            <a:r>
              <a:rPr lang="ru-RU" sz="100" dirty="0" err="1"/>
              <a:t>Холти</a:t>
            </a:r>
            <a:r>
              <a:rPr lang="ru-RU" sz="100" dirty="0"/>
              <a:t>, Омар бен </a:t>
            </a:r>
            <a:r>
              <a:rPr lang="ru-RU" sz="100" dirty="0" err="1"/>
              <a:t>Абдельджелил</a:t>
            </a:r>
            <a:r>
              <a:rPr lang="ru-RU" sz="100" dirty="0"/>
              <a:t>, Ахмед </a:t>
            </a:r>
            <a:r>
              <a:rPr lang="ru-RU" sz="100" dirty="0" err="1"/>
              <a:t>Балафредж</a:t>
            </a:r>
            <a:r>
              <a:rPr lang="ru-RU" sz="100" dirty="0"/>
              <a:t>, Мухаммад аль-</a:t>
            </a:r>
            <a:r>
              <a:rPr lang="ru-RU" sz="100" dirty="0" err="1"/>
              <a:t>Фасси</a:t>
            </a:r>
            <a:r>
              <a:rPr lang="ru-RU" sz="100" dirty="0"/>
              <a:t> и Ахмед </a:t>
            </a:r>
            <a:r>
              <a:rPr lang="ru-RU" sz="100" dirty="0" err="1"/>
              <a:t>Уаззани</a:t>
            </a:r>
            <a:r>
              <a:rPr lang="ru-RU" sz="100" dirty="0"/>
              <a:t>. Представитель ведомства подверг критике европейские правительства за их «слабость» и инертность перед лицом коммунистической и революционной активности в Северной Африке, жалуясь на то, что «все используется» в революционных целях, от антисемитизма до «очевидного неравенства между расами». Он предупредил, что такие тенденции, если их не остановить, приведут к «психическому заражению» и «ненависти» среди колониальных подданных Французской Северной Африки к Франции, их «защитнику». Несмотря на все попытки предотвратить левую </a:t>
            </a:r>
            <a:r>
              <a:rPr lang="ru-RU" sz="100" dirty="0" err="1"/>
              <a:t>марокканско</a:t>
            </a:r>
            <a:r>
              <a:rPr lang="ru-RU" sz="100" dirty="0"/>
              <a:t>-европейскую солидарность и мусульманско-еврейскую организацию, власти Французского протектората с растущей тревогой отмечали 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происхождения.111)</a:t>
            </a:r>
            <a:endParaRPr lang="ru-RU" sz="7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 </a:t>
            </a:r>
            <a:r>
              <a:rPr lang="ru-RU" sz="300" dirty="0"/>
              <a:t>(создав в 1945 году «Коммунистические ассоциации» (</a:t>
            </a:r>
            <a:r>
              <a:rPr lang="ru-RU" sz="300" dirty="0" err="1"/>
              <a:t>Amicales</a:t>
            </a:r>
            <a:r>
              <a:rPr lang="ru-RU" sz="300" dirty="0"/>
              <a:t> </a:t>
            </a:r>
            <a:r>
              <a:rPr lang="ru-RU" sz="300" dirty="0" err="1"/>
              <a:t>Communistes</a:t>
            </a:r>
            <a:r>
              <a:rPr lang="ru-RU" sz="300" dirty="0"/>
              <a:t>) с целью вербовки в сельской местности.)</a:t>
            </a:r>
            <a:endParaRPr lang="ru-RU" sz="700" dirty="0"/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Союзом женщин Марокко</a:t>
            </a:r>
            <a:br>
              <a:rPr lang="ru-RU" sz="700" dirty="0"/>
            </a:br>
            <a:r>
              <a:rPr lang="ru-RU" sz="200" dirty="0"/>
              <a:t>(во главе с мадам Фортуне Султан (женой Леона Султана), </a:t>
            </a:r>
            <a:r>
              <a:rPr lang="ru-RU" sz="200" dirty="0" err="1"/>
              <a:t>Люсетт</a:t>
            </a:r>
            <a:r>
              <a:rPr lang="ru-RU" sz="200" dirty="0"/>
              <a:t> </a:t>
            </a:r>
            <a:r>
              <a:rPr lang="ru-RU" sz="200" dirty="0" err="1"/>
              <a:t>Мазелла</a:t>
            </a:r>
            <a:r>
              <a:rPr lang="ru-RU" sz="200" dirty="0"/>
              <a:t> (женой Мишеля </a:t>
            </a:r>
            <a:r>
              <a:rPr lang="ru-RU" sz="200" dirty="0" err="1"/>
              <a:t>Мазеллы</a:t>
            </a:r>
            <a:r>
              <a:rPr lang="ru-RU" sz="200" dirty="0"/>
              <a:t>) и </a:t>
            </a:r>
            <a:r>
              <a:rPr lang="ru-RU" sz="200" dirty="0" err="1"/>
              <a:t>Фреей</a:t>
            </a:r>
            <a:r>
              <a:rPr lang="ru-RU" sz="200" dirty="0"/>
              <a:t> </a:t>
            </a:r>
            <a:r>
              <a:rPr lang="ru-RU" sz="200" dirty="0" err="1"/>
              <a:t>Айаш</a:t>
            </a:r>
            <a:r>
              <a:rPr lang="ru-RU" sz="200" dirty="0"/>
              <a:t> (женой </a:t>
            </a:r>
            <a:r>
              <a:rPr lang="ru-RU" sz="200" dirty="0" err="1"/>
              <a:t>Жермена</a:t>
            </a:r>
            <a:r>
              <a:rPr lang="ru-RU" sz="200" dirty="0"/>
              <a:t> </a:t>
            </a:r>
            <a:r>
              <a:rPr lang="ru-RU" sz="200" dirty="0" err="1"/>
              <a:t>Айаша</a:t>
            </a:r>
            <a:r>
              <a:rPr lang="ru-RU" sz="200" dirty="0"/>
              <a:t>, марокканской еврейкой из Сале) — работали с «</a:t>
            </a:r>
            <a:r>
              <a:rPr lang="ru-RU" sz="200" dirty="0" err="1"/>
              <a:t>Амикалес</a:t>
            </a:r>
            <a:r>
              <a:rPr lang="ru-RU" sz="200" dirty="0"/>
              <a:t>» над расширением вербовки как в городских, так и в сельских общинах.)</a:t>
            </a:r>
            <a:endParaRPr lang="ru-RU" sz="700" dirty="0"/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49424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  <a:br>
              <a:rPr lang="ru-RU" sz="700" dirty="0"/>
            </a:br>
            <a:r>
              <a:rPr lang="ru-RU" sz="100" dirty="0"/>
              <a:t>(Помимо не совсем эффективных программ повышения грамотности, проводимых МКМ, участие в деятельности МКМ само по себе представляло собой своего рода «школу», как писал Саймон Леви.&lt;</a:t>
            </a:r>
            <a:r>
              <a:rPr lang="ru-RU" sz="100" dirty="0" err="1"/>
              <a:t>sup</a:t>
            </a:r>
            <a:r>
              <a:rPr lang="ru-RU" sz="100" dirty="0"/>
              <a:t>&gt;167&lt;/</a:t>
            </a:r>
            <a:r>
              <a:rPr lang="ru-RU" sz="100" dirty="0" err="1"/>
              <a:t>sup</a:t>
            </a:r>
            <a:r>
              <a:rPr lang="ru-RU" sz="100" dirty="0"/>
              <a:t>&gt; Леви писал: «Для многих евреев [МКМ] была плавильным котлом солидарности в борьбе. Демократический призыв после войны привел в движение скрытые силы. Когда независимость стала конкретной целью, МКМ предложила четкие ответы для меньшинств и вовлекла их в трудовую и политическую деятельность».)</a:t>
            </a:r>
            <a:endParaRPr lang="ru-RU" sz="700" dirty="0"/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26545" y="5914974"/>
            <a:ext cx="256118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19" idx="2"/>
            <a:endCxn id="270" idx="0"/>
          </p:cNvCxnSpPr>
          <p:nvPr/>
        </p:nvCxnSpPr>
        <p:spPr>
          <a:xfrm rot="16200000" flipH="1">
            <a:off x="15208129" y="7745242"/>
            <a:ext cx="1147915" cy="16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2991" y="7029841"/>
            <a:ext cx="294028" cy="5948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16200000" flipH="1">
            <a:off x="16393194" y="7744441"/>
            <a:ext cx="1136045" cy="76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0391" y="7154864"/>
            <a:ext cx="1136045" cy="1186774"/>
          </a:xfrm>
          <a:prstGeom prst="bentConnector3">
            <a:avLst>
              <a:gd name="adj1" fmla="val 128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5998" y="7024713"/>
            <a:ext cx="290286" cy="601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299393" y="7032636"/>
            <a:ext cx="286296" cy="5814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16200000" flipH="1">
            <a:off x="17584447" y="7747582"/>
            <a:ext cx="1139787" cy="5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36074" y="4535400"/>
            <a:ext cx="272802" cy="23657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9772615" y="14954728"/>
            <a:ext cx="337947" cy="6134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0408445" y="14932298"/>
            <a:ext cx="337947" cy="65826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6181998" y="14660937"/>
            <a:ext cx="337947" cy="12009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7405892" y="14638024"/>
            <a:ext cx="333865" cy="12427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6484428" y="1623111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5400000">
            <a:off x="7438493" y="15475418"/>
            <a:ext cx="264792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6218680" y="15502201"/>
            <a:ext cx="260710" cy="11971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5286829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5400000">
            <a:off x="5206515" y="16513879"/>
            <a:ext cx="1087442" cy="4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7803694" y="1900276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8112617" y="2029590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5" name="Прямоугольник 514">
            <a:extLst>
              <a:ext uri="{FF2B5EF4-FFF2-40B4-BE49-F238E27FC236}">
                <a16:creationId xmlns:a16="http://schemas.microsoft.com/office/drawing/2014/main" id="{6E79AED0-B7B4-4B26-8F6F-1B9F3FADC429}"/>
              </a:ext>
            </a:extLst>
          </p:cNvPr>
          <p:cNvSpPr/>
          <p:nvPr/>
        </p:nvSpPr>
        <p:spPr>
          <a:xfrm>
            <a:off x="5266684" y="907761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часть Алжира</a:t>
            </a:r>
          </a:p>
        </p:txBody>
      </p:sp>
      <p:cxnSp>
        <p:nvCxnSpPr>
          <p:cNvPr id="517" name="Соединительная линия уступом 620">
            <a:extLst>
              <a:ext uri="{FF2B5EF4-FFF2-40B4-BE49-F238E27FC236}">
                <a16:creationId xmlns:a16="http://schemas.microsoft.com/office/drawing/2014/main" id="{1AF2E4DF-76F0-4A1D-BCBB-B56C8D29AD8F}"/>
              </a:ext>
            </a:extLst>
          </p:cNvPr>
          <p:cNvCxnSpPr>
            <a:cxnSpLocks/>
            <a:stCxn id="382" idx="2"/>
            <a:endCxn id="515" idx="0"/>
          </p:cNvCxnSpPr>
          <p:nvPr/>
        </p:nvCxnSpPr>
        <p:spPr>
          <a:xfrm rot="5400000">
            <a:off x="5896506" y="8642859"/>
            <a:ext cx="268093" cy="6014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Соединительная линия уступом 620">
            <a:extLst>
              <a:ext uri="{FF2B5EF4-FFF2-40B4-BE49-F238E27FC236}">
                <a16:creationId xmlns:a16="http://schemas.microsoft.com/office/drawing/2014/main" id="{3D9A0A63-01EF-4F72-9F6F-5E911DB25ED6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697947" y="4592278"/>
            <a:ext cx="243016" cy="6085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Соединительная линия уступом 620">
            <a:extLst>
              <a:ext uri="{FF2B5EF4-FFF2-40B4-BE49-F238E27FC236}">
                <a16:creationId xmlns:a16="http://schemas.microsoft.com/office/drawing/2014/main" id="{CF280879-F9DA-45EA-935F-D2A3FAE4B7BE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Соединительная линия уступом 620">
            <a:extLst>
              <a:ext uri="{FF2B5EF4-FFF2-40B4-BE49-F238E27FC236}">
                <a16:creationId xmlns:a16="http://schemas.microsoft.com/office/drawing/2014/main" id="{8EE97878-30E9-4D69-8407-1AA5DB433643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0" name="Прямоугольник 519">
            <a:extLst>
              <a:ext uri="{FF2B5EF4-FFF2-40B4-BE49-F238E27FC236}">
                <a16:creationId xmlns:a16="http://schemas.microsoft.com/office/drawing/2014/main" id="{D879779D-C792-48BC-9465-5526A3CCE035}"/>
              </a:ext>
            </a:extLst>
          </p:cNvPr>
          <p:cNvSpPr/>
          <p:nvPr/>
        </p:nvSpPr>
        <p:spPr>
          <a:xfrm>
            <a:off x="11512748" y="21032646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Найти поддержку среди испанских фалангистов</a:t>
            </a:r>
          </a:p>
        </p:txBody>
      </p:sp>
      <p:cxnSp>
        <p:nvCxnSpPr>
          <p:cNvPr id="521" name="Соединительная линия уступом 620">
            <a:extLst>
              <a:ext uri="{FF2B5EF4-FFF2-40B4-BE49-F238E27FC236}">
                <a16:creationId xmlns:a16="http://schemas.microsoft.com/office/drawing/2014/main" id="{F2302FEA-DE50-42DE-827F-0248782C6D3B}"/>
              </a:ext>
            </a:extLst>
          </p:cNvPr>
          <p:cNvCxnSpPr>
            <a:cxnSpLocks/>
            <a:stCxn id="391" idx="2"/>
            <a:endCxn id="520" idx="0"/>
          </p:cNvCxnSpPr>
          <p:nvPr/>
        </p:nvCxnSpPr>
        <p:spPr>
          <a:xfrm rot="16200000" flipH="1">
            <a:off x="11578302" y="20635037"/>
            <a:ext cx="186018" cy="6091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Соединительная линия уступом 620">
            <a:extLst>
              <a:ext uri="{FF2B5EF4-FFF2-40B4-BE49-F238E27FC236}">
                <a16:creationId xmlns:a16="http://schemas.microsoft.com/office/drawing/2014/main" id="{35AE13DC-21AF-4BCC-BDB4-6EC259833CB6}"/>
              </a:ext>
            </a:extLst>
          </p:cNvPr>
          <p:cNvCxnSpPr>
            <a:cxnSpLocks/>
            <a:stCxn id="286" idx="2"/>
            <a:endCxn id="520" idx="0"/>
          </p:cNvCxnSpPr>
          <p:nvPr/>
        </p:nvCxnSpPr>
        <p:spPr>
          <a:xfrm rot="5400000">
            <a:off x="11483404" y="20540137"/>
            <a:ext cx="9850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7BE6B12E-2FC5-4352-A850-0061360A1EEE}"/>
              </a:ext>
            </a:extLst>
          </p:cNvPr>
          <p:cNvSpPr/>
          <p:nvPr/>
        </p:nvSpPr>
        <p:spPr>
          <a:xfrm>
            <a:off x="12150141" y="20306733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вертикального профсоюза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2A82F62F-8395-4C99-9757-DE13F85A4E30}"/>
              </a:ext>
            </a:extLst>
          </p:cNvPr>
          <p:cNvSpPr/>
          <p:nvPr/>
        </p:nvSpPr>
        <p:spPr>
          <a:xfrm>
            <a:off x="12752200" y="21032646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Объединение рабочих и работодателей по отраслям</a:t>
            </a:r>
          </a:p>
        </p:txBody>
      </p:sp>
      <p:cxnSp>
        <p:nvCxnSpPr>
          <p:cNvPr id="531" name="Соединительная линия уступом 620">
            <a:extLst>
              <a:ext uri="{FF2B5EF4-FFF2-40B4-BE49-F238E27FC236}">
                <a16:creationId xmlns:a16="http://schemas.microsoft.com/office/drawing/2014/main" id="{249B645A-AC76-46A7-A83B-C0F9A7D5B865}"/>
              </a:ext>
            </a:extLst>
          </p:cNvPr>
          <p:cNvCxnSpPr>
            <a:cxnSpLocks/>
            <a:stCxn id="286" idx="2"/>
            <a:endCxn id="527" idx="0"/>
          </p:cNvCxnSpPr>
          <p:nvPr/>
        </p:nvCxnSpPr>
        <p:spPr>
          <a:xfrm rot="16200000" flipH="1">
            <a:off x="12165056" y="19858485"/>
            <a:ext cx="259104" cy="6373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7F1E05F-B285-4962-8AFC-85A9CE71C5DE}"/>
              </a:ext>
            </a:extLst>
          </p:cNvPr>
          <p:cNvSpPr/>
          <p:nvPr/>
        </p:nvSpPr>
        <p:spPr>
          <a:xfrm>
            <a:off x="11512747" y="22654770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культ личности</a:t>
            </a:r>
          </a:p>
        </p:txBody>
      </p:sp>
      <p:sp>
        <p:nvSpPr>
          <p:cNvPr id="534" name="Прямоугольник 533">
            <a:extLst>
              <a:ext uri="{FF2B5EF4-FFF2-40B4-BE49-F238E27FC236}">
                <a16:creationId xmlns:a16="http://schemas.microsoft.com/office/drawing/2014/main" id="{439679E5-8F70-4C51-996F-EC7F24AA5DDE}"/>
              </a:ext>
            </a:extLst>
          </p:cNvPr>
          <p:cNvSpPr/>
          <p:nvPr/>
        </p:nvSpPr>
        <p:spPr>
          <a:xfrm>
            <a:off x="12752201" y="2184738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Передача прав собственности и средств производства в профсоюзы</a:t>
            </a:r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D4B3B65D-4D05-457E-A3ED-BDEA402DC168}"/>
              </a:ext>
            </a:extLst>
          </p:cNvPr>
          <p:cNvSpPr/>
          <p:nvPr/>
        </p:nvSpPr>
        <p:spPr>
          <a:xfrm>
            <a:off x="12752200" y="22654770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Воплотить в жизнь национал-</a:t>
            </a:r>
            <a:r>
              <a:rPr lang="ru-RU" sz="700" dirty="0" err="1"/>
              <a:t>юнионизм</a:t>
            </a:r>
            <a:endParaRPr lang="ru-RU" sz="700" dirty="0"/>
          </a:p>
        </p:txBody>
      </p:sp>
      <p:cxnSp>
        <p:nvCxnSpPr>
          <p:cNvPr id="538" name="Соединительная линия уступом 620">
            <a:extLst>
              <a:ext uri="{FF2B5EF4-FFF2-40B4-BE49-F238E27FC236}">
                <a16:creationId xmlns:a16="http://schemas.microsoft.com/office/drawing/2014/main" id="{AB0C856A-015A-4250-A7F2-0CEE1A7AE3D8}"/>
              </a:ext>
            </a:extLst>
          </p:cNvPr>
          <p:cNvCxnSpPr>
            <a:cxnSpLocks/>
            <a:stCxn id="520" idx="2"/>
            <a:endCxn id="533" idx="0"/>
          </p:cNvCxnSpPr>
          <p:nvPr/>
        </p:nvCxnSpPr>
        <p:spPr>
          <a:xfrm rot="5400000">
            <a:off x="11434849" y="22113708"/>
            <a:ext cx="108212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0" name="Соединительная линия уступом 620">
            <a:extLst>
              <a:ext uri="{FF2B5EF4-FFF2-40B4-BE49-F238E27FC236}">
                <a16:creationId xmlns:a16="http://schemas.microsoft.com/office/drawing/2014/main" id="{89AE2EBF-E461-4885-8EBB-A725AAD7537D}"/>
              </a:ext>
            </a:extLst>
          </p:cNvPr>
          <p:cNvCxnSpPr>
            <a:cxnSpLocks/>
            <a:stCxn id="527" idx="2"/>
            <a:endCxn id="530" idx="0"/>
          </p:cNvCxnSpPr>
          <p:nvPr/>
        </p:nvCxnSpPr>
        <p:spPr>
          <a:xfrm rot="16200000" flipH="1">
            <a:off x="12821377" y="20638659"/>
            <a:ext cx="185913" cy="60205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1" name="Соединительная линия уступом 620">
            <a:extLst>
              <a:ext uri="{FF2B5EF4-FFF2-40B4-BE49-F238E27FC236}">
                <a16:creationId xmlns:a16="http://schemas.microsoft.com/office/drawing/2014/main" id="{BB42ABE2-7B27-4605-A3C2-923A7B99A9F8}"/>
              </a:ext>
            </a:extLst>
          </p:cNvPr>
          <p:cNvCxnSpPr>
            <a:cxnSpLocks/>
            <a:stCxn id="530" idx="2"/>
            <a:endCxn id="534" idx="0"/>
          </p:cNvCxnSpPr>
          <p:nvPr/>
        </p:nvCxnSpPr>
        <p:spPr>
          <a:xfrm rot="16200000" flipH="1">
            <a:off x="13077992" y="21710016"/>
            <a:ext cx="27474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Соединительная линия уступом 620">
            <a:extLst>
              <a:ext uri="{FF2B5EF4-FFF2-40B4-BE49-F238E27FC236}">
                <a16:creationId xmlns:a16="http://schemas.microsoft.com/office/drawing/2014/main" id="{405B02C7-D8B4-454D-BBFE-7AE75634DDBF}"/>
              </a:ext>
            </a:extLst>
          </p:cNvPr>
          <p:cNvCxnSpPr>
            <a:cxnSpLocks/>
            <a:stCxn id="534" idx="2"/>
            <a:endCxn id="537" idx="0"/>
          </p:cNvCxnSpPr>
          <p:nvPr/>
        </p:nvCxnSpPr>
        <p:spPr>
          <a:xfrm rot="5400000">
            <a:off x="13081673" y="22521079"/>
            <a:ext cx="26738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55771</TotalTime>
  <Words>1836</Words>
  <Application>Microsoft Office PowerPoint</Application>
  <PresentationFormat>Произвольный</PresentationFormat>
  <Paragraphs>203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2467</cp:revision>
  <dcterms:created xsi:type="dcterms:W3CDTF">2018-10-23T08:09:21Z</dcterms:created>
  <dcterms:modified xsi:type="dcterms:W3CDTF">2026-07-02T07:42:41Z</dcterms:modified>
</cp:coreProperties>
</file>