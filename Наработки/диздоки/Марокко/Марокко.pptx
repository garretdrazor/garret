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notesMasterIdLst>
    <p:notesMasterId r:id="rId3"/>
  </p:notesMasterIdLst>
  <p:sldIdLst>
    <p:sldId id="259" r:id="rId2"/>
  </p:sldIdLst>
  <p:sldSz cx="51206400" cy="36018788"/>
  <p:notesSz cx="6858000" cy="9144000"/>
  <p:defaultTextStyle>
    <a:defPPr>
      <a:defRPr lang="ru-RU"/>
    </a:defPPr>
    <a:lvl1pPr marL="0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1pPr>
    <a:lvl2pPr marL="766144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2pPr>
    <a:lvl3pPr marL="1532289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3pPr>
    <a:lvl4pPr marL="2298433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4pPr>
    <a:lvl5pPr marL="3064578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5pPr>
    <a:lvl6pPr marL="3830722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6pPr>
    <a:lvl7pPr marL="4596867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7pPr>
    <a:lvl8pPr marL="5363011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8pPr>
    <a:lvl9pPr marL="6129155" algn="l" defTabSz="1532289" rtl="0" eaLnBrk="1" latinLnBrk="0" hangingPunct="1">
      <a:defRPr sz="30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344">
          <p15:clr>
            <a:srgbClr val="A4A3A4"/>
          </p15:clr>
        </p15:guide>
        <p15:guide id="2" pos="16127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C00CC"/>
    <a:srgbClr val="F13FB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6069" autoAdjust="0"/>
    <p:restoredTop sz="96374" autoAdjust="0"/>
  </p:normalViewPr>
  <p:slideViewPr>
    <p:cSldViewPr snapToGrid="0">
      <p:cViewPr>
        <p:scale>
          <a:sx n="150" d="100"/>
          <a:sy n="150" d="100"/>
        </p:scale>
        <p:origin x="-12629" y="-14280"/>
      </p:cViewPr>
      <p:guideLst>
        <p:guide orient="horz" pos="11344"/>
        <p:guide pos="1612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3E3D7F9-E251-484C-A6FF-FA958879DF69}" type="datetimeFigureOut">
              <a:rPr lang="ru-RU" smtClean="0"/>
              <a:pPr/>
              <a:t>22.06.2026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1236663" y="1143000"/>
            <a:ext cx="4384675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86EE9E-3817-4644-8752-DBAA6FA3C802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283606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1pPr>
    <a:lvl2pPr marL="623667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2pPr>
    <a:lvl3pPr marL="1247333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3pPr>
    <a:lvl4pPr marL="1871000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4pPr>
    <a:lvl5pPr marL="2494666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5pPr>
    <a:lvl6pPr marL="3118333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6pPr>
    <a:lvl7pPr marL="3741999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7pPr>
    <a:lvl8pPr marL="4365666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8pPr>
    <a:lvl9pPr marL="4989332" algn="l" defTabSz="1247333" rtl="0" eaLnBrk="1" latinLnBrk="0" hangingPunct="1">
      <a:defRPr sz="16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>
          <a:xfrm>
            <a:off x="1236663" y="1143000"/>
            <a:ext cx="4384675" cy="3086100"/>
          </a:xfrm>
        </p:spPr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B86EE9E-3817-4644-8752-DBAA6FA3C802}" type="slidenum">
              <a:rPr lang="ru-RU" smtClean="0"/>
              <a:pPr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977671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400801" y="5894744"/>
            <a:ext cx="38404800" cy="12539874"/>
          </a:xfrm>
        </p:spPr>
        <p:txBody>
          <a:bodyPr anchor="b"/>
          <a:lstStyle>
            <a:lvl1pPr algn="ctr">
              <a:defRPr sz="247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400801" y="18918204"/>
            <a:ext cx="38404800" cy="8696200"/>
          </a:xfrm>
        </p:spPr>
        <p:txBody>
          <a:bodyPr/>
          <a:lstStyle>
            <a:lvl1pPr marL="0" indent="0" algn="ctr">
              <a:buNone/>
              <a:defRPr sz="9900"/>
            </a:lvl1pPr>
            <a:lvl2pPr marL="1878359" indent="0" algn="ctr">
              <a:buNone/>
              <a:defRPr sz="8200"/>
            </a:lvl2pPr>
            <a:lvl3pPr marL="3756718" indent="0" algn="ctr">
              <a:buNone/>
              <a:defRPr sz="7400"/>
            </a:lvl3pPr>
            <a:lvl4pPr marL="5635077" indent="0" algn="ctr">
              <a:buNone/>
              <a:defRPr sz="6600"/>
            </a:lvl4pPr>
            <a:lvl5pPr marL="7513436" indent="0" algn="ctr">
              <a:buNone/>
              <a:defRPr sz="6600"/>
            </a:lvl5pPr>
            <a:lvl6pPr marL="9391794" indent="0" algn="ctr">
              <a:buNone/>
              <a:defRPr sz="6600"/>
            </a:lvl6pPr>
            <a:lvl7pPr marL="11270153" indent="0" algn="ctr">
              <a:buNone/>
              <a:defRPr sz="6600"/>
            </a:lvl7pPr>
            <a:lvl8pPr marL="13148512" indent="0" algn="ctr">
              <a:buNone/>
              <a:defRPr sz="6600"/>
            </a:lvl8pPr>
            <a:lvl9pPr marL="15026871" indent="0" algn="ctr">
              <a:buNone/>
              <a:defRPr sz="6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22.06.2026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18547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22.06.2026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135520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493774" y="8979693"/>
            <a:ext cx="44165519" cy="14982813"/>
          </a:xfrm>
        </p:spPr>
        <p:txBody>
          <a:bodyPr anchor="b"/>
          <a:lstStyle>
            <a:lvl1pPr>
              <a:defRPr sz="247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493774" y="24104247"/>
            <a:ext cx="44165519" cy="7879108"/>
          </a:xfrm>
        </p:spPr>
        <p:txBody>
          <a:bodyPr/>
          <a:lstStyle>
            <a:lvl1pPr marL="0" indent="0">
              <a:buNone/>
              <a:defRPr sz="9900">
                <a:solidFill>
                  <a:schemeClr val="tx1">
                    <a:tint val="75000"/>
                  </a:schemeClr>
                </a:solidFill>
              </a:defRPr>
            </a:lvl1pPr>
            <a:lvl2pPr marL="1878359" indent="0">
              <a:buNone/>
              <a:defRPr sz="8200">
                <a:solidFill>
                  <a:schemeClr val="tx1">
                    <a:tint val="75000"/>
                  </a:schemeClr>
                </a:solidFill>
              </a:defRPr>
            </a:lvl2pPr>
            <a:lvl3pPr marL="3756718" indent="0">
              <a:buNone/>
              <a:defRPr sz="7400">
                <a:solidFill>
                  <a:schemeClr val="tx1">
                    <a:tint val="75000"/>
                  </a:schemeClr>
                </a:solidFill>
              </a:defRPr>
            </a:lvl3pPr>
            <a:lvl4pPr marL="5635077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4pPr>
            <a:lvl5pPr marL="7513436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5pPr>
            <a:lvl6pPr marL="9391794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6pPr>
            <a:lvl7pPr marL="11270153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7pPr>
            <a:lvl8pPr marL="13148512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8pPr>
            <a:lvl9pPr marL="15026871" indent="0">
              <a:buNone/>
              <a:defRPr sz="6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22.06.2026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172442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520442" y="9588334"/>
            <a:ext cx="21762720" cy="2285359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923241" y="9588334"/>
            <a:ext cx="21762720" cy="22853590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22.06.2026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354675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3" y="1917674"/>
            <a:ext cx="44165519" cy="6961967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7112" y="8829610"/>
            <a:ext cx="21662706" cy="4327254"/>
          </a:xfrm>
        </p:spPr>
        <p:txBody>
          <a:bodyPr anchor="b"/>
          <a:lstStyle>
            <a:lvl1pPr marL="0" indent="0">
              <a:buNone/>
              <a:defRPr sz="9900" b="1"/>
            </a:lvl1pPr>
            <a:lvl2pPr marL="1878359" indent="0">
              <a:buNone/>
              <a:defRPr sz="8200" b="1"/>
            </a:lvl2pPr>
            <a:lvl3pPr marL="3756718" indent="0">
              <a:buNone/>
              <a:defRPr sz="7400" b="1"/>
            </a:lvl3pPr>
            <a:lvl4pPr marL="5635077" indent="0">
              <a:buNone/>
              <a:defRPr sz="6600" b="1"/>
            </a:lvl4pPr>
            <a:lvl5pPr marL="7513436" indent="0">
              <a:buNone/>
              <a:defRPr sz="6600" b="1"/>
            </a:lvl5pPr>
            <a:lvl6pPr marL="9391794" indent="0">
              <a:buNone/>
              <a:defRPr sz="6600" b="1"/>
            </a:lvl6pPr>
            <a:lvl7pPr marL="11270153" indent="0">
              <a:buNone/>
              <a:defRPr sz="6600" b="1"/>
            </a:lvl7pPr>
            <a:lvl8pPr marL="13148512" indent="0">
              <a:buNone/>
              <a:defRPr sz="6600" b="1"/>
            </a:lvl8pPr>
            <a:lvl9pPr marL="15026871" indent="0">
              <a:buNone/>
              <a:defRPr sz="6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527112" y="13156863"/>
            <a:ext cx="21662706" cy="1935176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25923240" y="8829610"/>
            <a:ext cx="21769390" cy="4327254"/>
          </a:xfrm>
        </p:spPr>
        <p:txBody>
          <a:bodyPr anchor="b"/>
          <a:lstStyle>
            <a:lvl1pPr marL="0" indent="0">
              <a:buNone/>
              <a:defRPr sz="9900" b="1"/>
            </a:lvl1pPr>
            <a:lvl2pPr marL="1878359" indent="0">
              <a:buNone/>
              <a:defRPr sz="8200" b="1"/>
            </a:lvl2pPr>
            <a:lvl3pPr marL="3756718" indent="0">
              <a:buNone/>
              <a:defRPr sz="7400" b="1"/>
            </a:lvl3pPr>
            <a:lvl4pPr marL="5635077" indent="0">
              <a:buNone/>
              <a:defRPr sz="6600" b="1"/>
            </a:lvl4pPr>
            <a:lvl5pPr marL="7513436" indent="0">
              <a:buNone/>
              <a:defRPr sz="6600" b="1"/>
            </a:lvl5pPr>
            <a:lvl6pPr marL="9391794" indent="0">
              <a:buNone/>
              <a:defRPr sz="6600" b="1"/>
            </a:lvl6pPr>
            <a:lvl7pPr marL="11270153" indent="0">
              <a:buNone/>
              <a:defRPr sz="6600" b="1"/>
            </a:lvl7pPr>
            <a:lvl8pPr marL="13148512" indent="0">
              <a:buNone/>
              <a:defRPr sz="6600" b="1"/>
            </a:lvl8pPr>
            <a:lvl9pPr marL="15026871" indent="0">
              <a:buNone/>
              <a:defRPr sz="6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25923240" y="13156863"/>
            <a:ext cx="21769390" cy="19351764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22.06.2026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99556360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22.06.2026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7486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22.06.2026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9108348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6" y="2401252"/>
            <a:ext cx="16515395" cy="8404384"/>
          </a:xfrm>
        </p:spPr>
        <p:txBody>
          <a:bodyPr anchor="b"/>
          <a:lstStyle>
            <a:lvl1pPr>
              <a:defRPr sz="131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1769390" y="5186042"/>
            <a:ext cx="25923240" cy="25596684"/>
          </a:xfrm>
        </p:spPr>
        <p:txBody>
          <a:bodyPr/>
          <a:lstStyle>
            <a:lvl1pPr>
              <a:defRPr sz="13100"/>
            </a:lvl1pPr>
            <a:lvl2pPr>
              <a:defRPr sz="11500"/>
            </a:lvl2pPr>
            <a:lvl3pPr>
              <a:defRPr sz="9900"/>
            </a:lvl3pPr>
            <a:lvl4pPr>
              <a:defRPr sz="8200"/>
            </a:lvl4pPr>
            <a:lvl5pPr>
              <a:defRPr sz="8200"/>
            </a:lvl5pPr>
            <a:lvl6pPr>
              <a:defRPr sz="8200"/>
            </a:lvl6pPr>
            <a:lvl7pPr>
              <a:defRPr sz="8200"/>
            </a:lvl7pPr>
            <a:lvl8pPr>
              <a:defRPr sz="8200"/>
            </a:lvl8pPr>
            <a:lvl9pPr>
              <a:defRPr sz="82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6" y="10805639"/>
            <a:ext cx="16515395" cy="20018778"/>
          </a:xfrm>
        </p:spPr>
        <p:txBody>
          <a:bodyPr/>
          <a:lstStyle>
            <a:lvl1pPr marL="0" indent="0">
              <a:buNone/>
              <a:defRPr sz="6600"/>
            </a:lvl1pPr>
            <a:lvl2pPr marL="1878359" indent="0">
              <a:buNone/>
              <a:defRPr sz="5800"/>
            </a:lvl2pPr>
            <a:lvl3pPr marL="3756718" indent="0">
              <a:buNone/>
              <a:defRPr sz="4900"/>
            </a:lvl3pPr>
            <a:lvl4pPr marL="5635077" indent="0">
              <a:buNone/>
              <a:defRPr sz="4100"/>
            </a:lvl4pPr>
            <a:lvl5pPr marL="7513436" indent="0">
              <a:buNone/>
              <a:defRPr sz="4100"/>
            </a:lvl5pPr>
            <a:lvl6pPr marL="9391794" indent="0">
              <a:buNone/>
              <a:defRPr sz="4100"/>
            </a:lvl6pPr>
            <a:lvl7pPr marL="11270153" indent="0">
              <a:buNone/>
              <a:defRPr sz="4100"/>
            </a:lvl7pPr>
            <a:lvl8pPr marL="13148512" indent="0">
              <a:buNone/>
              <a:defRPr sz="4100"/>
            </a:lvl8pPr>
            <a:lvl9pPr marL="15026871" indent="0">
              <a:buNone/>
              <a:defRPr sz="41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22.06.2026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69452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27116" y="2401252"/>
            <a:ext cx="16515395" cy="8404384"/>
          </a:xfrm>
        </p:spPr>
        <p:txBody>
          <a:bodyPr anchor="b"/>
          <a:lstStyle>
            <a:lvl1pPr>
              <a:defRPr sz="131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1769390" y="5186042"/>
            <a:ext cx="25923240" cy="25596684"/>
          </a:xfrm>
        </p:spPr>
        <p:txBody>
          <a:bodyPr anchor="t"/>
          <a:lstStyle>
            <a:lvl1pPr marL="0" indent="0">
              <a:buNone/>
              <a:defRPr sz="13100"/>
            </a:lvl1pPr>
            <a:lvl2pPr marL="1878359" indent="0">
              <a:buNone/>
              <a:defRPr sz="11500"/>
            </a:lvl2pPr>
            <a:lvl3pPr marL="3756718" indent="0">
              <a:buNone/>
              <a:defRPr sz="9900"/>
            </a:lvl3pPr>
            <a:lvl4pPr marL="5635077" indent="0">
              <a:buNone/>
              <a:defRPr sz="8200"/>
            </a:lvl4pPr>
            <a:lvl5pPr marL="7513436" indent="0">
              <a:buNone/>
              <a:defRPr sz="8200"/>
            </a:lvl5pPr>
            <a:lvl6pPr marL="9391794" indent="0">
              <a:buNone/>
              <a:defRPr sz="8200"/>
            </a:lvl6pPr>
            <a:lvl7pPr marL="11270153" indent="0">
              <a:buNone/>
              <a:defRPr sz="8200"/>
            </a:lvl7pPr>
            <a:lvl8pPr marL="13148512" indent="0">
              <a:buNone/>
              <a:defRPr sz="8200"/>
            </a:lvl8pPr>
            <a:lvl9pPr marL="15026871" indent="0">
              <a:buNone/>
              <a:defRPr sz="82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527116" y="10805639"/>
            <a:ext cx="16515395" cy="20018778"/>
          </a:xfrm>
        </p:spPr>
        <p:txBody>
          <a:bodyPr/>
          <a:lstStyle>
            <a:lvl1pPr marL="0" indent="0">
              <a:buNone/>
              <a:defRPr sz="6600"/>
            </a:lvl1pPr>
            <a:lvl2pPr marL="1878359" indent="0">
              <a:buNone/>
              <a:defRPr sz="5800"/>
            </a:lvl2pPr>
            <a:lvl3pPr marL="3756718" indent="0">
              <a:buNone/>
              <a:defRPr sz="4900"/>
            </a:lvl3pPr>
            <a:lvl4pPr marL="5635077" indent="0">
              <a:buNone/>
              <a:defRPr sz="4100"/>
            </a:lvl4pPr>
            <a:lvl5pPr marL="7513436" indent="0">
              <a:buNone/>
              <a:defRPr sz="4100"/>
            </a:lvl5pPr>
            <a:lvl6pPr marL="9391794" indent="0">
              <a:buNone/>
              <a:defRPr sz="4100"/>
            </a:lvl6pPr>
            <a:lvl7pPr marL="11270153" indent="0">
              <a:buNone/>
              <a:defRPr sz="4100"/>
            </a:lvl7pPr>
            <a:lvl8pPr marL="13148512" indent="0">
              <a:buNone/>
              <a:defRPr sz="4100"/>
            </a:lvl8pPr>
            <a:lvl9pPr marL="15026871" indent="0">
              <a:buNone/>
              <a:defRPr sz="41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22.06.2026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20752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22.06.2026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871970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36644580" y="1917668"/>
            <a:ext cx="11041380" cy="3052425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3520443" y="1917668"/>
            <a:ext cx="32484061" cy="3052425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A5DE44-605B-4D3B-B2B7-94543DF81A36}" type="datetimeFigureOut">
              <a:rPr lang="ru-RU" smtClean="0"/>
              <a:pPr/>
              <a:t>22.06.2026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294976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520444" y="1917674"/>
            <a:ext cx="44165519" cy="6961967"/>
          </a:xfrm>
          <a:prstGeom prst="rect">
            <a:avLst/>
          </a:prstGeom>
        </p:spPr>
        <p:txBody>
          <a:bodyPr vert="horz" lIns="124733" tIns="62367" rIns="124733" bIns="62367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520444" y="9588334"/>
            <a:ext cx="44165519" cy="22853590"/>
          </a:xfrm>
          <a:prstGeom prst="rect">
            <a:avLst/>
          </a:prstGeom>
        </p:spPr>
        <p:txBody>
          <a:bodyPr vert="horz" lIns="124733" tIns="62367" rIns="124733" bIns="62367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3520442" y="33384083"/>
            <a:ext cx="11521440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l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5A5DE44-605B-4D3B-B2B7-94543DF81A36}" type="datetimeFigureOut">
              <a:rPr lang="ru-RU" smtClean="0"/>
              <a:pPr/>
              <a:t>22.06.2026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6962125" y="33384083"/>
            <a:ext cx="17282159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ctr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6164520" y="33384083"/>
            <a:ext cx="11521440" cy="1917666"/>
          </a:xfrm>
          <a:prstGeom prst="rect">
            <a:avLst/>
          </a:prstGeom>
        </p:spPr>
        <p:txBody>
          <a:bodyPr vert="horz" lIns="124733" tIns="62367" rIns="124733" bIns="62367" rtlCol="0" anchor="ctr"/>
          <a:lstStyle>
            <a:lvl1pPr algn="r">
              <a:defRPr sz="4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4F3E878-C7D4-455C-B7B2-78E3A4BD70DA}" type="slidenum">
              <a:rPr lang="ru-RU" smtClean="0"/>
              <a:pPr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441055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3756718" rtl="0" eaLnBrk="1" latinLnBrk="0" hangingPunct="1">
        <a:lnSpc>
          <a:spcPct val="90000"/>
        </a:lnSpc>
        <a:spcBef>
          <a:spcPct val="0"/>
        </a:spcBef>
        <a:buNone/>
        <a:defRPr sz="181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939179" indent="-939179" algn="l" defTabSz="3756718" rtl="0" eaLnBrk="1" latinLnBrk="0" hangingPunct="1">
        <a:lnSpc>
          <a:spcPct val="90000"/>
        </a:lnSpc>
        <a:spcBef>
          <a:spcPts val="4109"/>
        </a:spcBef>
        <a:buFont typeface="Arial" panose="020B0604020202020204" pitchFamily="34" charset="0"/>
        <a:buChar char="•"/>
        <a:defRPr sz="11500" kern="1200">
          <a:solidFill>
            <a:schemeClr val="tx1"/>
          </a:solidFill>
          <a:latin typeface="+mn-lt"/>
          <a:ea typeface="+mn-ea"/>
          <a:cs typeface="+mn-cs"/>
        </a:defRPr>
      </a:lvl1pPr>
      <a:lvl2pPr marL="2817538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9900" kern="1200">
          <a:solidFill>
            <a:schemeClr val="tx1"/>
          </a:solidFill>
          <a:latin typeface="+mn-lt"/>
          <a:ea typeface="+mn-ea"/>
          <a:cs typeface="+mn-cs"/>
        </a:defRPr>
      </a:lvl2pPr>
      <a:lvl3pPr marL="4695897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8200" kern="1200">
          <a:solidFill>
            <a:schemeClr val="tx1"/>
          </a:solidFill>
          <a:latin typeface="+mn-lt"/>
          <a:ea typeface="+mn-ea"/>
          <a:cs typeface="+mn-cs"/>
        </a:defRPr>
      </a:lvl3pPr>
      <a:lvl4pPr marL="6574255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4pPr>
      <a:lvl5pPr marL="8452614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5pPr>
      <a:lvl6pPr marL="10330973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6pPr>
      <a:lvl7pPr marL="12209332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7pPr>
      <a:lvl8pPr marL="14087691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8pPr>
      <a:lvl9pPr marL="15966050" indent="-939179" algn="l" defTabSz="3756718" rtl="0" eaLnBrk="1" latinLnBrk="0" hangingPunct="1">
        <a:lnSpc>
          <a:spcPct val="90000"/>
        </a:lnSpc>
        <a:spcBef>
          <a:spcPts val="2054"/>
        </a:spcBef>
        <a:buFont typeface="Arial" panose="020B0604020202020204" pitchFamily="34" charset="0"/>
        <a:buChar char="•"/>
        <a:defRPr sz="7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1pPr>
      <a:lvl2pPr marL="1878359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2pPr>
      <a:lvl3pPr marL="3756718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3pPr>
      <a:lvl4pPr marL="5635077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4pPr>
      <a:lvl5pPr marL="7513436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5pPr>
      <a:lvl6pPr marL="9391794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6pPr>
      <a:lvl7pPr marL="11270153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7pPr>
      <a:lvl8pPr marL="13148512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8pPr>
      <a:lvl9pPr marL="15026871" algn="l" defTabSz="3756718" rtl="0" eaLnBrk="1" latinLnBrk="0" hangingPunct="1">
        <a:defRPr sz="7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2" name="Прямоугольник 581"/>
          <p:cNvSpPr/>
          <p:nvPr/>
        </p:nvSpPr>
        <p:spPr>
          <a:xfrm>
            <a:off x="18326336" y="1438201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Модернизация лагерей в Фесе</a:t>
            </a:r>
          </a:p>
        </p:txBody>
      </p:sp>
      <p:cxnSp>
        <p:nvCxnSpPr>
          <p:cNvPr id="118" name="Соединительная линия уступом 620">
            <a:extLst>
              <a:ext uri="{FF2B5EF4-FFF2-40B4-BE49-F238E27FC236}">
                <a16:creationId xmlns:a16="http://schemas.microsoft.com/office/drawing/2014/main" id="{C1702904-0E50-4FBA-B873-2C147B00B9E8}"/>
              </a:ext>
            </a:extLst>
          </p:cNvPr>
          <p:cNvCxnSpPr>
            <a:cxnSpLocks/>
            <a:stCxn id="582" idx="2"/>
            <a:endCxn id="15" idx="0"/>
          </p:cNvCxnSpPr>
          <p:nvPr/>
        </p:nvCxnSpPr>
        <p:spPr>
          <a:xfrm rot="5400000">
            <a:off x="17997228" y="14467692"/>
            <a:ext cx="337946" cy="124659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1" name="Соединительная линия уступом 620">
            <a:extLst>
              <a:ext uri="{FF2B5EF4-FFF2-40B4-BE49-F238E27FC236}">
                <a16:creationId xmlns:a16="http://schemas.microsoft.com/office/drawing/2014/main" id="{2C4B12DA-382A-45C6-AD96-13081055D21D}"/>
              </a:ext>
            </a:extLst>
          </p:cNvPr>
          <p:cNvCxnSpPr>
            <a:cxnSpLocks/>
            <a:stCxn id="582" idx="2"/>
            <a:endCxn id="17" idx="0"/>
          </p:cNvCxnSpPr>
          <p:nvPr/>
        </p:nvCxnSpPr>
        <p:spPr>
          <a:xfrm rot="16200000" flipH="1">
            <a:off x="19232773" y="14478743"/>
            <a:ext cx="337947" cy="122449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0" name="Прямоугольник 349">
            <a:extLst>
              <a:ext uri="{FF2B5EF4-FFF2-40B4-BE49-F238E27FC236}">
                <a16:creationId xmlns:a16="http://schemas.microsoft.com/office/drawing/2014/main" id="{E4F8202D-E0A0-4FEF-9048-C9AE139FEE7E}"/>
              </a:ext>
            </a:extLst>
          </p:cNvPr>
          <p:cNvSpPr/>
          <p:nvPr/>
        </p:nvSpPr>
        <p:spPr>
          <a:xfrm>
            <a:off x="18945478" y="1606721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Увеличение срока службы</a:t>
            </a:r>
          </a:p>
        </p:txBody>
      </p:sp>
      <p:sp>
        <p:nvSpPr>
          <p:cNvPr id="15" name="Прямоугольник 14">
            <a:extLst>
              <a:ext uri="{FF2B5EF4-FFF2-40B4-BE49-F238E27FC236}">
                <a16:creationId xmlns:a16="http://schemas.microsoft.com/office/drawing/2014/main" id="{486BD42C-E6E8-4E9A-972F-66E45C5E9F5A}"/>
              </a:ext>
            </a:extLst>
          </p:cNvPr>
          <p:cNvSpPr/>
          <p:nvPr/>
        </p:nvSpPr>
        <p:spPr>
          <a:xfrm>
            <a:off x="17079740" y="1525996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Продолжить опираться на племенные войска</a:t>
            </a:r>
          </a:p>
        </p:txBody>
      </p:sp>
      <p:sp>
        <p:nvSpPr>
          <p:cNvPr id="17" name="Прямоугольник 16">
            <a:extLst>
              <a:ext uri="{FF2B5EF4-FFF2-40B4-BE49-F238E27FC236}">
                <a16:creationId xmlns:a16="http://schemas.microsoft.com/office/drawing/2014/main" id="{E1A641D6-0384-4A0F-A884-6A52826677FD}"/>
              </a:ext>
            </a:extLst>
          </p:cNvPr>
          <p:cNvSpPr/>
          <p:nvPr/>
        </p:nvSpPr>
        <p:spPr>
          <a:xfrm>
            <a:off x="19550830" y="15259964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Отказаться от иррегулярных формирований</a:t>
            </a:r>
          </a:p>
        </p:txBody>
      </p:sp>
      <p:cxnSp>
        <p:nvCxnSpPr>
          <p:cNvPr id="24" name="Прямая соединительная линия 23">
            <a:extLst>
              <a:ext uri="{FF2B5EF4-FFF2-40B4-BE49-F238E27FC236}">
                <a16:creationId xmlns:a16="http://schemas.microsoft.com/office/drawing/2014/main" id="{C5EB57FB-243F-45A9-A62E-8A1DC06BD87A}"/>
              </a:ext>
            </a:extLst>
          </p:cNvPr>
          <p:cNvCxnSpPr>
            <a:cxnSpLocks/>
            <a:stCxn id="17" idx="1"/>
            <a:endCxn id="15" idx="3"/>
          </p:cNvCxnSpPr>
          <p:nvPr/>
        </p:nvCxnSpPr>
        <p:spPr>
          <a:xfrm flipH="1" flipV="1">
            <a:off x="18006065" y="15529963"/>
            <a:ext cx="1544765" cy="1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Соединительная линия уступом 620">
            <a:extLst>
              <a:ext uri="{FF2B5EF4-FFF2-40B4-BE49-F238E27FC236}">
                <a16:creationId xmlns:a16="http://schemas.microsoft.com/office/drawing/2014/main" id="{CBC1F065-34F6-4123-81AC-C7D623B89A58}"/>
              </a:ext>
            </a:extLst>
          </p:cNvPr>
          <p:cNvCxnSpPr>
            <a:cxnSpLocks/>
            <a:stCxn id="17" idx="2"/>
            <a:endCxn id="350" idx="0"/>
          </p:cNvCxnSpPr>
          <p:nvPr/>
        </p:nvCxnSpPr>
        <p:spPr>
          <a:xfrm rot="5400000">
            <a:off x="19577693" y="15630912"/>
            <a:ext cx="267249" cy="60535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Соединительная линия уступом 620">
            <a:extLst>
              <a:ext uri="{FF2B5EF4-FFF2-40B4-BE49-F238E27FC236}">
                <a16:creationId xmlns:a16="http://schemas.microsoft.com/office/drawing/2014/main" id="{DEC2AC59-3F71-42F7-A646-3D9EBC9EDE81}"/>
              </a:ext>
            </a:extLst>
          </p:cNvPr>
          <p:cNvCxnSpPr>
            <a:cxnSpLocks/>
            <a:stCxn id="15" idx="2"/>
            <a:endCxn id="350" idx="0"/>
          </p:cNvCxnSpPr>
          <p:nvPr/>
        </p:nvCxnSpPr>
        <p:spPr>
          <a:xfrm rot="16200000" flipH="1">
            <a:off x="18342147" y="15000719"/>
            <a:ext cx="267250" cy="186573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Соединительная линия уступом 620">
            <a:extLst>
              <a:ext uri="{FF2B5EF4-FFF2-40B4-BE49-F238E27FC236}">
                <a16:creationId xmlns:a16="http://schemas.microsoft.com/office/drawing/2014/main" id="{964FE8F6-6759-4708-9BBE-3D1603C20D2D}"/>
              </a:ext>
            </a:extLst>
          </p:cNvPr>
          <p:cNvCxnSpPr>
            <a:cxnSpLocks/>
            <a:stCxn id="15" idx="2"/>
            <a:endCxn id="47" idx="0"/>
          </p:cNvCxnSpPr>
          <p:nvPr/>
        </p:nvCxnSpPr>
        <p:spPr>
          <a:xfrm rot="5400000">
            <a:off x="17101223" y="15623153"/>
            <a:ext cx="264871" cy="61849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Прямоугольник 44">
            <a:extLst>
              <a:ext uri="{FF2B5EF4-FFF2-40B4-BE49-F238E27FC236}">
                <a16:creationId xmlns:a16="http://schemas.microsoft.com/office/drawing/2014/main" id="{4616A96A-22CB-4BD3-B3D1-BCF1717A972F}"/>
              </a:ext>
            </a:extLst>
          </p:cNvPr>
          <p:cNvSpPr/>
          <p:nvPr/>
        </p:nvSpPr>
        <p:spPr>
          <a:xfrm>
            <a:off x="20168137" y="1606412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Набрать элитных солдат в гвардию</a:t>
            </a:r>
          </a:p>
        </p:txBody>
      </p:sp>
      <p:sp>
        <p:nvSpPr>
          <p:cNvPr id="47" name="Прямоугольник 46">
            <a:extLst>
              <a:ext uri="{FF2B5EF4-FFF2-40B4-BE49-F238E27FC236}">
                <a16:creationId xmlns:a16="http://schemas.microsoft.com/office/drawing/2014/main" id="{FE5B1A21-6DBA-4A86-A4D1-6624A5F82543}"/>
              </a:ext>
            </a:extLst>
          </p:cNvPr>
          <p:cNvSpPr/>
          <p:nvPr/>
        </p:nvSpPr>
        <p:spPr>
          <a:xfrm>
            <a:off x="16461249" y="16064834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Создать институт </a:t>
            </a:r>
            <a:r>
              <a:rPr lang="ru-RU" sz="700" dirty="0" err="1"/>
              <a:t>гумов</a:t>
            </a:r>
            <a:r>
              <a:rPr lang="ru-RU" sz="700" dirty="0"/>
              <a:t> вспомогательной службы (1937) </a:t>
            </a:r>
            <a:r>
              <a:rPr lang="ru-RU" sz="100" dirty="0"/>
              <a:t>(Стандартный </a:t>
            </a:r>
            <a:r>
              <a:rPr lang="ru-RU" sz="100" dirty="0" err="1"/>
              <a:t>гум</a:t>
            </a:r>
            <a:r>
              <a:rPr lang="ru-RU" sz="100" dirty="0"/>
              <a:t> представлял собой конно-стрелковое подразделение, эквивалентное роте. В его составе имелся верховой взвод (на лошадях или верблюдах), вьючный взвод, а также 3-4 стрелковых взвода. Такая организация позволяла </a:t>
            </a:r>
            <a:r>
              <a:rPr lang="ru-RU" sz="100" dirty="0" err="1"/>
              <a:t>гумам</a:t>
            </a:r>
            <a:r>
              <a:rPr lang="ru-RU" sz="100" dirty="0"/>
              <a:t> вести автономные боевые действия в условиях горно-пустынной </a:t>
            </a:r>
            <a:r>
              <a:rPr lang="ru-RU" sz="100" dirty="0" err="1"/>
              <a:t>местности.Первый</a:t>
            </a:r>
            <a:r>
              <a:rPr lang="ru-RU" sz="100" dirty="0"/>
              <a:t> марокканский </a:t>
            </a:r>
            <a:r>
              <a:rPr lang="ru-RU" sz="100" dirty="0" err="1"/>
              <a:t>гум</a:t>
            </a:r>
            <a:r>
              <a:rPr lang="ru-RU" sz="100" dirty="0"/>
              <a:t> был сформирован 5 ноября 1908 г. В дальнейшем их число постоянно росло. Если в 1914 г. в армии протектората насчитывалось 15 </a:t>
            </a:r>
            <a:r>
              <a:rPr lang="ru-RU" sz="100" dirty="0" err="1"/>
              <a:t>гумов</a:t>
            </a:r>
            <a:r>
              <a:rPr lang="ru-RU" sz="100" dirty="0"/>
              <a:t>, к 1934 г. — году, связываемому французами с завершением операции по “примирению” Марокко — их насчитывалось уже 51. Как правило, каждым </a:t>
            </a:r>
            <a:r>
              <a:rPr lang="ru-RU" sz="100" dirty="0" err="1"/>
              <a:t>гумом</a:t>
            </a:r>
            <a:r>
              <a:rPr lang="ru-RU" sz="100" dirty="0"/>
              <a:t> командовал французский офицер из состава Службы туземных дел. В 1937 г. был создан институт </a:t>
            </a:r>
            <a:r>
              <a:rPr lang="ru-RU" sz="100" dirty="0" err="1"/>
              <a:t>тумов</a:t>
            </a:r>
            <a:r>
              <a:rPr lang="ru-RU" sz="100" dirty="0"/>
              <a:t> вспомогательной службы. Забегая вперед, необходимо отметить, что к началу Второй мировой войны в войсках протектората насчитывалось 57 действующих </a:t>
            </a:r>
            <a:r>
              <a:rPr lang="ru-RU" sz="100" dirty="0" err="1"/>
              <a:t>гумов</a:t>
            </a:r>
            <a:r>
              <a:rPr lang="ru-RU" sz="100" dirty="0"/>
              <a:t> и 64 вспомогательных)</a:t>
            </a:r>
            <a:endParaRPr lang="ru-RU" sz="700" dirty="0"/>
          </a:p>
        </p:txBody>
      </p:sp>
      <p:sp>
        <p:nvSpPr>
          <p:cNvPr id="48" name="Прямоугольник 47">
            <a:extLst>
              <a:ext uri="{FF2B5EF4-FFF2-40B4-BE49-F238E27FC236}">
                <a16:creationId xmlns:a16="http://schemas.microsoft.com/office/drawing/2014/main" id="{2C1738C5-A41E-4331-A29C-50F11F29894B}"/>
              </a:ext>
            </a:extLst>
          </p:cNvPr>
          <p:cNvSpPr/>
          <p:nvPr/>
        </p:nvSpPr>
        <p:spPr>
          <a:xfrm>
            <a:off x="16460601" y="1688276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Мобилизация </a:t>
            </a:r>
            <a:r>
              <a:rPr lang="ru-RU" sz="700" dirty="0" err="1"/>
              <a:t>гумов</a:t>
            </a:r>
            <a:r>
              <a:rPr lang="ru-RU" sz="700" dirty="0"/>
              <a:t> (1940) </a:t>
            </a:r>
            <a:r>
              <a:rPr lang="ru-RU" sz="300" dirty="0"/>
              <a:t>(После мобилизации число первых было доведено до 121. К апрелю 1940 г. они были сведены в 16 таборов (батальонов) по 4-5 </a:t>
            </a:r>
            <a:r>
              <a:rPr lang="ru-RU" sz="300" dirty="0" err="1"/>
              <a:t>гумов</a:t>
            </a:r>
            <a:r>
              <a:rPr lang="ru-RU" sz="300" dirty="0"/>
              <a:t> в каждом.)</a:t>
            </a:r>
            <a:endParaRPr lang="ru-RU" sz="700" dirty="0"/>
          </a:p>
        </p:txBody>
      </p:sp>
      <p:sp>
        <p:nvSpPr>
          <p:cNvPr id="50" name="Прямоугольник 49">
            <a:extLst>
              <a:ext uri="{FF2B5EF4-FFF2-40B4-BE49-F238E27FC236}">
                <a16:creationId xmlns:a16="http://schemas.microsoft.com/office/drawing/2014/main" id="{714B254A-36D5-4290-AB41-31D23B38DA78}"/>
              </a:ext>
            </a:extLst>
          </p:cNvPr>
          <p:cNvSpPr/>
          <p:nvPr/>
        </p:nvSpPr>
        <p:spPr>
          <a:xfrm>
            <a:off x="15218217" y="1606412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Директива </a:t>
            </a:r>
            <a:r>
              <a:rPr lang="ru-RU" sz="700" dirty="0" err="1"/>
              <a:t>Ногеса</a:t>
            </a:r>
            <a:r>
              <a:rPr lang="ru-RU" sz="700" dirty="0"/>
              <a:t>: Мобилизация племен Атласа </a:t>
            </a:r>
            <a:r>
              <a:rPr lang="ru-RU" sz="100" dirty="0"/>
              <a:t>(С 1936 года Франция резко увеличила набор коренных марокканцев (арабов и берберов) в ряды регулярных частей — </a:t>
            </a:r>
            <a:r>
              <a:rPr lang="ru-RU" sz="100" dirty="0" err="1"/>
              <a:t>Тиральеров</a:t>
            </a:r>
            <a:r>
              <a:rPr lang="ru-RU" sz="100" dirty="0"/>
              <a:t> (Тайлеров) и </a:t>
            </a:r>
            <a:r>
              <a:rPr lang="ru-RU" sz="100" dirty="0" err="1"/>
              <a:t>Гумьеров</a:t>
            </a:r>
            <a:r>
              <a:rPr lang="ru-RU" sz="100" dirty="0"/>
              <a:t>. К 1939 году </a:t>
            </a:r>
            <a:r>
              <a:rPr lang="ru-RU" sz="100" dirty="0" err="1"/>
              <a:t>Ногесу</a:t>
            </a:r>
            <a:r>
              <a:rPr lang="ru-RU" sz="100" dirty="0"/>
              <a:t> удалось поставить под ружье невиданное для колонии число местных </a:t>
            </a:r>
            <a:r>
              <a:rPr lang="ru-RU" sz="100" dirty="0" err="1"/>
              <a:t>жителей.Эффект</a:t>
            </a:r>
            <a:r>
              <a:rPr lang="ru-RU" sz="100" dirty="0"/>
              <a:t> в HOI 4: Дает постоянный бонус к призывному населению (</a:t>
            </a:r>
            <a:r>
              <a:rPr lang="ru-RU" sz="100" dirty="0" err="1"/>
              <a:t>Manpower</a:t>
            </a:r>
            <a:r>
              <a:rPr lang="ru-RU" sz="100" dirty="0"/>
              <a:t>) +2.50% на национальных территориях. Снижает время подготовки пехотных дивизий на 10%.)</a:t>
            </a:r>
            <a:endParaRPr lang="ru-RU" sz="700" dirty="0"/>
          </a:p>
        </p:txBody>
      </p:sp>
      <p:sp>
        <p:nvSpPr>
          <p:cNvPr id="64" name="Прямоугольник 63">
            <a:extLst>
              <a:ext uri="{FF2B5EF4-FFF2-40B4-BE49-F238E27FC236}">
                <a16:creationId xmlns:a16="http://schemas.microsoft.com/office/drawing/2014/main" id="{E2A84C2C-9F41-4511-B24F-8A024E481F7E}"/>
              </a:ext>
            </a:extLst>
          </p:cNvPr>
          <p:cNvSpPr/>
          <p:nvPr/>
        </p:nvSpPr>
        <p:spPr>
          <a:xfrm>
            <a:off x="17702446" y="1606996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Развертывание 1-й и 3-й Марокканских пехотных дивизий </a:t>
            </a:r>
            <a:r>
              <a:rPr lang="ru-RU" sz="100" dirty="0"/>
              <a:t>(В конце 1930-х годов в Марокко были сформированы и доукомплектованы элитные марокканские пулеметные и пехотные дивизии (</a:t>
            </a:r>
            <a:r>
              <a:rPr lang="ru-RU" sz="100" dirty="0" err="1"/>
              <a:t>Division</a:t>
            </a:r>
            <a:r>
              <a:rPr lang="ru-RU" sz="100" dirty="0"/>
              <a:t> </a:t>
            </a:r>
            <a:r>
              <a:rPr lang="ru-RU" sz="100" dirty="0" err="1"/>
              <a:t>d'Infanterie</a:t>
            </a:r>
            <a:r>
              <a:rPr lang="ru-RU" sz="100" dirty="0"/>
              <a:t> </a:t>
            </a:r>
            <a:r>
              <a:rPr lang="ru-RU" sz="100" dirty="0" err="1"/>
              <a:t>Marocaine</a:t>
            </a:r>
            <a:r>
              <a:rPr lang="ru-RU" sz="100" dirty="0"/>
              <a:t>). В 1939 году их перебросили во Францию, где они героически проявили себя в боях 1940 года (например, при </a:t>
            </a:r>
            <a:r>
              <a:rPr lang="ru-RU" sz="100" dirty="0" err="1"/>
              <a:t>Жамблу</a:t>
            </a:r>
            <a:r>
              <a:rPr lang="ru-RU" sz="100" dirty="0"/>
              <a:t>).Эффект в HOI 4: </a:t>
            </a:r>
            <a:r>
              <a:rPr lang="ru-RU" sz="100" dirty="0" err="1"/>
              <a:t>Спавнит</a:t>
            </a:r>
            <a:r>
              <a:rPr lang="ru-RU" sz="100" dirty="0"/>
              <a:t> в Касабланке 2 пехотные дивизии с полной организацией, оснащенные уникальным батальоном поддержки (усиленная ПВО/противотанковое оружие).)</a:t>
            </a:r>
            <a:endParaRPr lang="ru-RU" sz="700" dirty="0"/>
          </a:p>
        </p:txBody>
      </p:sp>
      <p:cxnSp>
        <p:nvCxnSpPr>
          <p:cNvPr id="66" name="Соединительная линия уступом 620">
            <a:extLst>
              <a:ext uri="{FF2B5EF4-FFF2-40B4-BE49-F238E27FC236}">
                <a16:creationId xmlns:a16="http://schemas.microsoft.com/office/drawing/2014/main" id="{775EF59B-92BB-448D-9060-1020657DAE50}"/>
              </a:ext>
            </a:extLst>
          </p:cNvPr>
          <p:cNvCxnSpPr>
            <a:cxnSpLocks/>
            <a:stCxn id="15" idx="2"/>
            <a:endCxn id="50" idx="0"/>
          </p:cNvCxnSpPr>
          <p:nvPr/>
        </p:nvCxnSpPr>
        <p:spPr>
          <a:xfrm rot="5400000">
            <a:off x="16480060" y="15001284"/>
            <a:ext cx="264165" cy="186152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5" name="Соединительная линия уступом 620">
            <a:extLst>
              <a:ext uri="{FF2B5EF4-FFF2-40B4-BE49-F238E27FC236}">
                <a16:creationId xmlns:a16="http://schemas.microsoft.com/office/drawing/2014/main" id="{9347027B-3953-4C7C-87D7-9E28155E8A97}"/>
              </a:ext>
            </a:extLst>
          </p:cNvPr>
          <p:cNvCxnSpPr>
            <a:cxnSpLocks/>
            <a:stCxn id="47" idx="2"/>
            <a:endCxn id="48" idx="0"/>
          </p:cNvCxnSpPr>
          <p:nvPr/>
        </p:nvCxnSpPr>
        <p:spPr>
          <a:xfrm rot="5400000">
            <a:off x="16785124" y="16743474"/>
            <a:ext cx="277929" cy="64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9" name="Прямоугольник 118">
            <a:extLst>
              <a:ext uri="{FF2B5EF4-FFF2-40B4-BE49-F238E27FC236}">
                <a16:creationId xmlns:a16="http://schemas.microsoft.com/office/drawing/2014/main" id="{3CF48485-A290-42AB-9C6F-E8084039BD49}"/>
              </a:ext>
            </a:extLst>
          </p:cNvPr>
          <p:cNvSpPr/>
          <p:nvPr/>
        </p:nvSpPr>
        <p:spPr>
          <a:xfrm>
            <a:off x="17702445" y="1688276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Интеграция Иностранного легиона в гарнизон Феса </a:t>
            </a:r>
            <a:r>
              <a:rPr lang="ru-RU" sz="100" dirty="0"/>
              <a:t>(2-й иностранный пехотный полк (2e REI) Иностранного легиона базировался в Марокко и в этот период активно укреплял внутренние рубежи протектората для предотвращения диверсий </a:t>
            </a:r>
            <a:r>
              <a:rPr lang="ru-RU" sz="100" dirty="0" err="1"/>
              <a:t>Оси.Эффект</a:t>
            </a:r>
            <a:r>
              <a:rPr lang="ru-RU" sz="100" dirty="0"/>
              <a:t> в HOI 4: Добавляет 1 элитную дивизию Иностранного легиона. Дает национальный дух «Жесткий колониальный порядок» (-15% к скорости роста сопротивления в североафриканских регионах).)</a:t>
            </a:r>
            <a:endParaRPr lang="ru-RU" sz="700" dirty="0"/>
          </a:p>
        </p:txBody>
      </p:sp>
      <p:cxnSp>
        <p:nvCxnSpPr>
          <p:cNvPr id="120" name="Соединительная линия уступом 620">
            <a:extLst>
              <a:ext uri="{FF2B5EF4-FFF2-40B4-BE49-F238E27FC236}">
                <a16:creationId xmlns:a16="http://schemas.microsoft.com/office/drawing/2014/main" id="{1C49954F-9A8C-47CD-A07F-8EACC55803D6}"/>
              </a:ext>
            </a:extLst>
          </p:cNvPr>
          <p:cNvCxnSpPr>
            <a:cxnSpLocks/>
            <a:stCxn id="64" idx="2"/>
            <a:endCxn id="119" idx="0"/>
          </p:cNvCxnSpPr>
          <p:nvPr/>
        </p:nvCxnSpPr>
        <p:spPr>
          <a:xfrm rot="5400000">
            <a:off x="18029208" y="16746362"/>
            <a:ext cx="272802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6" name="Прямоугольник 125">
            <a:extLst>
              <a:ext uri="{FF2B5EF4-FFF2-40B4-BE49-F238E27FC236}">
                <a16:creationId xmlns:a16="http://schemas.microsoft.com/office/drawing/2014/main" id="{A64226DA-F307-4AD4-868A-E3263905A7C0}"/>
              </a:ext>
            </a:extLst>
          </p:cNvPr>
          <p:cNvSpPr/>
          <p:nvPr/>
        </p:nvSpPr>
        <p:spPr>
          <a:xfrm>
            <a:off x="18943644" y="1688502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План обороны Марокканской Сахары </a:t>
            </a:r>
            <a:r>
              <a:rPr lang="ru-RU" sz="100" dirty="0"/>
              <a:t>(Французское командование опасалось, что профашистские силы из Испанского Сахары или итальянские войска из Ливии могут нанести удар через пустыню во фланг. Были созданы специальные мобильные дозоры (</a:t>
            </a:r>
            <a:r>
              <a:rPr lang="ru-RU" sz="100" dirty="0" err="1"/>
              <a:t>Compagnies</a:t>
            </a:r>
            <a:r>
              <a:rPr lang="ru-RU" sz="100" dirty="0"/>
              <a:t> </a:t>
            </a:r>
            <a:r>
              <a:rPr lang="ru-RU" sz="100" dirty="0" err="1"/>
              <a:t>Sahariennes</a:t>
            </a:r>
            <a:r>
              <a:rPr lang="ru-RU" sz="100" dirty="0"/>
              <a:t>).Эффект в HOI 4: Дает войскам национальный дух «Адаптация к пустыне» (+15% к защите и -10% к истощению (</a:t>
            </a:r>
            <a:r>
              <a:rPr lang="ru-RU" sz="100" dirty="0" err="1"/>
              <a:t>Attrition</a:t>
            </a:r>
            <a:r>
              <a:rPr lang="ru-RU" sz="100" dirty="0"/>
              <a:t>) в пустынных регионах).)</a:t>
            </a:r>
            <a:endParaRPr lang="ru-RU" sz="700" dirty="0"/>
          </a:p>
        </p:txBody>
      </p:sp>
      <p:sp>
        <p:nvSpPr>
          <p:cNvPr id="127" name="Прямоугольник 126">
            <a:extLst>
              <a:ext uri="{FF2B5EF4-FFF2-40B4-BE49-F238E27FC236}">
                <a16:creationId xmlns:a16="http://schemas.microsoft.com/office/drawing/2014/main" id="{3617F385-549C-4202-8FFA-47012C570CE6}"/>
              </a:ext>
            </a:extLst>
          </p:cNvPr>
          <p:cNvSpPr/>
          <p:nvPr/>
        </p:nvSpPr>
        <p:spPr>
          <a:xfrm>
            <a:off x="18945477" y="1770283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Фортификация прохода Таза </a:t>
            </a:r>
            <a:r>
              <a:rPr lang="ru-RU" sz="200" dirty="0"/>
              <a:t>(Проход Таза — стратегический коридор между горами Риф и Атлас, связывающий Марокко с Алжиром. В 1938–1939 годах </a:t>
            </a:r>
            <a:r>
              <a:rPr lang="ru-RU" sz="200" dirty="0" err="1"/>
              <a:t>Ногес</a:t>
            </a:r>
            <a:r>
              <a:rPr lang="ru-RU" sz="200" dirty="0"/>
              <a:t> укрепил этот проход на случай прорыва испанских войск Франко на </a:t>
            </a:r>
            <a:r>
              <a:rPr lang="ru-RU" sz="200" dirty="0" err="1"/>
              <a:t>восток.Эффект</a:t>
            </a:r>
            <a:r>
              <a:rPr lang="ru-RU" sz="200" dirty="0"/>
              <a:t> в HOI 4: Строит сухопутные укрепления (</a:t>
            </a:r>
            <a:r>
              <a:rPr lang="ru-RU" sz="200" dirty="0" err="1"/>
              <a:t>Land</a:t>
            </a:r>
            <a:r>
              <a:rPr lang="ru-RU" sz="200" dirty="0"/>
              <a:t> </a:t>
            </a:r>
            <a:r>
              <a:rPr lang="ru-RU" sz="200" dirty="0" err="1"/>
              <a:t>Fort</a:t>
            </a:r>
            <a:r>
              <a:rPr lang="ru-RU" sz="200" dirty="0"/>
              <a:t>) 3-го уровня в провинции Таза.)</a:t>
            </a:r>
            <a:endParaRPr lang="ru-RU" sz="700" dirty="0"/>
          </a:p>
        </p:txBody>
      </p:sp>
      <p:cxnSp>
        <p:nvCxnSpPr>
          <p:cNvPr id="128" name="Соединительная линия уступом 620">
            <a:extLst>
              <a:ext uri="{FF2B5EF4-FFF2-40B4-BE49-F238E27FC236}">
                <a16:creationId xmlns:a16="http://schemas.microsoft.com/office/drawing/2014/main" id="{B56A252E-000F-46D9-8A67-9B4FFEF6E95A}"/>
              </a:ext>
            </a:extLst>
          </p:cNvPr>
          <p:cNvCxnSpPr>
            <a:cxnSpLocks/>
            <a:stCxn id="350" idx="2"/>
            <a:endCxn id="126" idx="0"/>
          </p:cNvCxnSpPr>
          <p:nvPr/>
        </p:nvCxnSpPr>
        <p:spPr>
          <a:xfrm rot="5400000">
            <a:off x="19268818" y="16745202"/>
            <a:ext cx="277812" cy="183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Соединительная линия уступом 620">
            <a:extLst>
              <a:ext uri="{FF2B5EF4-FFF2-40B4-BE49-F238E27FC236}">
                <a16:creationId xmlns:a16="http://schemas.microsoft.com/office/drawing/2014/main" id="{DA899D96-1E1A-4363-AB63-73A3D0E880CA}"/>
              </a:ext>
            </a:extLst>
          </p:cNvPr>
          <p:cNvCxnSpPr>
            <a:cxnSpLocks/>
            <a:stCxn id="126" idx="2"/>
            <a:endCxn id="127" idx="0"/>
          </p:cNvCxnSpPr>
          <p:nvPr/>
        </p:nvCxnSpPr>
        <p:spPr>
          <a:xfrm rot="16200000" flipH="1">
            <a:off x="19268817" y="17563014"/>
            <a:ext cx="277812" cy="183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Соединительная линия уступом 620">
            <a:extLst>
              <a:ext uri="{FF2B5EF4-FFF2-40B4-BE49-F238E27FC236}">
                <a16:creationId xmlns:a16="http://schemas.microsoft.com/office/drawing/2014/main" id="{427284D2-5073-49BB-80E8-8CBFE6818061}"/>
              </a:ext>
            </a:extLst>
          </p:cNvPr>
          <p:cNvCxnSpPr>
            <a:cxnSpLocks/>
            <a:stCxn id="15" idx="2"/>
            <a:endCxn id="64" idx="0"/>
          </p:cNvCxnSpPr>
          <p:nvPr/>
        </p:nvCxnSpPr>
        <p:spPr>
          <a:xfrm rot="16200000" flipH="1">
            <a:off x="17719257" y="15623609"/>
            <a:ext cx="269998" cy="622706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Соединительная линия уступом 620">
            <a:extLst>
              <a:ext uri="{FF2B5EF4-FFF2-40B4-BE49-F238E27FC236}">
                <a16:creationId xmlns:a16="http://schemas.microsoft.com/office/drawing/2014/main" id="{AA1582C5-1439-4397-8237-B28164A1D826}"/>
              </a:ext>
            </a:extLst>
          </p:cNvPr>
          <p:cNvCxnSpPr>
            <a:cxnSpLocks/>
            <a:stCxn id="17" idx="2"/>
            <a:endCxn id="64" idx="0"/>
          </p:cNvCxnSpPr>
          <p:nvPr/>
        </p:nvCxnSpPr>
        <p:spPr>
          <a:xfrm rot="5400000">
            <a:off x="18954803" y="15010770"/>
            <a:ext cx="269997" cy="184838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2" name="Прямоугольник 141">
            <a:extLst>
              <a:ext uri="{FF2B5EF4-FFF2-40B4-BE49-F238E27FC236}">
                <a16:creationId xmlns:a16="http://schemas.microsoft.com/office/drawing/2014/main" id="{3A5FD517-775F-41FA-954E-4997092012D0}"/>
              </a:ext>
            </a:extLst>
          </p:cNvPr>
          <p:cNvSpPr/>
          <p:nvPr/>
        </p:nvSpPr>
        <p:spPr>
          <a:xfrm>
            <a:off x="18326336" y="1850469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Арсенал в Касабланке </a:t>
            </a:r>
            <a:r>
              <a:rPr lang="ru-RU" sz="100" dirty="0"/>
              <a:t>(Понимая уязвимость морских путей из метрополии, французское командование в 1937 году начало расширять склады боеприпасов и ремонтные мастерские в Марокко, чтобы армия могла воевать автономно как минимум 6 </a:t>
            </a:r>
            <a:r>
              <a:rPr lang="ru-RU" sz="100" dirty="0" err="1"/>
              <a:t>месяцев.Эффект</a:t>
            </a:r>
            <a:r>
              <a:rPr lang="ru-RU" sz="100" dirty="0"/>
              <a:t> в HOI 4: Добавляет 1 военную фабрику в Касабланку. Увеличивает максимальную емкость региональных складов снабжения на +20%.)</a:t>
            </a:r>
            <a:endParaRPr lang="ru-RU" sz="700" dirty="0"/>
          </a:p>
        </p:txBody>
      </p:sp>
      <p:cxnSp>
        <p:nvCxnSpPr>
          <p:cNvPr id="145" name="Соединительная линия уступом 620">
            <a:extLst>
              <a:ext uri="{FF2B5EF4-FFF2-40B4-BE49-F238E27FC236}">
                <a16:creationId xmlns:a16="http://schemas.microsoft.com/office/drawing/2014/main" id="{BF25CA53-BF7B-46EB-B789-F78E5EBDB9E6}"/>
              </a:ext>
            </a:extLst>
          </p:cNvPr>
          <p:cNvCxnSpPr>
            <a:cxnSpLocks/>
            <a:stCxn id="17" idx="2"/>
            <a:endCxn id="142" idx="0"/>
          </p:cNvCxnSpPr>
          <p:nvPr/>
        </p:nvCxnSpPr>
        <p:spPr>
          <a:xfrm rot="5400000">
            <a:off x="18049382" y="16540081"/>
            <a:ext cx="2704729" cy="1224494"/>
          </a:xfrm>
          <a:prstGeom prst="bentConnector3">
            <a:avLst>
              <a:gd name="adj1" fmla="val 4923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2" name="Соединительная линия уступом 620">
            <a:extLst>
              <a:ext uri="{FF2B5EF4-FFF2-40B4-BE49-F238E27FC236}">
                <a16:creationId xmlns:a16="http://schemas.microsoft.com/office/drawing/2014/main" id="{01D1BF9F-D513-46C7-908C-5B4C91A12224}"/>
              </a:ext>
            </a:extLst>
          </p:cNvPr>
          <p:cNvCxnSpPr>
            <a:cxnSpLocks/>
            <a:stCxn id="15" idx="2"/>
            <a:endCxn id="142" idx="0"/>
          </p:cNvCxnSpPr>
          <p:nvPr/>
        </p:nvCxnSpPr>
        <p:spPr>
          <a:xfrm rot="16200000" flipH="1">
            <a:off x="16813836" y="16529030"/>
            <a:ext cx="2704730" cy="1246596"/>
          </a:xfrm>
          <a:prstGeom prst="bentConnector3">
            <a:avLst>
              <a:gd name="adj1" fmla="val 4923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7" name="Соединительная линия уступом 620">
            <a:extLst>
              <a:ext uri="{FF2B5EF4-FFF2-40B4-BE49-F238E27FC236}">
                <a16:creationId xmlns:a16="http://schemas.microsoft.com/office/drawing/2014/main" id="{0257675D-9D87-4013-A4B3-21AC7CEB9172}"/>
              </a:ext>
            </a:extLst>
          </p:cNvPr>
          <p:cNvCxnSpPr>
            <a:cxnSpLocks/>
            <a:stCxn id="50" idx="2"/>
            <a:endCxn id="67" idx="0"/>
          </p:cNvCxnSpPr>
          <p:nvPr/>
        </p:nvCxnSpPr>
        <p:spPr>
          <a:xfrm rot="5400000">
            <a:off x="15542416" y="16743092"/>
            <a:ext cx="27792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" name="Прямоугольник 33">
            <a:extLst>
              <a:ext uri="{FF2B5EF4-FFF2-40B4-BE49-F238E27FC236}">
                <a16:creationId xmlns:a16="http://schemas.microsoft.com/office/drawing/2014/main" id="{A3C38FDA-FE76-4414-9665-A87A38A404AB}"/>
              </a:ext>
            </a:extLst>
          </p:cNvPr>
          <p:cNvSpPr/>
          <p:nvPr/>
        </p:nvSpPr>
        <p:spPr>
          <a:xfrm>
            <a:off x="17702444" y="1770283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Обучение местных офицеров французской школе</a:t>
            </a:r>
          </a:p>
        </p:txBody>
      </p:sp>
      <p:sp>
        <p:nvSpPr>
          <p:cNvPr id="43" name="Прямоугольник 42">
            <a:extLst>
              <a:ext uri="{FF2B5EF4-FFF2-40B4-BE49-F238E27FC236}">
                <a16:creationId xmlns:a16="http://schemas.microsoft.com/office/drawing/2014/main" id="{FCAE2352-9C3C-4C3B-ABF6-0C9820D5E2E7}"/>
              </a:ext>
            </a:extLst>
          </p:cNvPr>
          <p:cNvSpPr/>
          <p:nvPr/>
        </p:nvSpPr>
        <p:spPr>
          <a:xfrm>
            <a:off x="15846283" y="1770069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Ужесточить контроль над племенами</a:t>
            </a:r>
          </a:p>
        </p:txBody>
      </p:sp>
      <p:cxnSp>
        <p:nvCxnSpPr>
          <p:cNvPr id="44" name="Соединительная линия уступом 620">
            <a:extLst>
              <a:ext uri="{FF2B5EF4-FFF2-40B4-BE49-F238E27FC236}">
                <a16:creationId xmlns:a16="http://schemas.microsoft.com/office/drawing/2014/main" id="{69B81608-81C7-4019-91A2-1B383072EED4}"/>
              </a:ext>
            </a:extLst>
          </p:cNvPr>
          <p:cNvCxnSpPr>
            <a:cxnSpLocks/>
            <a:stCxn id="48" idx="2"/>
            <a:endCxn id="43" idx="0"/>
          </p:cNvCxnSpPr>
          <p:nvPr/>
        </p:nvCxnSpPr>
        <p:spPr>
          <a:xfrm rot="5400000">
            <a:off x="16477641" y="17254568"/>
            <a:ext cx="277929" cy="61431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" name="Соединительная линия уступом 620">
            <a:extLst>
              <a:ext uri="{FF2B5EF4-FFF2-40B4-BE49-F238E27FC236}">
                <a16:creationId xmlns:a16="http://schemas.microsoft.com/office/drawing/2014/main" id="{CD7FE15A-1A35-4AA9-ADAF-3D870341CBB3}"/>
              </a:ext>
            </a:extLst>
          </p:cNvPr>
          <p:cNvCxnSpPr>
            <a:cxnSpLocks/>
            <a:stCxn id="50" idx="2"/>
            <a:endCxn id="43" idx="0"/>
          </p:cNvCxnSpPr>
          <p:nvPr/>
        </p:nvCxnSpPr>
        <p:spPr>
          <a:xfrm rot="16200000" flipH="1">
            <a:off x="15447131" y="16838377"/>
            <a:ext cx="1096564" cy="628066"/>
          </a:xfrm>
          <a:prstGeom prst="bentConnector3">
            <a:avLst>
              <a:gd name="adj1" fmla="val 11433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Соединительная линия уступом 620">
            <a:extLst>
              <a:ext uri="{FF2B5EF4-FFF2-40B4-BE49-F238E27FC236}">
                <a16:creationId xmlns:a16="http://schemas.microsoft.com/office/drawing/2014/main" id="{5CB7E9BC-A998-4582-8577-A7B4D3E86F93}"/>
              </a:ext>
            </a:extLst>
          </p:cNvPr>
          <p:cNvCxnSpPr>
            <a:cxnSpLocks/>
            <a:stCxn id="119" idx="2"/>
            <a:endCxn id="34" idx="0"/>
          </p:cNvCxnSpPr>
          <p:nvPr/>
        </p:nvCxnSpPr>
        <p:spPr>
          <a:xfrm rot="5400000">
            <a:off x="18025571" y="17562800"/>
            <a:ext cx="280074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Соединительная линия уступом 620">
            <a:extLst>
              <a:ext uri="{FF2B5EF4-FFF2-40B4-BE49-F238E27FC236}">
                <a16:creationId xmlns:a16="http://schemas.microsoft.com/office/drawing/2014/main" id="{1516A531-E45C-47DC-8EC6-CF2565E937C1}"/>
              </a:ext>
            </a:extLst>
          </p:cNvPr>
          <p:cNvCxnSpPr>
            <a:cxnSpLocks/>
            <a:stCxn id="17" idx="2"/>
            <a:endCxn id="45" idx="0"/>
          </p:cNvCxnSpPr>
          <p:nvPr/>
        </p:nvCxnSpPr>
        <p:spPr>
          <a:xfrm rot="16200000" flipH="1">
            <a:off x="20190564" y="15623392"/>
            <a:ext cx="264164" cy="61730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Прямоугольник 55">
            <a:extLst>
              <a:ext uri="{FF2B5EF4-FFF2-40B4-BE49-F238E27FC236}">
                <a16:creationId xmlns:a16="http://schemas.microsoft.com/office/drawing/2014/main" id="{96D625CF-709C-45A4-8F67-B38EF72340EB}"/>
              </a:ext>
            </a:extLst>
          </p:cNvPr>
          <p:cNvSpPr/>
          <p:nvPr/>
        </p:nvSpPr>
        <p:spPr>
          <a:xfrm>
            <a:off x="21406988" y="1606412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Регулярные войска из племенных солдат</a:t>
            </a:r>
          </a:p>
        </p:txBody>
      </p:sp>
      <p:cxnSp>
        <p:nvCxnSpPr>
          <p:cNvPr id="57" name="Соединительная линия уступом 620">
            <a:extLst>
              <a:ext uri="{FF2B5EF4-FFF2-40B4-BE49-F238E27FC236}">
                <a16:creationId xmlns:a16="http://schemas.microsoft.com/office/drawing/2014/main" id="{5D641075-D3D8-4219-B7E7-A761E6C0A7DF}"/>
              </a:ext>
            </a:extLst>
          </p:cNvPr>
          <p:cNvCxnSpPr>
            <a:cxnSpLocks/>
            <a:stCxn id="17" idx="2"/>
            <a:endCxn id="56" idx="0"/>
          </p:cNvCxnSpPr>
          <p:nvPr/>
        </p:nvCxnSpPr>
        <p:spPr>
          <a:xfrm rot="16200000" flipH="1">
            <a:off x="20809990" y="15003967"/>
            <a:ext cx="264164" cy="185615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Прямоугольник 59">
            <a:extLst>
              <a:ext uri="{FF2B5EF4-FFF2-40B4-BE49-F238E27FC236}">
                <a16:creationId xmlns:a16="http://schemas.microsoft.com/office/drawing/2014/main" id="{2406E51A-589D-4271-952F-39105A27CEFF}"/>
              </a:ext>
            </a:extLst>
          </p:cNvPr>
          <p:cNvSpPr/>
          <p:nvPr/>
        </p:nvSpPr>
        <p:spPr>
          <a:xfrm>
            <a:off x="18943644" y="1952529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Создание нового генерального штаба</a:t>
            </a:r>
          </a:p>
        </p:txBody>
      </p:sp>
      <p:sp>
        <p:nvSpPr>
          <p:cNvPr id="67" name="Прямоугольник 66">
            <a:extLst>
              <a:ext uri="{FF2B5EF4-FFF2-40B4-BE49-F238E27FC236}">
                <a16:creationId xmlns:a16="http://schemas.microsoft.com/office/drawing/2014/main" id="{A0D2DCD8-B96C-4D26-9B7E-0AB17D422E33}"/>
              </a:ext>
            </a:extLst>
          </p:cNvPr>
          <p:cNvSpPr/>
          <p:nvPr/>
        </p:nvSpPr>
        <p:spPr>
          <a:xfrm>
            <a:off x="15218216" y="1688205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Реформирование Марокканских стрелков </a:t>
            </a:r>
            <a:r>
              <a:rPr lang="ru-RU" sz="100" dirty="0"/>
              <a:t>(С 1936 года Франция резко увеличила набор коренных марокканцев (арабов и берберов) в ряды регулярных частей — </a:t>
            </a:r>
            <a:r>
              <a:rPr lang="ru-RU" sz="100" dirty="0" err="1"/>
              <a:t>Тиральеров</a:t>
            </a:r>
            <a:r>
              <a:rPr lang="ru-RU" sz="100" dirty="0"/>
              <a:t> (Тайлеров) и </a:t>
            </a:r>
            <a:r>
              <a:rPr lang="ru-RU" sz="100" dirty="0" err="1"/>
              <a:t>Гумьеров</a:t>
            </a:r>
            <a:r>
              <a:rPr lang="ru-RU" sz="100" dirty="0"/>
              <a:t>. К 1939 году </a:t>
            </a:r>
            <a:r>
              <a:rPr lang="ru-RU" sz="100" dirty="0" err="1"/>
              <a:t>Ногесу</a:t>
            </a:r>
            <a:r>
              <a:rPr lang="ru-RU" sz="100" dirty="0"/>
              <a:t> удалось поставить под ружье невиданное для колонии число местных </a:t>
            </a:r>
            <a:r>
              <a:rPr lang="ru-RU" sz="100" dirty="0" err="1"/>
              <a:t>жителей.Эффект</a:t>
            </a:r>
            <a:r>
              <a:rPr lang="ru-RU" sz="100" dirty="0"/>
              <a:t> в HOI 4: Дает постоянный бонус к призывному населению (</a:t>
            </a:r>
            <a:r>
              <a:rPr lang="ru-RU" sz="100" dirty="0" err="1"/>
              <a:t>Manpower</a:t>
            </a:r>
            <a:r>
              <a:rPr lang="ru-RU" sz="100" dirty="0"/>
              <a:t>) +2.50% на национальных территориях. Снижает время подготовки пехотных дивизий на 10%.)</a:t>
            </a:r>
            <a:endParaRPr lang="ru-RU" sz="700" dirty="0"/>
          </a:p>
        </p:txBody>
      </p:sp>
      <p:cxnSp>
        <p:nvCxnSpPr>
          <p:cNvPr id="68" name="Соединительная линия уступом 620">
            <a:extLst>
              <a:ext uri="{FF2B5EF4-FFF2-40B4-BE49-F238E27FC236}">
                <a16:creationId xmlns:a16="http://schemas.microsoft.com/office/drawing/2014/main" id="{641849B0-CEFB-44B3-9377-BE36AEA44928}"/>
              </a:ext>
            </a:extLst>
          </p:cNvPr>
          <p:cNvCxnSpPr>
            <a:cxnSpLocks/>
            <a:stCxn id="142" idx="2"/>
            <a:endCxn id="60" idx="0"/>
          </p:cNvCxnSpPr>
          <p:nvPr/>
        </p:nvCxnSpPr>
        <p:spPr>
          <a:xfrm rot="16200000" flipH="1">
            <a:off x="18857855" y="18976337"/>
            <a:ext cx="480597" cy="61730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Прямоугольник 71">
            <a:extLst>
              <a:ext uri="{FF2B5EF4-FFF2-40B4-BE49-F238E27FC236}">
                <a16:creationId xmlns:a16="http://schemas.microsoft.com/office/drawing/2014/main" id="{27032395-622E-45E8-8B35-5FB7A32F4FFC}"/>
              </a:ext>
            </a:extLst>
          </p:cNvPr>
          <p:cNvSpPr/>
          <p:nvPr/>
        </p:nvSpPr>
        <p:spPr>
          <a:xfrm>
            <a:off x="15222026" y="1850469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Марокканские спаги: Рождение моторизованной кавалерии (Полки марокканских </a:t>
            </a:r>
            <a:r>
              <a:rPr lang="ru-RU" sz="700" dirty="0" err="1"/>
              <a:t>спагов</a:t>
            </a:r>
            <a:r>
              <a:rPr lang="ru-RU" sz="700" dirty="0"/>
              <a:t> </a:t>
            </a:r>
            <a:r>
              <a:rPr lang="ru-RU" sz="100" dirty="0"/>
              <a:t>(элитная туземная кавалерия) славились своей стремительностью. В 1937–1938 годах 1-й и 2-й полки </a:t>
            </a:r>
            <a:r>
              <a:rPr lang="ru-RU" sz="100" dirty="0" err="1"/>
              <a:t>спагов</a:t>
            </a:r>
            <a:r>
              <a:rPr lang="ru-RU" sz="100" dirty="0"/>
              <a:t> начали частично пересаживать на мотоциклы и легкие бронеавтомобили, создавая разведывательные группы (GRDI).Эффект в HOI 4: Дает скидку 50% на исследование бронеавтомобилей (</a:t>
            </a:r>
            <a:r>
              <a:rPr lang="ru-RU" sz="100" dirty="0" err="1"/>
              <a:t>Armored</a:t>
            </a:r>
            <a:r>
              <a:rPr lang="ru-RU" sz="100" dirty="0"/>
              <a:t> </a:t>
            </a:r>
            <a:r>
              <a:rPr lang="ru-RU" sz="100" dirty="0" err="1"/>
              <a:t>Cars</a:t>
            </a:r>
            <a:r>
              <a:rPr lang="ru-RU" sz="100" dirty="0"/>
              <a:t>) или моторизованной пехоты. Увеличивает максимальную скорость кавалерийских и моторизованных шаблонов на +10%.)</a:t>
            </a:r>
            <a:endParaRPr lang="ru-RU" sz="700" dirty="0"/>
          </a:p>
        </p:txBody>
      </p:sp>
      <p:cxnSp>
        <p:nvCxnSpPr>
          <p:cNvPr id="77" name="Соединительная линия уступом 620">
            <a:extLst>
              <a:ext uri="{FF2B5EF4-FFF2-40B4-BE49-F238E27FC236}">
                <a16:creationId xmlns:a16="http://schemas.microsoft.com/office/drawing/2014/main" id="{0E212735-8577-4146-B210-5DB708FB93DE}"/>
              </a:ext>
            </a:extLst>
          </p:cNvPr>
          <p:cNvCxnSpPr>
            <a:cxnSpLocks/>
            <a:stCxn id="67" idx="2"/>
            <a:endCxn id="72" idx="0"/>
          </p:cNvCxnSpPr>
          <p:nvPr/>
        </p:nvCxnSpPr>
        <p:spPr>
          <a:xfrm rot="16200000" flipH="1">
            <a:off x="15141966" y="17961470"/>
            <a:ext cx="1082636" cy="381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3" name="Прямоугольник 82">
            <a:extLst>
              <a:ext uri="{FF2B5EF4-FFF2-40B4-BE49-F238E27FC236}">
                <a16:creationId xmlns:a16="http://schemas.microsoft.com/office/drawing/2014/main" id="{AAF920FF-6295-4D24-8F2C-081D365110E2}"/>
              </a:ext>
            </a:extLst>
          </p:cNvPr>
          <p:cNvSpPr/>
          <p:nvPr/>
        </p:nvSpPr>
        <p:spPr>
          <a:xfrm>
            <a:off x="21406987" y="1688205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Уроки Атласских гор</a:t>
            </a:r>
          </a:p>
        </p:txBody>
      </p:sp>
      <p:cxnSp>
        <p:nvCxnSpPr>
          <p:cNvPr id="84" name="Соединительная линия уступом 620">
            <a:extLst>
              <a:ext uri="{FF2B5EF4-FFF2-40B4-BE49-F238E27FC236}">
                <a16:creationId xmlns:a16="http://schemas.microsoft.com/office/drawing/2014/main" id="{0A94EED3-3573-4BCE-B9D5-0A1985395146}"/>
              </a:ext>
            </a:extLst>
          </p:cNvPr>
          <p:cNvCxnSpPr>
            <a:cxnSpLocks/>
            <a:stCxn id="56" idx="2"/>
            <a:endCxn id="83" idx="0"/>
          </p:cNvCxnSpPr>
          <p:nvPr/>
        </p:nvCxnSpPr>
        <p:spPr>
          <a:xfrm rot="5400000">
            <a:off x="21731187" y="16743092"/>
            <a:ext cx="27792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0" name="Прямоугольник 89">
            <a:extLst>
              <a:ext uri="{FF2B5EF4-FFF2-40B4-BE49-F238E27FC236}">
                <a16:creationId xmlns:a16="http://schemas.microsoft.com/office/drawing/2014/main" id="{4D3A332D-0695-445F-8EF4-63F5B567A6E2}"/>
              </a:ext>
            </a:extLst>
          </p:cNvPr>
          <p:cNvSpPr/>
          <p:nvPr/>
        </p:nvSpPr>
        <p:spPr>
          <a:xfrm>
            <a:off x="20170232" y="1770069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Поставить </a:t>
            </a:r>
            <a:r>
              <a:rPr lang="ru-RU" sz="700" dirty="0" err="1"/>
              <a:t>марроканцев</a:t>
            </a:r>
            <a:r>
              <a:rPr lang="ru-RU" sz="700" dirty="0"/>
              <a:t> на часть генеральских должностей</a:t>
            </a:r>
          </a:p>
        </p:txBody>
      </p:sp>
      <p:cxnSp>
        <p:nvCxnSpPr>
          <p:cNvPr id="91" name="Соединительная линия уступом 620">
            <a:extLst>
              <a:ext uri="{FF2B5EF4-FFF2-40B4-BE49-F238E27FC236}">
                <a16:creationId xmlns:a16="http://schemas.microsoft.com/office/drawing/2014/main" id="{35502416-1FB7-4107-8234-9BD737F2F667}"/>
              </a:ext>
            </a:extLst>
          </p:cNvPr>
          <p:cNvCxnSpPr>
            <a:cxnSpLocks/>
            <a:stCxn id="90" idx="2"/>
            <a:endCxn id="60" idx="0"/>
          </p:cNvCxnSpPr>
          <p:nvPr/>
        </p:nvCxnSpPr>
        <p:spPr>
          <a:xfrm rot="5400000">
            <a:off x="19377802" y="18269697"/>
            <a:ext cx="1284598" cy="1226588"/>
          </a:xfrm>
          <a:prstGeom prst="bentConnector3">
            <a:avLst>
              <a:gd name="adj1" fmla="val 14409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5" name="Прямоугольник 94">
            <a:extLst>
              <a:ext uri="{FF2B5EF4-FFF2-40B4-BE49-F238E27FC236}">
                <a16:creationId xmlns:a16="http://schemas.microsoft.com/office/drawing/2014/main" id="{000671E6-9ACB-4797-81EA-7FFB4B3C9776}"/>
              </a:ext>
            </a:extLst>
          </p:cNvPr>
          <p:cNvSpPr/>
          <p:nvPr/>
        </p:nvSpPr>
        <p:spPr>
          <a:xfrm>
            <a:off x="17702443" y="19525289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Создание собственных ВПК</a:t>
            </a:r>
          </a:p>
        </p:txBody>
      </p:sp>
      <p:cxnSp>
        <p:nvCxnSpPr>
          <p:cNvPr id="96" name="Соединительная линия уступом 620">
            <a:extLst>
              <a:ext uri="{FF2B5EF4-FFF2-40B4-BE49-F238E27FC236}">
                <a16:creationId xmlns:a16="http://schemas.microsoft.com/office/drawing/2014/main" id="{D0FDB751-EAC9-49EC-BA49-353FA06B40AB}"/>
              </a:ext>
            </a:extLst>
          </p:cNvPr>
          <p:cNvCxnSpPr>
            <a:cxnSpLocks/>
            <a:stCxn id="45" idx="2"/>
            <a:endCxn id="90" idx="0"/>
          </p:cNvCxnSpPr>
          <p:nvPr/>
        </p:nvCxnSpPr>
        <p:spPr>
          <a:xfrm rot="16200000" flipH="1">
            <a:off x="20084065" y="17151362"/>
            <a:ext cx="1096564" cy="209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2" name="Соединительная линия уступом 620">
            <a:extLst>
              <a:ext uri="{FF2B5EF4-FFF2-40B4-BE49-F238E27FC236}">
                <a16:creationId xmlns:a16="http://schemas.microsoft.com/office/drawing/2014/main" id="{44B3E05F-84E6-4CD9-9732-9187DD92FD5C}"/>
              </a:ext>
            </a:extLst>
          </p:cNvPr>
          <p:cNvCxnSpPr>
            <a:cxnSpLocks/>
            <a:stCxn id="142" idx="2"/>
            <a:endCxn id="95" idx="0"/>
          </p:cNvCxnSpPr>
          <p:nvPr/>
        </p:nvCxnSpPr>
        <p:spPr>
          <a:xfrm rot="5400000">
            <a:off x="18237255" y="18973045"/>
            <a:ext cx="480596" cy="62389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6" name="Прямоугольник 115">
            <a:extLst>
              <a:ext uri="{FF2B5EF4-FFF2-40B4-BE49-F238E27FC236}">
                <a16:creationId xmlns:a16="http://schemas.microsoft.com/office/drawing/2014/main" id="{6C923ED8-0C6F-4BDA-A9DA-A14DE820EC4E}"/>
              </a:ext>
            </a:extLst>
          </p:cNvPr>
          <p:cNvSpPr/>
          <p:nvPr/>
        </p:nvSpPr>
        <p:spPr>
          <a:xfrm>
            <a:off x="17702443" y="2045874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Организовать ВВС Марокко</a:t>
            </a:r>
          </a:p>
        </p:txBody>
      </p:sp>
      <p:sp>
        <p:nvSpPr>
          <p:cNvPr id="117" name="Прямоугольник 116">
            <a:extLst>
              <a:ext uri="{FF2B5EF4-FFF2-40B4-BE49-F238E27FC236}">
                <a16:creationId xmlns:a16="http://schemas.microsoft.com/office/drawing/2014/main" id="{989C3CAC-2E57-4936-AE42-8D1347A1FF71}"/>
              </a:ext>
            </a:extLst>
          </p:cNvPr>
          <p:cNvSpPr/>
          <p:nvPr/>
        </p:nvSpPr>
        <p:spPr>
          <a:xfrm>
            <a:off x="20162308" y="2045833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Основать ВМФ Марокко</a:t>
            </a:r>
          </a:p>
        </p:txBody>
      </p:sp>
      <p:cxnSp>
        <p:nvCxnSpPr>
          <p:cNvPr id="122" name="Соединительная линия уступом 620">
            <a:extLst>
              <a:ext uri="{FF2B5EF4-FFF2-40B4-BE49-F238E27FC236}">
                <a16:creationId xmlns:a16="http://schemas.microsoft.com/office/drawing/2014/main" id="{AF5CC368-C69C-4F49-A3A5-D2D665957A34}"/>
              </a:ext>
            </a:extLst>
          </p:cNvPr>
          <p:cNvCxnSpPr>
            <a:cxnSpLocks/>
            <a:stCxn id="60" idx="2"/>
            <a:endCxn id="116" idx="0"/>
          </p:cNvCxnSpPr>
          <p:nvPr/>
        </p:nvCxnSpPr>
        <p:spPr>
          <a:xfrm rot="5400000">
            <a:off x="18589482" y="19641415"/>
            <a:ext cx="393450" cy="124120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3" name="Соединительная линия уступом 620">
            <a:extLst>
              <a:ext uri="{FF2B5EF4-FFF2-40B4-BE49-F238E27FC236}">
                <a16:creationId xmlns:a16="http://schemas.microsoft.com/office/drawing/2014/main" id="{D5615A50-0893-4183-9AB3-0F88CC013A32}"/>
              </a:ext>
            </a:extLst>
          </p:cNvPr>
          <p:cNvCxnSpPr>
            <a:cxnSpLocks/>
            <a:stCxn id="60" idx="2"/>
            <a:endCxn id="117" idx="0"/>
          </p:cNvCxnSpPr>
          <p:nvPr/>
        </p:nvCxnSpPr>
        <p:spPr>
          <a:xfrm rot="16200000" flipH="1">
            <a:off x="19819616" y="19652481"/>
            <a:ext cx="393047" cy="121866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Прямоугольник 60">
            <a:extLst>
              <a:ext uri="{FF2B5EF4-FFF2-40B4-BE49-F238E27FC236}">
                <a16:creationId xmlns:a16="http://schemas.microsoft.com/office/drawing/2014/main" id="{1BDF08AB-F681-45B6-B5CD-61E85C8BCE61}"/>
              </a:ext>
            </a:extLst>
          </p:cNvPr>
          <p:cNvSpPr/>
          <p:nvPr/>
        </p:nvSpPr>
        <p:spPr>
          <a:xfrm>
            <a:off x="12143190" y="1455483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Лишить власти халифа</a:t>
            </a:r>
          </a:p>
        </p:txBody>
      </p:sp>
      <p:sp>
        <p:nvSpPr>
          <p:cNvPr id="62" name="Прямоугольник 61">
            <a:extLst>
              <a:ext uri="{FF2B5EF4-FFF2-40B4-BE49-F238E27FC236}">
                <a16:creationId xmlns:a16="http://schemas.microsoft.com/office/drawing/2014/main" id="{F01E357F-2538-4F42-A508-D7C977E20E3E}"/>
              </a:ext>
            </a:extLst>
          </p:cNvPr>
          <p:cNvSpPr/>
          <p:nvPr/>
        </p:nvSpPr>
        <p:spPr>
          <a:xfrm>
            <a:off x="13379087" y="1623694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Вернуть железные рудники Эль-Рифа к работе</a:t>
            </a:r>
          </a:p>
        </p:txBody>
      </p:sp>
      <p:sp>
        <p:nvSpPr>
          <p:cNvPr id="63" name="Прямоугольник 62">
            <a:extLst>
              <a:ext uri="{FF2B5EF4-FFF2-40B4-BE49-F238E27FC236}">
                <a16:creationId xmlns:a16="http://schemas.microsoft.com/office/drawing/2014/main" id="{6AED1E57-3209-4749-B8A1-832D75242D7D}"/>
              </a:ext>
            </a:extLst>
          </p:cNvPr>
          <p:cNvSpPr/>
          <p:nvPr/>
        </p:nvSpPr>
        <p:spPr>
          <a:xfrm>
            <a:off x="12143191" y="1623694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Репрессировать членов Партии Марокканского Единства </a:t>
            </a:r>
            <a:r>
              <a:rPr lang="ru-RU" sz="100" dirty="0"/>
              <a:t>(Опасаясь влияния Торреса, верховный комиссар генерал </a:t>
            </a:r>
            <a:r>
              <a:rPr lang="ru-RU" sz="100" dirty="0" err="1"/>
              <a:t>Бейгбедер</a:t>
            </a:r>
            <a:r>
              <a:rPr lang="ru-RU" sz="100" dirty="0"/>
              <a:t> противопоставил ему другого националистического деятеля - Мекки </a:t>
            </a:r>
            <a:r>
              <a:rPr lang="ru-RU" sz="100" dirty="0" err="1"/>
              <a:t>Насыри</a:t>
            </a:r>
            <a:r>
              <a:rPr lang="ru-RU" sz="100" dirty="0"/>
              <a:t>. Последний снискал популярность </a:t>
            </a:r>
            <a:r>
              <a:rPr lang="ru-RU" sz="100" dirty="0" err="1"/>
              <a:t>реча¬ми</a:t>
            </a:r>
            <a:r>
              <a:rPr lang="ru-RU" sz="100" dirty="0"/>
              <a:t> в Большой мечети о национальных чаяниях марокканского народа. Верховный комиссар помог </a:t>
            </a:r>
            <a:r>
              <a:rPr lang="ru-RU" sz="100" dirty="0" err="1"/>
              <a:t>Насыри</a:t>
            </a:r>
            <a:r>
              <a:rPr lang="ru-RU" sz="100" dirty="0"/>
              <a:t> создать Партию </a:t>
            </a:r>
            <a:r>
              <a:rPr lang="ru-RU" sz="100" dirty="0" err="1"/>
              <a:t>ма¬рокканского</a:t>
            </a:r>
            <a:r>
              <a:rPr lang="ru-RU" sz="100" dirty="0"/>
              <a:t> единства (ПМЕ). Лидеры обеих партий представляли одни н те же социальные слои, выдвигали практически </a:t>
            </a:r>
            <a:r>
              <a:rPr lang="ru-RU" sz="100" dirty="0" err="1"/>
              <a:t>идентич¬ные</a:t>
            </a:r>
            <a:r>
              <a:rPr lang="ru-RU" sz="100" dirty="0"/>
              <a:t> требования. Но для арабского населения партия </a:t>
            </a:r>
            <a:r>
              <a:rPr lang="ru-RU" sz="100" dirty="0" err="1"/>
              <a:t>Насыри</a:t>
            </a:r>
            <a:r>
              <a:rPr lang="ru-RU" sz="100" dirty="0"/>
              <a:t> была более привлекательной вследствие ее приверженности </a:t>
            </a:r>
            <a:r>
              <a:rPr lang="ru-RU" sz="100" dirty="0" err="1"/>
              <a:t>ара¬бизму</a:t>
            </a:r>
            <a:r>
              <a:rPr lang="ru-RU" sz="100" dirty="0"/>
              <a:t>: ПМЕ выступала за то, чтобы арабский язык был объявлен единственным официальным языком мусульманского Марокко. Обе партии первоначально не ставили перед собой конкретных задач по изменению положения в испанской зоне.)</a:t>
            </a:r>
            <a:endParaRPr lang="ru-RU" sz="700" dirty="0"/>
          </a:p>
        </p:txBody>
      </p:sp>
      <p:sp>
        <p:nvSpPr>
          <p:cNvPr id="65" name="Прямоугольник 64">
            <a:extLst>
              <a:ext uri="{FF2B5EF4-FFF2-40B4-BE49-F238E27FC236}">
                <a16:creationId xmlns:a16="http://schemas.microsoft.com/office/drawing/2014/main" id="{874692AA-CCE2-4AB8-9FED-C4FEB6AED264}"/>
              </a:ext>
            </a:extLst>
          </p:cNvPr>
          <p:cNvSpPr/>
          <p:nvPr/>
        </p:nvSpPr>
        <p:spPr>
          <a:xfrm>
            <a:off x="12752201" y="1543278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Подчинить власти </a:t>
            </a:r>
            <a:r>
              <a:rPr lang="ru-RU" sz="700" dirty="0" err="1"/>
              <a:t>Рифские</a:t>
            </a:r>
            <a:r>
              <a:rPr lang="ru-RU" sz="700" dirty="0"/>
              <a:t> племена</a:t>
            </a:r>
          </a:p>
        </p:txBody>
      </p:sp>
      <p:sp>
        <p:nvSpPr>
          <p:cNvPr id="69" name="Прямоугольник 68">
            <a:extLst>
              <a:ext uri="{FF2B5EF4-FFF2-40B4-BE49-F238E27FC236}">
                <a16:creationId xmlns:a16="http://schemas.microsoft.com/office/drawing/2014/main" id="{4E0BC902-F193-41B5-9412-7B2908EC0C4D}"/>
              </a:ext>
            </a:extLst>
          </p:cNvPr>
          <p:cNvSpPr/>
          <p:nvPr/>
        </p:nvSpPr>
        <p:spPr>
          <a:xfrm>
            <a:off x="10904340" y="1623694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Интегрировать националистов из Испанского протектората в систему</a:t>
            </a:r>
          </a:p>
        </p:txBody>
      </p:sp>
      <p:sp>
        <p:nvSpPr>
          <p:cNvPr id="70" name="Прямоугольник 69">
            <a:extLst>
              <a:ext uri="{FF2B5EF4-FFF2-40B4-BE49-F238E27FC236}">
                <a16:creationId xmlns:a16="http://schemas.microsoft.com/office/drawing/2014/main" id="{83D56CB7-8E45-4830-9F6B-4811EE5F5515}"/>
              </a:ext>
            </a:extLst>
          </p:cNvPr>
          <p:cNvSpPr/>
          <p:nvPr/>
        </p:nvSpPr>
        <p:spPr>
          <a:xfrm>
            <a:off x="11513350" y="1543278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Набрать испанских </a:t>
            </a:r>
            <a:r>
              <a:rPr lang="ru-RU" sz="700" dirty="0" err="1"/>
              <a:t>регулярисов</a:t>
            </a:r>
            <a:r>
              <a:rPr lang="ru-RU" sz="700" dirty="0"/>
              <a:t> в армию</a:t>
            </a:r>
          </a:p>
        </p:txBody>
      </p:sp>
      <p:cxnSp>
        <p:nvCxnSpPr>
          <p:cNvPr id="71" name="Соединительная линия уступом 620">
            <a:extLst>
              <a:ext uri="{FF2B5EF4-FFF2-40B4-BE49-F238E27FC236}">
                <a16:creationId xmlns:a16="http://schemas.microsoft.com/office/drawing/2014/main" id="{FC503326-F9EF-430D-9DFB-5A12F33842F7}"/>
              </a:ext>
            </a:extLst>
          </p:cNvPr>
          <p:cNvCxnSpPr>
            <a:cxnSpLocks/>
            <a:stCxn id="61" idx="2"/>
            <a:endCxn id="70" idx="0"/>
          </p:cNvCxnSpPr>
          <p:nvPr/>
        </p:nvCxnSpPr>
        <p:spPr>
          <a:xfrm rot="5400000">
            <a:off x="12122460" y="14948888"/>
            <a:ext cx="337947" cy="62984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3" name="Соединительная линия уступом 620">
            <a:extLst>
              <a:ext uri="{FF2B5EF4-FFF2-40B4-BE49-F238E27FC236}">
                <a16:creationId xmlns:a16="http://schemas.microsoft.com/office/drawing/2014/main" id="{A7450548-355A-4BD6-802F-F779613A5B27}"/>
              </a:ext>
            </a:extLst>
          </p:cNvPr>
          <p:cNvCxnSpPr>
            <a:cxnSpLocks/>
            <a:stCxn id="61" idx="2"/>
            <a:endCxn id="65" idx="0"/>
          </p:cNvCxnSpPr>
          <p:nvPr/>
        </p:nvCxnSpPr>
        <p:spPr>
          <a:xfrm rot="16200000" flipH="1">
            <a:off x="12741885" y="14959302"/>
            <a:ext cx="337947" cy="60901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Соединительная линия уступом 620">
            <a:extLst>
              <a:ext uri="{FF2B5EF4-FFF2-40B4-BE49-F238E27FC236}">
                <a16:creationId xmlns:a16="http://schemas.microsoft.com/office/drawing/2014/main" id="{78C7FACD-A76A-4290-A8B6-AA4949ACE264}"/>
              </a:ext>
            </a:extLst>
          </p:cNvPr>
          <p:cNvCxnSpPr>
            <a:cxnSpLocks/>
            <a:stCxn id="70" idx="2"/>
            <a:endCxn id="63" idx="0"/>
          </p:cNvCxnSpPr>
          <p:nvPr/>
        </p:nvCxnSpPr>
        <p:spPr>
          <a:xfrm rot="16200000" flipH="1">
            <a:off x="12159352" y="15789942"/>
            <a:ext cx="264163" cy="62984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Соединительная линия уступом 620">
            <a:extLst>
              <a:ext uri="{FF2B5EF4-FFF2-40B4-BE49-F238E27FC236}">
                <a16:creationId xmlns:a16="http://schemas.microsoft.com/office/drawing/2014/main" id="{628A329A-99EE-44F7-B1A4-82DAB3BC0CE4}"/>
              </a:ext>
            </a:extLst>
          </p:cNvPr>
          <p:cNvCxnSpPr>
            <a:cxnSpLocks/>
            <a:stCxn id="65" idx="2"/>
            <a:endCxn id="63" idx="0"/>
          </p:cNvCxnSpPr>
          <p:nvPr/>
        </p:nvCxnSpPr>
        <p:spPr>
          <a:xfrm rot="5400000">
            <a:off x="12778778" y="15800358"/>
            <a:ext cx="264163" cy="60901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Соединительная линия уступом 620">
            <a:extLst>
              <a:ext uri="{FF2B5EF4-FFF2-40B4-BE49-F238E27FC236}">
                <a16:creationId xmlns:a16="http://schemas.microsoft.com/office/drawing/2014/main" id="{A1BFEAB3-7700-47A8-97C5-F33E5DF32541}"/>
              </a:ext>
            </a:extLst>
          </p:cNvPr>
          <p:cNvCxnSpPr>
            <a:cxnSpLocks/>
            <a:stCxn id="65" idx="2"/>
            <a:endCxn id="62" idx="0"/>
          </p:cNvCxnSpPr>
          <p:nvPr/>
        </p:nvCxnSpPr>
        <p:spPr>
          <a:xfrm rot="16200000" flipH="1">
            <a:off x="13396726" y="15791420"/>
            <a:ext cx="264163" cy="62688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Соединительная линия уступом 620">
            <a:extLst>
              <a:ext uri="{FF2B5EF4-FFF2-40B4-BE49-F238E27FC236}">
                <a16:creationId xmlns:a16="http://schemas.microsoft.com/office/drawing/2014/main" id="{96F05825-E7D9-467F-B987-1D4CE8BB13E2}"/>
              </a:ext>
            </a:extLst>
          </p:cNvPr>
          <p:cNvCxnSpPr>
            <a:cxnSpLocks/>
            <a:stCxn id="70" idx="2"/>
            <a:endCxn id="69" idx="0"/>
          </p:cNvCxnSpPr>
          <p:nvPr/>
        </p:nvCxnSpPr>
        <p:spPr>
          <a:xfrm rot="5400000">
            <a:off x="11539927" y="15800358"/>
            <a:ext cx="264163" cy="60901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Соединительная линия уступом 620">
            <a:extLst>
              <a:ext uri="{FF2B5EF4-FFF2-40B4-BE49-F238E27FC236}">
                <a16:creationId xmlns:a16="http://schemas.microsoft.com/office/drawing/2014/main" id="{167B7C7B-C300-4E14-8725-ADB1B931CB98}"/>
              </a:ext>
            </a:extLst>
          </p:cNvPr>
          <p:cNvCxnSpPr>
            <a:cxnSpLocks/>
            <a:stCxn id="65" idx="2"/>
            <a:endCxn id="69" idx="0"/>
          </p:cNvCxnSpPr>
          <p:nvPr/>
        </p:nvCxnSpPr>
        <p:spPr>
          <a:xfrm rot="5400000">
            <a:off x="12159353" y="15180933"/>
            <a:ext cx="264163" cy="184786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7" name="Прямая соединительная линия 96">
            <a:extLst>
              <a:ext uri="{FF2B5EF4-FFF2-40B4-BE49-F238E27FC236}">
                <a16:creationId xmlns:a16="http://schemas.microsoft.com/office/drawing/2014/main" id="{3B9A9F20-E65F-4A9E-BCC9-9DAC8EB1342A}"/>
              </a:ext>
            </a:extLst>
          </p:cNvPr>
          <p:cNvCxnSpPr>
            <a:cxnSpLocks/>
            <a:stCxn id="63" idx="1"/>
            <a:endCxn id="69" idx="3"/>
          </p:cNvCxnSpPr>
          <p:nvPr/>
        </p:nvCxnSpPr>
        <p:spPr>
          <a:xfrm flipH="1">
            <a:off x="11830665" y="16506945"/>
            <a:ext cx="312526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1" name="Прямоугольник 100">
            <a:extLst>
              <a:ext uri="{FF2B5EF4-FFF2-40B4-BE49-F238E27FC236}">
                <a16:creationId xmlns:a16="http://schemas.microsoft.com/office/drawing/2014/main" id="{1F14AB13-F1EA-4B81-8451-4DDA8E257BA4}"/>
              </a:ext>
            </a:extLst>
          </p:cNvPr>
          <p:cNvSpPr/>
          <p:nvPr/>
        </p:nvSpPr>
        <p:spPr>
          <a:xfrm>
            <a:off x="12144722" y="17054874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Лишить влияния партию Национальных Реформ</a:t>
            </a:r>
          </a:p>
        </p:txBody>
      </p:sp>
      <p:sp>
        <p:nvSpPr>
          <p:cNvPr id="102" name="Прямоугольник 101">
            <a:extLst>
              <a:ext uri="{FF2B5EF4-FFF2-40B4-BE49-F238E27FC236}">
                <a16:creationId xmlns:a16="http://schemas.microsoft.com/office/drawing/2014/main" id="{ECE50FB2-31E6-46C4-9D3A-104FC81239E8}"/>
              </a:ext>
            </a:extLst>
          </p:cNvPr>
          <p:cNvSpPr/>
          <p:nvPr/>
        </p:nvSpPr>
        <p:spPr>
          <a:xfrm>
            <a:off x="13376646" y="1705487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Развить промышленность севера</a:t>
            </a:r>
          </a:p>
        </p:txBody>
      </p:sp>
      <p:cxnSp>
        <p:nvCxnSpPr>
          <p:cNvPr id="103" name="Соединительная линия уступом 620">
            <a:extLst>
              <a:ext uri="{FF2B5EF4-FFF2-40B4-BE49-F238E27FC236}">
                <a16:creationId xmlns:a16="http://schemas.microsoft.com/office/drawing/2014/main" id="{0F770443-4F5C-4EEA-BC82-45096A8FC7CF}"/>
              </a:ext>
            </a:extLst>
          </p:cNvPr>
          <p:cNvCxnSpPr>
            <a:cxnSpLocks/>
            <a:stCxn id="63" idx="2"/>
            <a:endCxn id="101" idx="0"/>
          </p:cNvCxnSpPr>
          <p:nvPr/>
        </p:nvCxnSpPr>
        <p:spPr>
          <a:xfrm rot="16200000" flipH="1">
            <a:off x="12468155" y="16915143"/>
            <a:ext cx="277929" cy="153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Соединительная линия уступом 620">
            <a:extLst>
              <a:ext uri="{FF2B5EF4-FFF2-40B4-BE49-F238E27FC236}">
                <a16:creationId xmlns:a16="http://schemas.microsoft.com/office/drawing/2014/main" id="{4F310D0C-26BE-453B-8C9B-905C2BDEA260}"/>
              </a:ext>
            </a:extLst>
          </p:cNvPr>
          <p:cNvCxnSpPr>
            <a:cxnSpLocks/>
            <a:stCxn id="62" idx="2"/>
            <a:endCxn id="102" idx="0"/>
          </p:cNvCxnSpPr>
          <p:nvPr/>
        </p:nvCxnSpPr>
        <p:spPr>
          <a:xfrm rot="5400000">
            <a:off x="13702065" y="16914690"/>
            <a:ext cx="277930" cy="244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3" name="Прямоугольник 112">
            <a:extLst>
              <a:ext uri="{FF2B5EF4-FFF2-40B4-BE49-F238E27FC236}">
                <a16:creationId xmlns:a16="http://schemas.microsoft.com/office/drawing/2014/main" id="{BC31CCD4-CC55-4D34-8E0A-40DB584DBBBF}"/>
              </a:ext>
            </a:extLst>
          </p:cNvPr>
          <p:cNvSpPr/>
          <p:nvPr/>
        </p:nvSpPr>
        <p:spPr>
          <a:xfrm>
            <a:off x="14001855" y="17872804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Вернуться к активной торговле мандаринами</a:t>
            </a:r>
          </a:p>
        </p:txBody>
      </p:sp>
      <p:cxnSp>
        <p:nvCxnSpPr>
          <p:cNvPr id="132" name="Соединительная линия уступом 620">
            <a:extLst>
              <a:ext uri="{FF2B5EF4-FFF2-40B4-BE49-F238E27FC236}">
                <a16:creationId xmlns:a16="http://schemas.microsoft.com/office/drawing/2014/main" id="{AEF2F215-C881-4F8A-8CAA-796991A31A9B}"/>
              </a:ext>
            </a:extLst>
          </p:cNvPr>
          <p:cNvCxnSpPr>
            <a:cxnSpLocks/>
            <a:stCxn id="62" idx="2"/>
            <a:endCxn id="113" idx="0"/>
          </p:cNvCxnSpPr>
          <p:nvPr/>
        </p:nvCxnSpPr>
        <p:spPr>
          <a:xfrm rot="16200000" flipH="1">
            <a:off x="13605705" y="17013490"/>
            <a:ext cx="1095859" cy="622768"/>
          </a:xfrm>
          <a:prstGeom prst="bentConnector3">
            <a:avLst>
              <a:gd name="adj1" fmla="val 11988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" name="Прямоугольник 132">
            <a:extLst>
              <a:ext uri="{FF2B5EF4-FFF2-40B4-BE49-F238E27FC236}">
                <a16:creationId xmlns:a16="http://schemas.microsoft.com/office/drawing/2014/main" id="{F8E638F8-87A1-42A3-B0B5-E2866ADB6525}"/>
              </a:ext>
            </a:extLst>
          </p:cNvPr>
          <p:cNvSpPr/>
          <p:nvPr/>
        </p:nvSpPr>
        <p:spPr>
          <a:xfrm>
            <a:off x="6534667" y="2104729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Создать государственный банк Марокко</a:t>
            </a:r>
          </a:p>
        </p:txBody>
      </p:sp>
      <p:sp>
        <p:nvSpPr>
          <p:cNvPr id="134" name="Прямоугольник 133">
            <a:extLst>
              <a:ext uri="{FF2B5EF4-FFF2-40B4-BE49-F238E27FC236}">
                <a16:creationId xmlns:a16="http://schemas.microsoft.com/office/drawing/2014/main" id="{35CD4D2E-02FD-40F3-9B79-AC32C4F387A4}"/>
              </a:ext>
            </a:extLst>
          </p:cNvPr>
          <p:cNvSpPr/>
          <p:nvPr/>
        </p:nvSpPr>
        <p:spPr>
          <a:xfrm>
            <a:off x="6534666" y="2264810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Интегрировать Французские учреждения в новую систему образования</a:t>
            </a:r>
          </a:p>
        </p:txBody>
      </p:sp>
      <p:sp>
        <p:nvSpPr>
          <p:cNvPr id="136" name="Прямоугольник 135">
            <a:extLst>
              <a:ext uri="{FF2B5EF4-FFF2-40B4-BE49-F238E27FC236}">
                <a16:creationId xmlns:a16="http://schemas.microsoft.com/office/drawing/2014/main" id="{3FDAFDBE-96D8-45C2-BC5D-878BC9F8B7F2}"/>
              </a:ext>
            </a:extLst>
          </p:cNvPr>
          <p:cNvSpPr/>
          <p:nvPr/>
        </p:nvSpPr>
        <p:spPr>
          <a:xfrm>
            <a:off x="5917446" y="2184739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Обязательное начальное образование</a:t>
            </a:r>
          </a:p>
        </p:txBody>
      </p:sp>
      <p:sp>
        <p:nvSpPr>
          <p:cNvPr id="137" name="Прямоугольник 136">
            <a:extLst>
              <a:ext uri="{FF2B5EF4-FFF2-40B4-BE49-F238E27FC236}">
                <a16:creationId xmlns:a16="http://schemas.microsoft.com/office/drawing/2014/main" id="{F3E0C390-3D96-483F-B3EC-2211AC86D036}"/>
              </a:ext>
            </a:extLst>
          </p:cNvPr>
          <p:cNvSpPr/>
          <p:nvPr/>
        </p:nvSpPr>
        <p:spPr>
          <a:xfrm>
            <a:off x="7159506" y="2184739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Единая учебная программа и вечерние школы</a:t>
            </a:r>
          </a:p>
        </p:txBody>
      </p:sp>
      <p:cxnSp>
        <p:nvCxnSpPr>
          <p:cNvPr id="141" name="Соединительная линия уступом 620">
            <a:extLst>
              <a:ext uri="{FF2B5EF4-FFF2-40B4-BE49-F238E27FC236}">
                <a16:creationId xmlns:a16="http://schemas.microsoft.com/office/drawing/2014/main" id="{851DA87B-FC5F-4219-B97B-2D0AC6314594}"/>
              </a:ext>
            </a:extLst>
          </p:cNvPr>
          <p:cNvCxnSpPr>
            <a:cxnSpLocks/>
            <a:stCxn id="133" idx="2"/>
            <a:endCxn id="136" idx="0"/>
          </p:cNvCxnSpPr>
          <p:nvPr/>
        </p:nvCxnSpPr>
        <p:spPr>
          <a:xfrm rot="5400000">
            <a:off x="6559170" y="21408732"/>
            <a:ext cx="260100" cy="61722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Соединительная линия уступом 620">
            <a:extLst>
              <a:ext uri="{FF2B5EF4-FFF2-40B4-BE49-F238E27FC236}">
                <a16:creationId xmlns:a16="http://schemas.microsoft.com/office/drawing/2014/main" id="{0F472F40-02E6-490C-AF0B-15FF503A319E}"/>
              </a:ext>
            </a:extLst>
          </p:cNvPr>
          <p:cNvCxnSpPr>
            <a:cxnSpLocks/>
            <a:stCxn id="133" idx="2"/>
            <a:endCxn id="137" idx="0"/>
          </p:cNvCxnSpPr>
          <p:nvPr/>
        </p:nvCxnSpPr>
        <p:spPr>
          <a:xfrm rot="16200000" flipH="1">
            <a:off x="7180199" y="21404922"/>
            <a:ext cx="260100" cy="62483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7" name="Прямоугольник 146">
            <a:extLst>
              <a:ext uri="{FF2B5EF4-FFF2-40B4-BE49-F238E27FC236}">
                <a16:creationId xmlns:a16="http://schemas.microsoft.com/office/drawing/2014/main" id="{F8CB37AF-4F05-4087-86D6-C449AB4BD77B}"/>
              </a:ext>
            </a:extLst>
          </p:cNvPr>
          <p:cNvSpPr/>
          <p:nvPr/>
        </p:nvSpPr>
        <p:spPr>
          <a:xfrm>
            <a:off x="8401565" y="2264810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Пустить иностранные банки в страну</a:t>
            </a:r>
          </a:p>
        </p:txBody>
      </p:sp>
      <p:sp>
        <p:nvSpPr>
          <p:cNvPr id="148" name="Прямоугольник 147">
            <a:extLst>
              <a:ext uri="{FF2B5EF4-FFF2-40B4-BE49-F238E27FC236}">
                <a16:creationId xmlns:a16="http://schemas.microsoft.com/office/drawing/2014/main" id="{753471EF-1556-4020-A5BF-12D16F8965A5}"/>
              </a:ext>
            </a:extLst>
          </p:cNvPr>
          <p:cNvSpPr/>
          <p:nvPr/>
        </p:nvSpPr>
        <p:spPr>
          <a:xfrm>
            <a:off x="8401566" y="2184739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Внедрить Марокканский дирхам</a:t>
            </a:r>
          </a:p>
        </p:txBody>
      </p:sp>
      <p:cxnSp>
        <p:nvCxnSpPr>
          <p:cNvPr id="149" name="Соединительная линия уступом 620">
            <a:extLst>
              <a:ext uri="{FF2B5EF4-FFF2-40B4-BE49-F238E27FC236}">
                <a16:creationId xmlns:a16="http://schemas.microsoft.com/office/drawing/2014/main" id="{0026C1BB-50CA-4518-B86F-14EC51070B51}"/>
              </a:ext>
            </a:extLst>
          </p:cNvPr>
          <p:cNvCxnSpPr>
            <a:cxnSpLocks/>
            <a:stCxn id="133" idx="2"/>
            <a:endCxn id="148" idx="0"/>
          </p:cNvCxnSpPr>
          <p:nvPr/>
        </p:nvCxnSpPr>
        <p:spPr>
          <a:xfrm rot="16200000" flipH="1">
            <a:off x="7801230" y="20783891"/>
            <a:ext cx="260099" cy="186689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0" name="Соединительная линия уступом 620">
            <a:extLst>
              <a:ext uri="{FF2B5EF4-FFF2-40B4-BE49-F238E27FC236}">
                <a16:creationId xmlns:a16="http://schemas.microsoft.com/office/drawing/2014/main" id="{3E1962AF-9446-4D47-8B98-FE2EAB3657D4}"/>
              </a:ext>
            </a:extLst>
          </p:cNvPr>
          <p:cNvCxnSpPr>
            <a:cxnSpLocks/>
            <a:stCxn id="148" idx="2"/>
            <a:endCxn id="147" idx="0"/>
          </p:cNvCxnSpPr>
          <p:nvPr/>
        </p:nvCxnSpPr>
        <p:spPr>
          <a:xfrm rot="5400000">
            <a:off x="8734374" y="22517746"/>
            <a:ext cx="260710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Прямоугольник 150">
            <a:extLst>
              <a:ext uri="{FF2B5EF4-FFF2-40B4-BE49-F238E27FC236}">
                <a16:creationId xmlns:a16="http://schemas.microsoft.com/office/drawing/2014/main" id="{DD7427AF-80D0-408A-B81F-77375D5490CB}"/>
              </a:ext>
            </a:extLst>
          </p:cNvPr>
          <p:cNvSpPr/>
          <p:nvPr/>
        </p:nvSpPr>
        <p:spPr>
          <a:xfrm>
            <a:off x="4675386" y="2184739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Дать толчок тяжёлой промышленности</a:t>
            </a:r>
          </a:p>
        </p:txBody>
      </p:sp>
      <p:cxnSp>
        <p:nvCxnSpPr>
          <p:cNvPr id="153" name="Соединительная линия уступом 620">
            <a:extLst>
              <a:ext uri="{FF2B5EF4-FFF2-40B4-BE49-F238E27FC236}">
                <a16:creationId xmlns:a16="http://schemas.microsoft.com/office/drawing/2014/main" id="{C480C53B-A2DF-4046-A686-033B9D079831}"/>
              </a:ext>
            </a:extLst>
          </p:cNvPr>
          <p:cNvCxnSpPr>
            <a:cxnSpLocks/>
            <a:stCxn id="133" idx="2"/>
            <a:endCxn id="151" idx="0"/>
          </p:cNvCxnSpPr>
          <p:nvPr/>
        </p:nvCxnSpPr>
        <p:spPr>
          <a:xfrm rot="5400000">
            <a:off x="5938141" y="20787701"/>
            <a:ext cx="260098" cy="18592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Прямоугольник 153">
            <a:extLst>
              <a:ext uri="{FF2B5EF4-FFF2-40B4-BE49-F238E27FC236}">
                <a16:creationId xmlns:a16="http://schemas.microsoft.com/office/drawing/2014/main" id="{3C51ADB6-A21D-4C68-AE41-8BE2E1853373}"/>
              </a:ext>
            </a:extLst>
          </p:cNvPr>
          <p:cNvSpPr/>
          <p:nvPr/>
        </p:nvSpPr>
        <p:spPr>
          <a:xfrm>
            <a:off x="4677814" y="2264810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Начать путь индустриализации Марокко</a:t>
            </a:r>
          </a:p>
        </p:txBody>
      </p:sp>
      <p:cxnSp>
        <p:nvCxnSpPr>
          <p:cNvPr id="155" name="Соединительная линия уступом 620">
            <a:extLst>
              <a:ext uri="{FF2B5EF4-FFF2-40B4-BE49-F238E27FC236}">
                <a16:creationId xmlns:a16="http://schemas.microsoft.com/office/drawing/2014/main" id="{466D1665-8F86-44FC-AC03-61547B4F4895}"/>
              </a:ext>
            </a:extLst>
          </p:cNvPr>
          <p:cNvCxnSpPr>
            <a:cxnSpLocks/>
            <a:stCxn id="151" idx="2"/>
            <a:endCxn id="154" idx="0"/>
          </p:cNvCxnSpPr>
          <p:nvPr/>
        </p:nvCxnSpPr>
        <p:spPr>
          <a:xfrm rot="16200000" flipH="1">
            <a:off x="5009408" y="22516531"/>
            <a:ext cx="260711" cy="242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1" name="Прямоугольник 160">
            <a:extLst>
              <a:ext uri="{FF2B5EF4-FFF2-40B4-BE49-F238E27FC236}">
                <a16:creationId xmlns:a16="http://schemas.microsoft.com/office/drawing/2014/main" id="{FE9EC9A5-C1C1-4A0E-B8B7-F01A783C17F6}"/>
              </a:ext>
            </a:extLst>
          </p:cNvPr>
          <p:cNvSpPr/>
          <p:nvPr/>
        </p:nvSpPr>
        <p:spPr>
          <a:xfrm>
            <a:off x="7159506" y="1864451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Запуск программы «Службы общественного труда»</a:t>
            </a:r>
          </a:p>
        </p:txBody>
      </p:sp>
      <p:sp>
        <p:nvSpPr>
          <p:cNvPr id="160" name="Прямоугольник 159">
            <a:extLst>
              <a:ext uri="{FF2B5EF4-FFF2-40B4-BE49-F238E27FC236}">
                <a16:creationId xmlns:a16="http://schemas.microsoft.com/office/drawing/2014/main" id="{5E653D53-D3EB-4C36-8E90-451A3AF33803}"/>
              </a:ext>
            </a:extLst>
          </p:cNvPr>
          <p:cNvSpPr/>
          <p:nvPr/>
        </p:nvSpPr>
        <p:spPr>
          <a:xfrm>
            <a:off x="6534665" y="1944585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Развитие консервной промышленности</a:t>
            </a:r>
          </a:p>
        </p:txBody>
      </p:sp>
      <p:sp>
        <p:nvSpPr>
          <p:cNvPr id="162" name="Прямоугольник 161">
            <a:extLst>
              <a:ext uri="{FF2B5EF4-FFF2-40B4-BE49-F238E27FC236}">
                <a16:creationId xmlns:a16="http://schemas.microsoft.com/office/drawing/2014/main" id="{D61DE4B7-57E6-4E8C-BD46-A2F477B184A2}"/>
              </a:ext>
            </a:extLst>
          </p:cNvPr>
          <p:cNvSpPr/>
          <p:nvPr/>
        </p:nvSpPr>
        <p:spPr>
          <a:xfrm>
            <a:off x="6534665" y="2344881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Реформа Аль-</a:t>
            </a:r>
            <a:r>
              <a:rPr lang="ru-RU" sz="700" dirty="0" err="1"/>
              <a:t>Карауина</a:t>
            </a:r>
            <a:endParaRPr lang="ru-RU" sz="700" dirty="0"/>
          </a:p>
        </p:txBody>
      </p:sp>
      <p:sp>
        <p:nvSpPr>
          <p:cNvPr id="163" name="Прямоугольник 162">
            <a:extLst>
              <a:ext uri="{FF2B5EF4-FFF2-40B4-BE49-F238E27FC236}">
                <a16:creationId xmlns:a16="http://schemas.microsoft.com/office/drawing/2014/main" id="{D0BB93EC-C765-4576-A338-1A004324E439}"/>
              </a:ext>
            </a:extLst>
          </p:cNvPr>
          <p:cNvSpPr/>
          <p:nvPr/>
        </p:nvSpPr>
        <p:spPr>
          <a:xfrm>
            <a:off x="5916669" y="1782870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Девальвировать Марокканский франк</a:t>
            </a:r>
          </a:p>
        </p:txBody>
      </p:sp>
      <p:sp>
        <p:nvSpPr>
          <p:cNvPr id="159" name="Прямоугольник 158">
            <a:extLst>
              <a:ext uri="{FF2B5EF4-FFF2-40B4-BE49-F238E27FC236}">
                <a16:creationId xmlns:a16="http://schemas.microsoft.com/office/drawing/2014/main" id="{89E81C15-521A-467F-B686-27E0D558A9BF}"/>
              </a:ext>
            </a:extLst>
          </p:cNvPr>
          <p:cNvSpPr/>
          <p:nvPr/>
        </p:nvSpPr>
        <p:spPr>
          <a:xfrm>
            <a:off x="6534666" y="2024657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Запуск ГЭС Эль-</a:t>
            </a:r>
            <a:r>
              <a:rPr lang="ru-RU" sz="700" dirty="0" err="1"/>
              <a:t>Кансера</a:t>
            </a:r>
            <a:endParaRPr lang="ru-RU" sz="700" dirty="0"/>
          </a:p>
        </p:txBody>
      </p:sp>
      <p:sp>
        <p:nvSpPr>
          <p:cNvPr id="165" name="Прямоугольник 164">
            <a:extLst>
              <a:ext uri="{FF2B5EF4-FFF2-40B4-BE49-F238E27FC236}">
                <a16:creationId xmlns:a16="http://schemas.microsoft.com/office/drawing/2014/main" id="{47BF9C19-F6CD-4ECB-BE1F-55F72B77F001}"/>
              </a:ext>
            </a:extLst>
          </p:cNvPr>
          <p:cNvSpPr/>
          <p:nvPr/>
        </p:nvSpPr>
        <p:spPr>
          <a:xfrm>
            <a:off x="7776725" y="2024657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Перевести добычу на военные рельсы</a:t>
            </a:r>
            <a:endParaRPr lang="ru-RU" sz="100" dirty="0"/>
          </a:p>
        </p:txBody>
      </p:sp>
      <p:sp>
        <p:nvSpPr>
          <p:cNvPr id="166" name="Прямоугольник 165">
            <a:extLst>
              <a:ext uri="{FF2B5EF4-FFF2-40B4-BE49-F238E27FC236}">
                <a16:creationId xmlns:a16="http://schemas.microsoft.com/office/drawing/2014/main" id="{1A8EE704-11C7-46AB-81B1-C8C4620EDDE1}"/>
              </a:ext>
            </a:extLst>
          </p:cNvPr>
          <p:cNvSpPr/>
          <p:nvPr/>
        </p:nvSpPr>
        <p:spPr>
          <a:xfrm>
            <a:off x="7776726" y="1944585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Модернизация фосфатных конвейеров</a:t>
            </a:r>
          </a:p>
        </p:txBody>
      </p:sp>
      <p:sp>
        <p:nvSpPr>
          <p:cNvPr id="167" name="Прямоугольник 166">
            <a:extLst>
              <a:ext uri="{FF2B5EF4-FFF2-40B4-BE49-F238E27FC236}">
                <a16:creationId xmlns:a16="http://schemas.microsoft.com/office/drawing/2014/main" id="{4C01390C-3604-44AF-B95C-E19422D133EE}"/>
              </a:ext>
            </a:extLst>
          </p:cNvPr>
          <p:cNvSpPr/>
          <p:nvPr/>
        </p:nvSpPr>
        <p:spPr>
          <a:xfrm>
            <a:off x="5916670" y="1864514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Строительство Южной железной дороги</a:t>
            </a:r>
          </a:p>
        </p:txBody>
      </p:sp>
      <p:sp>
        <p:nvSpPr>
          <p:cNvPr id="168" name="Прямоугольник 167">
            <a:extLst>
              <a:ext uri="{FF2B5EF4-FFF2-40B4-BE49-F238E27FC236}">
                <a16:creationId xmlns:a16="http://schemas.microsoft.com/office/drawing/2014/main" id="{C86CE29A-CB8F-4444-A22F-6E9A6F234F55}"/>
              </a:ext>
            </a:extLst>
          </p:cNvPr>
          <p:cNvSpPr/>
          <p:nvPr/>
        </p:nvSpPr>
        <p:spPr>
          <a:xfrm>
            <a:off x="5290725" y="1944585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проект «свободных школ»</a:t>
            </a:r>
          </a:p>
        </p:txBody>
      </p:sp>
      <p:sp>
        <p:nvSpPr>
          <p:cNvPr id="169" name="Прямоугольник 168">
            <a:extLst>
              <a:ext uri="{FF2B5EF4-FFF2-40B4-BE49-F238E27FC236}">
                <a16:creationId xmlns:a16="http://schemas.microsoft.com/office/drawing/2014/main" id="{965735E6-9298-480D-AE1F-E6C4CFFDD1A1}"/>
              </a:ext>
            </a:extLst>
          </p:cNvPr>
          <p:cNvSpPr/>
          <p:nvPr/>
        </p:nvSpPr>
        <p:spPr>
          <a:xfrm>
            <a:off x="5290726" y="21042858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Санитарные реформы</a:t>
            </a:r>
          </a:p>
        </p:txBody>
      </p:sp>
      <p:sp>
        <p:nvSpPr>
          <p:cNvPr id="170" name="Прямоугольник 169">
            <a:extLst>
              <a:ext uri="{FF2B5EF4-FFF2-40B4-BE49-F238E27FC236}">
                <a16:creationId xmlns:a16="http://schemas.microsoft.com/office/drawing/2014/main" id="{0EA51F14-395B-4668-B146-4C4161B7EABF}"/>
              </a:ext>
            </a:extLst>
          </p:cNvPr>
          <p:cNvSpPr/>
          <p:nvPr/>
        </p:nvSpPr>
        <p:spPr>
          <a:xfrm>
            <a:off x="5290725" y="2024657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Французские дотации для феллахов</a:t>
            </a:r>
          </a:p>
        </p:txBody>
      </p:sp>
      <p:sp>
        <p:nvSpPr>
          <p:cNvPr id="171" name="Прямоугольник 170">
            <a:extLst>
              <a:ext uri="{FF2B5EF4-FFF2-40B4-BE49-F238E27FC236}">
                <a16:creationId xmlns:a16="http://schemas.microsoft.com/office/drawing/2014/main" id="{F581326F-C887-4214-A377-CCD739D3F382}"/>
              </a:ext>
            </a:extLst>
          </p:cNvPr>
          <p:cNvSpPr/>
          <p:nvPr/>
        </p:nvSpPr>
        <p:spPr>
          <a:xfrm>
            <a:off x="4681737" y="1864957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Построить плотину </a:t>
            </a:r>
            <a:r>
              <a:rPr lang="ru-RU" sz="700" dirty="0" err="1"/>
              <a:t>Касба-Тадла</a:t>
            </a:r>
            <a:endParaRPr lang="ru-RU" sz="700" dirty="0"/>
          </a:p>
        </p:txBody>
      </p:sp>
      <p:sp>
        <p:nvSpPr>
          <p:cNvPr id="172" name="Прямоугольник 171">
            <a:extLst>
              <a:ext uri="{FF2B5EF4-FFF2-40B4-BE49-F238E27FC236}">
                <a16:creationId xmlns:a16="http://schemas.microsoft.com/office/drawing/2014/main" id="{7D0BC22F-B057-40C4-8EBE-37521534682D}"/>
              </a:ext>
            </a:extLst>
          </p:cNvPr>
          <p:cNvSpPr/>
          <p:nvPr/>
        </p:nvSpPr>
        <p:spPr>
          <a:xfrm>
            <a:off x="6468606" y="1807655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Провести трудовые реформы</a:t>
            </a:r>
          </a:p>
          <a:p>
            <a:pPr algn="ctr"/>
            <a:r>
              <a:rPr lang="ru-RU" sz="100" dirty="0"/>
              <a:t>(После прихода к власти левых во Франции летом 1936 года по всему Марокко прокатилась волна рабочих протестов. Крупнейшие забастовки вспыхнули на фосфатных рудниках </a:t>
            </a:r>
            <a:r>
              <a:rPr lang="ru-RU" sz="100" dirty="0" err="1"/>
              <a:t>Хурибги</a:t>
            </a:r>
            <a:r>
              <a:rPr lang="ru-RU" sz="100" dirty="0"/>
              <a:t>. Французский генеральный резидент Шарль </a:t>
            </a:r>
            <a:r>
              <a:rPr lang="ru-RU" sz="100" dirty="0" err="1"/>
              <a:t>Ногес</a:t>
            </a:r>
            <a:r>
              <a:rPr lang="ru-RU" sz="100" dirty="0"/>
              <a:t> был вынужден пойти на экономические уступки местному </a:t>
            </a:r>
            <a:r>
              <a:rPr lang="ru-RU" sz="100" dirty="0" err="1"/>
              <a:t>населению:Была</a:t>
            </a:r>
            <a:r>
              <a:rPr lang="ru-RU" sz="100" dirty="0"/>
              <a:t> законодательно увеличена минимальная заработная плата для марокканских </a:t>
            </a:r>
            <a:r>
              <a:rPr lang="ru-RU" sz="100" dirty="0" err="1"/>
              <a:t>рабочих.Была</a:t>
            </a:r>
            <a:r>
              <a:rPr lang="ru-RU" sz="100" dirty="0"/>
              <a:t> введена официальная 40-часовая рабочая неделя (для европейских специалистов) и сокращен рабочий день для местных шахтеров.)</a:t>
            </a:r>
            <a:endParaRPr lang="ru-RU" sz="600" dirty="0"/>
          </a:p>
        </p:txBody>
      </p:sp>
      <p:sp>
        <p:nvSpPr>
          <p:cNvPr id="164" name="Прямоугольник 163">
            <a:extLst>
              <a:ext uri="{FF2B5EF4-FFF2-40B4-BE49-F238E27FC236}">
                <a16:creationId xmlns:a16="http://schemas.microsoft.com/office/drawing/2014/main" id="{CB3D1342-AF6F-45C2-8B29-2D66C97503EB}"/>
              </a:ext>
            </a:extLst>
          </p:cNvPr>
          <p:cNvSpPr/>
          <p:nvPr/>
        </p:nvSpPr>
        <p:spPr>
          <a:xfrm>
            <a:off x="7776724" y="21047289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Запустить военные заводы и мастерские в </a:t>
            </a:r>
            <a:r>
              <a:rPr lang="ru-RU" sz="700" dirty="0" err="1"/>
              <a:t>Макнесе</a:t>
            </a:r>
            <a:r>
              <a:rPr lang="ru-RU" sz="700" dirty="0"/>
              <a:t> и </a:t>
            </a:r>
            <a:r>
              <a:rPr lang="ru-RU" sz="700" dirty="0" err="1"/>
              <a:t>Ребате</a:t>
            </a:r>
            <a:endParaRPr lang="ru-RU" sz="700" dirty="0"/>
          </a:p>
        </p:txBody>
      </p:sp>
      <p:cxnSp>
        <p:nvCxnSpPr>
          <p:cNvPr id="189" name="Соединительная линия уступом 620">
            <a:extLst>
              <a:ext uri="{FF2B5EF4-FFF2-40B4-BE49-F238E27FC236}">
                <a16:creationId xmlns:a16="http://schemas.microsoft.com/office/drawing/2014/main" id="{7C686C0B-B75D-4F52-8561-05F2CAD940FD}"/>
              </a:ext>
            </a:extLst>
          </p:cNvPr>
          <p:cNvCxnSpPr>
            <a:cxnSpLocks/>
            <a:stCxn id="170" idx="2"/>
            <a:endCxn id="169" idx="0"/>
          </p:cNvCxnSpPr>
          <p:nvPr/>
        </p:nvCxnSpPr>
        <p:spPr>
          <a:xfrm rot="16200000" flipH="1">
            <a:off x="5625745" y="20914714"/>
            <a:ext cx="256286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" name="Соединительная линия уступом 620">
            <a:extLst>
              <a:ext uri="{FF2B5EF4-FFF2-40B4-BE49-F238E27FC236}">
                <a16:creationId xmlns:a16="http://schemas.microsoft.com/office/drawing/2014/main" id="{2366AF65-0D98-447C-B7A5-6E3A72161930}"/>
              </a:ext>
            </a:extLst>
          </p:cNvPr>
          <p:cNvCxnSpPr>
            <a:cxnSpLocks/>
            <a:stCxn id="166" idx="2"/>
            <a:endCxn id="165" idx="0"/>
          </p:cNvCxnSpPr>
          <p:nvPr/>
        </p:nvCxnSpPr>
        <p:spPr>
          <a:xfrm rot="5400000">
            <a:off x="8109532" y="20116215"/>
            <a:ext cx="260714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7" name="Соединительная линия уступом 620">
            <a:extLst>
              <a:ext uri="{FF2B5EF4-FFF2-40B4-BE49-F238E27FC236}">
                <a16:creationId xmlns:a16="http://schemas.microsoft.com/office/drawing/2014/main" id="{E7C08983-8D44-4498-99BD-254BF64E7274}"/>
              </a:ext>
            </a:extLst>
          </p:cNvPr>
          <p:cNvCxnSpPr>
            <a:cxnSpLocks/>
            <a:stCxn id="165" idx="2"/>
            <a:endCxn id="164" idx="0"/>
          </p:cNvCxnSpPr>
          <p:nvPr/>
        </p:nvCxnSpPr>
        <p:spPr>
          <a:xfrm rot="5400000">
            <a:off x="8109530" y="20916930"/>
            <a:ext cx="260717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Соединительная линия уступом 620">
            <a:extLst>
              <a:ext uri="{FF2B5EF4-FFF2-40B4-BE49-F238E27FC236}">
                <a16:creationId xmlns:a16="http://schemas.microsoft.com/office/drawing/2014/main" id="{28E6A8E6-7749-40BE-8958-4DEE2DD96DE3}"/>
              </a:ext>
            </a:extLst>
          </p:cNvPr>
          <p:cNvCxnSpPr>
            <a:cxnSpLocks/>
            <a:stCxn id="160" idx="2"/>
            <a:endCxn id="159" idx="0"/>
          </p:cNvCxnSpPr>
          <p:nvPr/>
        </p:nvCxnSpPr>
        <p:spPr>
          <a:xfrm rot="16200000" flipH="1">
            <a:off x="6867470" y="20116215"/>
            <a:ext cx="260717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7" name="Соединительная линия уступом 620">
            <a:extLst>
              <a:ext uri="{FF2B5EF4-FFF2-40B4-BE49-F238E27FC236}">
                <a16:creationId xmlns:a16="http://schemas.microsoft.com/office/drawing/2014/main" id="{4A75F75A-BDCF-494C-A9E3-E29F4988BF22}"/>
              </a:ext>
            </a:extLst>
          </p:cNvPr>
          <p:cNvCxnSpPr>
            <a:cxnSpLocks/>
            <a:stCxn id="166" idx="2"/>
            <a:endCxn id="159" idx="0"/>
          </p:cNvCxnSpPr>
          <p:nvPr/>
        </p:nvCxnSpPr>
        <p:spPr>
          <a:xfrm rot="5400000">
            <a:off x="7488501" y="19495186"/>
            <a:ext cx="260717" cy="124206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0" name="Соединительная линия уступом 620">
            <a:extLst>
              <a:ext uri="{FF2B5EF4-FFF2-40B4-BE49-F238E27FC236}">
                <a16:creationId xmlns:a16="http://schemas.microsoft.com/office/drawing/2014/main" id="{20B6CC3A-7999-4202-8709-65A70E605078}"/>
              </a:ext>
            </a:extLst>
          </p:cNvPr>
          <p:cNvCxnSpPr>
            <a:cxnSpLocks/>
            <a:stCxn id="165" idx="2"/>
            <a:endCxn id="133" idx="0"/>
          </p:cNvCxnSpPr>
          <p:nvPr/>
        </p:nvCxnSpPr>
        <p:spPr>
          <a:xfrm rot="5400000">
            <a:off x="7488499" y="20295903"/>
            <a:ext cx="260720" cy="124205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Соединительная линия уступом 620">
            <a:extLst>
              <a:ext uri="{FF2B5EF4-FFF2-40B4-BE49-F238E27FC236}">
                <a16:creationId xmlns:a16="http://schemas.microsoft.com/office/drawing/2014/main" id="{5B8091A2-FEB0-4588-A97C-712582A9CFE4}"/>
              </a:ext>
            </a:extLst>
          </p:cNvPr>
          <p:cNvCxnSpPr>
            <a:cxnSpLocks/>
            <a:stCxn id="159" idx="2"/>
            <a:endCxn id="133" idx="0"/>
          </p:cNvCxnSpPr>
          <p:nvPr/>
        </p:nvCxnSpPr>
        <p:spPr>
          <a:xfrm rot="16200000" flipH="1">
            <a:off x="6867471" y="20916932"/>
            <a:ext cx="260717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5" name="Прямоугольник 244">
            <a:extLst>
              <a:ext uri="{FF2B5EF4-FFF2-40B4-BE49-F238E27FC236}">
                <a16:creationId xmlns:a16="http://schemas.microsoft.com/office/drawing/2014/main" id="{1ED3E070-7793-4DFC-9262-57A19B08DA47}"/>
              </a:ext>
            </a:extLst>
          </p:cNvPr>
          <p:cNvSpPr/>
          <p:nvPr/>
        </p:nvSpPr>
        <p:spPr>
          <a:xfrm>
            <a:off x="4046785" y="19445857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Франко-берберские школы</a:t>
            </a:r>
          </a:p>
        </p:txBody>
      </p:sp>
      <p:cxnSp>
        <p:nvCxnSpPr>
          <p:cNvPr id="258" name="Прямая соединительная линия 257">
            <a:extLst>
              <a:ext uri="{FF2B5EF4-FFF2-40B4-BE49-F238E27FC236}">
                <a16:creationId xmlns:a16="http://schemas.microsoft.com/office/drawing/2014/main" id="{2C4F37CE-664B-436A-B255-CCE3A2F068A8}"/>
              </a:ext>
            </a:extLst>
          </p:cNvPr>
          <p:cNvCxnSpPr>
            <a:cxnSpLocks/>
            <a:stCxn id="168" idx="1"/>
            <a:endCxn id="245" idx="3"/>
          </p:cNvCxnSpPr>
          <p:nvPr/>
        </p:nvCxnSpPr>
        <p:spPr>
          <a:xfrm flipH="1">
            <a:off x="4973110" y="19715857"/>
            <a:ext cx="317615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6" name="Прямоугольник 265">
            <a:extLst>
              <a:ext uri="{FF2B5EF4-FFF2-40B4-BE49-F238E27FC236}">
                <a16:creationId xmlns:a16="http://schemas.microsoft.com/office/drawing/2014/main" id="{68B1E117-0997-408B-8E5D-B6D54012F4BC}"/>
              </a:ext>
            </a:extLst>
          </p:cNvPr>
          <p:cNvSpPr/>
          <p:nvPr/>
        </p:nvSpPr>
        <p:spPr>
          <a:xfrm>
            <a:off x="4046784" y="2024698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Создать колледжи для женщин</a:t>
            </a:r>
          </a:p>
        </p:txBody>
      </p:sp>
      <p:cxnSp>
        <p:nvCxnSpPr>
          <p:cNvPr id="267" name="Соединительная линия уступом 620">
            <a:extLst>
              <a:ext uri="{FF2B5EF4-FFF2-40B4-BE49-F238E27FC236}">
                <a16:creationId xmlns:a16="http://schemas.microsoft.com/office/drawing/2014/main" id="{840FDEEB-F3AE-4C87-A93A-2D8E549CDC61}"/>
              </a:ext>
            </a:extLst>
          </p:cNvPr>
          <p:cNvCxnSpPr>
            <a:cxnSpLocks/>
            <a:stCxn id="171" idx="2"/>
            <a:endCxn id="245" idx="0"/>
          </p:cNvCxnSpPr>
          <p:nvPr/>
        </p:nvCxnSpPr>
        <p:spPr>
          <a:xfrm rot="5400000">
            <a:off x="4699281" y="19000238"/>
            <a:ext cx="256286" cy="63495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2" name="Соединительная линия уступом 620">
            <a:extLst>
              <a:ext uri="{FF2B5EF4-FFF2-40B4-BE49-F238E27FC236}">
                <a16:creationId xmlns:a16="http://schemas.microsoft.com/office/drawing/2014/main" id="{C42987BF-3C90-4273-8578-F4ECAA730943}"/>
              </a:ext>
            </a:extLst>
          </p:cNvPr>
          <p:cNvCxnSpPr>
            <a:cxnSpLocks/>
            <a:stCxn id="171" idx="2"/>
            <a:endCxn id="168" idx="0"/>
          </p:cNvCxnSpPr>
          <p:nvPr/>
        </p:nvCxnSpPr>
        <p:spPr>
          <a:xfrm rot="16200000" flipH="1">
            <a:off x="5321251" y="19013220"/>
            <a:ext cx="256286" cy="60898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6" name="Соединительная линия уступом 620">
            <a:extLst>
              <a:ext uri="{FF2B5EF4-FFF2-40B4-BE49-F238E27FC236}">
                <a16:creationId xmlns:a16="http://schemas.microsoft.com/office/drawing/2014/main" id="{CC9C22C5-0599-4A63-A76A-3E6E9BB2C8AF}"/>
              </a:ext>
            </a:extLst>
          </p:cNvPr>
          <p:cNvCxnSpPr>
            <a:cxnSpLocks/>
            <a:stCxn id="168" idx="2"/>
            <a:endCxn id="266" idx="0"/>
          </p:cNvCxnSpPr>
          <p:nvPr/>
        </p:nvCxnSpPr>
        <p:spPr>
          <a:xfrm rot="5400000">
            <a:off x="5001356" y="19494449"/>
            <a:ext cx="261124" cy="124394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9" name="Соединительная линия уступом 620">
            <a:extLst>
              <a:ext uri="{FF2B5EF4-FFF2-40B4-BE49-F238E27FC236}">
                <a16:creationId xmlns:a16="http://schemas.microsoft.com/office/drawing/2014/main" id="{B37C4214-5DF9-4BB7-87F6-3E8E0886C3AC}"/>
              </a:ext>
            </a:extLst>
          </p:cNvPr>
          <p:cNvCxnSpPr>
            <a:cxnSpLocks/>
            <a:stCxn id="245" idx="2"/>
            <a:endCxn id="266" idx="0"/>
          </p:cNvCxnSpPr>
          <p:nvPr/>
        </p:nvCxnSpPr>
        <p:spPr>
          <a:xfrm rot="5400000">
            <a:off x="4379386" y="20116419"/>
            <a:ext cx="261124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1" name="Соединительная линия уступом 620">
            <a:extLst>
              <a:ext uri="{FF2B5EF4-FFF2-40B4-BE49-F238E27FC236}">
                <a16:creationId xmlns:a16="http://schemas.microsoft.com/office/drawing/2014/main" id="{066864E5-04F4-434A-9229-08D47A32E87B}"/>
              </a:ext>
            </a:extLst>
          </p:cNvPr>
          <p:cNvCxnSpPr>
            <a:cxnSpLocks/>
            <a:stCxn id="245" idx="2"/>
            <a:endCxn id="170" idx="0"/>
          </p:cNvCxnSpPr>
          <p:nvPr/>
        </p:nvCxnSpPr>
        <p:spPr>
          <a:xfrm rot="16200000" flipH="1">
            <a:off x="5001561" y="19494244"/>
            <a:ext cx="260715" cy="124394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4" name="Соединительная линия уступом 620">
            <a:extLst>
              <a:ext uri="{FF2B5EF4-FFF2-40B4-BE49-F238E27FC236}">
                <a16:creationId xmlns:a16="http://schemas.microsoft.com/office/drawing/2014/main" id="{C7785B8F-424F-443D-A8C2-43EC2C92A8DF}"/>
              </a:ext>
            </a:extLst>
          </p:cNvPr>
          <p:cNvCxnSpPr>
            <a:cxnSpLocks/>
            <a:stCxn id="168" idx="2"/>
            <a:endCxn id="170" idx="0"/>
          </p:cNvCxnSpPr>
          <p:nvPr/>
        </p:nvCxnSpPr>
        <p:spPr>
          <a:xfrm rot="5400000">
            <a:off x="5623531" y="20116214"/>
            <a:ext cx="260715" cy="1270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7" name="Соединительная линия уступом 620">
            <a:extLst>
              <a:ext uri="{FF2B5EF4-FFF2-40B4-BE49-F238E27FC236}">
                <a16:creationId xmlns:a16="http://schemas.microsoft.com/office/drawing/2014/main" id="{E78ABD49-6846-4088-9270-5DAE8DC72206}"/>
              </a:ext>
            </a:extLst>
          </p:cNvPr>
          <p:cNvCxnSpPr>
            <a:cxnSpLocks/>
            <a:stCxn id="163" idx="2"/>
            <a:endCxn id="167" idx="0"/>
          </p:cNvCxnSpPr>
          <p:nvPr/>
        </p:nvCxnSpPr>
        <p:spPr>
          <a:xfrm rot="16200000" flipH="1">
            <a:off x="6241613" y="18506920"/>
            <a:ext cx="276438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6" name="Соединительная линия уступом 620">
            <a:extLst>
              <a:ext uri="{FF2B5EF4-FFF2-40B4-BE49-F238E27FC236}">
                <a16:creationId xmlns:a16="http://schemas.microsoft.com/office/drawing/2014/main" id="{7BAF9731-AEDE-4588-8E73-E99D5DAF63CC}"/>
              </a:ext>
            </a:extLst>
          </p:cNvPr>
          <p:cNvCxnSpPr>
            <a:cxnSpLocks/>
            <a:stCxn id="167" idx="2"/>
            <a:endCxn id="160" idx="0"/>
          </p:cNvCxnSpPr>
          <p:nvPr/>
        </p:nvCxnSpPr>
        <p:spPr>
          <a:xfrm rot="16200000" flipH="1">
            <a:off x="6558471" y="19006501"/>
            <a:ext cx="260718" cy="61799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2" name="Соединительная линия уступом 620">
            <a:extLst>
              <a:ext uri="{FF2B5EF4-FFF2-40B4-BE49-F238E27FC236}">
                <a16:creationId xmlns:a16="http://schemas.microsoft.com/office/drawing/2014/main" id="{8A4CC061-E820-4B91-8265-908A117C76F1}"/>
              </a:ext>
            </a:extLst>
          </p:cNvPr>
          <p:cNvCxnSpPr>
            <a:cxnSpLocks/>
            <a:stCxn id="161" idx="2"/>
            <a:endCxn id="166" idx="0"/>
          </p:cNvCxnSpPr>
          <p:nvPr/>
        </p:nvCxnSpPr>
        <p:spPr>
          <a:xfrm rot="16200000" flipH="1">
            <a:off x="7800608" y="19006576"/>
            <a:ext cx="261343" cy="61722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5" name="Соединительная линия уступом 620">
            <a:extLst>
              <a:ext uri="{FF2B5EF4-FFF2-40B4-BE49-F238E27FC236}">
                <a16:creationId xmlns:a16="http://schemas.microsoft.com/office/drawing/2014/main" id="{5ACF4EDF-5A7A-4565-8335-9607E0AC4C9F}"/>
              </a:ext>
            </a:extLst>
          </p:cNvPr>
          <p:cNvCxnSpPr>
            <a:cxnSpLocks/>
            <a:stCxn id="245" idx="2"/>
            <a:endCxn id="136" idx="0"/>
          </p:cNvCxnSpPr>
          <p:nvPr/>
        </p:nvCxnSpPr>
        <p:spPr>
          <a:xfrm rot="16200000" flipH="1">
            <a:off x="4514511" y="19981293"/>
            <a:ext cx="1861535" cy="1870661"/>
          </a:xfrm>
          <a:prstGeom prst="bentConnector3">
            <a:avLst>
              <a:gd name="adj1" fmla="val 7019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9" name="Соединительная линия уступом 620">
            <a:extLst>
              <a:ext uri="{FF2B5EF4-FFF2-40B4-BE49-F238E27FC236}">
                <a16:creationId xmlns:a16="http://schemas.microsoft.com/office/drawing/2014/main" id="{EEADD502-DF21-435B-AB40-628C775C396B}"/>
              </a:ext>
            </a:extLst>
          </p:cNvPr>
          <p:cNvCxnSpPr>
            <a:cxnSpLocks/>
            <a:stCxn id="168" idx="2"/>
            <a:endCxn id="136" idx="0"/>
          </p:cNvCxnSpPr>
          <p:nvPr/>
        </p:nvCxnSpPr>
        <p:spPr>
          <a:xfrm rot="16200000" flipH="1">
            <a:off x="5136481" y="20603263"/>
            <a:ext cx="1861535" cy="626721"/>
          </a:xfrm>
          <a:prstGeom prst="bentConnector3">
            <a:avLst>
              <a:gd name="adj1" fmla="val 7019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3" name="Соединительная линия уступом 620">
            <a:extLst>
              <a:ext uri="{FF2B5EF4-FFF2-40B4-BE49-F238E27FC236}">
                <a16:creationId xmlns:a16="http://schemas.microsoft.com/office/drawing/2014/main" id="{FBF4967B-DC3B-4838-96A4-4D328C5EB6C2}"/>
              </a:ext>
            </a:extLst>
          </p:cNvPr>
          <p:cNvCxnSpPr>
            <a:cxnSpLocks/>
            <a:stCxn id="245" idx="2"/>
            <a:endCxn id="137" idx="0"/>
          </p:cNvCxnSpPr>
          <p:nvPr/>
        </p:nvCxnSpPr>
        <p:spPr>
          <a:xfrm rot="16200000" flipH="1">
            <a:off x="5135541" y="19360263"/>
            <a:ext cx="1861535" cy="3112721"/>
          </a:xfrm>
          <a:prstGeom prst="bentConnector3">
            <a:avLst>
              <a:gd name="adj1" fmla="val 7019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7" name="Соединительная линия уступом 620">
            <a:extLst>
              <a:ext uri="{FF2B5EF4-FFF2-40B4-BE49-F238E27FC236}">
                <a16:creationId xmlns:a16="http://schemas.microsoft.com/office/drawing/2014/main" id="{46EC63F1-0538-4C28-BA2B-A65FEC33ACED}"/>
              </a:ext>
            </a:extLst>
          </p:cNvPr>
          <p:cNvCxnSpPr>
            <a:cxnSpLocks/>
            <a:stCxn id="168" idx="2"/>
            <a:endCxn id="137" idx="0"/>
          </p:cNvCxnSpPr>
          <p:nvPr/>
        </p:nvCxnSpPr>
        <p:spPr>
          <a:xfrm rot="16200000" flipH="1">
            <a:off x="5757511" y="19982233"/>
            <a:ext cx="1861535" cy="1868781"/>
          </a:xfrm>
          <a:prstGeom prst="bentConnector3">
            <a:avLst>
              <a:gd name="adj1" fmla="val 7019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3" name="Соединительная линия уступом 620">
            <a:extLst>
              <a:ext uri="{FF2B5EF4-FFF2-40B4-BE49-F238E27FC236}">
                <a16:creationId xmlns:a16="http://schemas.microsoft.com/office/drawing/2014/main" id="{4AB5D48F-D0AA-4EBC-BF72-566D53293AF6}"/>
              </a:ext>
            </a:extLst>
          </p:cNvPr>
          <p:cNvCxnSpPr>
            <a:cxnSpLocks/>
            <a:stCxn id="134" idx="2"/>
            <a:endCxn id="162" idx="0"/>
          </p:cNvCxnSpPr>
          <p:nvPr/>
        </p:nvCxnSpPr>
        <p:spPr>
          <a:xfrm rot="5400000">
            <a:off x="6867475" y="23318455"/>
            <a:ext cx="26070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2" name="Прямая соединительная линия 351">
            <a:extLst>
              <a:ext uri="{FF2B5EF4-FFF2-40B4-BE49-F238E27FC236}">
                <a16:creationId xmlns:a16="http://schemas.microsoft.com/office/drawing/2014/main" id="{1CE47EEF-D77B-4B21-8647-CDBA028F81B3}"/>
              </a:ext>
            </a:extLst>
          </p:cNvPr>
          <p:cNvCxnSpPr>
            <a:cxnSpLocks/>
            <a:stCxn id="178" idx="1"/>
            <a:endCxn id="172" idx="3"/>
          </p:cNvCxnSpPr>
          <p:nvPr/>
        </p:nvCxnSpPr>
        <p:spPr>
          <a:xfrm flipH="1">
            <a:off x="7394931" y="2077655"/>
            <a:ext cx="9104633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6" name="Прямоугольник 155">
            <a:extLst>
              <a:ext uri="{FF2B5EF4-FFF2-40B4-BE49-F238E27FC236}">
                <a16:creationId xmlns:a16="http://schemas.microsoft.com/office/drawing/2014/main" id="{BD9685A5-0F5B-46E4-B9C4-11EF0AFB73FB}"/>
              </a:ext>
            </a:extLst>
          </p:cNvPr>
          <p:cNvSpPr/>
          <p:nvPr/>
        </p:nvSpPr>
        <p:spPr>
          <a:xfrm>
            <a:off x="4046783" y="21037390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Секторы модернизации сельской местности</a:t>
            </a:r>
            <a:endParaRPr lang="ru-RU" sz="100" dirty="0"/>
          </a:p>
        </p:txBody>
      </p:sp>
      <p:cxnSp>
        <p:nvCxnSpPr>
          <p:cNvPr id="158" name="Соединительная линия уступом 620">
            <a:extLst>
              <a:ext uri="{FF2B5EF4-FFF2-40B4-BE49-F238E27FC236}">
                <a16:creationId xmlns:a16="http://schemas.microsoft.com/office/drawing/2014/main" id="{2C19DE1B-1420-4A75-9AEA-95F5D82E5583}"/>
              </a:ext>
            </a:extLst>
          </p:cNvPr>
          <p:cNvCxnSpPr>
            <a:cxnSpLocks/>
            <a:stCxn id="170" idx="2"/>
            <a:endCxn id="156" idx="0"/>
          </p:cNvCxnSpPr>
          <p:nvPr/>
        </p:nvCxnSpPr>
        <p:spPr>
          <a:xfrm rot="5400000">
            <a:off x="5006508" y="20290010"/>
            <a:ext cx="250818" cy="124394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Соединительная линия уступом 620">
            <a:extLst>
              <a:ext uri="{FF2B5EF4-FFF2-40B4-BE49-F238E27FC236}">
                <a16:creationId xmlns:a16="http://schemas.microsoft.com/office/drawing/2014/main" id="{73562267-8A4D-4264-8436-A6E73CEB01B1}"/>
              </a:ext>
            </a:extLst>
          </p:cNvPr>
          <p:cNvCxnSpPr>
            <a:cxnSpLocks/>
            <a:stCxn id="163" idx="2"/>
            <a:endCxn id="171" idx="0"/>
          </p:cNvCxnSpPr>
          <p:nvPr/>
        </p:nvCxnSpPr>
        <p:spPr>
          <a:xfrm rot="5400000">
            <a:off x="5621932" y="17891670"/>
            <a:ext cx="280869" cy="123493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Соединительная линия уступом 620">
            <a:extLst>
              <a:ext uri="{FF2B5EF4-FFF2-40B4-BE49-F238E27FC236}">
                <a16:creationId xmlns:a16="http://schemas.microsoft.com/office/drawing/2014/main" id="{00ED7BF8-0741-478A-8257-53724D844C8D}"/>
              </a:ext>
            </a:extLst>
          </p:cNvPr>
          <p:cNvCxnSpPr>
            <a:cxnSpLocks/>
            <a:stCxn id="163" idx="2"/>
            <a:endCxn id="161" idx="0"/>
          </p:cNvCxnSpPr>
          <p:nvPr/>
        </p:nvCxnSpPr>
        <p:spPr>
          <a:xfrm rot="16200000" flipH="1">
            <a:off x="6863344" y="17885189"/>
            <a:ext cx="275813" cy="1242837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8" name="Прямоугольник 177">
            <a:extLst>
              <a:ext uri="{FF2B5EF4-FFF2-40B4-BE49-F238E27FC236}">
                <a16:creationId xmlns:a16="http://schemas.microsoft.com/office/drawing/2014/main" id="{B4B88F2F-4EFD-4A52-B891-709773C0E63B}"/>
              </a:ext>
            </a:extLst>
          </p:cNvPr>
          <p:cNvSpPr/>
          <p:nvPr/>
        </p:nvSpPr>
        <p:spPr>
          <a:xfrm>
            <a:off x="16499564" y="180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Пороховая бочка красного июня</a:t>
            </a:r>
          </a:p>
        </p:txBody>
      </p:sp>
      <p:sp>
        <p:nvSpPr>
          <p:cNvPr id="181" name="Прямоугольник 180">
            <a:extLst>
              <a:ext uri="{FF2B5EF4-FFF2-40B4-BE49-F238E27FC236}">
                <a16:creationId xmlns:a16="http://schemas.microsoft.com/office/drawing/2014/main" id="{F7376C2C-9CEE-4C5F-B577-5679B2784641}"/>
              </a:ext>
            </a:extLst>
          </p:cNvPr>
          <p:cNvSpPr/>
          <p:nvPr/>
        </p:nvSpPr>
        <p:spPr>
          <a:xfrm>
            <a:off x="17087898" y="261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Искать компромисс с новой Францией</a:t>
            </a:r>
          </a:p>
        </p:txBody>
      </p:sp>
      <p:sp>
        <p:nvSpPr>
          <p:cNvPr id="182" name="Прямоугольник 181">
            <a:extLst>
              <a:ext uri="{FF2B5EF4-FFF2-40B4-BE49-F238E27FC236}">
                <a16:creationId xmlns:a16="http://schemas.microsoft.com/office/drawing/2014/main" id="{55B2DC33-8CEE-4512-B070-84F26EE25CE0}"/>
              </a:ext>
            </a:extLst>
          </p:cNvPr>
          <p:cNvSpPr/>
          <p:nvPr/>
        </p:nvSpPr>
        <p:spPr>
          <a:xfrm>
            <a:off x="15900594" y="261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Искать помощи у Коминтерна</a:t>
            </a:r>
          </a:p>
        </p:txBody>
      </p:sp>
      <p:sp>
        <p:nvSpPr>
          <p:cNvPr id="183" name="Прямоугольник 182">
            <a:extLst>
              <a:ext uri="{FF2B5EF4-FFF2-40B4-BE49-F238E27FC236}">
                <a16:creationId xmlns:a16="http://schemas.microsoft.com/office/drawing/2014/main" id="{4A8E4594-12D1-4A9F-BC83-2A7912C7E9C1}"/>
              </a:ext>
            </a:extLst>
          </p:cNvPr>
          <p:cNvSpPr/>
          <p:nvPr/>
        </p:nvSpPr>
        <p:spPr>
          <a:xfrm>
            <a:off x="16499562" y="342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Провести «взрывные работы» шахтёров</a:t>
            </a:r>
          </a:p>
        </p:txBody>
      </p:sp>
      <p:sp>
        <p:nvSpPr>
          <p:cNvPr id="184" name="Прямоугольник 183">
            <a:extLst>
              <a:ext uri="{FF2B5EF4-FFF2-40B4-BE49-F238E27FC236}">
                <a16:creationId xmlns:a16="http://schemas.microsoft.com/office/drawing/2014/main" id="{9DC3C11A-ED8D-4111-8F88-E8E38E2BC526}"/>
              </a:ext>
            </a:extLst>
          </p:cNvPr>
          <p:cNvSpPr/>
          <p:nvPr/>
        </p:nvSpPr>
        <p:spPr>
          <a:xfrm>
            <a:off x="17688637" y="34276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Вооружить отряды красной гвардии</a:t>
            </a:r>
          </a:p>
        </p:txBody>
      </p:sp>
      <p:sp>
        <p:nvSpPr>
          <p:cNvPr id="185" name="Прямоугольник 184">
            <a:extLst>
              <a:ext uri="{FF2B5EF4-FFF2-40B4-BE49-F238E27FC236}">
                <a16:creationId xmlns:a16="http://schemas.microsoft.com/office/drawing/2014/main" id="{DA8DB325-2F64-4AE2-83F8-F3166E26E271}"/>
              </a:ext>
            </a:extLst>
          </p:cNvPr>
          <p:cNvSpPr/>
          <p:nvPr/>
        </p:nvSpPr>
        <p:spPr>
          <a:xfrm>
            <a:off x="15310487" y="342765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Мобилизовать племена Атласа</a:t>
            </a:r>
          </a:p>
        </p:txBody>
      </p:sp>
      <p:cxnSp>
        <p:nvCxnSpPr>
          <p:cNvPr id="186" name="Соединительная линия уступом 620">
            <a:extLst>
              <a:ext uri="{FF2B5EF4-FFF2-40B4-BE49-F238E27FC236}">
                <a16:creationId xmlns:a16="http://schemas.microsoft.com/office/drawing/2014/main" id="{613ABB53-6376-41CF-897F-500F98B80A66}"/>
              </a:ext>
            </a:extLst>
          </p:cNvPr>
          <p:cNvCxnSpPr>
            <a:cxnSpLocks/>
            <a:stCxn id="178" idx="2"/>
            <a:endCxn id="182" idx="0"/>
          </p:cNvCxnSpPr>
          <p:nvPr/>
        </p:nvCxnSpPr>
        <p:spPr>
          <a:xfrm rot="5400000">
            <a:off x="16528242" y="2183170"/>
            <a:ext cx="270000" cy="59897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Соединительная линия уступом 620">
            <a:extLst>
              <a:ext uri="{FF2B5EF4-FFF2-40B4-BE49-F238E27FC236}">
                <a16:creationId xmlns:a16="http://schemas.microsoft.com/office/drawing/2014/main" id="{270265E6-88D6-4986-81F8-E9F04325F57A}"/>
              </a:ext>
            </a:extLst>
          </p:cNvPr>
          <p:cNvCxnSpPr>
            <a:cxnSpLocks/>
            <a:stCxn id="178" idx="2"/>
            <a:endCxn id="181" idx="0"/>
          </p:cNvCxnSpPr>
          <p:nvPr/>
        </p:nvCxnSpPr>
        <p:spPr>
          <a:xfrm rot="16200000" flipH="1">
            <a:off x="17121894" y="2188488"/>
            <a:ext cx="270000" cy="58833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8" name="Прямая соединительная линия 187">
            <a:extLst>
              <a:ext uri="{FF2B5EF4-FFF2-40B4-BE49-F238E27FC236}">
                <a16:creationId xmlns:a16="http://schemas.microsoft.com/office/drawing/2014/main" id="{F79F1BE0-6109-4625-9C29-E6A8D1F422DC}"/>
              </a:ext>
            </a:extLst>
          </p:cNvPr>
          <p:cNvCxnSpPr>
            <a:cxnSpLocks/>
            <a:stCxn id="181" idx="1"/>
            <a:endCxn id="182" idx="3"/>
          </p:cNvCxnSpPr>
          <p:nvPr/>
        </p:nvCxnSpPr>
        <p:spPr>
          <a:xfrm flipH="1">
            <a:off x="16826919" y="2887655"/>
            <a:ext cx="260979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0" name="Соединительная линия уступом 620">
            <a:extLst>
              <a:ext uri="{FF2B5EF4-FFF2-40B4-BE49-F238E27FC236}">
                <a16:creationId xmlns:a16="http://schemas.microsoft.com/office/drawing/2014/main" id="{355C520A-9137-49BB-B3DE-B42F47010ADA}"/>
              </a:ext>
            </a:extLst>
          </p:cNvPr>
          <p:cNvCxnSpPr>
            <a:cxnSpLocks/>
            <a:stCxn id="178" idx="2"/>
            <a:endCxn id="185" idx="0"/>
          </p:cNvCxnSpPr>
          <p:nvPr/>
        </p:nvCxnSpPr>
        <p:spPr>
          <a:xfrm rot="5400000">
            <a:off x="15828190" y="2293116"/>
            <a:ext cx="1079999" cy="1189077"/>
          </a:xfrm>
          <a:prstGeom prst="bentConnector3">
            <a:avLst>
              <a:gd name="adj1" fmla="val 12097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1" name="Соединительная линия уступом 620">
            <a:extLst>
              <a:ext uri="{FF2B5EF4-FFF2-40B4-BE49-F238E27FC236}">
                <a16:creationId xmlns:a16="http://schemas.microsoft.com/office/drawing/2014/main" id="{2BE64C25-E8F0-401C-BA1C-5549B15D2E5B}"/>
              </a:ext>
            </a:extLst>
          </p:cNvPr>
          <p:cNvCxnSpPr>
            <a:cxnSpLocks/>
            <a:stCxn id="178" idx="2"/>
            <a:endCxn id="184" idx="0"/>
          </p:cNvCxnSpPr>
          <p:nvPr/>
        </p:nvCxnSpPr>
        <p:spPr>
          <a:xfrm rot="16200000" flipH="1">
            <a:off x="17017263" y="2293118"/>
            <a:ext cx="1080000" cy="1189073"/>
          </a:xfrm>
          <a:prstGeom prst="bentConnector3">
            <a:avLst>
              <a:gd name="adj1" fmla="val 1209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Соединительная линия уступом 620">
            <a:extLst>
              <a:ext uri="{FF2B5EF4-FFF2-40B4-BE49-F238E27FC236}">
                <a16:creationId xmlns:a16="http://schemas.microsoft.com/office/drawing/2014/main" id="{971C1CBF-A3AA-408F-A1D2-9C9D75D41B8F}"/>
              </a:ext>
            </a:extLst>
          </p:cNvPr>
          <p:cNvCxnSpPr>
            <a:cxnSpLocks/>
            <a:stCxn id="178" idx="2"/>
            <a:endCxn id="183" idx="0"/>
          </p:cNvCxnSpPr>
          <p:nvPr/>
        </p:nvCxnSpPr>
        <p:spPr>
          <a:xfrm rot="5400000">
            <a:off x="16422726" y="2887654"/>
            <a:ext cx="1080000" cy="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3" name="Прямоугольник 192">
            <a:extLst>
              <a:ext uri="{FF2B5EF4-FFF2-40B4-BE49-F238E27FC236}">
                <a16:creationId xmlns:a16="http://schemas.microsoft.com/office/drawing/2014/main" id="{CEBD78CE-17CE-43A0-BD37-6E227DB122CD}"/>
              </a:ext>
            </a:extLst>
          </p:cNvPr>
          <p:cNvSpPr/>
          <p:nvPr/>
        </p:nvSpPr>
        <p:spPr>
          <a:xfrm>
            <a:off x="15900594" y="4237653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Искать помощи среди националистов</a:t>
            </a:r>
          </a:p>
        </p:txBody>
      </p:sp>
      <p:sp>
        <p:nvSpPr>
          <p:cNvPr id="194" name="Прямоугольник 193">
            <a:extLst>
              <a:ext uri="{FF2B5EF4-FFF2-40B4-BE49-F238E27FC236}">
                <a16:creationId xmlns:a16="http://schemas.microsoft.com/office/drawing/2014/main" id="{DE354935-DCCA-4E3F-BE40-654491151E16}"/>
              </a:ext>
            </a:extLst>
          </p:cNvPr>
          <p:cNvSpPr/>
          <p:nvPr/>
        </p:nvSpPr>
        <p:spPr>
          <a:xfrm>
            <a:off x="17087897" y="4237653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Переманить остатки марокканцев из армии</a:t>
            </a:r>
          </a:p>
        </p:txBody>
      </p:sp>
      <p:cxnSp>
        <p:nvCxnSpPr>
          <p:cNvPr id="195" name="Соединительная линия уступом 620">
            <a:extLst>
              <a:ext uri="{FF2B5EF4-FFF2-40B4-BE49-F238E27FC236}">
                <a16:creationId xmlns:a16="http://schemas.microsoft.com/office/drawing/2014/main" id="{EFBD37AD-79FE-4447-8A69-147D52878238}"/>
              </a:ext>
            </a:extLst>
          </p:cNvPr>
          <p:cNvCxnSpPr>
            <a:cxnSpLocks/>
            <a:stCxn id="181" idx="2"/>
            <a:endCxn id="229" idx="0"/>
          </p:cNvCxnSpPr>
          <p:nvPr/>
        </p:nvCxnSpPr>
        <p:spPr>
          <a:xfrm rot="16200000" flipH="1">
            <a:off x="17507439" y="3201277"/>
            <a:ext cx="1887395" cy="1800150"/>
          </a:xfrm>
          <a:prstGeom prst="bentConnector3">
            <a:avLst>
              <a:gd name="adj1" fmla="val 518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6" name="Соединительная линия уступом 620">
            <a:extLst>
              <a:ext uri="{FF2B5EF4-FFF2-40B4-BE49-F238E27FC236}">
                <a16:creationId xmlns:a16="http://schemas.microsoft.com/office/drawing/2014/main" id="{E9EB3CF6-3D48-4724-B19F-D706D559FC5D}"/>
              </a:ext>
            </a:extLst>
          </p:cNvPr>
          <p:cNvCxnSpPr>
            <a:cxnSpLocks/>
            <a:stCxn id="182" idx="2"/>
            <a:endCxn id="231" idx="0"/>
          </p:cNvCxnSpPr>
          <p:nvPr/>
        </p:nvCxnSpPr>
        <p:spPr>
          <a:xfrm rot="5400000">
            <a:off x="14533265" y="3211945"/>
            <a:ext cx="1884783" cy="1776202"/>
          </a:xfrm>
          <a:prstGeom prst="bentConnector3">
            <a:avLst>
              <a:gd name="adj1" fmla="val 5528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8" name="Прямоугольник 197">
            <a:extLst>
              <a:ext uri="{FF2B5EF4-FFF2-40B4-BE49-F238E27FC236}">
                <a16:creationId xmlns:a16="http://schemas.microsoft.com/office/drawing/2014/main" id="{01483DFB-5720-4EC7-82D0-9CC2FB45BAFB}"/>
              </a:ext>
            </a:extLst>
          </p:cNvPr>
          <p:cNvSpPr/>
          <p:nvPr/>
        </p:nvSpPr>
        <p:spPr>
          <a:xfrm>
            <a:off x="16494244" y="585244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Судьба султана?</a:t>
            </a:r>
            <a:br>
              <a:rPr lang="ru-RU" sz="700" dirty="0"/>
            </a:br>
            <a:r>
              <a:rPr lang="ru-RU" sz="200" dirty="0"/>
              <a:t>Ликвидатор феодализма (</a:t>
            </a:r>
            <a:r>
              <a:rPr lang="ru-RU" sz="200" dirty="0" err="1"/>
              <a:t>Liquidator</a:t>
            </a:r>
            <a:r>
              <a:rPr lang="ru-RU" sz="200" dirty="0"/>
              <a:t> </a:t>
            </a:r>
            <a:r>
              <a:rPr lang="ru-RU" sz="200" dirty="0" err="1"/>
              <a:t>of</a:t>
            </a:r>
            <a:r>
              <a:rPr lang="ru-RU" sz="200" dirty="0"/>
              <a:t> </a:t>
            </a:r>
            <a:r>
              <a:rPr lang="ru-RU" sz="200" dirty="0" err="1"/>
              <a:t>Feudalism</a:t>
            </a:r>
            <a:r>
              <a:rPr lang="ru-RU" sz="200" dirty="0"/>
              <a:t>)Активируется через фокус «Упразднить </a:t>
            </a:r>
            <a:r>
              <a:rPr lang="ru-RU" sz="200" dirty="0" err="1"/>
              <a:t>Махзен</a:t>
            </a:r>
            <a:r>
              <a:rPr lang="ru-RU" sz="200" dirty="0"/>
              <a:t> и Султанат».🛑 Популярность нейтральной (монархической) идеологии: -0.05 в день.🛠️ Скорость конверсии гражданских фабрик в военные заводы: +15%📉 Краткосрочный штраф к стабильности: -5.00% (из-за сопротивления роялистов). В конце 1950-х — начале 1990-х годов видные марокканские евреи отвергали определенные политические решения монархии и ее поворот к авторитаризму. Однако они не оспаривали легитимность самой монархии. Они боролись за идеализированное видение Марокко, в то время как большинство марокканских евреев покидали страну.¬</a:t>
            </a:r>
            <a:endParaRPr lang="ru-RU" sz="700" dirty="0"/>
          </a:p>
        </p:txBody>
      </p:sp>
      <p:cxnSp>
        <p:nvCxnSpPr>
          <p:cNvPr id="199" name="Соединительная линия уступом 620">
            <a:extLst>
              <a:ext uri="{FF2B5EF4-FFF2-40B4-BE49-F238E27FC236}">
                <a16:creationId xmlns:a16="http://schemas.microsoft.com/office/drawing/2014/main" id="{7D3CB62A-02A1-45FC-8FBA-E15235435620}"/>
              </a:ext>
            </a:extLst>
          </p:cNvPr>
          <p:cNvCxnSpPr>
            <a:cxnSpLocks/>
            <a:stCxn id="183" idx="2"/>
            <a:endCxn id="194" idx="0"/>
          </p:cNvCxnSpPr>
          <p:nvPr/>
        </p:nvCxnSpPr>
        <p:spPr>
          <a:xfrm rot="16200000" flipH="1">
            <a:off x="17121893" y="3808486"/>
            <a:ext cx="269998" cy="58833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Соединительная линия уступом 620">
            <a:extLst>
              <a:ext uri="{FF2B5EF4-FFF2-40B4-BE49-F238E27FC236}">
                <a16:creationId xmlns:a16="http://schemas.microsoft.com/office/drawing/2014/main" id="{521B31FB-7CFF-4558-AB1E-BEC09F2E040D}"/>
              </a:ext>
            </a:extLst>
          </p:cNvPr>
          <p:cNvCxnSpPr>
            <a:cxnSpLocks/>
            <a:stCxn id="184" idx="2"/>
            <a:endCxn id="194" idx="0"/>
          </p:cNvCxnSpPr>
          <p:nvPr/>
        </p:nvCxnSpPr>
        <p:spPr>
          <a:xfrm rot="5400000">
            <a:off x="17716431" y="3802284"/>
            <a:ext cx="269998" cy="60074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" name="Соединительная линия уступом 620">
            <a:extLst>
              <a:ext uri="{FF2B5EF4-FFF2-40B4-BE49-F238E27FC236}">
                <a16:creationId xmlns:a16="http://schemas.microsoft.com/office/drawing/2014/main" id="{964295CE-967D-4989-94F2-12B863910B48}"/>
              </a:ext>
            </a:extLst>
          </p:cNvPr>
          <p:cNvCxnSpPr>
            <a:cxnSpLocks/>
            <a:stCxn id="185" idx="2"/>
            <a:endCxn id="194" idx="0"/>
          </p:cNvCxnSpPr>
          <p:nvPr/>
        </p:nvCxnSpPr>
        <p:spPr>
          <a:xfrm rot="16200000" flipH="1">
            <a:off x="16527356" y="3213948"/>
            <a:ext cx="269999" cy="177741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Соединительная линия уступом 620">
            <a:extLst>
              <a:ext uri="{FF2B5EF4-FFF2-40B4-BE49-F238E27FC236}">
                <a16:creationId xmlns:a16="http://schemas.microsoft.com/office/drawing/2014/main" id="{633F4767-5E0F-4CAE-AE5A-3F79227A395D}"/>
              </a:ext>
            </a:extLst>
          </p:cNvPr>
          <p:cNvCxnSpPr>
            <a:cxnSpLocks/>
            <a:stCxn id="185" idx="2"/>
            <a:endCxn id="193" idx="0"/>
          </p:cNvCxnSpPr>
          <p:nvPr/>
        </p:nvCxnSpPr>
        <p:spPr>
          <a:xfrm rot="16200000" flipH="1">
            <a:off x="15933704" y="3807599"/>
            <a:ext cx="269999" cy="590107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" name="Соединительная линия уступом 620">
            <a:extLst>
              <a:ext uri="{FF2B5EF4-FFF2-40B4-BE49-F238E27FC236}">
                <a16:creationId xmlns:a16="http://schemas.microsoft.com/office/drawing/2014/main" id="{4ADDAB24-CD5B-4FA7-9434-90B11D5F66B0}"/>
              </a:ext>
            </a:extLst>
          </p:cNvPr>
          <p:cNvCxnSpPr>
            <a:cxnSpLocks/>
            <a:stCxn id="183" idx="2"/>
            <a:endCxn id="193" idx="0"/>
          </p:cNvCxnSpPr>
          <p:nvPr/>
        </p:nvCxnSpPr>
        <p:spPr>
          <a:xfrm rot="5400000">
            <a:off x="16528242" y="3803170"/>
            <a:ext cx="269998" cy="59896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Соединительная линия уступом 620">
            <a:extLst>
              <a:ext uri="{FF2B5EF4-FFF2-40B4-BE49-F238E27FC236}">
                <a16:creationId xmlns:a16="http://schemas.microsoft.com/office/drawing/2014/main" id="{07BCE0E3-BBFB-4A99-9140-F3998272FA21}"/>
              </a:ext>
            </a:extLst>
          </p:cNvPr>
          <p:cNvCxnSpPr>
            <a:cxnSpLocks/>
            <a:stCxn id="184" idx="2"/>
            <a:endCxn id="193" idx="0"/>
          </p:cNvCxnSpPr>
          <p:nvPr/>
        </p:nvCxnSpPr>
        <p:spPr>
          <a:xfrm rot="5400000">
            <a:off x="17122780" y="3208633"/>
            <a:ext cx="269998" cy="1788043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9" name="Прямоугольник 228">
            <a:extLst>
              <a:ext uri="{FF2B5EF4-FFF2-40B4-BE49-F238E27FC236}">
                <a16:creationId xmlns:a16="http://schemas.microsoft.com/office/drawing/2014/main" id="{4F0ACAB2-A532-4A4A-BE2B-6DD898A778A6}"/>
              </a:ext>
            </a:extLst>
          </p:cNvPr>
          <p:cNvSpPr/>
          <p:nvPr/>
        </p:nvSpPr>
        <p:spPr>
          <a:xfrm>
            <a:off x="18888048" y="504505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Согласовать новое правительство Марокко</a:t>
            </a:r>
          </a:p>
        </p:txBody>
      </p:sp>
      <p:sp>
        <p:nvSpPr>
          <p:cNvPr id="231" name="Прямоугольник 230">
            <a:extLst>
              <a:ext uri="{FF2B5EF4-FFF2-40B4-BE49-F238E27FC236}">
                <a16:creationId xmlns:a16="http://schemas.microsoft.com/office/drawing/2014/main" id="{1FF530F6-3A49-4FDD-B396-8F8B8659BA04}"/>
              </a:ext>
            </a:extLst>
          </p:cNvPr>
          <p:cNvSpPr/>
          <p:nvPr/>
        </p:nvSpPr>
        <p:spPr>
          <a:xfrm>
            <a:off x="14124392" y="5042438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Новая страна рабочих!</a:t>
            </a:r>
          </a:p>
        </p:txBody>
      </p:sp>
      <p:cxnSp>
        <p:nvCxnSpPr>
          <p:cNvPr id="237" name="Прямая соединительная линия 236">
            <a:extLst>
              <a:ext uri="{FF2B5EF4-FFF2-40B4-BE49-F238E27FC236}">
                <a16:creationId xmlns:a16="http://schemas.microsoft.com/office/drawing/2014/main" id="{71C9DE65-C59A-4802-9A6D-6EAE192DEEAD}"/>
              </a:ext>
            </a:extLst>
          </p:cNvPr>
          <p:cNvCxnSpPr>
            <a:cxnSpLocks/>
            <a:stCxn id="229" idx="1"/>
            <a:endCxn id="231" idx="3"/>
          </p:cNvCxnSpPr>
          <p:nvPr/>
        </p:nvCxnSpPr>
        <p:spPr>
          <a:xfrm flipH="1" flipV="1">
            <a:off x="15050717" y="5312438"/>
            <a:ext cx="3837331" cy="2612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Соединительная линия уступом 620">
            <a:extLst>
              <a:ext uri="{FF2B5EF4-FFF2-40B4-BE49-F238E27FC236}">
                <a16:creationId xmlns:a16="http://schemas.microsoft.com/office/drawing/2014/main" id="{E9DDE346-6CA1-4730-80E4-589129037BCE}"/>
              </a:ext>
            </a:extLst>
          </p:cNvPr>
          <p:cNvCxnSpPr>
            <a:cxnSpLocks/>
            <a:stCxn id="229" idx="2"/>
            <a:endCxn id="198" idx="0"/>
          </p:cNvCxnSpPr>
          <p:nvPr/>
        </p:nvCxnSpPr>
        <p:spPr>
          <a:xfrm rot="5400000">
            <a:off x="18020611" y="4521846"/>
            <a:ext cx="267397" cy="239380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2" name="Соединительная линия уступом 620">
            <a:extLst>
              <a:ext uri="{FF2B5EF4-FFF2-40B4-BE49-F238E27FC236}">
                <a16:creationId xmlns:a16="http://schemas.microsoft.com/office/drawing/2014/main" id="{98A83083-FD9A-4D4D-BF49-0BDA5EAC70FC}"/>
              </a:ext>
            </a:extLst>
          </p:cNvPr>
          <p:cNvCxnSpPr>
            <a:cxnSpLocks/>
            <a:stCxn id="231" idx="2"/>
            <a:endCxn id="198" idx="0"/>
          </p:cNvCxnSpPr>
          <p:nvPr/>
        </p:nvCxnSpPr>
        <p:spPr>
          <a:xfrm rot="16200000" flipH="1">
            <a:off x="15637477" y="4532516"/>
            <a:ext cx="270009" cy="236985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9" name="Прямоугольник 258">
            <a:extLst>
              <a:ext uri="{FF2B5EF4-FFF2-40B4-BE49-F238E27FC236}">
                <a16:creationId xmlns:a16="http://schemas.microsoft.com/office/drawing/2014/main" id="{0F5E597A-C48B-4749-B709-20BB7A4E003E}"/>
              </a:ext>
            </a:extLst>
          </p:cNvPr>
          <p:cNvSpPr/>
          <p:nvPr/>
        </p:nvSpPr>
        <p:spPr>
          <a:xfrm>
            <a:off x="7059827" y="342765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Принять французские инвестиции</a:t>
            </a:r>
          </a:p>
        </p:txBody>
      </p:sp>
      <p:sp>
        <p:nvSpPr>
          <p:cNvPr id="263" name="Прямоугольник 262">
            <a:extLst>
              <a:ext uri="{FF2B5EF4-FFF2-40B4-BE49-F238E27FC236}">
                <a16:creationId xmlns:a16="http://schemas.microsoft.com/office/drawing/2014/main" id="{970C5735-49A0-4EC6-85CF-24E9FB4CD637}"/>
              </a:ext>
            </a:extLst>
          </p:cNvPr>
          <p:cNvSpPr/>
          <p:nvPr/>
        </p:nvSpPr>
        <p:spPr>
          <a:xfrm>
            <a:off x="8242834" y="2603290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Оказать поддержку Марокканскому Комитету Действий</a:t>
            </a:r>
          </a:p>
        </p:txBody>
      </p:sp>
      <p:sp>
        <p:nvSpPr>
          <p:cNvPr id="264" name="Прямоугольник 263">
            <a:extLst>
              <a:ext uri="{FF2B5EF4-FFF2-40B4-BE49-F238E27FC236}">
                <a16:creationId xmlns:a16="http://schemas.microsoft.com/office/drawing/2014/main" id="{E9D86B21-BA50-4EED-8AF3-33349A7A2289}"/>
              </a:ext>
            </a:extLst>
          </p:cNvPr>
          <p:cNvSpPr/>
          <p:nvPr/>
        </p:nvSpPr>
        <p:spPr>
          <a:xfrm>
            <a:off x="5872525" y="3427653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Запросить оружие для гарнизонов</a:t>
            </a:r>
          </a:p>
        </p:txBody>
      </p:sp>
      <p:sp>
        <p:nvSpPr>
          <p:cNvPr id="265" name="Прямоугольник 264">
            <a:extLst>
              <a:ext uri="{FF2B5EF4-FFF2-40B4-BE49-F238E27FC236}">
                <a16:creationId xmlns:a16="http://schemas.microsoft.com/office/drawing/2014/main" id="{CA5A524B-95E8-4622-98BC-8DEB6F253FBB}"/>
              </a:ext>
            </a:extLst>
          </p:cNvPr>
          <p:cNvSpPr/>
          <p:nvPr/>
        </p:nvSpPr>
        <p:spPr>
          <a:xfrm>
            <a:off x="4680775" y="2602759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Противостоять Марокканскому комитету действий</a:t>
            </a:r>
          </a:p>
        </p:txBody>
      </p:sp>
      <p:cxnSp>
        <p:nvCxnSpPr>
          <p:cNvPr id="268" name="Прямая соединительная линия 267">
            <a:extLst>
              <a:ext uri="{FF2B5EF4-FFF2-40B4-BE49-F238E27FC236}">
                <a16:creationId xmlns:a16="http://schemas.microsoft.com/office/drawing/2014/main" id="{FABFED8D-A35E-4FC6-A3E3-47325AA7A5E2}"/>
              </a:ext>
            </a:extLst>
          </p:cNvPr>
          <p:cNvCxnSpPr>
            <a:cxnSpLocks/>
            <a:stCxn id="263" idx="1"/>
            <a:endCxn id="265" idx="3"/>
          </p:cNvCxnSpPr>
          <p:nvPr/>
        </p:nvCxnSpPr>
        <p:spPr>
          <a:xfrm flipH="1" flipV="1">
            <a:off x="5607100" y="2872759"/>
            <a:ext cx="2635734" cy="531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9" name="Соединительная линия уступом 620">
            <a:extLst>
              <a:ext uri="{FF2B5EF4-FFF2-40B4-BE49-F238E27FC236}">
                <a16:creationId xmlns:a16="http://schemas.microsoft.com/office/drawing/2014/main" id="{29A1668A-421E-4114-AEFA-F23A40594868}"/>
              </a:ext>
            </a:extLst>
          </p:cNvPr>
          <p:cNvCxnSpPr>
            <a:cxnSpLocks/>
            <a:stCxn id="172" idx="2"/>
            <a:endCxn id="265" idx="0"/>
          </p:cNvCxnSpPr>
          <p:nvPr/>
        </p:nvCxnSpPr>
        <p:spPr>
          <a:xfrm rot="5400000">
            <a:off x="5910302" y="1581292"/>
            <a:ext cx="255104" cy="178783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3" name="Соединительная линия уступом 620">
            <a:extLst>
              <a:ext uri="{FF2B5EF4-FFF2-40B4-BE49-F238E27FC236}">
                <a16:creationId xmlns:a16="http://schemas.microsoft.com/office/drawing/2014/main" id="{81A345AD-C194-4185-B40E-0B46A19DE726}"/>
              </a:ext>
            </a:extLst>
          </p:cNvPr>
          <p:cNvCxnSpPr>
            <a:cxnSpLocks/>
            <a:stCxn id="172" idx="2"/>
            <a:endCxn id="263" idx="0"/>
          </p:cNvCxnSpPr>
          <p:nvPr/>
        </p:nvCxnSpPr>
        <p:spPr>
          <a:xfrm rot="16200000" flipH="1">
            <a:off x="7691066" y="1588358"/>
            <a:ext cx="255635" cy="177422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5" name="Прямоугольник 274">
            <a:extLst>
              <a:ext uri="{FF2B5EF4-FFF2-40B4-BE49-F238E27FC236}">
                <a16:creationId xmlns:a16="http://schemas.microsoft.com/office/drawing/2014/main" id="{FF6787D9-3183-4E89-AAFC-1047F965FF62}"/>
              </a:ext>
            </a:extLst>
          </p:cNvPr>
          <p:cNvSpPr/>
          <p:nvPr/>
        </p:nvSpPr>
        <p:spPr>
          <a:xfrm>
            <a:off x="8842200" y="4235046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Заменить пост великого визиря премьер-министром</a:t>
            </a:r>
          </a:p>
        </p:txBody>
      </p:sp>
      <p:cxnSp>
        <p:nvCxnSpPr>
          <p:cNvPr id="282" name="Соединительная линия уступом 620">
            <a:extLst>
              <a:ext uri="{FF2B5EF4-FFF2-40B4-BE49-F238E27FC236}">
                <a16:creationId xmlns:a16="http://schemas.microsoft.com/office/drawing/2014/main" id="{51EA453B-083C-4FEF-80CA-54AD8C1C3055}"/>
              </a:ext>
            </a:extLst>
          </p:cNvPr>
          <p:cNvCxnSpPr>
            <a:cxnSpLocks/>
            <a:stCxn id="172" idx="2"/>
            <a:endCxn id="264" idx="0"/>
          </p:cNvCxnSpPr>
          <p:nvPr/>
        </p:nvCxnSpPr>
        <p:spPr>
          <a:xfrm rot="5400000">
            <a:off x="6093730" y="2589614"/>
            <a:ext cx="1079998" cy="596081"/>
          </a:xfrm>
          <a:prstGeom prst="bentConnector3">
            <a:avLst>
              <a:gd name="adj1" fmla="val 12589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3" name="Прямоугольник 282">
            <a:extLst>
              <a:ext uri="{FF2B5EF4-FFF2-40B4-BE49-F238E27FC236}">
                <a16:creationId xmlns:a16="http://schemas.microsoft.com/office/drawing/2014/main" id="{886D9F6F-BB87-4A90-BB75-348AA8E44D4C}"/>
              </a:ext>
            </a:extLst>
          </p:cNvPr>
          <p:cNvSpPr/>
          <p:nvPr/>
        </p:nvSpPr>
        <p:spPr>
          <a:xfrm>
            <a:off x="4098299" y="3425128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Распустить Марокканский комитет действий</a:t>
            </a:r>
          </a:p>
        </p:txBody>
      </p:sp>
      <p:cxnSp>
        <p:nvCxnSpPr>
          <p:cNvPr id="284" name="Соединительная линия уступом 620">
            <a:extLst>
              <a:ext uri="{FF2B5EF4-FFF2-40B4-BE49-F238E27FC236}">
                <a16:creationId xmlns:a16="http://schemas.microsoft.com/office/drawing/2014/main" id="{2030DA18-5BAC-48F1-9A6A-7E9A18C9AA51}"/>
              </a:ext>
            </a:extLst>
          </p:cNvPr>
          <p:cNvCxnSpPr>
            <a:cxnSpLocks/>
            <a:stCxn id="265" idx="2"/>
            <a:endCxn id="283" idx="0"/>
          </p:cNvCxnSpPr>
          <p:nvPr/>
        </p:nvCxnSpPr>
        <p:spPr>
          <a:xfrm rot="5400000">
            <a:off x="4711516" y="2992705"/>
            <a:ext cx="282369" cy="58247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7" name="Прямоугольник 286">
            <a:extLst>
              <a:ext uri="{FF2B5EF4-FFF2-40B4-BE49-F238E27FC236}">
                <a16:creationId xmlns:a16="http://schemas.microsoft.com/office/drawing/2014/main" id="{7C057171-F376-4B82-B319-CBAB78F0889F}"/>
              </a:ext>
            </a:extLst>
          </p:cNvPr>
          <p:cNvSpPr/>
          <p:nvPr/>
        </p:nvSpPr>
        <p:spPr>
          <a:xfrm>
            <a:off x="8838914" y="3431990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Разрешить публикацию националистических газет</a:t>
            </a:r>
            <a:br>
              <a:rPr lang="ru-RU" sz="700" dirty="0"/>
            </a:br>
            <a:r>
              <a:rPr lang="ru-RU" sz="100" dirty="0"/>
              <a:t>(В январе 1937 года генерал-резидент Шарль </a:t>
            </a:r>
            <a:r>
              <a:rPr lang="ru-RU" sz="100" dirty="0" err="1"/>
              <a:t>Ногес</a:t>
            </a:r>
            <a:r>
              <a:rPr lang="ru-RU" sz="100" dirty="0"/>
              <a:t> разрешил публикацию нескольких националистических газет, что способствовало ускорению раскола внутри CAM. 12 февраля 1937 года в Рабате вышел арабоязычный еженедельник «Эль Атлас » под редакцией </a:t>
            </a:r>
            <a:r>
              <a:rPr lang="ru-RU" sz="100" dirty="0" err="1"/>
              <a:t>Мохамеда</a:t>
            </a:r>
            <a:r>
              <a:rPr lang="ru-RU" sz="100" dirty="0"/>
              <a:t> </a:t>
            </a:r>
            <a:r>
              <a:rPr lang="ru-RU" sz="100" dirty="0" err="1"/>
              <a:t>Лязиди</a:t>
            </a:r>
            <a:r>
              <a:rPr lang="ru-RU" sz="100" dirty="0"/>
              <a:t>, а 27 февраля того же года в Рабате вышел первый номер франкоязычного еженедельника « </a:t>
            </a:r>
            <a:r>
              <a:rPr lang="ru-RU" sz="100" dirty="0" err="1"/>
              <a:t>L'Action</a:t>
            </a:r>
            <a:r>
              <a:rPr lang="ru-RU" sz="100" dirty="0"/>
              <a:t> </a:t>
            </a:r>
            <a:r>
              <a:rPr lang="ru-RU" sz="100" dirty="0" err="1"/>
              <a:t>Populaire</a:t>
            </a:r>
            <a:r>
              <a:rPr lang="ru-RU" sz="100" dirty="0"/>
              <a:t> » под редакцией </a:t>
            </a:r>
            <a:r>
              <a:rPr lang="ru-RU" sz="100" dirty="0" err="1"/>
              <a:t>Мохамеда</a:t>
            </a:r>
            <a:r>
              <a:rPr lang="ru-RU" sz="100" dirty="0"/>
              <a:t> </a:t>
            </a:r>
            <a:r>
              <a:rPr lang="ru-RU" sz="100" dirty="0" err="1"/>
              <a:t>Аллала</a:t>
            </a:r>
            <a:r>
              <a:rPr lang="ru-RU" sz="100" dirty="0"/>
              <a:t> </a:t>
            </a:r>
            <a:r>
              <a:rPr lang="ru-RU" sz="100" dirty="0" err="1"/>
              <a:t>Фасси</a:t>
            </a:r>
            <a:r>
              <a:rPr lang="ru-RU" sz="100" dirty="0"/>
              <a:t> . </a:t>
            </a:r>
            <a:r>
              <a:rPr lang="ru-RU" sz="100" dirty="0" err="1"/>
              <a:t>Мохамед</a:t>
            </a:r>
            <a:r>
              <a:rPr lang="ru-RU" sz="100" dirty="0"/>
              <a:t> Хасан </a:t>
            </a:r>
            <a:r>
              <a:rPr lang="ru-RU" sz="100" dirty="0" err="1"/>
              <a:t>Уаззани</a:t>
            </a:r>
            <a:r>
              <a:rPr lang="ru-RU" sz="100" dirty="0"/>
              <a:t> получил разрешение на возобновление публикации «</a:t>
            </a:r>
            <a:r>
              <a:rPr lang="ru-RU" sz="100" dirty="0" err="1"/>
              <a:t>L'Action</a:t>
            </a:r>
            <a:r>
              <a:rPr lang="ru-RU" sz="100" dirty="0"/>
              <a:t> </a:t>
            </a:r>
            <a:r>
              <a:rPr lang="ru-RU" sz="100" dirty="0" err="1"/>
              <a:t>du</a:t>
            </a:r>
            <a:r>
              <a:rPr lang="ru-RU" sz="100" dirty="0"/>
              <a:t> </a:t>
            </a:r>
            <a:r>
              <a:rPr lang="ru-RU" sz="100" dirty="0" err="1"/>
              <a:t>Peuple</a:t>
            </a:r>
            <a:r>
              <a:rPr lang="ru-RU" sz="100" dirty="0"/>
              <a:t>» , которая начала выходить в еженедельном формате в апреле 1937 года.)</a:t>
            </a:r>
            <a:endParaRPr lang="ru-RU" sz="700" dirty="0"/>
          </a:p>
        </p:txBody>
      </p:sp>
      <p:cxnSp>
        <p:nvCxnSpPr>
          <p:cNvPr id="288" name="Соединительная линия уступом 620">
            <a:extLst>
              <a:ext uri="{FF2B5EF4-FFF2-40B4-BE49-F238E27FC236}">
                <a16:creationId xmlns:a16="http://schemas.microsoft.com/office/drawing/2014/main" id="{2D45B470-7110-45BE-A426-4B5C553565C5}"/>
              </a:ext>
            </a:extLst>
          </p:cNvPr>
          <p:cNvCxnSpPr>
            <a:cxnSpLocks/>
            <a:stCxn id="263" idx="2"/>
            <a:endCxn id="287" idx="0"/>
          </p:cNvCxnSpPr>
          <p:nvPr/>
        </p:nvCxnSpPr>
        <p:spPr>
          <a:xfrm rot="16200000" flipH="1">
            <a:off x="8859687" y="2989600"/>
            <a:ext cx="288700" cy="59608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2" name="Прямоугольник 291">
            <a:extLst>
              <a:ext uri="{FF2B5EF4-FFF2-40B4-BE49-F238E27FC236}">
                <a16:creationId xmlns:a16="http://schemas.microsoft.com/office/drawing/2014/main" id="{E32E2B1C-B462-4241-B5AE-DEE569675EFC}"/>
              </a:ext>
            </a:extLst>
          </p:cNvPr>
          <p:cNvSpPr/>
          <p:nvPr/>
        </p:nvSpPr>
        <p:spPr>
          <a:xfrm>
            <a:off x="4102345" y="4237644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Довериться Франции</a:t>
            </a:r>
          </a:p>
        </p:txBody>
      </p:sp>
      <p:cxnSp>
        <p:nvCxnSpPr>
          <p:cNvPr id="293" name="Соединительная линия уступом 620">
            <a:extLst>
              <a:ext uri="{FF2B5EF4-FFF2-40B4-BE49-F238E27FC236}">
                <a16:creationId xmlns:a16="http://schemas.microsoft.com/office/drawing/2014/main" id="{757590F4-BC4D-4C90-A3CA-F02D4812C7C9}"/>
              </a:ext>
            </a:extLst>
          </p:cNvPr>
          <p:cNvCxnSpPr>
            <a:cxnSpLocks/>
            <a:stCxn id="283" idx="2"/>
            <a:endCxn id="292" idx="0"/>
          </p:cNvCxnSpPr>
          <p:nvPr/>
        </p:nvCxnSpPr>
        <p:spPr>
          <a:xfrm rot="16200000" flipH="1">
            <a:off x="4427227" y="4099363"/>
            <a:ext cx="272516" cy="404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4" name="Соединительная линия уступом 620">
            <a:extLst>
              <a:ext uri="{FF2B5EF4-FFF2-40B4-BE49-F238E27FC236}">
                <a16:creationId xmlns:a16="http://schemas.microsoft.com/office/drawing/2014/main" id="{4C914DD9-8594-48D4-B2A0-6839CED41856}"/>
              </a:ext>
            </a:extLst>
          </p:cNvPr>
          <p:cNvCxnSpPr>
            <a:cxnSpLocks/>
            <a:stCxn id="172" idx="2"/>
            <a:endCxn id="259" idx="0"/>
          </p:cNvCxnSpPr>
          <p:nvPr/>
        </p:nvCxnSpPr>
        <p:spPr>
          <a:xfrm rot="16200000" flipH="1">
            <a:off x="6687380" y="2592043"/>
            <a:ext cx="1079998" cy="591221"/>
          </a:xfrm>
          <a:prstGeom prst="bentConnector3">
            <a:avLst>
              <a:gd name="adj1" fmla="val 12097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0" name="Прямоугольник 309">
            <a:extLst>
              <a:ext uri="{FF2B5EF4-FFF2-40B4-BE49-F238E27FC236}">
                <a16:creationId xmlns:a16="http://schemas.microsoft.com/office/drawing/2014/main" id="{8BEE4877-4A35-41B0-BA5E-CEC9F21FB8DF}"/>
              </a:ext>
            </a:extLst>
          </p:cNvPr>
          <p:cNvSpPr/>
          <p:nvPr/>
        </p:nvSpPr>
        <p:spPr>
          <a:xfrm>
            <a:off x="6468606" y="5045049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«Малый джихад»</a:t>
            </a:r>
          </a:p>
        </p:txBody>
      </p:sp>
      <p:sp>
        <p:nvSpPr>
          <p:cNvPr id="316" name="Прямоугольник 315">
            <a:extLst>
              <a:ext uri="{FF2B5EF4-FFF2-40B4-BE49-F238E27FC236}">
                <a16:creationId xmlns:a16="http://schemas.microsoft.com/office/drawing/2014/main" id="{450BAB95-3D2C-4E8B-A24B-34A46E093A03}"/>
              </a:ext>
            </a:extLst>
          </p:cNvPr>
          <p:cNvSpPr/>
          <p:nvPr/>
        </p:nvSpPr>
        <p:spPr>
          <a:xfrm>
            <a:off x="8251905" y="5042438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Подготовить замену </a:t>
            </a:r>
            <a:r>
              <a:rPr lang="ru-RU" sz="700" dirty="0" err="1"/>
              <a:t>мехзену</a:t>
            </a:r>
            <a:r>
              <a:rPr lang="ru-RU" sz="700" dirty="0"/>
              <a:t> </a:t>
            </a:r>
          </a:p>
        </p:txBody>
      </p:sp>
      <p:cxnSp>
        <p:nvCxnSpPr>
          <p:cNvPr id="317" name="Соединительная линия уступом 620">
            <a:extLst>
              <a:ext uri="{FF2B5EF4-FFF2-40B4-BE49-F238E27FC236}">
                <a16:creationId xmlns:a16="http://schemas.microsoft.com/office/drawing/2014/main" id="{371B4126-1CF1-4719-8DCD-4617820F982D}"/>
              </a:ext>
            </a:extLst>
          </p:cNvPr>
          <p:cNvCxnSpPr>
            <a:cxnSpLocks/>
            <a:stCxn id="287" idx="2"/>
            <a:endCxn id="285" idx="0"/>
          </p:cNvCxnSpPr>
          <p:nvPr/>
        </p:nvCxnSpPr>
        <p:spPr>
          <a:xfrm rot="5400000">
            <a:off x="8581376" y="3514345"/>
            <a:ext cx="263056" cy="117834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0" name="Прямоугольник 319">
            <a:extLst>
              <a:ext uri="{FF2B5EF4-FFF2-40B4-BE49-F238E27FC236}">
                <a16:creationId xmlns:a16="http://schemas.microsoft.com/office/drawing/2014/main" id="{CEEF7E01-23D9-406A-B51B-D4B10D6D4533}"/>
              </a:ext>
            </a:extLst>
          </p:cNvPr>
          <p:cNvSpPr/>
          <p:nvPr/>
        </p:nvSpPr>
        <p:spPr>
          <a:xfrm>
            <a:off x="7660083" y="5849528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Заключить пакт с Комитетом антифашистских </a:t>
            </a:r>
            <a:r>
              <a:rPr lang="ru-RU" sz="700" dirty="0" err="1"/>
              <a:t>милиций</a:t>
            </a:r>
            <a:r>
              <a:rPr lang="ru-RU" sz="100" dirty="0" err="1"/>
              <a:t>Каталонии</a:t>
            </a:r>
            <a:br>
              <a:rPr lang="ru-RU" sz="100" dirty="0"/>
            </a:br>
            <a:r>
              <a:rPr lang="ru-RU" sz="100" dirty="0"/>
              <a:t>(Секретный пакт с каталонскими анархистами против Франко (Август — Сентябрь 1936)Это один из самых захватывающих и малоизвестных сюжетов реальной </a:t>
            </a:r>
            <a:r>
              <a:rPr lang="ru-RU" sz="100" dirty="0" err="1"/>
              <a:t>истории:В</a:t>
            </a:r>
            <a:r>
              <a:rPr lang="ru-RU" sz="100" dirty="0"/>
              <a:t> июле 1936 года в Испанском Марокко вспыхнул фашистский мятеж генерала </a:t>
            </a:r>
            <a:r>
              <a:rPr lang="ru-RU" sz="100" dirty="0" err="1"/>
              <a:t>Франко.В</a:t>
            </a:r>
            <a:r>
              <a:rPr lang="ru-RU" sz="100" dirty="0"/>
              <a:t> августе в Марокко (в Фес) тайно прибыли французские и испанские левые активисты (включая Давида Руссе и внука Карла Маркса — Роберта-Жана Лонге), чтобы скоординировать действия.19 сентября 1936 года лидеры CAM (Мухаммед Хасан аль-</a:t>
            </a:r>
            <a:r>
              <a:rPr lang="ru-RU" sz="100" dirty="0" err="1"/>
              <a:t>Уаццани</a:t>
            </a:r>
            <a:r>
              <a:rPr lang="ru-RU" sz="100" dirty="0"/>
              <a:t> и Омар </a:t>
            </a:r>
            <a:r>
              <a:rPr lang="ru-RU" sz="100" dirty="0" err="1"/>
              <a:t>Абдельджалиль</a:t>
            </a:r>
            <a:r>
              <a:rPr lang="ru-RU" sz="100" dirty="0"/>
              <a:t>) подписали в Барселоне тайный пакт с Комитетом антифашистских милиций Каталонии (в лице знаменитого анархиста Хуана Гарсии Оливера). Каталонцы пообещали признать полную независимость Испанского Марокко, если CAM поднимет восстание в тылу у </a:t>
            </a:r>
            <a:r>
              <a:rPr lang="ru-RU" sz="100" dirty="0" err="1"/>
              <a:t>Франко.Итог</a:t>
            </a:r>
            <a:r>
              <a:rPr lang="ru-RU" sz="100" dirty="0"/>
              <a:t>: План сорвался, так как премьер-министр Испании Ларго Кабальеро и премьер Франции Леон Блюм испугались колониальных бунтов и наложили вето на соглашение. В октябре аль-</a:t>
            </a:r>
            <a:r>
              <a:rPr lang="ru-RU" sz="100" dirty="0" err="1"/>
              <a:t>Уаццани</a:t>
            </a:r>
            <a:r>
              <a:rPr lang="ru-RU" sz="100" dirty="0"/>
              <a:t> лично летал в Париж, но Леон Блюм отказался его принять.)</a:t>
            </a:r>
            <a:endParaRPr lang="ru-RU" sz="700" dirty="0"/>
          </a:p>
        </p:txBody>
      </p:sp>
      <p:cxnSp>
        <p:nvCxnSpPr>
          <p:cNvPr id="321" name="Соединительная линия уступом 620">
            <a:extLst>
              <a:ext uri="{FF2B5EF4-FFF2-40B4-BE49-F238E27FC236}">
                <a16:creationId xmlns:a16="http://schemas.microsoft.com/office/drawing/2014/main" id="{A4F65A7D-8CC9-4225-8C23-9C065F3ED477}"/>
              </a:ext>
            </a:extLst>
          </p:cNvPr>
          <p:cNvCxnSpPr>
            <a:cxnSpLocks/>
            <a:stCxn id="285" idx="2"/>
            <a:endCxn id="310" idx="0"/>
          </p:cNvCxnSpPr>
          <p:nvPr/>
        </p:nvCxnSpPr>
        <p:spPr>
          <a:xfrm rot="5400000">
            <a:off x="7392749" y="4314066"/>
            <a:ext cx="270003" cy="119196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8" name="Соединительная линия уступом 620">
            <a:extLst>
              <a:ext uri="{FF2B5EF4-FFF2-40B4-BE49-F238E27FC236}">
                <a16:creationId xmlns:a16="http://schemas.microsoft.com/office/drawing/2014/main" id="{A39DDDD4-0444-47AF-A895-5B138AC5F7BD}"/>
              </a:ext>
            </a:extLst>
          </p:cNvPr>
          <p:cNvCxnSpPr>
            <a:cxnSpLocks/>
            <a:stCxn id="287" idx="2"/>
            <a:endCxn id="275" idx="0"/>
          </p:cNvCxnSpPr>
          <p:nvPr/>
        </p:nvCxnSpPr>
        <p:spPr>
          <a:xfrm rot="16200000" flipH="1">
            <a:off x="9172192" y="4101875"/>
            <a:ext cx="263056" cy="328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0" name="Прямоугольник 329">
            <a:extLst>
              <a:ext uri="{FF2B5EF4-FFF2-40B4-BE49-F238E27FC236}">
                <a16:creationId xmlns:a16="http://schemas.microsoft.com/office/drawing/2014/main" id="{77CC4BAF-A75D-4EBC-BE28-A54D5A61B12F}"/>
              </a:ext>
            </a:extLst>
          </p:cNvPr>
          <p:cNvSpPr/>
          <p:nvPr/>
        </p:nvSpPr>
        <p:spPr>
          <a:xfrm>
            <a:off x="6465287" y="9078900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«Большой джихад»</a:t>
            </a:r>
          </a:p>
        </p:txBody>
      </p:sp>
      <p:sp>
        <p:nvSpPr>
          <p:cNvPr id="332" name="Прямоугольник 331">
            <a:extLst>
              <a:ext uri="{FF2B5EF4-FFF2-40B4-BE49-F238E27FC236}">
                <a16:creationId xmlns:a16="http://schemas.microsoft.com/office/drawing/2014/main" id="{C0D52A2B-0B1A-46DA-A360-649D00FE7B0D}"/>
              </a:ext>
            </a:extLst>
          </p:cNvPr>
          <p:cNvSpPr/>
          <p:nvPr/>
        </p:nvSpPr>
        <p:spPr>
          <a:xfrm>
            <a:off x="8842199" y="5849830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Сформировать правительство</a:t>
            </a:r>
          </a:p>
        </p:txBody>
      </p:sp>
      <p:sp>
        <p:nvSpPr>
          <p:cNvPr id="344" name="Прямоугольник 343">
            <a:extLst>
              <a:ext uri="{FF2B5EF4-FFF2-40B4-BE49-F238E27FC236}">
                <a16:creationId xmlns:a16="http://schemas.microsoft.com/office/drawing/2014/main" id="{827062AB-206B-4E55-A24F-66815255E901}"/>
              </a:ext>
            </a:extLst>
          </p:cNvPr>
          <p:cNvSpPr/>
          <p:nvPr/>
        </p:nvSpPr>
        <p:spPr>
          <a:xfrm>
            <a:off x="6465289" y="5852447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волнения в Алжире</a:t>
            </a:r>
            <a:br>
              <a:rPr lang="ru-RU" sz="700" dirty="0"/>
            </a:br>
            <a:r>
              <a:rPr lang="ru-RU" sz="200" dirty="0"/>
              <a:t>(Создание мощной радиостанции для вещания на всю Африку и Ближний Восток (в реальности Мухаммед V финансировал «Голос Свободного Алжира»). Эффект: Увеличивает прирост популярности вашей идеологии в соседних странах.)</a:t>
            </a:r>
            <a:endParaRPr lang="ru-RU" sz="700" dirty="0"/>
          </a:p>
        </p:txBody>
      </p:sp>
      <p:sp>
        <p:nvSpPr>
          <p:cNvPr id="346" name="Прямоугольник 345">
            <a:extLst>
              <a:ext uri="{FF2B5EF4-FFF2-40B4-BE49-F238E27FC236}">
                <a16:creationId xmlns:a16="http://schemas.microsoft.com/office/drawing/2014/main" id="{214E4ECB-84D6-4EEF-A3D3-FFCF70AB74ED}"/>
              </a:ext>
            </a:extLst>
          </p:cNvPr>
          <p:cNvSpPr/>
          <p:nvPr/>
        </p:nvSpPr>
        <p:spPr>
          <a:xfrm>
            <a:off x="6468605" y="4240251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Запретить любые сходки рабочих</a:t>
            </a:r>
          </a:p>
        </p:txBody>
      </p:sp>
      <p:cxnSp>
        <p:nvCxnSpPr>
          <p:cNvPr id="357" name="Соединительная линия уступом 620">
            <a:extLst>
              <a:ext uri="{FF2B5EF4-FFF2-40B4-BE49-F238E27FC236}">
                <a16:creationId xmlns:a16="http://schemas.microsoft.com/office/drawing/2014/main" id="{4BAE7453-0BAF-47A0-808F-1B5A718A074E}"/>
              </a:ext>
            </a:extLst>
          </p:cNvPr>
          <p:cNvCxnSpPr>
            <a:cxnSpLocks/>
            <a:stCxn id="172" idx="2"/>
            <a:endCxn id="346" idx="0"/>
          </p:cNvCxnSpPr>
          <p:nvPr/>
        </p:nvCxnSpPr>
        <p:spPr>
          <a:xfrm rot="5400000">
            <a:off x="5985471" y="3293953"/>
            <a:ext cx="1892596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2" name="Прямоугольник 201">
            <a:extLst>
              <a:ext uri="{FF2B5EF4-FFF2-40B4-BE49-F238E27FC236}">
                <a16:creationId xmlns:a16="http://schemas.microsoft.com/office/drawing/2014/main" id="{DB4B7EC3-52CB-4281-940E-582336AE03DB}"/>
              </a:ext>
            </a:extLst>
          </p:cNvPr>
          <p:cNvSpPr/>
          <p:nvPr/>
        </p:nvSpPr>
        <p:spPr>
          <a:xfrm>
            <a:off x="17688637" y="6640229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Активная поддержка профсоюзов</a:t>
            </a:r>
          </a:p>
        </p:txBody>
      </p:sp>
      <p:sp>
        <p:nvSpPr>
          <p:cNvPr id="203" name="Прямоугольник 202">
            <a:extLst>
              <a:ext uri="{FF2B5EF4-FFF2-40B4-BE49-F238E27FC236}">
                <a16:creationId xmlns:a16="http://schemas.microsoft.com/office/drawing/2014/main" id="{AF793957-B76C-43EC-9B76-00309BBA6C74}"/>
              </a:ext>
            </a:extLst>
          </p:cNvPr>
          <p:cNvSpPr/>
          <p:nvPr/>
        </p:nvSpPr>
        <p:spPr>
          <a:xfrm>
            <a:off x="19954023" y="753724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Оказать поддержку альянсу Народного фронта</a:t>
            </a:r>
          </a:p>
        </p:txBody>
      </p:sp>
      <p:sp>
        <p:nvSpPr>
          <p:cNvPr id="207" name="Прямоугольник 206">
            <a:extLst>
              <a:ext uri="{FF2B5EF4-FFF2-40B4-BE49-F238E27FC236}">
                <a16:creationId xmlns:a16="http://schemas.microsoft.com/office/drawing/2014/main" id="{5B03BA2E-7382-48A4-9DA3-E043F9F67F46}"/>
              </a:ext>
            </a:extLst>
          </p:cNvPr>
          <p:cNvSpPr/>
          <p:nvPr/>
        </p:nvSpPr>
        <p:spPr>
          <a:xfrm>
            <a:off x="19959104" y="8327808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Нанести удар по Испанскому Марокко</a:t>
            </a:r>
          </a:p>
        </p:txBody>
      </p:sp>
      <p:cxnSp>
        <p:nvCxnSpPr>
          <p:cNvPr id="208" name="Соединительная линия уступом 620">
            <a:extLst>
              <a:ext uri="{FF2B5EF4-FFF2-40B4-BE49-F238E27FC236}">
                <a16:creationId xmlns:a16="http://schemas.microsoft.com/office/drawing/2014/main" id="{D2CA9DBC-2BFF-4366-AFF1-D3F844CBCC78}"/>
              </a:ext>
            </a:extLst>
          </p:cNvPr>
          <p:cNvCxnSpPr>
            <a:cxnSpLocks/>
            <a:stCxn id="203" idx="2"/>
            <a:endCxn id="207" idx="0"/>
          </p:cNvCxnSpPr>
          <p:nvPr/>
        </p:nvCxnSpPr>
        <p:spPr>
          <a:xfrm rot="16200000" flipH="1">
            <a:off x="20294445" y="8199985"/>
            <a:ext cx="250563" cy="50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5" name="Прямоугольник 214">
            <a:extLst>
              <a:ext uri="{FF2B5EF4-FFF2-40B4-BE49-F238E27FC236}">
                <a16:creationId xmlns:a16="http://schemas.microsoft.com/office/drawing/2014/main" id="{51F9863C-20E0-4A0E-9B2D-06939B1023ED}"/>
              </a:ext>
            </a:extLst>
          </p:cNvPr>
          <p:cNvSpPr/>
          <p:nvPr/>
        </p:nvSpPr>
        <p:spPr>
          <a:xfrm>
            <a:off x="15318108" y="584596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Организация коммунальной ассамблеи</a:t>
            </a:r>
          </a:p>
        </p:txBody>
      </p:sp>
      <p:sp>
        <p:nvSpPr>
          <p:cNvPr id="216" name="Прямоугольник 215">
            <a:extLst>
              <a:ext uri="{FF2B5EF4-FFF2-40B4-BE49-F238E27FC236}">
                <a16:creationId xmlns:a16="http://schemas.microsoft.com/office/drawing/2014/main" id="{3C0D6112-C225-4972-BEC8-F100926161FC}"/>
              </a:ext>
            </a:extLst>
          </p:cNvPr>
          <p:cNvSpPr/>
          <p:nvPr/>
        </p:nvSpPr>
        <p:spPr>
          <a:xfrm>
            <a:off x="17693717" y="8320016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Установка минимальных зарплат на заводах</a:t>
            </a:r>
          </a:p>
        </p:txBody>
      </p:sp>
      <p:sp>
        <p:nvSpPr>
          <p:cNvPr id="219" name="Прямоугольник 218">
            <a:extLst>
              <a:ext uri="{FF2B5EF4-FFF2-40B4-BE49-F238E27FC236}">
                <a16:creationId xmlns:a16="http://schemas.microsoft.com/office/drawing/2014/main" id="{F1F67AB4-5D6F-47D3-90A9-15EC729958DB}"/>
              </a:ext>
            </a:extLst>
          </p:cNvPr>
          <p:cNvSpPr/>
          <p:nvPr/>
        </p:nvSpPr>
        <p:spPr>
          <a:xfrm>
            <a:off x="15318107" y="6632102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Аграрная реформа</a:t>
            </a:r>
          </a:p>
        </p:txBody>
      </p:sp>
      <p:sp>
        <p:nvSpPr>
          <p:cNvPr id="220" name="Прямоугольник 219">
            <a:extLst>
              <a:ext uri="{FF2B5EF4-FFF2-40B4-BE49-F238E27FC236}">
                <a16:creationId xmlns:a16="http://schemas.microsoft.com/office/drawing/2014/main" id="{6CCFB3F7-5D43-43AF-8632-E264B55AB257}"/>
              </a:ext>
            </a:extLst>
          </p:cNvPr>
          <p:cNvSpPr/>
          <p:nvPr/>
        </p:nvSpPr>
        <p:spPr>
          <a:xfrm>
            <a:off x="17087319" y="747051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Национализация фосфатных кампаний</a:t>
            </a:r>
          </a:p>
        </p:txBody>
      </p:sp>
      <p:cxnSp>
        <p:nvCxnSpPr>
          <p:cNvPr id="223" name="Соединительная линия уступом 620">
            <a:extLst>
              <a:ext uri="{FF2B5EF4-FFF2-40B4-BE49-F238E27FC236}">
                <a16:creationId xmlns:a16="http://schemas.microsoft.com/office/drawing/2014/main" id="{B36028A2-E427-4D95-96AB-B8A709A01839}"/>
              </a:ext>
            </a:extLst>
          </p:cNvPr>
          <p:cNvCxnSpPr>
            <a:cxnSpLocks/>
            <a:stCxn id="231" idx="2"/>
            <a:endCxn id="447" idx="0"/>
          </p:cNvCxnSpPr>
          <p:nvPr/>
        </p:nvCxnSpPr>
        <p:spPr>
          <a:xfrm rot="16200000" flipH="1">
            <a:off x="16238841" y="3931151"/>
            <a:ext cx="261673" cy="356424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Соединительная линия уступом 620">
            <a:extLst>
              <a:ext uri="{FF2B5EF4-FFF2-40B4-BE49-F238E27FC236}">
                <a16:creationId xmlns:a16="http://schemas.microsoft.com/office/drawing/2014/main" id="{1A69F510-F0C4-4EB4-84C3-E59AE76B0C40}"/>
              </a:ext>
            </a:extLst>
          </p:cNvPr>
          <p:cNvCxnSpPr>
            <a:cxnSpLocks/>
            <a:stCxn id="229" idx="2"/>
            <a:endCxn id="215" idx="0"/>
          </p:cNvCxnSpPr>
          <p:nvPr/>
        </p:nvCxnSpPr>
        <p:spPr>
          <a:xfrm rot="5400000">
            <a:off x="17435783" y="3930538"/>
            <a:ext cx="260917" cy="3569940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0" name="Прямоугольник 249">
            <a:extLst>
              <a:ext uri="{FF2B5EF4-FFF2-40B4-BE49-F238E27FC236}">
                <a16:creationId xmlns:a16="http://schemas.microsoft.com/office/drawing/2014/main" id="{6E361355-2C93-435B-B51A-06A915035B36}"/>
              </a:ext>
            </a:extLst>
          </p:cNvPr>
          <p:cNvSpPr/>
          <p:nvPr/>
        </p:nvSpPr>
        <p:spPr>
          <a:xfrm>
            <a:off x="14711406" y="747425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Увеличить кредиты феллахам</a:t>
            </a:r>
          </a:p>
        </p:txBody>
      </p:sp>
      <p:sp>
        <p:nvSpPr>
          <p:cNvPr id="253" name="Прямоугольник 252">
            <a:extLst>
              <a:ext uri="{FF2B5EF4-FFF2-40B4-BE49-F238E27FC236}">
                <a16:creationId xmlns:a16="http://schemas.microsoft.com/office/drawing/2014/main" id="{D02BCC77-E162-4C51-9B3A-5055FE880E72}"/>
              </a:ext>
            </a:extLst>
          </p:cNvPr>
          <p:cNvSpPr/>
          <p:nvPr/>
        </p:nvSpPr>
        <p:spPr>
          <a:xfrm>
            <a:off x="16501863" y="831627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Организовать социальную защиту</a:t>
            </a:r>
          </a:p>
        </p:txBody>
      </p:sp>
      <p:sp>
        <p:nvSpPr>
          <p:cNvPr id="257" name="Прямоугольник 256">
            <a:extLst>
              <a:ext uri="{FF2B5EF4-FFF2-40B4-BE49-F238E27FC236}">
                <a16:creationId xmlns:a16="http://schemas.microsoft.com/office/drawing/2014/main" id="{9C8DBF37-84FD-4A37-AA9F-B532B66BAEA5}"/>
              </a:ext>
            </a:extLst>
          </p:cNvPr>
          <p:cNvSpPr/>
          <p:nvPr/>
        </p:nvSpPr>
        <p:spPr>
          <a:xfrm>
            <a:off x="15899440" y="747425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Открыть школы для феллахов</a:t>
            </a:r>
          </a:p>
        </p:txBody>
      </p:sp>
      <p:sp>
        <p:nvSpPr>
          <p:cNvPr id="270" name="Прямоугольник 269">
            <a:extLst>
              <a:ext uri="{FF2B5EF4-FFF2-40B4-BE49-F238E27FC236}">
                <a16:creationId xmlns:a16="http://schemas.microsoft.com/office/drawing/2014/main" id="{4D251A9D-8A1C-4835-A529-5CFFA224CEFA}"/>
              </a:ext>
            </a:extLst>
          </p:cNvPr>
          <p:cNvSpPr/>
          <p:nvPr/>
        </p:nvSpPr>
        <p:spPr>
          <a:xfrm>
            <a:off x="15319740" y="832001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Коллективизация</a:t>
            </a:r>
          </a:p>
        </p:txBody>
      </p:sp>
      <p:sp>
        <p:nvSpPr>
          <p:cNvPr id="280" name="Прямоугольник 279">
            <a:extLst>
              <a:ext uri="{FF2B5EF4-FFF2-40B4-BE49-F238E27FC236}">
                <a16:creationId xmlns:a16="http://schemas.microsoft.com/office/drawing/2014/main" id="{B10AA670-8579-4DAF-8ADE-4CA098BEB21A}"/>
              </a:ext>
            </a:extLst>
          </p:cNvPr>
          <p:cNvSpPr/>
          <p:nvPr/>
        </p:nvSpPr>
        <p:spPr>
          <a:xfrm>
            <a:off x="21147590" y="833309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Поддержка в Европе</a:t>
            </a:r>
          </a:p>
        </p:txBody>
      </p:sp>
      <p:cxnSp>
        <p:nvCxnSpPr>
          <p:cNvPr id="281" name="Соединительная линия уступом 620">
            <a:extLst>
              <a:ext uri="{FF2B5EF4-FFF2-40B4-BE49-F238E27FC236}">
                <a16:creationId xmlns:a16="http://schemas.microsoft.com/office/drawing/2014/main" id="{C7BAECC2-8CE9-42E6-818F-3DCFB0BC736B}"/>
              </a:ext>
            </a:extLst>
          </p:cNvPr>
          <p:cNvCxnSpPr>
            <a:cxnSpLocks/>
            <a:stCxn id="203" idx="2"/>
            <a:endCxn id="280" idx="0"/>
          </p:cNvCxnSpPr>
          <p:nvPr/>
        </p:nvCxnSpPr>
        <p:spPr>
          <a:xfrm rot="16200000" flipH="1">
            <a:off x="20886047" y="7608383"/>
            <a:ext cx="255845" cy="119356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9" name="Прямоугольник 288">
            <a:extLst>
              <a:ext uri="{FF2B5EF4-FFF2-40B4-BE49-F238E27FC236}">
                <a16:creationId xmlns:a16="http://schemas.microsoft.com/office/drawing/2014/main" id="{3DE459D3-85E5-46CD-847C-3FDFF48BAE60}"/>
              </a:ext>
            </a:extLst>
          </p:cNvPr>
          <p:cNvSpPr/>
          <p:nvPr/>
        </p:nvSpPr>
        <p:spPr>
          <a:xfrm>
            <a:off x="20550806" y="908180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Переговоры о независимости</a:t>
            </a:r>
          </a:p>
        </p:txBody>
      </p:sp>
      <p:cxnSp>
        <p:nvCxnSpPr>
          <p:cNvPr id="290" name="Соединительная линия уступом 620">
            <a:extLst>
              <a:ext uri="{FF2B5EF4-FFF2-40B4-BE49-F238E27FC236}">
                <a16:creationId xmlns:a16="http://schemas.microsoft.com/office/drawing/2014/main" id="{B9478120-EBE8-4218-A7F8-471C9CA75102}"/>
              </a:ext>
            </a:extLst>
          </p:cNvPr>
          <p:cNvCxnSpPr>
            <a:cxnSpLocks/>
            <a:stCxn id="207" idx="2"/>
            <a:endCxn id="289" idx="0"/>
          </p:cNvCxnSpPr>
          <p:nvPr/>
        </p:nvCxnSpPr>
        <p:spPr>
          <a:xfrm rot="16200000" flipH="1">
            <a:off x="20611120" y="8678955"/>
            <a:ext cx="213997" cy="59170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6" name="Соединительная линия уступом 620">
            <a:extLst>
              <a:ext uri="{FF2B5EF4-FFF2-40B4-BE49-F238E27FC236}">
                <a16:creationId xmlns:a16="http://schemas.microsoft.com/office/drawing/2014/main" id="{57CD163E-5033-4EE2-B625-AF4718E8D44C}"/>
              </a:ext>
            </a:extLst>
          </p:cNvPr>
          <p:cNvCxnSpPr>
            <a:cxnSpLocks/>
            <a:stCxn id="280" idx="2"/>
            <a:endCxn id="289" idx="0"/>
          </p:cNvCxnSpPr>
          <p:nvPr/>
        </p:nvCxnSpPr>
        <p:spPr>
          <a:xfrm rot="5400000">
            <a:off x="21208004" y="8679055"/>
            <a:ext cx="208715" cy="59678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4" name="Прямоугольник 243">
            <a:extLst>
              <a:ext uri="{FF2B5EF4-FFF2-40B4-BE49-F238E27FC236}">
                <a16:creationId xmlns:a16="http://schemas.microsoft.com/office/drawing/2014/main" id="{68301316-F113-43E2-BE8C-A421E8E8F476}"/>
              </a:ext>
            </a:extLst>
          </p:cNvPr>
          <p:cNvSpPr/>
          <p:nvPr/>
        </p:nvSpPr>
        <p:spPr>
          <a:xfrm>
            <a:off x="10903549" y="18677512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Создание муниципальных советов </a:t>
            </a:r>
            <a:r>
              <a:rPr lang="ru-RU" sz="300" dirty="0"/>
              <a:t>(позволяющих государству управлять своими внутренними делами)</a:t>
            </a:r>
            <a:endParaRPr lang="ru-RU" sz="700" dirty="0"/>
          </a:p>
        </p:txBody>
      </p:sp>
      <p:sp>
        <p:nvSpPr>
          <p:cNvPr id="247" name="Прямоугольник 246">
            <a:extLst>
              <a:ext uri="{FF2B5EF4-FFF2-40B4-BE49-F238E27FC236}">
                <a16:creationId xmlns:a16="http://schemas.microsoft.com/office/drawing/2014/main" id="{EFB476FA-A8C6-4F25-A4F9-0EE18F513C6F}"/>
              </a:ext>
            </a:extLst>
          </p:cNvPr>
          <p:cNvSpPr/>
          <p:nvPr/>
        </p:nvSpPr>
        <p:spPr>
          <a:xfrm>
            <a:off x="10903550" y="17867678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Создание высшего совета</a:t>
            </a:r>
          </a:p>
          <a:p>
            <a:pPr algn="ctr"/>
            <a:r>
              <a:rPr lang="ru-RU" sz="200" dirty="0"/>
              <a:t>(члены которого будут избираться марокканцами)</a:t>
            </a:r>
          </a:p>
        </p:txBody>
      </p:sp>
      <p:sp>
        <p:nvSpPr>
          <p:cNvPr id="286" name="Прямоугольник 285">
            <a:extLst>
              <a:ext uri="{FF2B5EF4-FFF2-40B4-BE49-F238E27FC236}">
                <a16:creationId xmlns:a16="http://schemas.microsoft.com/office/drawing/2014/main" id="{C6D605BB-0F8F-4EBC-8939-EC314CF5EA5B}"/>
              </a:ext>
            </a:extLst>
          </p:cNvPr>
          <p:cNvSpPr/>
          <p:nvPr/>
        </p:nvSpPr>
        <p:spPr>
          <a:xfrm>
            <a:off x="13371343" y="18677511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Создание движения «</a:t>
            </a:r>
            <a:r>
              <a:rPr lang="ru-RU" sz="700" dirty="0" err="1"/>
              <a:t>Фитьян</a:t>
            </a:r>
            <a:r>
              <a:rPr lang="ru-RU" sz="700" dirty="0"/>
              <a:t>»</a:t>
            </a:r>
          </a:p>
          <a:p>
            <a:pPr algn="ctr"/>
            <a:r>
              <a:rPr lang="ru-RU" sz="200" dirty="0"/>
              <a:t>(Движение «</a:t>
            </a:r>
            <a:r>
              <a:rPr lang="ru-RU" sz="200" dirty="0" err="1"/>
              <a:t>Фитьян</a:t>
            </a:r>
            <a:r>
              <a:rPr lang="ru-RU" sz="200" dirty="0"/>
              <a:t>» (араб. </a:t>
            </a:r>
            <a:r>
              <a:rPr lang="ar-AE" sz="200" dirty="0"/>
              <a:t>فتيان — «</a:t>
            </a:r>
            <a:r>
              <a:rPr lang="ru-RU" sz="200" dirty="0"/>
              <a:t>Юноши» или «Отроки») в контексте Испанского Марокко — это военизированная молодежная организация, созданная Партией национальных реформ </a:t>
            </a:r>
            <a:r>
              <a:rPr lang="ru-RU" sz="200" dirty="0" err="1"/>
              <a:t>Абд</a:t>
            </a:r>
            <a:r>
              <a:rPr lang="ru-RU" sz="200" dirty="0"/>
              <a:t> аль-</a:t>
            </a:r>
            <a:r>
              <a:rPr lang="ru-RU" sz="200" dirty="0" err="1"/>
              <a:t>Халика</a:t>
            </a:r>
            <a:r>
              <a:rPr lang="ru-RU" sz="200" dirty="0"/>
              <a:t> Торреса в конце 1930-х годов. На её создание и структуру оказали мощнейшее влияние европейские фашистские движения того времени, в особенности Испанская Фаланга)</a:t>
            </a:r>
            <a:endParaRPr lang="ru-RU" sz="700" dirty="0"/>
          </a:p>
        </p:txBody>
      </p:sp>
      <p:sp>
        <p:nvSpPr>
          <p:cNvPr id="299" name="Прямоугольник 298">
            <a:extLst>
              <a:ext uri="{FF2B5EF4-FFF2-40B4-BE49-F238E27FC236}">
                <a16:creationId xmlns:a16="http://schemas.microsoft.com/office/drawing/2014/main" id="{3DAE6CB6-1F84-4263-8B95-FD8B316CCCD2}"/>
              </a:ext>
            </a:extLst>
          </p:cNvPr>
          <p:cNvSpPr/>
          <p:nvPr/>
        </p:nvSpPr>
        <p:spPr>
          <a:xfrm>
            <a:off x="12750423" y="19506868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Панарабизм и ислам</a:t>
            </a:r>
          </a:p>
          <a:p>
            <a:pPr algn="ctr"/>
            <a:r>
              <a:rPr lang="ru-RU" sz="200" dirty="0"/>
              <a:t>Вместо католицизма и испанского империализма Фаланги, «</a:t>
            </a:r>
            <a:r>
              <a:rPr lang="ru-RU" sz="200" dirty="0" err="1"/>
              <a:t>Фитьян</a:t>
            </a:r>
            <a:r>
              <a:rPr lang="ru-RU" sz="200" dirty="0"/>
              <a:t>» воспитывали молодежь на ценностях арабского возрождения, защиты ислама и гордости за историю Марокко.</a:t>
            </a:r>
            <a:endParaRPr lang="ru-RU" sz="700" dirty="0"/>
          </a:p>
        </p:txBody>
      </p:sp>
      <p:sp>
        <p:nvSpPr>
          <p:cNvPr id="301" name="Прямоугольник 300">
            <a:extLst>
              <a:ext uri="{FF2B5EF4-FFF2-40B4-BE49-F238E27FC236}">
                <a16:creationId xmlns:a16="http://schemas.microsoft.com/office/drawing/2014/main" id="{19D409FE-ECD9-41F9-A78D-CBCA8C55DFC3}"/>
              </a:ext>
            </a:extLst>
          </p:cNvPr>
          <p:cNvSpPr/>
          <p:nvPr/>
        </p:nvSpPr>
        <p:spPr>
          <a:xfrm>
            <a:off x="7122627" y="1543040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Танжер — столица шпионажа</a:t>
            </a:r>
            <a:br>
              <a:rPr lang="ru-RU" sz="700" dirty="0"/>
            </a:br>
            <a:r>
              <a:rPr lang="ru-RU" sz="100" dirty="0"/>
              <a:t>»: Использование уникального статуса Танжера (который долгое время был финансовой и шпионской «серой зоной»). Эффект: Дает +1 шпиона в агентство и ускоряет создание шпионской сети в Европе на 25%.</a:t>
            </a:r>
            <a:endParaRPr lang="ru-RU" sz="700" dirty="0"/>
          </a:p>
        </p:txBody>
      </p:sp>
      <p:sp>
        <p:nvSpPr>
          <p:cNvPr id="302" name="Прямоугольник 301">
            <a:extLst>
              <a:ext uri="{FF2B5EF4-FFF2-40B4-BE49-F238E27FC236}">
                <a16:creationId xmlns:a16="http://schemas.microsoft.com/office/drawing/2014/main" id="{8C12AE9B-0635-435B-A726-FBA33BFD39E9}"/>
              </a:ext>
            </a:extLst>
          </p:cNvPr>
          <p:cNvSpPr/>
          <p:nvPr/>
        </p:nvSpPr>
        <p:spPr>
          <a:xfrm>
            <a:off x="5882391" y="1543040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Свободный порт Танжера</a:t>
            </a:r>
            <a:br>
              <a:rPr lang="ru-RU" sz="700" dirty="0"/>
            </a:br>
            <a:r>
              <a:rPr lang="ru-RU" sz="100" dirty="0"/>
              <a:t>(Историко-игровое </a:t>
            </a:r>
            <a:r>
              <a:rPr lang="ru-RU" sz="100" dirty="0" err="1"/>
              <a:t>описание:«Танжер</a:t>
            </a:r>
            <a:r>
              <a:rPr lang="ru-RU" sz="100" dirty="0"/>
              <a:t> — это ворота из Атлантики в Средиземное море. Объявив город зоной свободной торговли (Порто-франко), мы отменим таможенные пошлины для иностранных судов. Это привлечет в город международные торговые компании, склады и сборочные мануфактуры, превратив Танжер в главный логистический </a:t>
            </a:r>
            <a:r>
              <a:rPr lang="ru-RU" sz="100" dirty="0" err="1"/>
              <a:t>хаб</a:t>
            </a:r>
            <a:r>
              <a:rPr lang="ru-RU" sz="100" dirty="0"/>
              <a:t> Северной Африки».⚙️ Игровые </a:t>
            </a:r>
            <a:r>
              <a:rPr lang="ru-RU" sz="100" dirty="0" err="1"/>
              <a:t>эффекты:Развитие</a:t>
            </a:r>
            <a:r>
              <a:rPr lang="ru-RU" sz="100" dirty="0"/>
              <a:t> региона (Танжер):Морская база (</a:t>
            </a:r>
            <a:r>
              <a:rPr lang="ru-RU" sz="100" dirty="0" err="1"/>
              <a:t>Naval</a:t>
            </a:r>
            <a:r>
              <a:rPr lang="ru-RU" sz="100" dirty="0"/>
              <a:t> </a:t>
            </a:r>
            <a:r>
              <a:rPr lang="ru-RU" sz="100" dirty="0" err="1"/>
              <a:t>Base</a:t>
            </a:r>
            <a:r>
              <a:rPr lang="ru-RU" sz="100" dirty="0"/>
              <a:t>): +2 </a:t>
            </a:r>
            <a:r>
              <a:rPr lang="ru-RU" sz="100" dirty="0" err="1"/>
              <a:t>уровня.Гражданская</a:t>
            </a:r>
            <a:r>
              <a:rPr lang="ru-RU" sz="100" dirty="0"/>
              <a:t> фабрика (</a:t>
            </a:r>
            <a:r>
              <a:rPr lang="ru-RU" sz="100" dirty="0" err="1"/>
              <a:t>Civilian</a:t>
            </a:r>
            <a:r>
              <a:rPr lang="ru-RU" sz="100" dirty="0"/>
              <a:t> </a:t>
            </a:r>
            <a:r>
              <a:rPr lang="ru-RU" sz="100" dirty="0" err="1"/>
              <a:t>Factory</a:t>
            </a:r>
            <a:r>
              <a:rPr lang="ru-RU" sz="100" dirty="0"/>
              <a:t>): +2 штуки (за счет притока иностранного капитала).Открывается +2 свободных слота для </a:t>
            </a:r>
            <a:r>
              <a:rPr lang="ru-RU" sz="100" dirty="0" err="1"/>
              <a:t>строительства.Экономические</a:t>
            </a:r>
            <a:r>
              <a:rPr lang="ru-RU" sz="100" dirty="0"/>
              <a:t> бонусы (Национальный дух «Ворота Средиземноморья»):Скорость строительства гражданских фабрик и инфраструктуры: +10%.Эффективность торговли (</a:t>
            </a:r>
            <a:r>
              <a:rPr lang="ru-RU" sz="100" dirty="0" err="1"/>
              <a:t>Trade</a:t>
            </a:r>
            <a:r>
              <a:rPr lang="ru-RU" sz="100" dirty="0"/>
              <a:t> </a:t>
            </a:r>
            <a:r>
              <a:rPr lang="ru-RU" sz="100" dirty="0" err="1"/>
              <a:t>Influence</a:t>
            </a:r>
            <a:r>
              <a:rPr lang="ru-RU" sz="100" dirty="0"/>
              <a:t> </a:t>
            </a:r>
            <a:r>
              <a:rPr lang="ru-RU" sz="100" dirty="0" err="1"/>
              <a:t>Factor</a:t>
            </a:r>
            <a:r>
              <a:rPr lang="ru-RU" sz="100" dirty="0"/>
              <a:t>): +15% (иностранные державы охотнее покупают ваши ресурсы).)</a:t>
            </a:r>
            <a:endParaRPr lang="ru-RU" sz="700" dirty="0"/>
          </a:p>
        </p:txBody>
      </p:sp>
      <p:sp>
        <p:nvSpPr>
          <p:cNvPr id="303" name="Прямоугольник 302">
            <a:extLst>
              <a:ext uri="{FF2B5EF4-FFF2-40B4-BE49-F238E27FC236}">
                <a16:creationId xmlns:a16="http://schemas.microsoft.com/office/drawing/2014/main" id="{C6291CBF-A1B8-479E-8EB0-EC4A56B3830E}"/>
              </a:ext>
            </a:extLst>
          </p:cNvPr>
          <p:cNvSpPr/>
          <p:nvPr/>
        </p:nvSpPr>
        <p:spPr>
          <a:xfrm>
            <a:off x="6488299" y="1455245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Лишить Танжер международного статуса</a:t>
            </a:r>
          </a:p>
        </p:txBody>
      </p:sp>
      <p:sp>
        <p:nvSpPr>
          <p:cNvPr id="307" name="Прямоугольник 306">
            <a:extLst>
              <a:ext uri="{FF2B5EF4-FFF2-40B4-BE49-F238E27FC236}">
                <a16:creationId xmlns:a16="http://schemas.microsoft.com/office/drawing/2014/main" id="{2DAAD328-4716-45C4-8FE9-1418B0F0515A}"/>
              </a:ext>
            </a:extLst>
          </p:cNvPr>
          <p:cNvSpPr/>
          <p:nvPr/>
        </p:nvSpPr>
        <p:spPr>
          <a:xfrm>
            <a:off x="10443385" y="1543040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Мавританские Акажу и Гуммиарабик</a:t>
            </a:r>
            <a:br>
              <a:rPr lang="ru-RU" sz="700" dirty="0"/>
            </a:br>
            <a:r>
              <a:rPr lang="ru-RU" sz="100" dirty="0"/>
              <a:t>(«Южные провинции Мавритании, примыкающие к реке Сенегал, богаты лесами красного дерева (Акажу) и зарослями акаций, дающих ценнейший гуммиарабик. Наладив промышленный сбор смолы и заготовку древесины, мы обеспечим наши текстильные, химические и фармацевтические фабрики собственным сырьем, снизив зависимость от импорта». </a:t>
            </a:r>
            <a:r>
              <a:rPr lang="ru-RU" sz="100" dirty="0" err="1"/>
              <a:t>оявление</a:t>
            </a:r>
            <a:r>
              <a:rPr lang="ru-RU" sz="100" dirty="0"/>
              <a:t> </a:t>
            </a:r>
            <a:r>
              <a:rPr lang="ru-RU" sz="100" dirty="0" err="1"/>
              <a:t>ресурсов:В</a:t>
            </a:r>
            <a:r>
              <a:rPr lang="ru-RU" sz="100" dirty="0"/>
              <a:t> регионе Мавритания (или южный </a:t>
            </a:r>
            <a:r>
              <a:rPr lang="ru-RU" sz="100" dirty="0" err="1"/>
              <a:t>стейт</a:t>
            </a:r>
            <a:r>
              <a:rPr lang="ru-RU" sz="100" dirty="0"/>
              <a:t>, если регион разделен) добавляется:+10 Резины (</a:t>
            </a:r>
            <a:r>
              <a:rPr lang="ru-RU" sz="100" dirty="0" err="1"/>
              <a:t>Rubber</a:t>
            </a:r>
            <a:r>
              <a:rPr lang="ru-RU" sz="100" dirty="0"/>
              <a:t>) — в HoI4 резина отвечает за любые эластичные, химические смолы и изоляционные материалы. Это критически важно для производства грузовиков, самолетов и пехотного </a:t>
            </a:r>
            <a:r>
              <a:rPr lang="ru-RU" sz="100" dirty="0" err="1"/>
              <a:t>снаряжения.Экономические</a:t>
            </a:r>
            <a:r>
              <a:rPr lang="ru-RU" sz="100" dirty="0"/>
              <a:t> бонусы (Национальный дух):Страна получает постоянный или временный (на 365 дней) национальный дух «Мавританское </a:t>
            </a:r>
            <a:r>
              <a:rPr lang="ru-RU" sz="100" dirty="0" err="1"/>
              <a:t>сырье»:Эффективность</a:t>
            </a:r>
            <a:r>
              <a:rPr lang="ru-RU" sz="100" dirty="0"/>
              <a:t> производства (</a:t>
            </a:r>
            <a:r>
              <a:rPr lang="ru-RU" sz="100" dirty="0" err="1"/>
              <a:t>Production</a:t>
            </a:r>
            <a:r>
              <a:rPr lang="ru-RU" sz="100" dirty="0"/>
              <a:t> </a:t>
            </a:r>
            <a:r>
              <a:rPr lang="ru-RU" sz="100" dirty="0" err="1"/>
              <a:t>Efficiency</a:t>
            </a:r>
            <a:r>
              <a:rPr lang="ru-RU" sz="100" dirty="0"/>
              <a:t> </a:t>
            </a:r>
            <a:r>
              <a:rPr lang="ru-RU" sz="100" dirty="0" err="1"/>
              <a:t>Growth</a:t>
            </a:r>
            <a:r>
              <a:rPr lang="ru-RU" sz="100" dirty="0"/>
              <a:t>): +5%Скорость исследования промышленных технологий (</a:t>
            </a:r>
            <a:r>
              <a:rPr lang="ru-RU" sz="100" dirty="0" err="1"/>
              <a:t>Industry</a:t>
            </a:r>
            <a:r>
              <a:rPr lang="ru-RU" sz="100" dirty="0"/>
              <a:t> </a:t>
            </a:r>
            <a:r>
              <a:rPr lang="ru-RU" sz="100" dirty="0" err="1"/>
              <a:t>Research</a:t>
            </a:r>
            <a:r>
              <a:rPr lang="ru-RU" sz="100" dirty="0"/>
              <a:t> </a:t>
            </a:r>
            <a:r>
              <a:rPr lang="ru-RU" sz="100" dirty="0" err="1"/>
              <a:t>Speed</a:t>
            </a:r>
            <a:r>
              <a:rPr lang="ru-RU" sz="100" dirty="0"/>
              <a:t>): +10% (химическая отрасль).Развитие </a:t>
            </a:r>
            <a:r>
              <a:rPr lang="ru-RU" sz="100" dirty="0" err="1"/>
              <a:t>инфраструктуры:В</a:t>
            </a:r>
            <a:r>
              <a:rPr lang="ru-RU" sz="100" dirty="0"/>
              <a:t> южном регионе Мавритании бесплатно строится +1 уровень </a:t>
            </a:r>
            <a:r>
              <a:rPr lang="ru-RU" sz="100" dirty="0" err="1"/>
              <a:t>Инфраструктуры.Открывается</a:t>
            </a:r>
            <a:r>
              <a:rPr lang="ru-RU" sz="100" dirty="0"/>
              <a:t> +1 свободный слот для строительства фабрик в этом регионе.)</a:t>
            </a:r>
            <a:endParaRPr lang="ru-RU" sz="700" dirty="0"/>
          </a:p>
        </p:txBody>
      </p:sp>
      <p:sp>
        <p:nvSpPr>
          <p:cNvPr id="308" name="Прямоугольник 307">
            <a:extLst>
              <a:ext uri="{FF2B5EF4-FFF2-40B4-BE49-F238E27FC236}">
                <a16:creationId xmlns:a16="http://schemas.microsoft.com/office/drawing/2014/main" id="{E64F2EC9-A188-4CC0-AF6A-2976F8412A3F}"/>
              </a:ext>
            </a:extLst>
          </p:cNvPr>
          <p:cNvSpPr/>
          <p:nvPr/>
        </p:nvSpPr>
        <p:spPr>
          <a:xfrm>
            <a:off x="9785125" y="1455245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Мавритания – южная провинция Марокко</a:t>
            </a:r>
            <a:br>
              <a:rPr lang="ru-RU" sz="700" dirty="0"/>
            </a:br>
            <a:r>
              <a:rPr lang="ru-RU" sz="100" dirty="0"/>
              <a:t>(Умиротворение эмиров </a:t>
            </a:r>
            <a:r>
              <a:rPr lang="ru-RU" sz="100" dirty="0" err="1"/>
              <a:t>Трарзы</a:t>
            </a:r>
            <a:r>
              <a:rPr lang="ru-RU" sz="100" dirty="0"/>
              <a:t> и </a:t>
            </a:r>
            <a:r>
              <a:rPr lang="ru-RU" sz="100" dirty="0" err="1"/>
              <a:t>Адрара</a:t>
            </a:r>
            <a:r>
              <a:rPr lang="ru-RU" sz="100" dirty="0"/>
              <a:t>»: Договор с местной кочевой </a:t>
            </a:r>
            <a:r>
              <a:rPr lang="ru-RU" sz="100" dirty="0" err="1"/>
              <a:t>элитой.Эффект</a:t>
            </a:r>
            <a:r>
              <a:rPr lang="ru-RU" sz="100" dirty="0"/>
              <a:t>: Снижение подчинения (</a:t>
            </a:r>
            <a:r>
              <a:rPr lang="ru-RU" sz="100" dirty="0" err="1"/>
              <a:t>Resistance</a:t>
            </a:r>
            <a:r>
              <a:rPr lang="ru-RU" sz="100" dirty="0"/>
              <a:t>) на 20%, рост </a:t>
            </a:r>
            <a:r>
              <a:rPr lang="ru-RU" sz="100" dirty="0" err="1"/>
              <a:t>стабильности.«Суфийские</a:t>
            </a:r>
            <a:r>
              <a:rPr lang="ru-RU" sz="100" dirty="0"/>
              <a:t> братства на службе Султана»: Использование авторитета марокканских религиозных орденов (</a:t>
            </a:r>
            <a:r>
              <a:rPr lang="ru-RU" sz="100" dirty="0" err="1"/>
              <a:t>Тиджания</a:t>
            </a:r>
            <a:r>
              <a:rPr lang="ru-RU" sz="100" dirty="0"/>
              <a:t>).Эффект: Прирост политической власти (+0.5/день), ускорение роста подчинения </a:t>
            </a:r>
            <a:r>
              <a:rPr lang="ru-RU" sz="100" dirty="0" err="1"/>
              <a:t>населения.«Ликвидация</a:t>
            </a:r>
            <a:r>
              <a:rPr lang="ru-RU" sz="100" dirty="0"/>
              <a:t> французских колониальных границ»: Административная реформа и объявление Мавритании неотъемлемой южной </a:t>
            </a:r>
            <a:r>
              <a:rPr lang="ru-RU" sz="100" dirty="0" err="1"/>
              <a:t>провинцией.Эффект</a:t>
            </a:r>
            <a:r>
              <a:rPr lang="ru-RU" sz="100" dirty="0"/>
              <a:t>: Получение национальных корней (</a:t>
            </a:r>
            <a:r>
              <a:rPr lang="ru-RU" sz="100" dirty="0" err="1"/>
              <a:t>Cores</a:t>
            </a:r>
            <a:r>
              <a:rPr lang="ru-RU" sz="100" dirty="0"/>
              <a:t>) на регионы Мавритании.)</a:t>
            </a:r>
            <a:endParaRPr lang="ru-RU" sz="700" dirty="0"/>
          </a:p>
        </p:txBody>
      </p:sp>
      <p:sp>
        <p:nvSpPr>
          <p:cNvPr id="311" name="Прямоугольник 310">
            <a:extLst>
              <a:ext uri="{FF2B5EF4-FFF2-40B4-BE49-F238E27FC236}">
                <a16:creationId xmlns:a16="http://schemas.microsoft.com/office/drawing/2014/main" id="{B2273294-389F-4374-B952-FAAE7A098FFF}"/>
              </a:ext>
            </a:extLst>
          </p:cNvPr>
          <p:cNvSpPr/>
          <p:nvPr/>
        </p:nvSpPr>
        <p:spPr>
          <a:xfrm>
            <a:off x="9229781" y="1543040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 err="1"/>
              <a:t>Транссахарская</a:t>
            </a:r>
            <a:r>
              <a:rPr lang="ru-RU" sz="800" dirty="0"/>
              <a:t> железная дорога: Фес — Нуакшот</a:t>
            </a:r>
            <a:endParaRPr lang="ru-RU" sz="700" dirty="0"/>
          </a:p>
        </p:txBody>
      </p:sp>
      <p:sp>
        <p:nvSpPr>
          <p:cNvPr id="314" name="Прямоугольник 313">
            <a:extLst>
              <a:ext uri="{FF2B5EF4-FFF2-40B4-BE49-F238E27FC236}">
                <a16:creationId xmlns:a16="http://schemas.microsoft.com/office/drawing/2014/main" id="{F565E1AC-9406-408D-8DBA-69C401B5F39C}"/>
              </a:ext>
            </a:extLst>
          </p:cNvPr>
          <p:cNvSpPr/>
          <p:nvPr/>
        </p:nvSpPr>
        <p:spPr>
          <a:xfrm>
            <a:off x="8279449" y="16236945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Провозгласить Великое Марокко</a:t>
            </a:r>
          </a:p>
        </p:txBody>
      </p:sp>
      <p:cxnSp>
        <p:nvCxnSpPr>
          <p:cNvPr id="318" name="Соединительная линия уступом 620">
            <a:extLst>
              <a:ext uri="{FF2B5EF4-FFF2-40B4-BE49-F238E27FC236}">
                <a16:creationId xmlns:a16="http://schemas.microsoft.com/office/drawing/2014/main" id="{2CFC8DF2-68B2-47EE-BEBC-B56651373BE0}"/>
              </a:ext>
            </a:extLst>
          </p:cNvPr>
          <p:cNvCxnSpPr>
            <a:cxnSpLocks/>
            <a:stCxn id="61" idx="2"/>
            <a:endCxn id="314" idx="0"/>
          </p:cNvCxnSpPr>
          <p:nvPr/>
        </p:nvCxnSpPr>
        <p:spPr>
          <a:xfrm rot="5400000">
            <a:off x="10103428" y="13734020"/>
            <a:ext cx="1142110" cy="3863741"/>
          </a:xfrm>
          <a:prstGeom prst="bentConnector3">
            <a:avLst>
              <a:gd name="adj1" fmla="val 15101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2" name="Соединительная линия уступом 620">
            <a:extLst>
              <a:ext uri="{FF2B5EF4-FFF2-40B4-BE49-F238E27FC236}">
                <a16:creationId xmlns:a16="http://schemas.microsoft.com/office/drawing/2014/main" id="{C378D33D-192E-4BD8-8069-087FC625EAE0}"/>
              </a:ext>
            </a:extLst>
          </p:cNvPr>
          <p:cNvCxnSpPr>
            <a:cxnSpLocks/>
            <a:stCxn id="303" idx="2"/>
            <a:endCxn id="314" idx="0"/>
          </p:cNvCxnSpPr>
          <p:nvPr/>
        </p:nvCxnSpPr>
        <p:spPr>
          <a:xfrm rot="16200000" flipH="1">
            <a:off x="7274792" y="14769125"/>
            <a:ext cx="1144490" cy="1791150"/>
          </a:xfrm>
          <a:prstGeom prst="bentConnector3">
            <a:avLst>
              <a:gd name="adj1" fmla="val 15174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5" name="Соединительная линия уступом 620">
            <a:extLst>
              <a:ext uri="{FF2B5EF4-FFF2-40B4-BE49-F238E27FC236}">
                <a16:creationId xmlns:a16="http://schemas.microsoft.com/office/drawing/2014/main" id="{A1640AFC-145F-4409-A48E-55ED68C9F902}"/>
              </a:ext>
            </a:extLst>
          </p:cNvPr>
          <p:cNvCxnSpPr>
            <a:cxnSpLocks/>
            <a:stCxn id="308" idx="2"/>
            <a:endCxn id="314" idx="0"/>
          </p:cNvCxnSpPr>
          <p:nvPr/>
        </p:nvCxnSpPr>
        <p:spPr>
          <a:xfrm rot="5400000">
            <a:off x="8923205" y="14911862"/>
            <a:ext cx="1144490" cy="1505676"/>
          </a:xfrm>
          <a:prstGeom prst="bentConnector3">
            <a:avLst>
              <a:gd name="adj1" fmla="val 15174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5" name="Прямоугольник 284">
            <a:extLst>
              <a:ext uri="{FF2B5EF4-FFF2-40B4-BE49-F238E27FC236}">
                <a16:creationId xmlns:a16="http://schemas.microsoft.com/office/drawing/2014/main" id="{A620BFC9-FA27-4D27-89FD-71123B8D4A03}"/>
              </a:ext>
            </a:extLst>
          </p:cNvPr>
          <p:cNvSpPr/>
          <p:nvPr/>
        </p:nvSpPr>
        <p:spPr>
          <a:xfrm>
            <a:off x="7660568" y="4235046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Начать пересмотр «плана реформ»</a:t>
            </a:r>
          </a:p>
        </p:txBody>
      </p:sp>
      <p:cxnSp>
        <p:nvCxnSpPr>
          <p:cNvPr id="305" name="Соединительная линия уступом 620">
            <a:extLst>
              <a:ext uri="{FF2B5EF4-FFF2-40B4-BE49-F238E27FC236}">
                <a16:creationId xmlns:a16="http://schemas.microsoft.com/office/drawing/2014/main" id="{B2A15EBA-8AB6-452B-AD69-08380A8C0834}"/>
              </a:ext>
            </a:extLst>
          </p:cNvPr>
          <p:cNvCxnSpPr>
            <a:cxnSpLocks/>
            <a:stCxn id="285" idx="2"/>
            <a:endCxn id="316" idx="0"/>
          </p:cNvCxnSpPr>
          <p:nvPr/>
        </p:nvCxnSpPr>
        <p:spPr>
          <a:xfrm rot="16200000" flipH="1">
            <a:off x="8285703" y="4613073"/>
            <a:ext cx="267392" cy="59133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9" name="Соединительная линия уступом 620">
            <a:extLst>
              <a:ext uri="{FF2B5EF4-FFF2-40B4-BE49-F238E27FC236}">
                <a16:creationId xmlns:a16="http://schemas.microsoft.com/office/drawing/2014/main" id="{B804F62F-B20E-4406-B10B-6AF6F0F673C7}"/>
              </a:ext>
            </a:extLst>
          </p:cNvPr>
          <p:cNvCxnSpPr>
            <a:cxnSpLocks/>
            <a:stCxn id="310" idx="2"/>
            <a:endCxn id="341" idx="0"/>
          </p:cNvCxnSpPr>
          <p:nvPr/>
        </p:nvCxnSpPr>
        <p:spPr>
          <a:xfrm rot="5400000">
            <a:off x="6095832" y="5827548"/>
            <a:ext cx="1078436" cy="593439"/>
          </a:xfrm>
          <a:prstGeom prst="bentConnector3">
            <a:avLst>
              <a:gd name="adj1" fmla="val 12316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4" name="Соединительная линия уступом 620">
            <a:extLst>
              <a:ext uri="{FF2B5EF4-FFF2-40B4-BE49-F238E27FC236}">
                <a16:creationId xmlns:a16="http://schemas.microsoft.com/office/drawing/2014/main" id="{D8862DE7-75C1-481F-A43A-1EDE0A9FC18C}"/>
              </a:ext>
            </a:extLst>
          </p:cNvPr>
          <p:cNvCxnSpPr>
            <a:cxnSpLocks/>
            <a:stCxn id="310" idx="2"/>
            <a:endCxn id="344" idx="0"/>
          </p:cNvCxnSpPr>
          <p:nvPr/>
        </p:nvCxnSpPr>
        <p:spPr>
          <a:xfrm rot="5400000">
            <a:off x="6796412" y="5717090"/>
            <a:ext cx="267398" cy="331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7" name="Прямоугольник 336">
            <a:extLst>
              <a:ext uri="{FF2B5EF4-FFF2-40B4-BE49-F238E27FC236}">
                <a16:creationId xmlns:a16="http://schemas.microsoft.com/office/drawing/2014/main" id="{BA4108B4-FADE-4200-9551-1CEDA6CCEBDD}"/>
              </a:ext>
            </a:extLst>
          </p:cNvPr>
          <p:cNvSpPr/>
          <p:nvPr/>
        </p:nvSpPr>
        <p:spPr>
          <a:xfrm>
            <a:off x="6465288" y="7467240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Начать борьбу за нашу свободу</a:t>
            </a:r>
          </a:p>
        </p:txBody>
      </p:sp>
      <p:cxnSp>
        <p:nvCxnSpPr>
          <p:cNvPr id="343" name="Соединительная линия уступом 620">
            <a:extLst>
              <a:ext uri="{FF2B5EF4-FFF2-40B4-BE49-F238E27FC236}">
                <a16:creationId xmlns:a16="http://schemas.microsoft.com/office/drawing/2014/main" id="{428D6404-6AD3-4071-945C-AE9B9272A81E}"/>
              </a:ext>
            </a:extLst>
          </p:cNvPr>
          <p:cNvCxnSpPr>
            <a:cxnSpLocks/>
            <a:stCxn id="316" idx="2"/>
            <a:endCxn id="332" idx="0"/>
          </p:cNvCxnSpPr>
          <p:nvPr/>
        </p:nvCxnSpPr>
        <p:spPr>
          <a:xfrm rot="16200000" flipH="1">
            <a:off x="8876519" y="5420987"/>
            <a:ext cx="267392" cy="59029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7" name="Соединительная линия уступом 620">
            <a:extLst>
              <a:ext uri="{FF2B5EF4-FFF2-40B4-BE49-F238E27FC236}">
                <a16:creationId xmlns:a16="http://schemas.microsoft.com/office/drawing/2014/main" id="{044D3774-F822-48CC-947E-EF6B5C279EAA}"/>
              </a:ext>
            </a:extLst>
          </p:cNvPr>
          <p:cNvCxnSpPr>
            <a:cxnSpLocks/>
            <a:stCxn id="316" idx="2"/>
            <a:endCxn id="320" idx="0"/>
          </p:cNvCxnSpPr>
          <p:nvPr/>
        </p:nvCxnSpPr>
        <p:spPr>
          <a:xfrm rot="5400000">
            <a:off x="8285612" y="5420072"/>
            <a:ext cx="267090" cy="59182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8" name="Соединительная линия уступом 620">
            <a:extLst>
              <a:ext uri="{FF2B5EF4-FFF2-40B4-BE49-F238E27FC236}">
                <a16:creationId xmlns:a16="http://schemas.microsoft.com/office/drawing/2014/main" id="{F04D2F1B-ED28-4083-8843-EC9AD7CBF2C8}"/>
              </a:ext>
            </a:extLst>
          </p:cNvPr>
          <p:cNvCxnSpPr>
            <a:cxnSpLocks/>
            <a:stCxn id="310" idx="2"/>
            <a:endCxn id="320" idx="0"/>
          </p:cNvCxnSpPr>
          <p:nvPr/>
        </p:nvCxnSpPr>
        <p:spPr>
          <a:xfrm rot="16200000" flipH="1">
            <a:off x="7395268" y="5121549"/>
            <a:ext cx="264479" cy="119147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9" name="Прямоугольник 348">
            <a:extLst>
              <a:ext uri="{FF2B5EF4-FFF2-40B4-BE49-F238E27FC236}">
                <a16:creationId xmlns:a16="http://schemas.microsoft.com/office/drawing/2014/main" id="{EE45BD45-0A53-4C5A-98EB-0640786C19EB}"/>
              </a:ext>
            </a:extLst>
          </p:cNvPr>
          <p:cNvSpPr/>
          <p:nvPr/>
        </p:nvSpPr>
        <p:spPr>
          <a:xfrm>
            <a:off x="7054131" y="6657857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волнения в Тунисе</a:t>
            </a:r>
          </a:p>
        </p:txBody>
      </p:sp>
      <p:cxnSp>
        <p:nvCxnSpPr>
          <p:cNvPr id="351" name="Соединительная линия уступом 620">
            <a:extLst>
              <a:ext uri="{FF2B5EF4-FFF2-40B4-BE49-F238E27FC236}">
                <a16:creationId xmlns:a16="http://schemas.microsoft.com/office/drawing/2014/main" id="{D82585BF-6BF8-48AC-9670-8E0C6E3EF98F}"/>
              </a:ext>
            </a:extLst>
          </p:cNvPr>
          <p:cNvCxnSpPr>
            <a:cxnSpLocks/>
            <a:stCxn id="310" idx="2"/>
            <a:endCxn id="349" idx="0"/>
          </p:cNvCxnSpPr>
          <p:nvPr/>
        </p:nvCxnSpPr>
        <p:spPr>
          <a:xfrm rot="16200000" flipH="1">
            <a:off x="6688127" y="5828690"/>
            <a:ext cx="1072808" cy="585525"/>
          </a:xfrm>
          <a:prstGeom prst="bentConnector3">
            <a:avLst>
              <a:gd name="adj1" fmla="val 12907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4" name="Соединительная линия уступом 620">
            <a:extLst>
              <a:ext uri="{FF2B5EF4-FFF2-40B4-BE49-F238E27FC236}">
                <a16:creationId xmlns:a16="http://schemas.microsoft.com/office/drawing/2014/main" id="{DB4DF8F9-78F8-41F8-B641-EBCF09C12118}"/>
              </a:ext>
            </a:extLst>
          </p:cNvPr>
          <p:cNvCxnSpPr>
            <a:cxnSpLocks/>
            <a:stCxn id="349" idx="2"/>
            <a:endCxn id="337" idx="0"/>
          </p:cNvCxnSpPr>
          <p:nvPr/>
        </p:nvCxnSpPr>
        <p:spPr>
          <a:xfrm rot="5400000">
            <a:off x="7088182" y="7038127"/>
            <a:ext cx="269383" cy="588843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5" name="Соединительная линия уступом 620">
            <a:extLst>
              <a:ext uri="{FF2B5EF4-FFF2-40B4-BE49-F238E27FC236}">
                <a16:creationId xmlns:a16="http://schemas.microsoft.com/office/drawing/2014/main" id="{6F4D3062-F5D9-497C-A88F-0DB499581427}"/>
              </a:ext>
            </a:extLst>
          </p:cNvPr>
          <p:cNvCxnSpPr>
            <a:cxnSpLocks/>
            <a:stCxn id="341" idx="2"/>
            <a:endCxn id="337" idx="0"/>
          </p:cNvCxnSpPr>
          <p:nvPr/>
        </p:nvCxnSpPr>
        <p:spPr>
          <a:xfrm rot="16200000" flipH="1">
            <a:off x="6501513" y="7040301"/>
            <a:ext cx="263755" cy="59012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6" name="Соединительная линия уступом 620">
            <a:extLst>
              <a:ext uri="{FF2B5EF4-FFF2-40B4-BE49-F238E27FC236}">
                <a16:creationId xmlns:a16="http://schemas.microsoft.com/office/drawing/2014/main" id="{121B70C5-1C4C-4CE5-A2C2-80B0E1D0927F}"/>
              </a:ext>
            </a:extLst>
          </p:cNvPr>
          <p:cNvCxnSpPr>
            <a:cxnSpLocks/>
            <a:stCxn id="344" idx="2"/>
            <a:endCxn id="337" idx="0"/>
          </p:cNvCxnSpPr>
          <p:nvPr/>
        </p:nvCxnSpPr>
        <p:spPr>
          <a:xfrm rot="5400000">
            <a:off x="6391056" y="6929843"/>
            <a:ext cx="1074793" cy="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0" name="Соединительная линия уступом 620">
            <a:extLst>
              <a:ext uri="{FF2B5EF4-FFF2-40B4-BE49-F238E27FC236}">
                <a16:creationId xmlns:a16="http://schemas.microsoft.com/office/drawing/2014/main" id="{D29F1913-1493-438E-B71C-8B273ED51A15}"/>
              </a:ext>
            </a:extLst>
          </p:cNvPr>
          <p:cNvCxnSpPr>
            <a:cxnSpLocks/>
            <a:stCxn id="337" idx="2"/>
            <a:endCxn id="330" idx="0"/>
          </p:cNvCxnSpPr>
          <p:nvPr/>
        </p:nvCxnSpPr>
        <p:spPr>
          <a:xfrm rot="5400000">
            <a:off x="6392621" y="8543070"/>
            <a:ext cx="1071660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1" name="Прямоугольник 360">
            <a:extLst>
              <a:ext uri="{FF2B5EF4-FFF2-40B4-BE49-F238E27FC236}">
                <a16:creationId xmlns:a16="http://schemas.microsoft.com/office/drawing/2014/main" id="{12C9E2CA-67CA-4CAF-B79F-ADB9AA0C747B}"/>
              </a:ext>
            </a:extLst>
          </p:cNvPr>
          <p:cNvSpPr/>
          <p:nvPr/>
        </p:nvSpPr>
        <p:spPr>
          <a:xfrm>
            <a:off x="8247130" y="6652886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Патриотичное движение </a:t>
            </a:r>
            <a:r>
              <a:rPr lang="ru-RU" sz="700" dirty="0" err="1"/>
              <a:t>Уаззани</a:t>
            </a:r>
            <a:endParaRPr lang="ru-RU" sz="700" dirty="0"/>
          </a:p>
        </p:txBody>
      </p:sp>
      <p:sp>
        <p:nvSpPr>
          <p:cNvPr id="362" name="Прямоугольник 361">
            <a:extLst>
              <a:ext uri="{FF2B5EF4-FFF2-40B4-BE49-F238E27FC236}">
                <a16:creationId xmlns:a16="http://schemas.microsoft.com/office/drawing/2014/main" id="{E332E174-E0FF-4ADC-B062-DE062C25214B}"/>
              </a:ext>
            </a:extLst>
          </p:cNvPr>
          <p:cNvSpPr/>
          <p:nvPr/>
        </p:nvSpPr>
        <p:spPr>
          <a:xfrm>
            <a:off x="9441520" y="665411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/>
              <a:t>Национальная партия Фасси</a:t>
            </a:r>
            <a:endParaRPr lang="ru-RU" sz="700" dirty="0"/>
          </a:p>
        </p:txBody>
      </p:sp>
      <p:cxnSp>
        <p:nvCxnSpPr>
          <p:cNvPr id="363" name="Прямая соединительная линия 362">
            <a:extLst>
              <a:ext uri="{FF2B5EF4-FFF2-40B4-BE49-F238E27FC236}">
                <a16:creationId xmlns:a16="http://schemas.microsoft.com/office/drawing/2014/main" id="{11131FA6-1893-4E1D-9FE2-31413B226B68}"/>
              </a:ext>
            </a:extLst>
          </p:cNvPr>
          <p:cNvCxnSpPr>
            <a:cxnSpLocks/>
            <a:stCxn id="362" idx="1"/>
            <a:endCxn id="361" idx="3"/>
          </p:cNvCxnSpPr>
          <p:nvPr/>
        </p:nvCxnSpPr>
        <p:spPr>
          <a:xfrm flipH="1" flipV="1">
            <a:off x="9173455" y="6922886"/>
            <a:ext cx="268065" cy="1225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4" name="Соединительная линия уступом 620">
            <a:extLst>
              <a:ext uri="{FF2B5EF4-FFF2-40B4-BE49-F238E27FC236}">
                <a16:creationId xmlns:a16="http://schemas.microsoft.com/office/drawing/2014/main" id="{4EF28AF0-E3A8-4770-8BFE-B15B9DCC626E}"/>
              </a:ext>
            </a:extLst>
          </p:cNvPr>
          <p:cNvCxnSpPr>
            <a:cxnSpLocks/>
            <a:stCxn id="332" idx="2"/>
            <a:endCxn id="362" idx="0"/>
          </p:cNvCxnSpPr>
          <p:nvPr/>
        </p:nvCxnSpPr>
        <p:spPr>
          <a:xfrm rot="16200000" flipH="1">
            <a:off x="9472882" y="6222309"/>
            <a:ext cx="264281" cy="59932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5" name="Соединительная линия уступом 620">
            <a:extLst>
              <a:ext uri="{FF2B5EF4-FFF2-40B4-BE49-F238E27FC236}">
                <a16:creationId xmlns:a16="http://schemas.microsoft.com/office/drawing/2014/main" id="{494C51AC-6E80-482F-9862-E6D4840FEA97}"/>
              </a:ext>
            </a:extLst>
          </p:cNvPr>
          <p:cNvCxnSpPr>
            <a:cxnSpLocks/>
            <a:stCxn id="332" idx="2"/>
            <a:endCxn id="361" idx="0"/>
          </p:cNvCxnSpPr>
          <p:nvPr/>
        </p:nvCxnSpPr>
        <p:spPr>
          <a:xfrm rot="5400000">
            <a:off x="8876300" y="6223824"/>
            <a:ext cx="263056" cy="59506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6" name="Соединительная линия уступом 620">
            <a:extLst>
              <a:ext uri="{FF2B5EF4-FFF2-40B4-BE49-F238E27FC236}">
                <a16:creationId xmlns:a16="http://schemas.microsoft.com/office/drawing/2014/main" id="{B6A4BAC8-9B96-4AD1-9DC1-74B87318713D}"/>
              </a:ext>
            </a:extLst>
          </p:cNvPr>
          <p:cNvCxnSpPr>
            <a:cxnSpLocks/>
            <a:stCxn id="275" idx="2"/>
            <a:endCxn id="332" idx="0"/>
          </p:cNvCxnSpPr>
          <p:nvPr/>
        </p:nvCxnSpPr>
        <p:spPr>
          <a:xfrm rot="5400000">
            <a:off x="8767971" y="5312438"/>
            <a:ext cx="1074784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7" name="Прямоугольник 366">
            <a:extLst>
              <a:ext uri="{FF2B5EF4-FFF2-40B4-BE49-F238E27FC236}">
                <a16:creationId xmlns:a16="http://schemas.microsoft.com/office/drawing/2014/main" id="{1071E036-2CED-4B07-97A8-2333A262E453}"/>
              </a:ext>
            </a:extLst>
          </p:cNvPr>
          <p:cNvSpPr/>
          <p:nvPr/>
        </p:nvSpPr>
        <p:spPr>
          <a:xfrm>
            <a:off x="4680775" y="6667046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Проект </a:t>
            </a:r>
            <a:r>
              <a:rPr lang="ru-RU" sz="700" dirty="0" err="1"/>
              <a:t>Нуассер</a:t>
            </a:r>
            <a:br>
              <a:rPr lang="ru-RU" sz="700" dirty="0"/>
            </a:br>
            <a:r>
              <a:rPr lang="ru-RU" sz="200" dirty="0"/>
              <a:t>(Фокус: «Проект </a:t>
            </a:r>
            <a:r>
              <a:rPr lang="ru-RU" sz="200" dirty="0" err="1"/>
              <a:t>Нуассер</a:t>
            </a:r>
            <a:r>
              <a:rPr lang="ru-RU" sz="200" dirty="0"/>
              <a:t>» (Аэродром Касабланки)Исторический контекст: В конце войны США начали закладывать в Марокко гигантские взлетно-посадочные полосы (в будущем — база </a:t>
            </a:r>
            <a:r>
              <a:rPr lang="ru-RU" sz="200" dirty="0" err="1"/>
              <a:t>Нуассер</a:t>
            </a:r>
            <a:r>
              <a:rPr lang="ru-RU" sz="200" dirty="0"/>
              <a:t>). Они проектировались под новейшие тяжелые бомбардировщики на случай затяжной </a:t>
            </a:r>
            <a:r>
              <a:rPr lang="ru-RU" sz="200" dirty="0" err="1"/>
              <a:t>войны.Эффекты</a:t>
            </a:r>
            <a:r>
              <a:rPr lang="ru-RU" sz="200" dirty="0"/>
              <a:t> в игре: Дает скидку \(50\%\) на исследование стратегических бомбардировщиков и увеличивает максимальный размер авиабаз в Марокко.)</a:t>
            </a:r>
            <a:endParaRPr lang="ru-RU" sz="700" dirty="0"/>
          </a:p>
        </p:txBody>
      </p:sp>
      <p:sp>
        <p:nvSpPr>
          <p:cNvPr id="368" name="Прямоугольник 367">
            <a:extLst>
              <a:ext uri="{FF2B5EF4-FFF2-40B4-BE49-F238E27FC236}">
                <a16:creationId xmlns:a16="http://schemas.microsoft.com/office/drawing/2014/main" id="{6E3D4493-FF2E-4747-898D-4495A8488B71}"/>
              </a:ext>
            </a:extLst>
          </p:cNvPr>
          <p:cNvSpPr/>
          <p:nvPr/>
        </p:nvSpPr>
        <p:spPr>
          <a:xfrm>
            <a:off x="3508501" y="5042438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Ввести меры военного времени</a:t>
            </a:r>
          </a:p>
        </p:txBody>
      </p:sp>
      <p:sp>
        <p:nvSpPr>
          <p:cNvPr id="369" name="Прямоугольник 368">
            <a:extLst>
              <a:ext uri="{FF2B5EF4-FFF2-40B4-BE49-F238E27FC236}">
                <a16:creationId xmlns:a16="http://schemas.microsoft.com/office/drawing/2014/main" id="{209D680D-DBA7-44F5-9390-4ACF118B1831}"/>
              </a:ext>
            </a:extLst>
          </p:cNvPr>
          <p:cNvSpPr/>
          <p:nvPr/>
        </p:nvSpPr>
        <p:spPr>
          <a:xfrm>
            <a:off x="4092450" y="5854962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Модернизация порта Касабланки</a:t>
            </a:r>
            <a:br>
              <a:rPr lang="ru-RU" sz="700" dirty="0"/>
            </a:br>
            <a:r>
              <a:rPr lang="ru-RU" sz="200" dirty="0"/>
              <a:t>(Исторический контекст: Во время войны через Касабланку шло до 80% всей международной торговли Северной Африки. Союзники радикально увеличили пропускную способность доков для приема сотен американских кораблей снабжения «Либерти».)</a:t>
            </a:r>
            <a:endParaRPr lang="ru-RU" sz="700" dirty="0"/>
          </a:p>
        </p:txBody>
      </p:sp>
      <p:sp>
        <p:nvSpPr>
          <p:cNvPr id="370" name="Прямоугольник 369">
            <a:extLst>
              <a:ext uri="{FF2B5EF4-FFF2-40B4-BE49-F238E27FC236}">
                <a16:creationId xmlns:a16="http://schemas.microsoft.com/office/drawing/2014/main" id="{B2D85639-B01F-4996-BF83-EF0335E16D6E}"/>
              </a:ext>
            </a:extLst>
          </p:cNvPr>
          <p:cNvSpPr/>
          <p:nvPr/>
        </p:nvSpPr>
        <p:spPr>
          <a:xfrm>
            <a:off x="5270896" y="7460627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Ремонтная верфь </a:t>
            </a:r>
          </a:p>
        </p:txBody>
      </p:sp>
      <p:sp>
        <p:nvSpPr>
          <p:cNvPr id="371" name="Прямоугольник 370">
            <a:extLst>
              <a:ext uri="{FF2B5EF4-FFF2-40B4-BE49-F238E27FC236}">
                <a16:creationId xmlns:a16="http://schemas.microsoft.com/office/drawing/2014/main" id="{8F135ABC-3BC0-43BB-BBED-4C8E0EB2515E}"/>
              </a:ext>
            </a:extLst>
          </p:cNvPr>
          <p:cNvSpPr/>
          <p:nvPr/>
        </p:nvSpPr>
        <p:spPr>
          <a:xfrm>
            <a:off x="5274566" y="5845935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Запретить любые сходки и митинги</a:t>
            </a:r>
          </a:p>
        </p:txBody>
      </p:sp>
      <p:sp>
        <p:nvSpPr>
          <p:cNvPr id="372" name="Прямоугольник 371">
            <a:extLst>
              <a:ext uri="{FF2B5EF4-FFF2-40B4-BE49-F238E27FC236}">
                <a16:creationId xmlns:a16="http://schemas.microsoft.com/office/drawing/2014/main" id="{7DE89301-4366-4909-AA18-B24463FAB130}"/>
              </a:ext>
            </a:extLst>
          </p:cNvPr>
          <p:cNvSpPr/>
          <p:nvPr/>
        </p:nvSpPr>
        <p:spPr>
          <a:xfrm>
            <a:off x="3508416" y="6668555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Подводя итоги «Факела»</a:t>
            </a:r>
          </a:p>
        </p:txBody>
      </p:sp>
      <p:cxnSp>
        <p:nvCxnSpPr>
          <p:cNvPr id="373" name="Соединительная линия уступом 620">
            <a:extLst>
              <a:ext uri="{FF2B5EF4-FFF2-40B4-BE49-F238E27FC236}">
                <a16:creationId xmlns:a16="http://schemas.microsoft.com/office/drawing/2014/main" id="{7E967D57-8385-4220-BDF1-7187168513C4}"/>
              </a:ext>
            </a:extLst>
          </p:cNvPr>
          <p:cNvCxnSpPr>
            <a:cxnSpLocks/>
            <a:stCxn id="292" idx="2"/>
            <a:endCxn id="368" idx="0"/>
          </p:cNvCxnSpPr>
          <p:nvPr/>
        </p:nvCxnSpPr>
        <p:spPr>
          <a:xfrm rot="5400000">
            <a:off x="4136189" y="4613119"/>
            <a:ext cx="264794" cy="59384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4" name="Прямоугольник 373">
            <a:extLst>
              <a:ext uri="{FF2B5EF4-FFF2-40B4-BE49-F238E27FC236}">
                <a16:creationId xmlns:a16="http://schemas.microsoft.com/office/drawing/2014/main" id="{AA67ACCE-9C2A-4946-884C-805DF0C819AE}"/>
              </a:ext>
            </a:extLst>
          </p:cNvPr>
          <p:cNvSpPr/>
          <p:nvPr/>
        </p:nvSpPr>
        <p:spPr>
          <a:xfrm>
            <a:off x="5273503" y="5034629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Запретить деятельность МКП</a:t>
            </a:r>
          </a:p>
        </p:txBody>
      </p:sp>
      <p:cxnSp>
        <p:nvCxnSpPr>
          <p:cNvPr id="375" name="Соединительная линия уступом 620">
            <a:extLst>
              <a:ext uri="{FF2B5EF4-FFF2-40B4-BE49-F238E27FC236}">
                <a16:creationId xmlns:a16="http://schemas.microsoft.com/office/drawing/2014/main" id="{A71C41DD-31B8-4DA1-B745-70B9E50E10AF}"/>
              </a:ext>
            </a:extLst>
          </p:cNvPr>
          <p:cNvCxnSpPr>
            <a:cxnSpLocks/>
            <a:stCxn id="292" idx="2"/>
            <a:endCxn id="374" idx="0"/>
          </p:cNvCxnSpPr>
          <p:nvPr/>
        </p:nvCxnSpPr>
        <p:spPr>
          <a:xfrm rot="16200000" flipH="1">
            <a:off x="5022595" y="4320557"/>
            <a:ext cx="256985" cy="117115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6" name="Соединительная линия уступом 620">
            <a:extLst>
              <a:ext uri="{FF2B5EF4-FFF2-40B4-BE49-F238E27FC236}">
                <a16:creationId xmlns:a16="http://schemas.microsoft.com/office/drawing/2014/main" id="{5267BC9B-273F-4E1F-9D74-30F24C0A212D}"/>
              </a:ext>
            </a:extLst>
          </p:cNvPr>
          <p:cNvCxnSpPr>
            <a:cxnSpLocks/>
            <a:stCxn id="374" idx="2"/>
            <a:endCxn id="371" idx="0"/>
          </p:cNvCxnSpPr>
          <p:nvPr/>
        </p:nvCxnSpPr>
        <p:spPr>
          <a:xfrm rot="16200000" flipH="1">
            <a:off x="5601544" y="5709750"/>
            <a:ext cx="271306" cy="106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7" name="Соединительная линия уступом 620">
            <a:extLst>
              <a:ext uri="{FF2B5EF4-FFF2-40B4-BE49-F238E27FC236}">
                <a16:creationId xmlns:a16="http://schemas.microsoft.com/office/drawing/2014/main" id="{A3E09B7C-51EF-4443-9AA4-513623C2BA81}"/>
              </a:ext>
            </a:extLst>
          </p:cNvPr>
          <p:cNvCxnSpPr>
            <a:cxnSpLocks/>
            <a:stCxn id="368" idx="2"/>
            <a:endCxn id="369" idx="0"/>
          </p:cNvCxnSpPr>
          <p:nvPr/>
        </p:nvCxnSpPr>
        <p:spPr>
          <a:xfrm rot="16200000" flipH="1">
            <a:off x="4127376" y="5426725"/>
            <a:ext cx="272524" cy="58394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8" name="Соединительная линия уступом 620">
            <a:extLst>
              <a:ext uri="{FF2B5EF4-FFF2-40B4-BE49-F238E27FC236}">
                <a16:creationId xmlns:a16="http://schemas.microsoft.com/office/drawing/2014/main" id="{25A1021B-4BC5-4315-9D51-6B448B4600A3}"/>
              </a:ext>
            </a:extLst>
          </p:cNvPr>
          <p:cNvCxnSpPr>
            <a:cxnSpLocks/>
            <a:stCxn id="369" idx="2"/>
            <a:endCxn id="370" idx="0"/>
          </p:cNvCxnSpPr>
          <p:nvPr/>
        </p:nvCxnSpPr>
        <p:spPr>
          <a:xfrm rot="16200000" flipH="1">
            <a:off x="4612004" y="6338571"/>
            <a:ext cx="1065665" cy="1178446"/>
          </a:xfrm>
          <a:prstGeom prst="bentConnector3">
            <a:avLst>
              <a:gd name="adj1" fmla="val 1246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9" name="Соединительная линия уступом 620">
            <a:extLst>
              <a:ext uri="{FF2B5EF4-FFF2-40B4-BE49-F238E27FC236}">
                <a16:creationId xmlns:a16="http://schemas.microsoft.com/office/drawing/2014/main" id="{574416BF-FDBD-4D0F-8EA8-F0120218A565}"/>
              </a:ext>
            </a:extLst>
          </p:cNvPr>
          <p:cNvCxnSpPr>
            <a:cxnSpLocks/>
            <a:stCxn id="369" idx="2"/>
            <a:endCxn id="367" idx="0"/>
          </p:cNvCxnSpPr>
          <p:nvPr/>
        </p:nvCxnSpPr>
        <p:spPr>
          <a:xfrm rot="16200000" flipH="1">
            <a:off x="4713733" y="6236841"/>
            <a:ext cx="272084" cy="58832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0" name="Соединительная линия уступом 620">
            <a:extLst>
              <a:ext uri="{FF2B5EF4-FFF2-40B4-BE49-F238E27FC236}">
                <a16:creationId xmlns:a16="http://schemas.microsoft.com/office/drawing/2014/main" id="{AB744B17-5B94-43C3-B7D2-82B5DDA82D2B}"/>
              </a:ext>
            </a:extLst>
          </p:cNvPr>
          <p:cNvCxnSpPr>
            <a:cxnSpLocks/>
            <a:stCxn id="368" idx="2"/>
            <a:endCxn id="372" idx="0"/>
          </p:cNvCxnSpPr>
          <p:nvPr/>
        </p:nvCxnSpPr>
        <p:spPr>
          <a:xfrm rot="5400000">
            <a:off x="3428564" y="6125454"/>
            <a:ext cx="1086117" cy="8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2" name="Прямоугольник 381">
            <a:extLst>
              <a:ext uri="{FF2B5EF4-FFF2-40B4-BE49-F238E27FC236}">
                <a16:creationId xmlns:a16="http://schemas.microsoft.com/office/drawing/2014/main" id="{CA6EF80F-ACB8-4828-A350-5C84B0FCAB4F}"/>
              </a:ext>
            </a:extLst>
          </p:cNvPr>
          <p:cNvSpPr/>
          <p:nvPr/>
        </p:nvSpPr>
        <p:spPr>
          <a:xfrm>
            <a:off x="5868093" y="8269517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о своих притязаниях на Мавританию</a:t>
            </a:r>
          </a:p>
        </p:txBody>
      </p:sp>
      <p:cxnSp>
        <p:nvCxnSpPr>
          <p:cNvPr id="383" name="Соединительная линия уступом 620">
            <a:extLst>
              <a:ext uri="{FF2B5EF4-FFF2-40B4-BE49-F238E27FC236}">
                <a16:creationId xmlns:a16="http://schemas.microsoft.com/office/drawing/2014/main" id="{B4E2BC96-252E-4E4D-B6DB-B7D7234E2CE9}"/>
              </a:ext>
            </a:extLst>
          </p:cNvPr>
          <p:cNvCxnSpPr>
            <a:cxnSpLocks/>
            <a:stCxn id="337" idx="2"/>
            <a:endCxn id="382" idx="0"/>
          </p:cNvCxnSpPr>
          <p:nvPr/>
        </p:nvCxnSpPr>
        <p:spPr>
          <a:xfrm rot="5400000">
            <a:off x="6498716" y="7839781"/>
            <a:ext cx="262277" cy="59719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6" name="Прямоугольник 385">
            <a:extLst>
              <a:ext uri="{FF2B5EF4-FFF2-40B4-BE49-F238E27FC236}">
                <a16:creationId xmlns:a16="http://schemas.microsoft.com/office/drawing/2014/main" id="{99C6CA20-455E-4DD6-A5F1-4008035CBFB8}"/>
              </a:ext>
            </a:extLst>
          </p:cNvPr>
          <p:cNvSpPr/>
          <p:nvPr/>
        </p:nvSpPr>
        <p:spPr>
          <a:xfrm>
            <a:off x="7053302" y="8269517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Вернуть Танжер под руку Султана</a:t>
            </a:r>
          </a:p>
        </p:txBody>
      </p:sp>
      <p:cxnSp>
        <p:nvCxnSpPr>
          <p:cNvPr id="387" name="Соединительная линия уступом 620">
            <a:extLst>
              <a:ext uri="{FF2B5EF4-FFF2-40B4-BE49-F238E27FC236}">
                <a16:creationId xmlns:a16="http://schemas.microsoft.com/office/drawing/2014/main" id="{F54D1FD9-F108-459A-BCAD-99AAA49543C5}"/>
              </a:ext>
            </a:extLst>
          </p:cNvPr>
          <p:cNvCxnSpPr>
            <a:cxnSpLocks/>
            <a:stCxn id="337" idx="2"/>
            <a:endCxn id="386" idx="0"/>
          </p:cNvCxnSpPr>
          <p:nvPr/>
        </p:nvCxnSpPr>
        <p:spPr>
          <a:xfrm rot="16200000" flipH="1">
            <a:off x="7091320" y="7844371"/>
            <a:ext cx="262277" cy="58801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4" name="Прямоугольник 393">
            <a:extLst>
              <a:ext uri="{FF2B5EF4-FFF2-40B4-BE49-F238E27FC236}">
                <a16:creationId xmlns:a16="http://schemas.microsoft.com/office/drawing/2014/main" id="{9E7EDF23-23F6-4AB2-AC8C-CF5D5F9A6C52}"/>
              </a:ext>
            </a:extLst>
          </p:cNvPr>
          <p:cNvSpPr/>
          <p:nvPr/>
        </p:nvSpPr>
        <p:spPr>
          <a:xfrm>
            <a:off x="8841776" y="7455942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Разделить духовную и светскую власть</a:t>
            </a:r>
          </a:p>
        </p:txBody>
      </p:sp>
      <p:sp>
        <p:nvSpPr>
          <p:cNvPr id="395" name="Прямоугольник 394">
            <a:extLst>
              <a:ext uri="{FF2B5EF4-FFF2-40B4-BE49-F238E27FC236}">
                <a16:creationId xmlns:a16="http://schemas.microsoft.com/office/drawing/2014/main" id="{750E2224-5F10-44BD-8AC6-7D94ECEF7F8D}"/>
              </a:ext>
            </a:extLst>
          </p:cNvPr>
          <p:cNvSpPr/>
          <p:nvPr/>
        </p:nvSpPr>
        <p:spPr>
          <a:xfrm>
            <a:off x="7652593" y="7455162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Модернизация по западному образцу</a:t>
            </a:r>
          </a:p>
        </p:txBody>
      </p:sp>
      <p:cxnSp>
        <p:nvCxnSpPr>
          <p:cNvPr id="397" name="Соединительная линия уступом 620">
            <a:extLst>
              <a:ext uri="{FF2B5EF4-FFF2-40B4-BE49-F238E27FC236}">
                <a16:creationId xmlns:a16="http://schemas.microsoft.com/office/drawing/2014/main" id="{B017D1EC-332A-43A1-8281-0F6E0A856BC4}"/>
              </a:ext>
            </a:extLst>
          </p:cNvPr>
          <p:cNvCxnSpPr>
            <a:cxnSpLocks/>
            <a:stCxn id="361" idx="2"/>
            <a:endCxn id="394" idx="0"/>
          </p:cNvCxnSpPr>
          <p:nvPr/>
        </p:nvCxnSpPr>
        <p:spPr>
          <a:xfrm rot="16200000" flipH="1">
            <a:off x="8876088" y="7027091"/>
            <a:ext cx="263056" cy="594646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0" name="Соединительная линия уступом 620">
            <a:extLst>
              <a:ext uri="{FF2B5EF4-FFF2-40B4-BE49-F238E27FC236}">
                <a16:creationId xmlns:a16="http://schemas.microsoft.com/office/drawing/2014/main" id="{C9C933A2-E386-443A-AC73-3C26918CD7AB}"/>
              </a:ext>
            </a:extLst>
          </p:cNvPr>
          <p:cNvCxnSpPr>
            <a:cxnSpLocks/>
            <a:stCxn id="362" idx="2"/>
            <a:endCxn id="394" idx="0"/>
          </p:cNvCxnSpPr>
          <p:nvPr/>
        </p:nvCxnSpPr>
        <p:spPr>
          <a:xfrm rot="5400000">
            <a:off x="9473896" y="7025154"/>
            <a:ext cx="261831" cy="59974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3" name="Соединительная линия уступом 620">
            <a:extLst>
              <a:ext uri="{FF2B5EF4-FFF2-40B4-BE49-F238E27FC236}">
                <a16:creationId xmlns:a16="http://schemas.microsoft.com/office/drawing/2014/main" id="{83EEC453-E55A-451D-A2BB-02DAD9369566}"/>
              </a:ext>
            </a:extLst>
          </p:cNvPr>
          <p:cNvCxnSpPr>
            <a:cxnSpLocks/>
            <a:stCxn id="361" idx="2"/>
            <a:endCxn id="395" idx="0"/>
          </p:cNvCxnSpPr>
          <p:nvPr/>
        </p:nvCxnSpPr>
        <p:spPr>
          <a:xfrm rot="5400000">
            <a:off x="8281887" y="7026756"/>
            <a:ext cx="262276" cy="59453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6" name="Прямоугольник 335">
            <a:extLst>
              <a:ext uri="{FF2B5EF4-FFF2-40B4-BE49-F238E27FC236}">
                <a16:creationId xmlns:a16="http://schemas.microsoft.com/office/drawing/2014/main" id="{AB16E4EB-5430-4CC3-8399-29F2F6AF61BF}"/>
              </a:ext>
            </a:extLst>
          </p:cNvPr>
          <p:cNvSpPr/>
          <p:nvPr/>
        </p:nvSpPr>
        <p:spPr>
          <a:xfrm>
            <a:off x="10030978" y="5045586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Реформировать </a:t>
            </a:r>
            <a:r>
              <a:rPr lang="ru-RU" sz="700" dirty="0" err="1"/>
              <a:t>мехзен</a:t>
            </a:r>
            <a:endParaRPr lang="ru-RU" sz="700" dirty="0"/>
          </a:p>
        </p:txBody>
      </p:sp>
      <p:sp>
        <p:nvSpPr>
          <p:cNvPr id="339" name="Прямоугольник 338">
            <a:extLst>
              <a:ext uri="{FF2B5EF4-FFF2-40B4-BE49-F238E27FC236}">
                <a16:creationId xmlns:a16="http://schemas.microsoft.com/office/drawing/2014/main" id="{5897BA98-1814-4172-A9D3-A31E1B1AD080}"/>
              </a:ext>
            </a:extLst>
          </p:cNvPr>
          <p:cNvSpPr/>
          <p:nvPr/>
        </p:nvSpPr>
        <p:spPr>
          <a:xfrm>
            <a:off x="10029743" y="5844112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Принять титул короля</a:t>
            </a:r>
            <a:br>
              <a:rPr lang="ru-RU" sz="700" dirty="0"/>
            </a:br>
            <a:r>
              <a:rPr lang="ru-RU" sz="200" dirty="0"/>
              <a:t>В 1957 году он принял титул короля Марокко , чтобы символизировать единство страны, несмотря на разногласия между арабами и берберами . «Провозглашение Королевства»: Исторический шаг 1957 года. Мухаммед V меняет титул султана на короля, модернизируя образ монархии. Эффект: +15% к Стабильности, рост ежедневного прироста Политической власти (PP).</a:t>
            </a:r>
            <a:endParaRPr lang="ru-RU" sz="700" dirty="0"/>
          </a:p>
        </p:txBody>
      </p:sp>
      <p:sp>
        <p:nvSpPr>
          <p:cNvPr id="345" name="Прямоугольник 344">
            <a:extLst>
              <a:ext uri="{FF2B5EF4-FFF2-40B4-BE49-F238E27FC236}">
                <a16:creationId xmlns:a16="http://schemas.microsoft.com/office/drawing/2014/main" id="{28323095-6A38-4E35-8C92-261E14205AE9}"/>
              </a:ext>
            </a:extLst>
          </p:cNvPr>
          <p:cNvSpPr/>
          <p:nvPr/>
        </p:nvSpPr>
        <p:spPr>
          <a:xfrm>
            <a:off x="11213130" y="6652886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Сократить влияние националистов</a:t>
            </a:r>
          </a:p>
        </p:txBody>
      </p:sp>
      <p:sp>
        <p:nvSpPr>
          <p:cNvPr id="385" name="Прямоугольник 384">
            <a:extLst>
              <a:ext uri="{FF2B5EF4-FFF2-40B4-BE49-F238E27FC236}">
                <a16:creationId xmlns:a16="http://schemas.microsoft.com/office/drawing/2014/main" id="{56E8842A-823E-4F0E-9699-5B2927CC325E}"/>
              </a:ext>
            </a:extLst>
          </p:cNvPr>
          <p:cNvSpPr/>
          <p:nvPr/>
        </p:nvSpPr>
        <p:spPr>
          <a:xfrm>
            <a:off x="7053301" y="9888283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 err="1"/>
              <a:t>Панарабисткие</a:t>
            </a:r>
            <a:r>
              <a:rPr lang="ru-RU" sz="700" dirty="0"/>
              <a:t> амбиции </a:t>
            </a:r>
            <a:r>
              <a:rPr lang="ru-RU" sz="700" dirty="0" err="1"/>
              <a:t>Муххамеда</a:t>
            </a:r>
            <a:r>
              <a:rPr lang="ru-RU" sz="700" dirty="0"/>
              <a:t> </a:t>
            </a:r>
            <a:r>
              <a:rPr lang="en-US" sz="700" dirty="0"/>
              <a:t>V</a:t>
            </a:r>
            <a:endParaRPr lang="ru-RU" sz="700" dirty="0"/>
          </a:p>
        </p:txBody>
      </p:sp>
      <p:sp>
        <p:nvSpPr>
          <p:cNvPr id="388" name="Прямоугольник 387">
            <a:extLst>
              <a:ext uri="{FF2B5EF4-FFF2-40B4-BE49-F238E27FC236}">
                <a16:creationId xmlns:a16="http://schemas.microsoft.com/office/drawing/2014/main" id="{F8854DA0-0A68-4978-AB1E-49C2999C31BA}"/>
              </a:ext>
            </a:extLst>
          </p:cNvPr>
          <p:cNvSpPr/>
          <p:nvPr/>
        </p:nvSpPr>
        <p:spPr>
          <a:xfrm>
            <a:off x="10306580" y="19506339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Аль-Андалусские амбиции</a:t>
            </a:r>
          </a:p>
        </p:txBody>
      </p:sp>
      <p:cxnSp>
        <p:nvCxnSpPr>
          <p:cNvPr id="389" name="Соединительная линия уступом 620">
            <a:extLst>
              <a:ext uri="{FF2B5EF4-FFF2-40B4-BE49-F238E27FC236}">
                <a16:creationId xmlns:a16="http://schemas.microsoft.com/office/drawing/2014/main" id="{6939D681-CD5F-4237-8B2C-87DF6F68EDC8}"/>
              </a:ext>
            </a:extLst>
          </p:cNvPr>
          <p:cNvCxnSpPr>
            <a:cxnSpLocks/>
            <a:stCxn id="330" idx="2"/>
            <a:endCxn id="385" idx="0"/>
          </p:cNvCxnSpPr>
          <p:nvPr/>
        </p:nvCxnSpPr>
        <p:spPr>
          <a:xfrm rot="16200000" flipH="1">
            <a:off x="7087766" y="9459584"/>
            <a:ext cx="269383" cy="58801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0" name="Соединительная линия уступом 620">
            <a:extLst>
              <a:ext uri="{FF2B5EF4-FFF2-40B4-BE49-F238E27FC236}">
                <a16:creationId xmlns:a16="http://schemas.microsoft.com/office/drawing/2014/main" id="{58F98732-BFE8-4991-9A38-05C11FC04FDB}"/>
              </a:ext>
            </a:extLst>
          </p:cNvPr>
          <p:cNvCxnSpPr>
            <a:cxnSpLocks/>
            <a:stCxn id="330" idx="2"/>
            <a:endCxn id="435" idx="0"/>
          </p:cNvCxnSpPr>
          <p:nvPr/>
        </p:nvCxnSpPr>
        <p:spPr>
          <a:xfrm rot="5400000">
            <a:off x="6495162" y="9454994"/>
            <a:ext cx="269383" cy="59719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1" name="Прямоугольник 390">
            <a:extLst>
              <a:ext uri="{FF2B5EF4-FFF2-40B4-BE49-F238E27FC236}">
                <a16:creationId xmlns:a16="http://schemas.microsoft.com/office/drawing/2014/main" id="{F6324390-F8AE-4AB5-AD25-75C7A7634BC2}"/>
              </a:ext>
            </a:extLst>
          </p:cNvPr>
          <p:cNvSpPr/>
          <p:nvPr/>
        </p:nvSpPr>
        <p:spPr>
          <a:xfrm>
            <a:off x="10903549" y="20306628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Земли Испании</a:t>
            </a:r>
          </a:p>
        </p:txBody>
      </p:sp>
      <p:cxnSp>
        <p:nvCxnSpPr>
          <p:cNvPr id="392" name="Прямая соединительная линия 391">
            <a:extLst>
              <a:ext uri="{FF2B5EF4-FFF2-40B4-BE49-F238E27FC236}">
                <a16:creationId xmlns:a16="http://schemas.microsoft.com/office/drawing/2014/main" id="{69363E1E-740B-4D79-AA3E-047239836AA0}"/>
              </a:ext>
            </a:extLst>
          </p:cNvPr>
          <p:cNvCxnSpPr>
            <a:cxnSpLocks/>
            <a:stCxn id="385" idx="1"/>
            <a:endCxn id="435" idx="3"/>
          </p:cNvCxnSpPr>
          <p:nvPr/>
        </p:nvCxnSpPr>
        <p:spPr>
          <a:xfrm flipH="1">
            <a:off x="6794418" y="10158283"/>
            <a:ext cx="258883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93" name="Прямоугольник 392">
            <a:extLst>
              <a:ext uri="{FF2B5EF4-FFF2-40B4-BE49-F238E27FC236}">
                <a16:creationId xmlns:a16="http://schemas.microsoft.com/office/drawing/2014/main" id="{05D0D326-25E7-4CF1-BC8E-9F64D542575B}"/>
              </a:ext>
            </a:extLst>
          </p:cNvPr>
          <p:cNvSpPr/>
          <p:nvPr/>
        </p:nvSpPr>
        <p:spPr>
          <a:xfrm>
            <a:off x="9713819" y="20307158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Земли Португалии</a:t>
            </a:r>
          </a:p>
        </p:txBody>
      </p:sp>
      <p:sp>
        <p:nvSpPr>
          <p:cNvPr id="398" name="Прямоугольник 397">
            <a:extLst>
              <a:ext uri="{FF2B5EF4-FFF2-40B4-BE49-F238E27FC236}">
                <a16:creationId xmlns:a16="http://schemas.microsoft.com/office/drawing/2014/main" id="{28CEDD15-69A5-47C1-928C-D47DE891019A}"/>
              </a:ext>
            </a:extLst>
          </p:cNvPr>
          <p:cNvSpPr/>
          <p:nvPr/>
        </p:nvSpPr>
        <p:spPr>
          <a:xfrm>
            <a:off x="10306579" y="21106916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Оккупировать Гибралтар</a:t>
            </a:r>
          </a:p>
        </p:txBody>
      </p:sp>
      <p:sp>
        <p:nvSpPr>
          <p:cNvPr id="399" name="Прямоугольник 398">
            <a:extLst>
              <a:ext uri="{FF2B5EF4-FFF2-40B4-BE49-F238E27FC236}">
                <a16:creationId xmlns:a16="http://schemas.microsoft.com/office/drawing/2014/main" id="{2757126F-767B-49BC-8A20-3EF2F6BAD339}"/>
              </a:ext>
            </a:extLst>
          </p:cNvPr>
          <p:cNvSpPr/>
          <p:nvPr/>
        </p:nvSpPr>
        <p:spPr>
          <a:xfrm>
            <a:off x="10896689" y="21906674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Реформировать Иберийские провинции под эмираты</a:t>
            </a:r>
          </a:p>
        </p:txBody>
      </p:sp>
      <p:sp>
        <p:nvSpPr>
          <p:cNvPr id="401" name="Прямоугольник 400">
            <a:extLst>
              <a:ext uri="{FF2B5EF4-FFF2-40B4-BE49-F238E27FC236}">
                <a16:creationId xmlns:a16="http://schemas.microsoft.com/office/drawing/2014/main" id="{98F1BED1-5D08-4C89-AA68-C9EEB86A12A3}"/>
              </a:ext>
            </a:extLst>
          </p:cNvPr>
          <p:cNvSpPr/>
          <p:nvPr/>
        </p:nvSpPr>
        <p:spPr>
          <a:xfrm>
            <a:off x="9713818" y="21906674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Продвижение ислама на Пиренейском полуострове</a:t>
            </a:r>
          </a:p>
        </p:txBody>
      </p:sp>
      <p:cxnSp>
        <p:nvCxnSpPr>
          <p:cNvPr id="402" name="Соединительная линия уступом 620">
            <a:extLst>
              <a:ext uri="{FF2B5EF4-FFF2-40B4-BE49-F238E27FC236}">
                <a16:creationId xmlns:a16="http://schemas.microsoft.com/office/drawing/2014/main" id="{2EF2ABD2-BA85-4697-AE78-CF7878ADA90D}"/>
              </a:ext>
            </a:extLst>
          </p:cNvPr>
          <p:cNvCxnSpPr>
            <a:cxnSpLocks/>
            <a:stCxn id="388" idx="2"/>
            <a:endCxn id="393" idx="0"/>
          </p:cNvCxnSpPr>
          <p:nvPr/>
        </p:nvCxnSpPr>
        <p:spPr>
          <a:xfrm rot="5400000">
            <a:off x="10342954" y="19880368"/>
            <a:ext cx="260819" cy="59276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4" name="Соединительная линия уступом 620">
            <a:extLst>
              <a:ext uri="{FF2B5EF4-FFF2-40B4-BE49-F238E27FC236}">
                <a16:creationId xmlns:a16="http://schemas.microsoft.com/office/drawing/2014/main" id="{CA823A6B-39CF-47ED-A88F-0C536E2E29A6}"/>
              </a:ext>
            </a:extLst>
          </p:cNvPr>
          <p:cNvCxnSpPr>
            <a:cxnSpLocks/>
            <a:stCxn id="388" idx="2"/>
            <a:endCxn id="391" idx="0"/>
          </p:cNvCxnSpPr>
          <p:nvPr/>
        </p:nvCxnSpPr>
        <p:spPr>
          <a:xfrm rot="16200000" flipH="1">
            <a:off x="10938083" y="19877998"/>
            <a:ext cx="260289" cy="59696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5" name="Соединительная линия уступом 620">
            <a:extLst>
              <a:ext uri="{FF2B5EF4-FFF2-40B4-BE49-F238E27FC236}">
                <a16:creationId xmlns:a16="http://schemas.microsoft.com/office/drawing/2014/main" id="{8C529540-B4D6-4BB9-92AD-DEE61AFB1831}"/>
              </a:ext>
            </a:extLst>
          </p:cNvPr>
          <p:cNvCxnSpPr>
            <a:cxnSpLocks/>
            <a:stCxn id="388" idx="2"/>
            <a:endCxn id="398" idx="0"/>
          </p:cNvCxnSpPr>
          <p:nvPr/>
        </p:nvCxnSpPr>
        <p:spPr>
          <a:xfrm rot="5400000">
            <a:off x="10239455" y="20576627"/>
            <a:ext cx="1060577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7" name="Соединительная линия уступом 620">
            <a:extLst>
              <a:ext uri="{FF2B5EF4-FFF2-40B4-BE49-F238E27FC236}">
                <a16:creationId xmlns:a16="http://schemas.microsoft.com/office/drawing/2014/main" id="{C222986D-1E4F-4588-B963-F7419387B849}"/>
              </a:ext>
            </a:extLst>
          </p:cNvPr>
          <p:cNvCxnSpPr>
            <a:cxnSpLocks/>
            <a:stCxn id="398" idx="2"/>
            <a:endCxn id="401" idx="0"/>
          </p:cNvCxnSpPr>
          <p:nvPr/>
        </p:nvCxnSpPr>
        <p:spPr>
          <a:xfrm rot="5400000">
            <a:off x="10343483" y="21480415"/>
            <a:ext cx="259758" cy="59276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8" name="Соединительная линия уступом 620">
            <a:extLst>
              <a:ext uri="{FF2B5EF4-FFF2-40B4-BE49-F238E27FC236}">
                <a16:creationId xmlns:a16="http://schemas.microsoft.com/office/drawing/2014/main" id="{4C3C96C6-F2ED-4F21-9CE9-26F579EBDE06}"/>
              </a:ext>
            </a:extLst>
          </p:cNvPr>
          <p:cNvCxnSpPr>
            <a:cxnSpLocks/>
            <a:stCxn id="398" idx="2"/>
            <a:endCxn id="399" idx="0"/>
          </p:cNvCxnSpPr>
          <p:nvPr/>
        </p:nvCxnSpPr>
        <p:spPr>
          <a:xfrm rot="16200000" flipH="1">
            <a:off x="10934918" y="21481740"/>
            <a:ext cx="259758" cy="59011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41" name="Прямоугольник 340">
            <a:extLst>
              <a:ext uri="{FF2B5EF4-FFF2-40B4-BE49-F238E27FC236}">
                <a16:creationId xmlns:a16="http://schemas.microsoft.com/office/drawing/2014/main" id="{3C2402F4-31AF-448C-B8FA-52B3ADC9CEE0}"/>
              </a:ext>
            </a:extLst>
          </p:cNvPr>
          <p:cNvSpPr/>
          <p:nvPr/>
        </p:nvSpPr>
        <p:spPr>
          <a:xfrm>
            <a:off x="5875167" y="6663485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волнения в Мавритании</a:t>
            </a:r>
          </a:p>
        </p:txBody>
      </p:sp>
      <p:sp>
        <p:nvSpPr>
          <p:cNvPr id="411" name="Прямоугольник 410">
            <a:extLst>
              <a:ext uri="{FF2B5EF4-FFF2-40B4-BE49-F238E27FC236}">
                <a16:creationId xmlns:a16="http://schemas.microsoft.com/office/drawing/2014/main" id="{C688C71C-1C36-4FD3-ADF8-83A350ED6574}"/>
              </a:ext>
            </a:extLst>
          </p:cNvPr>
          <p:cNvSpPr/>
          <p:nvPr/>
        </p:nvSpPr>
        <p:spPr>
          <a:xfrm>
            <a:off x="10028508" y="4235046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Назначит лояльного королю визиря</a:t>
            </a:r>
          </a:p>
        </p:txBody>
      </p:sp>
      <p:cxnSp>
        <p:nvCxnSpPr>
          <p:cNvPr id="412" name="Прямая соединительная линия 411">
            <a:extLst>
              <a:ext uri="{FF2B5EF4-FFF2-40B4-BE49-F238E27FC236}">
                <a16:creationId xmlns:a16="http://schemas.microsoft.com/office/drawing/2014/main" id="{FE3D907B-C345-42EE-9CEE-AE0F130BD2FE}"/>
              </a:ext>
            </a:extLst>
          </p:cNvPr>
          <p:cNvCxnSpPr>
            <a:cxnSpLocks/>
            <a:stCxn id="411" idx="1"/>
            <a:endCxn id="275" idx="3"/>
          </p:cNvCxnSpPr>
          <p:nvPr/>
        </p:nvCxnSpPr>
        <p:spPr>
          <a:xfrm flipH="1">
            <a:off x="9768525" y="4505046"/>
            <a:ext cx="259983" cy="0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3" name="Соединительная линия уступом 620">
            <a:extLst>
              <a:ext uri="{FF2B5EF4-FFF2-40B4-BE49-F238E27FC236}">
                <a16:creationId xmlns:a16="http://schemas.microsoft.com/office/drawing/2014/main" id="{8B330FB8-FF98-4300-95FC-E9679674C672}"/>
              </a:ext>
            </a:extLst>
          </p:cNvPr>
          <p:cNvCxnSpPr>
            <a:cxnSpLocks/>
            <a:stCxn id="287" idx="2"/>
            <a:endCxn id="411" idx="0"/>
          </p:cNvCxnSpPr>
          <p:nvPr/>
        </p:nvCxnSpPr>
        <p:spPr>
          <a:xfrm rot="16200000" flipH="1">
            <a:off x="9765346" y="3508721"/>
            <a:ext cx="263056" cy="118959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4" name="Соединительная линия уступом 620">
            <a:extLst>
              <a:ext uri="{FF2B5EF4-FFF2-40B4-BE49-F238E27FC236}">
                <a16:creationId xmlns:a16="http://schemas.microsoft.com/office/drawing/2014/main" id="{6F7D6D57-CFAB-4E36-9036-A9781AB86AF9}"/>
              </a:ext>
            </a:extLst>
          </p:cNvPr>
          <p:cNvCxnSpPr>
            <a:cxnSpLocks/>
            <a:stCxn id="411" idx="2"/>
            <a:endCxn id="336" idx="0"/>
          </p:cNvCxnSpPr>
          <p:nvPr/>
        </p:nvCxnSpPr>
        <p:spPr>
          <a:xfrm rot="16200000" flipH="1">
            <a:off x="10357636" y="4909081"/>
            <a:ext cx="270540" cy="247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6" name="Соединительная линия уступом 620">
            <a:extLst>
              <a:ext uri="{FF2B5EF4-FFF2-40B4-BE49-F238E27FC236}">
                <a16:creationId xmlns:a16="http://schemas.microsoft.com/office/drawing/2014/main" id="{E4830A77-CFFB-4D97-BE75-3D5605CF1301}"/>
              </a:ext>
            </a:extLst>
          </p:cNvPr>
          <p:cNvCxnSpPr>
            <a:cxnSpLocks/>
            <a:stCxn id="336" idx="2"/>
            <a:endCxn id="320" idx="0"/>
          </p:cNvCxnSpPr>
          <p:nvPr/>
        </p:nvCxnSpPr>
        <p:spPr>
          <a:xfrm rot="5400000">
            <a:off x="9176723" y="4532110"/>
            <a:ext cx="263942" cy="237089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8" name="Соединительная линия уступом 620">
            <a:extLst>
              <a:ext uri="{FF2B5EF4-FFF2-40B4-BE49-F238E27FC236}">
                <a16:creationId xmlns:a16="http://schemas.microsoft.com/office/drawing/2014/main" id="{39F7F08E-601C-4E17-AA63-BAB3202D746A}"/>
              </a:ext>
            </a:extLst>
          </p:cNvPr>
          <p:cNvCxnSpPr>
            <a:cxnSpLocks/>
            <a:stCxn id="336" idx="2"/>
            <a:endCxn id="339" idx="0"/>
          </p:cNvCxnSpPr>
          <p:nvPr/>
        </p:nvCxnSpPr>
        <p:spPr>
          <a:xfrm rot="5400000">
            <a:off x="10364261" y="5714232"/>
            <a:ext cx="258526" cy="123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9" name="Соединительная линия уступом 620">
            <a:extLst>
              <a:ext uri="{FF2B5EF4-FFF2-40B4-BE49-F238E27FC236}">
                <a16:creationId xmlns:a16="http://schemas.microsoft.com/office/drawing/2014/main" id="{681E0FBA-1733-43B9-98CA-A4658882A5F5}"/>
              </a:ext>
            </a:extLst>
          </p:cNvPr>
          <p:cNvCxnSpPr>
            <a:cxnSpLocks/>
            <a:stCxn id="339" idx="2"/>
            <a:endCxn id="345" idx="0"/>
          </p:cNvCxnSpPr>
          <p:nvPr/>
        </p:nvCxnSpPr>
        <p:spPr>
          <a:xfrm rot="16200000" flipH="1">
            <a:off x="10950212" y="5926805"/>
            <a:ext cx="268774" cy="118338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0" name="Прямоугольник 419">
            <a:extLst>
              <a:ext uri="{FF2B5EF4-FFF2-40B4-BE49-F238E27FC236}">
                <a16:creationId xmlns:a16="http://schemas.microsoft.com/office/drawing/2014/main" id="{D1A6BCEA-858E-4D65-ACB7-0ADE35BB1A2A}"/>
              </a:ext>
            </a:extLst>
          </p:cNvPr>
          <p:cNvSpPr/>
          <p:nvPr/>
        </p:nvSpPr>
        <p:spPr>
          <a:xfrm>
            <a:off x="11210970" y="5856916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Разрешить митинги и профсоюзы</a:t>
            </a:r>
          </a:p>
        </p:txBody>
      </p:sp>
      <p:cxnSp>
        <p:nvCxnSpPr>
          <p:cNvPr id="421" name="Соединительная линия уступом 620">
            <a:extLst>
              <a:ext uri="{FF2B5EF4-FFF2-40B4-BE49-F238E27FC236}">
                <a16:creationId xmlns:a16="http://schemas.microsoft.com/office/drawing/2014/main" id="{04418FFC-EF67-4950-A1E9-BF3730CDF1A8}"/>
              </a:ext>
            </a:extLst>
          </p:cNvPr>
          <p:cNvCxnSpPr>
            <a:cxnSpLocks/>
            <a:stCxn id="336" idx="2"/>
            <a:endCxn id="420" idx="0"/>
          </p:cNvCxnSpPr>
          <p:nvPr/>
        </p:nvCxnSpPr>
        <p:spPr>
          <a:xfrm rot="16200000" flipH="1">
            <a:off x="10948472" y="5131255"/>
            <a:ext cx="271330" cy="117999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2" name="Прямоугольник 421">
            <a:extLst>
              <a:ext uri="{FF2B5EF4-FFF2-40B4-BE49-F238E27FC236}">
                <a16:creationId xmlns:a16="http://schemas.microsoft.com/office/drawing/2014/main" id="{0CDAB3F3-F1D4-45E2-808F-9C0405D4348C}"/>
              </a:ext>
            </a:extLst>
          </p:cNvPr>
          <p:cNvSpPr/>
          <p:nvPr/>
        </p:nvSpPr>
        <p:spPr>
          <a:xfrm>
            <a:off x="11216385" y="7448856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Единоличная власть Мухаммеда </a:t>
            </a:r>
            <a:r>
              <a:rPr lang="en-US" sz="700" dirty="0"/>
              <a:t>V</a:t>
            </a:r>
            <a:endParaRPr lang="ru-RU" sz="700" dirty="0"/>
          </a:p>
        </p:txBody>
      </p:sp>
      <p:cxnSp>
        <p:nvCxnSpPr>
          <p:cNvPr id="423" name="Соединительная линия уступом 620">
            <a:extLst>
              <a:ext uri="{FF2B5EF4-FFF2-40B4-BE49-F238E27FC236}">
                <a16:creationId xmlns:a16="http://schemas.microsoft.com/office/drawing/2014/main" id="{B2211544-6FD5-4685-9C14-221F7049609B}"/>
              </a:ext>
            </a:extLst>
          </p:cNvPr>
          <p:cNvCxnSpPr>
            <a:cxnSpLocks/>
            <a:stCxn id="420" idx="2"/>
            <a:endCxn id="345" idx="0"/>
          </p:cNvCxnSpPr>
          <p:nvPr/>
        </p:nvCxnSpPr>
        <p:spPr>
          <a:xfrm rot="16200000" flipH="1">
            <a:off x="11547228" y="6523821"/>
            <a:ext cx="255970" cy="216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4" name="Соединительная линия уступом 620">
            <a:extLst>
              <a:ext uri="{FF2B5EF4-FFF2-40B4-BE49-F238E27FC236}">
                <a16:creationId xmlns:a16="http://schemas.microsoft.com/office/drawing/2014/main" id="{43B70F96-3D36-4946-9DC4-867C38D732EE}"/>
              </a:ext>
            </a:extLst>
          </p:cNvPr>
          <p:cNvCxnSpPr>
            <a:cxnSpLocks/>
            <a:stCxn id="345" idx="2"/>
            <a:endCxn id="422" idx="0"/>
          </p:cNvCxnSpPr>
          <p:nvPr/>
        </p:nvCxnSpPr>
        <p:spPr>
          <a:xfrm rot="16200000" flipH="1">
            <a:off x="11549935" y="7319243"/>
            <a:ext cx="255970" cy="325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6" name="Соединительная линия уступом 620">
            <a:extLst>
              <a:ext uri="{FF2B5EF4-FFF2-40B4-BE49-F238E27FC236}">
                <a16:creationId xmlns:a16="http://schemas.microsoft.com/office/drawing/2014/main" id="{6E4BE841-D644-4755-A037-32E5E51165D7}"/>
              </a:ext>
            </a:extLst>
          </p:cNvPr>
          <p:cNvCxnSpPr>
            <a:cxnSpLocks/>
            <a:stCxn id="275" idx="2"/>
            <a:endCxn id="316" idx="0"/>
          </p:cNvCxnSpPr>
          <p:nvPr/>
        </p:nvCxnSpPr>
        <p:spPr>
          <a:xfrm rot="5400000">
            <a:off x="8876520" y="4613595"/>
            <a:ext cx="267392" cy="59029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5" name="Прямоугольник 334">
            <a:extLst>
              <a:ext uri="{FF2B5EF4-FFF2-40B4-BE49-F238E27FC236}">
                <a16:creationId xmlns:a16="http://schemas.microsoft.com/office/drawing/2014/main" id="{7EFCE7AB-5044-431F-82FE-324856B0B798}"/>
              </a:ext>
            </a:extLst>
          </p:cNvPr>
          <p:cNvSpPr/>
          <p:nvPr/>
        </p:nvSpPr>
        <p:spPr>
          <a:xfrm>
            <a:off x="8838913" y="827525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Прогрессивная социальная политика</a:t>
            </a:r>
          </a:p>
          <a:p>
            <a:pPr algn="ctr"/>
            <a:r>
              <a:rPr lang="ru-RU" sz="200" dirty="0"/>
              <a:t>(прогрессивная социальная политика в отношении пожилых людей и безработных;)</a:t>
            </a:r>
            <a:endParaRPr lang="ru-RU" sz="700" dirty="0"/>
          </a:p>
        </p:txBody>
      </p:sp>
      <p:sp>
        <p:nvSpPr>
          <p:cNvPr id="338" name="Прямоугольник 337">
            <a:extLst>
              <a:ext uri="{FF2B5EF4-FFF2-40B4-BE49-F238E27FC236}">
                <a16:creationId xmlns:a16="http://schemas.microsoft.com/office/drawing/2014/main" id="{08169D63-F220-4099-A6E8-311745F7353C}"/>
              </a:ext>
            </a:extLst>
          </p:cNvPr>
          <p:cNvSpPr/>
          <p:nvPr/>
        </p:nvSpPr>
        <p:spPr>
          <a:xfrm>
            <a:off x="8837351" y="908477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Пенитенциарная реформа</a:t>
            </a:r>
          </a:p>
        </p:txBody>
      </p:sp>
      <p:cxnSp>
        <p:nvCxnSpPr>
          <p:cNvPr id="340" name="Соединительная линия уступом 620">
            <a:extLst>
              <a:ext uri="{FF2B5EF4-FFF2-40B4-BE49-F238E27FC236}">
                <a16:creationId xmlns:a16="http://schemas.microsoft.com/office/drawing/2014/main" id="{D90A5ACA-BE43-4B65-8EB3-8DC53BDEF6A1}"/>
              </a:ext>
            </a:extLst>
          </p:cNvPr>
          <p:cNvCxnSpPr>
            <a:cxnSpLocks/>
            <a:stCxn id="137" idx="2"/>
            <a:endCxn id="134" idx="0"/>
          </p:cNvCxnSpPr>
          <p:nvPr/>
        </p:nvCxnSpPr>
        <p:spPr>
          <a:xfrm rot="5400000">
            <a:off x="7179895" y="22205326"/>
            <a:ext cx="260709" cy="62484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2" name="Соединительная линия уступом 620">
            <a:extLst>
              <a:ext uri="{FF2B5EF4-FFF2-40B4-BE49-F238E27FC236}">
                <a16:creationId xmlns:a16="http://schemas.microsoft.com/office/drawing/2014/main" id="{9E03EC62-C4DD-4CA8-87AA-E384052482AA}"/>
              </a:ext>
            </a:extLst>
          </p:cNvPr>
          <p:cNvCxnSpPr>
            <a:cxnSpLocks/>
            <a:stCxn id="136" idx="2"/>
            <a:endCxn id="134" idx="0"/>
          </p:cNvCxnSpPr>
          <p:nvPr/>
        </p:nvCxnSpPr>
        <p:spPr>
          <a:xfrm rot="16200000" flipH="1">
            <a:off x="6558865" y="22209136"/>
            <a:ext cx="260709" cy="61722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3" name="Прямоугольник 352">
            <a:extLst>
              <a:ext uri="{FF2B5EF4-FFF2-40B4-BE49-F238E27FC236}">
                <a16:creationId xmlns:a16="http://schemas.microsoft.com/office/drawing/2014/main" id="{46489E18-82A4-4C13-B5E3-665C40DCBD81}"/>
              </a:ext>
            </a:extLst>
          </p:cNvPr>
          <p:cNvSpPr/>
          <p:nvPr/>
        </p:nvSpPr>
        <p:spPr>
          <a:xfrm>
            <a:off x="9441519" y="9888283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Земельная реформа</a:t>
            </a:r>
            <a:br>
              <a:rPr lang="ru-RU" sz="700" dirty="0"/>
            </a:br>
            <a:r>
              <a:rPr lang="ru-RU" sz="200" dirty="0"/>
              <a:t>(и, возможно, наиболее радикальный шаг — призыв к земельной реформе и прекращению феодальных связей между поселенцами и местными земледельцами.)</a:t>
            </a:r>
            <a:endParaRPr lang="ru-RU" sz="700" dirty="0"/>
          </a:p>
        </p:txBody>
      </p:sp>
      <p:sp>
        <p:nvSpPr>
          <p:cNvPr id="358" name="Прямоугольник 357">
            <a:extLst>
              <a:ext uri="{FF2B5EF4-FFF2-40B4-BE49-F238E27FC236}">
                <a16:creationId xmlns:a16="http://schemas.microsoft.com/office/drawing/2014/main" id="{FD86CD52-56C1-4503-A47B-6517D32DD7A3}"/>
              </a:ext>
            </a:extLst>
          </p:cNvPr>
          <p:cNvSpPr/>
          <p:nvPr/>
        </p:nvSpPr>
        <p:spPr>
          <a:xfrm>
            <a:off x="12392197" y="5854686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rgbClr val="FF0000"/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Арабизация страны </a:t>
            </a:r>
            <a:r>
              <a:rPr lang="ru-RU" sz="200" dirty="0"/>
              <a:t>(В качестве предзнаменования будущего План требовал повсеместного использования арабского языка в общественном пространстве, включая железную дорогу, где «все билеты и квитанции, а также вывески в вагонах и на станциях должны быть напечатаны на арабском и французском языках».)</a:t>
            </a:r>
            <a:endParaRPr lang="ru-RU" sz="700" dirty="0"/>
          </a:p>
        </p:txBody>
      </p:sp>
      <p:cxnSp>
        <p:nvCxnSpPr>
          <p:cNvPr id="381" name="Соединительная линия уступом 620">
            <a:extLst>
              <a:ext uri="{FF2B5EF4-FFF2-40B4-BE49-F238E27FC236}">
                <a16:creationId xmlns:a16="http://schemas.microsoft.com/office/drawing/2014/main" id="{C3D6C0F7-DD06-4EB7-9199-E1E9D14A3A3D}"/>
              </a:ext>
            </a:extLst>
          </p:cNvPr>
          <p:cNvCxnSpPr>
            <a:cxnSpLocks/>
            <a:stCxn id="394" idx="2"/>
            <a:endCxn id="335" idx="0"/>
          </p:cNvCxnSpPr>
          <p:nvPr/>
        </p:nvCxnSpPr>
        <p:spPr>
          <a:xfrm rot="5400000">
            <a:off x="9163854" y="8134165"/>
            <a:ext cx="279309" cy="286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4" name="Соединительная линия уступом 620">
            <a:extLst>
              <a:ext uri="{FF2B5EF4-FFF2-40B4-BE49-F238E27FC236}">
                <a16:creationId xmlns:a16="http://schemas.microsoft.com/office/drawing/2014/main" id="{583F77CA-19B7-4F81-B14D-F75296ED9C71}"/>
              </a:ext>
            </a:extLst>
          </p:cNvPr>
          <p:cNvCxnSpPr>
            <a:cxnSpLocks/>
            <a:stCxn id="335" idx="2"/>
            <a:endCxn id="338" idx="0"/>
          </p:cNvCxnSpPr>
          <p:nvPr/>
        </p:nvCxnSpPr>
        <p:spPr>
          <a:xfrm rot="5400000">
            <a:off x="9166535" y="8949230"/>
            <a:ext cx="269520" cy="156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0" name="Прямоугольник 409">
            <a:extLst>
              <a:ext uri="{FF2B5EF4-FFF2-40B4-BE49-F238E27FC236}">
                <a16:creationId xmlns:a16="http://schemas.microsoft.com/office/drawing/2014/main" id="{689FCD2C-74D8-4FA5-97DB-81ADE08D74B0}"/>
              </a:ext>
            </a:extLst>
          </p:cNvPr>
          <p:cNvSpPr/>
          <p:nvPr/>
        </p:nvSpPr>
        <p:spPr>
          <a:xfrm>
            <a:off x="10905838" y="17054874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Переворот Торреса</a:t>
            </a:r>
          </a:p>
        </p:txBody>
      </p:sp>
      <p:sp>
        <p:nvSpPr>
          <p:cNvPr id="415" name="Прямоугольник 414">
            <a:extLst>
              <a:ext uri="{FF2B5EF4-FFF2-40B4-BE49-F238E27FC236}">
                <a16:creationId xmlns:a16="http://schemas.microsoft.com/office/drawing/2014/main" id="{390C7082-3773-4977-8DB9-3D7B82584170}"/>
              </a:ext>
            </a:extLst>
          </p:cNvPr>
          <p:cNvSpPr/>
          <p:nvPr/>
        </p:nvSpPr>
        <p:spPr>
          <a:xfrm>
            <a:off x="9660640" y="17057844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Заручиться поддержкой </a:t>
            </a:r>
            <a:r>
              <a:rPr lang="ru-RU" sz="700" dirty="0" err="1"/>
              <a:t>Фасси</a:t>
            </a:r>
            <a:r>
              <a:rPr lang="ru-RU" sz="700" dirty="0"/>
              <a:t> и потомками Аль-Андалусской знати</a:t>
            </a:r>
          </a:p>
        </p:txBody>
      </p:sp>
      <p:cxnSp>
        <p:nvCxnSpPr>
          <p:cNvPr id="425" name="Соединительная линия уступом 620">
            <a:extLst>
              <a:ext uri="{FF2B5EF4-FFF2-40B4-BE49-F238E27FC236}">
                <a16:creationId xmlns:a16="http://schemas.microsoft.com/office/drawing/2014/main" id="{1A6E50F0-61C8-4AFD-A6D6-B74CB66D7EED}"/>
              </a:ext>
            </a:extLst>
          </p:cNvPr>
          <p:cNvCxnSpPr>
            <a:cxnSpLocks/>
            <a:stCxn id="69" idx="2"/>
            <a:endCxn id="415" idx="0"/>
          </p:cNvCxnSpPr>
          <p:nvPr/>
        </p:nvCxnSpPr>
        <p:spPr>
          <a:xfrm rot="5400000">
            <a:off x="10605204" y="16295544"/>
            <a:ext cx="280899" cy="124370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6" name="Соединительная линия уступом 620">
            <a:extLst>
              <a:ext uri="{FF2B5EF4-FFF2-40B4-BE49-F238E27FC236}">
                <a16:creationId xmlns:a16="http://schemas.microsoft.com/office/drawing/2014/main" id="{77E7A6AB-9FCE-4B7E-BFF2-ABD83A544DF0}"/>
              </a:ext>
            </a:extLst>
          </p:cNvPr>
          <p:cNvCxnSpPr>
            <a:cxnSpLocks/>
            <a:stCxn id="69" idx="2"/>
            <a:endCxn id="410" idx="0"/>
          </p:cNvCxnSpPr>
          <p:nvPr/>
        </p:nvCxnSpPr>
        <p:spPr>
          <a:xfrm rot="16200000" flipH="1">
            <a:off x="11229288" y="16915160"/>
            <a:ext cx="277929" cy="149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8" name="Соединительная линия уступом 620">
            <a:extLst>
              <a:ext uri="{FF2B5EF4-FFF2-40B4-BE49-F238E27FC236}">
                <a16:creationId xmlns:a16="http://schemas.microsoft.com/office/drawing/2014/main" id="{9C6ECDC0-C4A4-41DB-A001-F0751FF81343}"/>
              </a:ext>
            </a:extLst>
          </p:cNvPr>
          <p:cNvCxnSpPr>
            <a:cxnSpLocks/>
            <a:stCxn id="415" idx="2"/>
            <a:endCxn id="388" idx="0"/>
          </p:cNvCxnSpPr>
          <p:nvPr/>
        </p:nvCxnSpPr>
        <p:spPr>
          <a:xfrm rot="16200000" flipH="1">
            <a:off x="9492526" y="18229121"/>
            <a:ext cx="1908495" cy="645940"/>
          </a:xfrm>
          <a:prstGeom prst="bentConnector3">
            <a:avLst>
              <a:gd name="adj1" fmla="val 7278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9" name="Соединительная линия уступом 620">
            <a:extLst>
              <a:ext uri="{FF2B5EF4-FFF2-40B4-BE49-F238E27FC236}">
                <a16:creationId xmlns:a16="http://schemas.microsoft.com/office/drawing/2014/main" id="{B2E45BDC-02B0-4EC0-A935-4E6F3506B92D}"/>
              </a:ext>
            </a:extLst>
          </p:cNvPr>
          <p:cNvCxnSpPr>
            <a:cxnSpLocks/>
            <a:stCxn id="410" idx="2"/>
            <a:endCxn id="438" idx="0"/>
          </p:cNvCxnSpPr>
          <p:nvPr/>
        </p:nvCxnSpPr>
        <p:spPr>
          <a:xfrm rot="16200000" flipH="1">
            <a:off x="11852407" y="17111468"/>
            <a:ext cx="277493" cy="124430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0" name="Соединительная линия уступом 620">
            <a:extLst>
              <a:ext uri="{FF2B5EF4-FFF2-40B4-BE49-F238E27FC236}">
                <a16:creationId xmlns:a16="http://schemas.microsoft.com/office/drawing/2014/main" id="{A388DD1F-4756-4F8F-9216-122006CB833A}"/>
              </a:ext>
            </a:extLst>
          </p:cNvPr>
          <p:cNvCxnSpPr>
            <a:cxnSpLocks/>
            <a:stCxn id="410" idx="2"/>
            <a:endCxn id="247" idx="0"/>
          </p:cNvCxnSpPr>
          <p:nvPr/>
        </p:nvCxnSpPr>
        <p:spPr>
          <a:xfrm rot="5400000">
            <a:off x="11231455" y="17730132"/>
            <a:ext cx="272804" cy="228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1" name="Соединительная линия уступом 620">
            <a:extLst>
              <a:ext uri="{FF2B5EF4-FFF2-40B4-BE49-F238E27FC236}">
                <a16:creationId xmlns:a16="http://schemas.microsoft.com/office/drawing/2014/main" id="{467A3C7A-10BB-4FE6-8683-12B1DB01A00A}"/>
              </a:ext>
            </a:extLst>
          </p:cNvPr>
          <p:cNvCxnSpPr>
            <a:cxnSpLocks/>
            <a:stCxn id="247" idx="2"/>
            <a:endCxn id="244" idx="0"/>
          </p:cNvCxnSpPr>
          <p:nvPr/>
        </p:nvCxnSpPr>
        <p:spPr>
          <a:xfrm rot="5400000">
            <a:off x="11231796" y="18542595"/>
            <a:ext cx="269834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2" name="Соединительная линия уступом 620">
            <a:extLst>
              <a:ext uri="{FF2B5EF4-FFF2-40B4-BE49-F238E27FC236}">
                <a16:creationId xmlns:a16="http://schemas.microsoft.com/office/drawing/2014/main" id="{2425C51C-549D-421C-BF11-B0F2EB50F05A}"/>
              </a:ext>
            </a:extLst>
          </p:cNvPr>
          <p:cNvCxnSpPr>
            <a:cxnSpLocks/>
            <a:stCxn id="244" idx="2"/>
            <a:endCxn id="388" idx="0"/>
          </p:cNvCxnSpPr>
          <p:nvPr/>
        </p:nvCxnSpPr>
        <p:spPr>
          <a:xfrm rot="5400000">
            <a:off x="10923815" y="19063441"/>
            <a:ext cx="288827" cy="59696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35" name="Прямоугольник 434">
            <a:extLst>
              <a:ext uri="{FF2B5EF4-FFF2-40B4-BE49-F238E27FC236}">
                <a16:creationId xmlns:a16="http://schemas.microsoft.com/office/drawing/2014/main" id="{9053197E-3894-45BF-B5ED-B88D53E365F5}"/>
              </a:ext>
            </a:extLst>
          </p:cNvPr>
          <p:cNvSpPr/>
          <p:nvPr/>
        </p:nvSpPr>
        <p:spPr>
          <a:xfrm>
            <a:off x="5868093" y="9888283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Поддержать антиколониальные позиции в арабском мире</a:t>
            </a:r>
          </a:p>
        </p:txBody>
      </p:sp>
      <p:sp>
        <p:nvSpPr>
          <p:cNvPr id="437" name="Прямоугольник 436">
            <a:extLst>
              <a:ext uri="{FF2B5EF4-FFF2-40B4-BE49-F238E27FC236}">
                <a16:creationId xmlns:a16="http://schemas.microsoft.com/office/drawing/2014/main" id="{6739033B-01BE-4768-81A4-8CA2BD9F8CE9}"/>
              </a:ext>
            </a:extLst>
          </p:cNvPr>
          <p:cNvSpPr/>
          <p:nvPr/>
        </p:nvSpPr>
        <p:spPr>
          <a:xfrm>
            <a:off x="9657560" y="17878424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Союз с Германией</a:t>
            </a:r>
            <a:endParaRPr lang="ru-RU" sz="200" dirty="0"/>
          </a:p>
        </p:txBody>
      </p:sp>
      <p:sp>
        <p:nvSpPr>
          <p:cNvPr id="438" name="Прямоугольник 437">
            <a:extLst>
              <a:ext uri="{FF2B5EF4-FFF2-40B4-BE49-F238E27FC236}">
                <a16:creationId xmlns:a16="http://schemas.microsoft.com/office/drawing/2014/main" id="{6E327805-D803-4557-BD42-AA00A5D18919}"/>
              </a:ext>
            </a:extLst>
          </p:cNvPr>
          <p:cNvSpPr/>
          <p:nvPr/>
        </p:nvSpPr>
        <p:spPr>
          <a:xfrm>
            <a:off x="12150142" y="17872367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Заручиться поддержкой муфтия Иерусалима</a:t>
            </a:r>
            <a:br>
              <a:rPr lang="ru-RU" sz="700" dirty="0"/>
            </a:br>
            <a:r>
              <a:rPr lang="ru-RU" sz="200" dirty="0"/>
              <a:t>(Контакты между националистами на севере и личностями, вовлеченными в орбиту довоенного Берлина, такими как муфтий Иерусалима Хадж Амин аль-</a:t>
            </a:r>
            <a:r>
              <a:rPr lang="ru-RU" sz="200" dirty="0" err="1"/>
              <a:t>Хусейни</a:t>
            </a:r>
            <a:r>
              <a:rPr lang="ru-RU" sz="200" dirty="0"/>
              <a:t>, </a:t>
            </a:r>
            <a:r>
              <a:rPr lang="ru-RU" sz="200" dirty="0" err="1"/>
              <a:t>Шакиб</a:t>
            </a:r>
            <a:r>
              <a:rPr lang="ru-RU" sz="200" dirty="0"/>
              <a:t> Арслан и Рашид, также имели место.¬)</a:t>
            </a:r>
            <a:endParaRPr lang="ru-RU" sz="700" dirty="0"/>
          </a:p>
        </p:txBody>
      </p:sp>
      <p:sp>
        <p:nvSpPr>
          <p:cNvPr id="439" name="Прямоугольник 438">
            <a:extLst>
              <a:ext uri="{FF2B5EF4-FFF2-40B4-BE49-F238E27FC236}">
                <a16:creationId xmlns:a16="http://schemas.microsoft.com/office/drawing/2014/main" id="{AFD50110-D9C3-4DE1-805E-DD1F4D0E74D7}"/>
              </a:ext>
            </a:extLst>
          </p:cNvPr>
          <p:cNvSpPr/>
          <p:nvPr/>
        </p:nvSpPr>
        <p:spPr>
          <a:xfrm>
            <a:off x="9660640" y="18694855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Изгнать марокканских евреев</a:t>
            </a:r>
            <a:endParaRPr lang="ru-RU" sz="200" dirty="0"/>
          </a:p>
        </p:txBody>
      </p:sp>
      <p:cxnSp>
        <p:nvCxnSpPr>
          <p:cNvPr id="440" name="Соединительная линия уступом 620">
            <a:extLst>
              <a:ext uri="{FF2B5EF4-FFF2-40B4-BE49-F238E27FC236}">
                <a16:creationId xmlns:a16="http://schemas.microsoft.com/office/drawing/2014/main" id="{0F9320D7-0E9A-4E2F-A90D-D650D187FDEF}"/>
              </a:ext>
            </a:extLst>
          </p:cNvPr>
          <p:cNvCxnSpPr>
            <a:cxnSpLocks/>
            <a:stCxn id="410" idx="2"/>
            <a:endCxn id="437" idx="0"/>
          </p:cNvCxnSpPr>
          <p:nvPr/>
        </p:nvCxnSpPr>
        <p:spPr>
          <a:xfrm rot="5400000">
            <a:off x="10603087" y="17112510"/>
            <a:ext cx="283550" cy="124827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1" name="Соединительная линия уступом 620">
            <a:extLst>
              <a:ext uri="{FF2B5EF4-FFF2-40B4-BE49-F238E27FC236}">
                <a16:creationId xmlns:a16="http://schemas.microsoft.com/office/drawing/2014/main" id="{289F03FB-A37E-407B-85A7-A531665E0698}"/>
              </a:ext>
            </a:extLst>
          </p:cNvPr>
          <p:cNvCxnSpPr>
            <a:cxnSpLocks/>
            <a:stCxn id="437" idx="2"/>
            <a:endCxn id="439" idx="0"/>
          </p:cNvCxnSpPr>
          <p:nvPr/>
        </p:nvCxnSpPr>
        <p:spPr>
          <a:xfrm rot="16200000" flipH="1">
            <a:off x="9984048" y="18555099"/>
            <a:ext cx="276431" cy="308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5" name="Прямоугольник 444">
            <a:extLst>
              <a:ext uri="{FF2B5EF4-FFF2-40B4-BE49-F238E27FC236}">
                <a16:creationId xmlns:a16="http://schemas.microsoft.com/office/drawing/2014/main" id="{394C88E2-CFA8-4475-85DC-FEAC5A3AFFD9}"/>
              </a:ext>
            </a:extLst>
          </p:cNvPr>
          <p:cNvSpPr/>
          <p:nvPr/>
        </p:nvSpPr>
        <p:spPr>
          <a:xfrm>
            <a:off x="12150143" y="18677511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Заручиться поддержкой королей</a:t>
            </a:r>
            <a:br>
              <a:rPr lang="ru-RU" sz="700" dirty="0"/>
            </a:br>
            <a:r>
              <a:rPr lang="ru-RU" sz="300" dirty="0"/>
              <a:t>(Ливан и Рашид) (может </a:t>
            </a:r>
            <a:r>
              <a:rPr lang="ru-RU" sz="300" dirty="0" err="1"/>
              <a:t>гуи</a:t>
            </a:r>
            <a:r>
              <a:rPr lang="ru-RU" sz="300" dirty="0"/>
              <a:t> в виде карты Арабского Мира и портреты королей на странах)</a:t>
            </a:r>
            <a:endParaRPr lang="ru-RU" sz="700" dirty="0"/>
          </a:p>
        </p:txBody>
      </p:sp>
      <p:cxnSp>
        <p:nvCxnSpPr>
          <p:cNvPr id="446" name="Соединительная линия уступом 620">
            <a:extLst>
              <a:ext uri="{FF2B5EF4-FFF2-40B4-BE49-F238E27FC236}">
                <a16:creationId xmlns:a16="http://schemas.microsoft.com/office/drawing/2014/main" id="{BAF22A48-0445-4910-9615-07B9C95F33BF}"/>
              </a:ext>
            </a:extLst>
          </p:cNvPr>
          <p:cNvCxnSpPr>
            <a:cxnSpLocks/>
            <a:stCxn id="410" idx="2"/>
            <a:endCxn id="286" idx="0"/>
          </p:cNvCxnSpPr>
          <p:nvPr/>
        </p:nvCxnSpPr>
        <p:spPr>
          <a:xfrm rot="16200000" flipH="1">
            <a:off x="12060435" y="16903439"/>
            <a:ext cx="1082637" cy="2465505"/>
          </a:xfrm>
          <a:prstGeom prst="bentConnector3">
            <a:avLst>
              <a:gd name="adj1" fmla="val 12462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0" name="Соединительная линия уступом 620">
            <a:extLst>
              <a:ext uri="{FF2B5EF4-FFF2-40B4-BE49-F238E27FC236}">
                <a16:creationId xmlns:a16="http://schemas.microsoft.com/office/drawing/2014/main" id="{6F3B8769-A8E1-474A-A422-7150A0893D26}"/>
              </a:ext>
            </a:extLst>
          </p:cNvPr>
          <p:cNvCxnSpPr>
            <a:cxnSpLocks/>
            <a:stCxn id="438" idx="2"/>
            <a:endCxn id="445" idx="0"/>
          </p:cNvCxnSpPr>
          <p:nvPr/>
        </p:nvCxnSpPr>
        <p:spPr>
          <a:xfrm rot="16200000" flipH="1">
            <a:off x="12480733" y="18544938"/>
            <a:ext cx="265144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5" name="Соединительная линия уступом 620">
            <a:extLst>
              <a:ext uri="{FF2B5EF4-FFF2-40B4-BE49-F238E27FC236}">
                <a16:creationId xmlns:a16="http://schemas.microsoft.com/office/drawing/2014/main" id="{2B98F768-D204-4604-B962-EA14A2C665C1}"/>
              </a:ext>
            </a:extLst>
          </p:cNvPr>
          <p:cNvCxnSpPr>
            <a:cxnSpLocks/>
            <a:stCxn id="244" idx="2"/>
            <a:endCxn id="299" idx="0"/>
          </p:cNvCxnSpPr>
          <p:nvPr/>
        </p:nvCxnSpPr>
        <p:spPr>
          <a:xfrm rot="16200000" flipH="1">
            <a:off x="12145471" y="18438753"/>
            <a:ext cx="289356" cy="184687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8" name="Соединительная линия уступом 620">
            <a:extLst>
              <a:ext uri="{FF2B5EF4-FFF2-40B4-BE49-F238E27FC236}">
                <a16:creationId xmlns:a16="http://schemas.microsoft.com/office/drawing/2014/main" id="{6FB6D578-DFA8-4CE8-937B-B828957F287F}"/>
              </a:ext>
            </a:extLst>
          </p:cNvPr>
          <p:cNvCxnSpPr>
            <a:cxnSpLocks/>
            <a:stCxn id="445" idx="2"/>
            <a:endCxn id="299" idx="0"/>
          </p:cNvCxnSpPr>
          <p:nvPr/>
        </p:nvCxnSpPr>
        <p:spPr>
          <a:xfrm rot="16200000" flipH="1">
            <a:off x="12768768" y="19062049"/>
            <a:ext cx="289357" cy="60028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3" name="Прямоугольник 462">
            <a:extLst>
              <a:ext uri="{FF2B5EF4-FFF2-40B4-BE49-F238E27FC236}">
                <a16:creationId xmlns:a16="http://schemas.microsoft.com/office/drawing/2014/main" id="{650344BC-1870-4F0E-9E78-8868189D65F1}"/>
              </a:ext>
            </a:extLst>
          </p:cNvPr>
          <p:cNvSpPr/>
          <p:nvPr/>
        </p:nvSpPr>
        <p:spPr>
          <a:xfrm>
            <a:off x="12150142" y="20306628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Освободить Бея Туниса от французского гнёта</a:t>
            </a:r>
          </a:p>
        </p:txBody>
      </p:sp>
      <p:sp>
        <p:nvSpPr>
          <p:cNvPr id="464" name="Прямоугольник 463">
            <a:extLst>
              <a:ext uri="{FF2B5EF4-FFF2-40B4-BE49-F238E27FC236}">
                <a16:creationId xmlns:a16="http://schemas.microsoft.com/office/drawing/2014/main" id="{B4C6028A-B393-4A8F-AB7E-AA61247C9DC7}"/>
              </a:ext>
            </a:extLst>
          </p:cNvPr>
          <p:cNvSpPr/>
          <p:nvPr/>
        </p:nvSpPr>
        <p:spPr>
          <a:xfrm>
            <a:off x="11523765" y="21106915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Поделить Алжир между султаном и беем</a:t>
            </a:r>
          </a:p>
        </p:txBody>
      </p:sp>
      <p:cxnSp>
        <p:nvCxnSpPr>
          <p:cNvPr id="465" name="Соединительная линия уступом 620">
            <a:extLst>
              <a:ext uri="{FF2B5EF4-FFF2-40B4-BE49-F238E27FC236}">
                <a16:creationId xmlns:a16="http://schemas.microsoft.com/office/drawing/2014/main" id="{503A91C2-CF9E-4358-A873-96E06E5EDF6A}"/>
              </a:ext>
            </a:extLst>
          </p:cNvPr>
          <p:cNvCxnSpPr>
            <a:cxnSpLocks/>
            <a:stCxn id="299" idx="2"/>
            <a:endCxn id="463" idx="0"/>
          </p:cNvCxnSpPr>
          <p:nvPr/>
        </p:nvCxnSpPr>
        <p:spPr>
          <a:xfrm rot="5400000">
            <a:off x="12783566" y="19876608"/>
            <a:ext cx="259760" cy="6002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8" name="Соединительная линия уступом 620">
            <a:extLst>
              <a:ext uri="{FF2B5EF4-FFF2-40B4-BE49-F238E27FC236}">
                <a16:creationId xmlns:a16="http://schemas.microsoft.com/office/drawing/2014/main" id="{B7A2BFAC-67D6-4305-95FF-2ED05C01E2FB}"/>
              </a:ext>
            </a:extLst>
          </p:cNvPr>
          <p:cNvCxnSpPr>
            <a:cxnSpLocks/>
            <a:stCxn id="463" idx="2"/>
            <a:endCxn id="464" idx="0"/>
          </p:cNvCxnSpPr>
          <p:nvPr/>
        </p:nvCxnSpPr>
        <p:spPr>
          <a:xfrm rot="5400000">
            <a:off x="12169974" y="20663583"/>
            <a:ext cx="260287" cy="62637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1" name="Прямоугольник 470">
            <a:extLst>
              <a:ext uri="{FF2B5EF4-FFF2-40B4-BE49-F238E27FC236}">
                <a16:creationId xmlns:a16="http://schemas.microsoft.com/office/drawing/2014/main" id="{9FA1C022-691C-4F3D-B4B5-1D247E928869}"/>
              </a:ext>
            </a:extLst>
          </p:cNvPr>
          <p:cNvSpPr/>
          <p:nvPr/>
        </p:nvSpPr>
        <p:spPr>
          <a:xfrm>
            <a:off x="12752200" y="21106915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Освободить королевство </a:t>
            </a:r>
            <a:r>
              <a:rPr lang="ru-RU" sz="700" dirty="0" err="1"/>
              <a:t>Сенуситов</a:t>
            </a:r>
            <a:endParaRPr lang="ru-RU" sz="700" dirty="0"/>
          </a:p>
        </p:txBody>
      </p:sp>
      <p:cxnSp>
        <p:nvCxnSpPr>
          <p:cNvPr id="473" name="Соединительная линия уступом 620">
            <a:extLst>
              <a:ext uri="{FF2B5EF4-FFF2-40B4-BE49-F238E27FC236}">
                <a16:creationId xmlns:a16="http://schemas.microsoft.com/office/drawing/2014/main" id="{E20EFA4A-145D-49CC-98D7-D6C9C8DB6250}"/>
              </a:ext>
            </a:extLst>
          </p:cNvPr>
          <p:cNvCxnSpPr>
            <a:cxnSpLocks/>
            <a:stCxn id="463" idx="2"/>
            <a:endCxn id="471" idx="0"/>
          </p:cNvCxnSpPr>
          <p:nvPr/>
        </p:nvCxnSpPr>
        <p:spPr>
          <a:xfrm rot="16200000" flipH="1">
            <a:off x="12784191" y="20675742"/>
            <a:ext cx="260287" cy="60205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76" name="Прямоугольник 475">
            <a:extLst>
              <a:ext uri="{FF2B5EF4-FFF2-40B4-BE49-F238E27FC236}">
                <a16:creationId xmlns:a16="http://schemas.microsoft.com/office/drawing/2014/main" id="{C4877405-2FC0-41D1-89B9-92A1CE16E115}"/>
              </a:ext>
            </a:extLst>
          </p:cNvPr>
          <p:cNvSpPr/>
          <p:nvPr/>
        </p:nvSpPr>
        <p:spPr>
          <a:xfrm>
            <a:off x="14000328" y="19500408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Объединиться с королями арабов</a:t>
            </a:r>
          </a:p>
        </p:txBody>
      </p:sp>
      <p:cxnSp>
        <p:nvCxnSpPr>
          <p:cNvPr id="477" name="Соединительная линия уступом 620">
            <a:extLst>
              <a:ext uri="{FF2B5EF4-FFF2-40B4-BE49-F238E27FC236}">
                <a16:creationId xmlns:a16="http://schemas.microsoft.com/office/drawing/2014/main" id="{C65BA08B-A094-49AA-9B25-ADF84BAC3B08}"/>
              </a:ext>
            </a:extLst>
          </p:cNvPr>
          <p:cNvCxnSpPr>
            <a:cxnSpLocks/>
            <a:stCxn id="445" idx="2"/>
            <a:endCxn id="476" idx="0"/>
          </p:cNvCxnSpPr>
          <p:nvPr/>
        </p:nvCxnSpPr>
        <p:spPr>
          <a:xfrm rot="16200000" flipH="1">
            <a:off x="13396950" y="18433866"/>
            <a:ext cx="282897" cy="185018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80" name="Прямоугольник 479">
            <a:extLst>
              <a:ext uri="{FF2B5EF4-FFF2-40B4-BE49-F238E27FC236}">
                <a16:creationId xmlns:a16="http://schemas.microsoft.com/office/drawing/2014/main" id="{8C02F0DB-A2BB-4711-BC0F-339E3C4ED827}"/>
              </a:ext>
            </a:extLst>
          </p:cNvPr>
          <p:cNvSpPr/>
          <p:nvPr/>
        </p:nvSpPr>
        <p:spPr>
          <a:xfrm>
            <a:off x="13377867" y="20311114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Спасти святые земли</a:t>
            </a:r>
          </a:p>
        </p:txBody>
      </p:sp>
      <p:cxnSp>
        <p:nvCxnSpPr>
          <p:cNvPr id="481" name="Прямая соединительная линия 480">
            <a:extLst>
              <a:ext uri="{FF2B5EF4-FFF2-40B4-BE49-F238E27FC236}">
                <a16:creationId xmlns:a16="http://schemas.microsoft.com/office/drawing/2014/main" id="{33A58044-D3D1-45D5-881C-2597CEC56D5B}"/>
              </a:ext>
            </a:extLst>
          </p:cNvPr>
          <p:cNvCxnSpPr>
            <a:cxnSpLocks/>
            <a:stCxn id="299" idx="1"/>
            <a:endCxn id="388" idx="3"/>
          </p:cNvCxnSpPr>
          <p:nvPr/>
        </p:nvCxnSpPr>
        <p:spPr>
          <a:xfrm flipH="1" flipV="1">
            <a:off x="11232905" y="19776339"/>
            <a:ext cx="1517518" cy="529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9" name="Соединительная линия уступом 620">
            <a:extLst>
              <a:ext uri="{FF2B5EF4-FFF2-40B4-BE49-F238E27FC236}">
                <a16:creationId xmlns:a16="http://schemas.microsoft.com/office/drawing/2014/main" id="{D723A5DC-2D38-496C-831E-DD515F89FD92}"/>
              </a:ext>
            </a:extLst>
          </p:cNvPr>
          <p:cNvCxnSpPr>
            <a:cxnSpLocks/>
            <a:stCxn id="299" idx="2"/>
            <a:endCxn id="480" idx="0"/>
          </p:cNvCxnSpPr>
          <p:nvPr/>
        </p:nvCxnSpPr>
        <p:spPr>
          <a:xfrm rot="16200000" flipH="1">
            <a:off x="13395185" y="19865269"/>
            <a:ext cx="264246" cy="62744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5" name="Прямоугольник 494">
            <a:extLst>
              <a:ext uri="{FF2B5EF4-FFF2-40B4-BE49-F238E27FC236}">
                <a16:creationId xmlns:a16="http://schemas.microsoft.com/office/drawing/2014/main" id="{B4EBCBB4-0F46-419E-B5D5-FC26FA0BF919}"/>
              </a:ext>
            </a:extLst>
          </p:cNvPr>
          <p:cNvSpPr/>
          <p:nvPr/>
        </p:nvSpPr>
        <p:spPr>
          <a:xfrm>
            <a:off x="12752199" y="21906674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Сместить недостойного </a:t>
            </a:r>
            <a:r>
              <a:rPr lang="ru-RU" sz="700" dirty="0" err="1"/>
              <a:t>Фаррука</a:t>
            </a:r>
            <a:endParaRPr lang="ru-RU" sz="700" dirty="0"/>
          </a:p>
        </p:txBody>
      </p:sp>
      <p:cxnSp>
        <p:nvCxnSpPr>
          <p:cNvPr id="496" name="Соединительная линия уступом 620">
            <a:extLst>
              <a:ext uri="{FF2B5EF4-FFF2-40B4-BE49-F238E27FC236}">
                <a16:creationId xmlns:a16="http://schemas.microsoft.com/office/drawing/2014/main" id="{92205E9D-8331-41D1-B409-CFD0984BFFFA}"/>
              </a:ext>
            </a:extLst>
          </p:cNvPr>
          <p:cNvCxnSpPr>
            <a:cxnSpLocks/>
            <a:stCxn id="471" idx="2"/>
            <a:endCxn id="495" idx="0"/>
          </p:cNvCxnSpPr>
          <p:nvPr/>
        </p:nvCxnSpPr>
        <p:spPr>
          <a:xfrm rot="5400000">
            <a:off x="13085484" y="21776794"/>
            <a:ext cx="25975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99" name="Прямоугольник 498">
            <a:extLst>
              <a:ext uri="{FF2B5EF4-FFF2-40B4-BE49-F238E27FC236}">
                <a16:creationId xmlns:a16="http://schemas.microsoft.com/office/drawing/2014/main" id="{8248E5C5-861C-4B3A-AB08-BEA35760CFE6}"/>
              </a:ext>
            </a:extLst>
          </p:cNvPr>
          <p:cNvSpPr/>
          <p:nvPr/>
        </p:nvSpPr>
        <p:spPr>
          <a:xfrm>
            <a:off x="14000328" y="21903421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Вернуть Мекку</a:t>
            </a:r>
          </a:p>
        </p:txBody>
      </p:sp>
      <p:sp>
        <p:nvSpPr>
          <p:cNvPr id="501" name="Прямоугольник 500">
            <a:extLst>
              <a:ext uri="{FF2B5EF4-FFF2-40B4-BE49-F238E27FC236}">
                <a16:creationId xmlns:a16="http://schemas.microsoft.com/office/drawing/2014/main" id="{557FAF48-D874-470D-BE40-9E02258506A6}"/>
              </a:ext>
            </a:extLst>
          </p:cNvPr>
          <p:cNvSpPr/>
          <p:nvPr/>
        </p:nvSpPr>
        <p:spPr>
          <a:xfrm>
            <a:off x="14000329" y="21106915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Совет королей</a:t>
            </a:r>
          </a:p>
        </p:txBody>
      </p:sp>
      <p:cxnSp>
        <p:nvCxnSpPr>
          <p:cNvPr id="502" name="Соединительная линия уступом 620">
            <a:extLst>
              <a:ext uri="{FF2B5EF4-FFF2-40B4-BE49-F238E27FC236}">
                <a16:creationId xmlns:a16="http://schemas.microsoft.com/office/drawing/2014/main" id="{46B695DF-0CE6-47C1-989E-ABB5C4051389}"/>
              </a:ext>
            </a:extLst>
          </p:cNvPr>
          <p:cNvCxnSpPr>
            <a:cxnSpLocks/>
            <a:stCxn id="480" idx="2"/>
            <a:endCxn id="501" idx="0"/>
          </p:cNvCxnSpPr>
          <p:nvPr/>
        </p:nvCxnSpPr>
        <p:spPr>
          <a:xfrm rot="16200000" flipH="1">
            <a:off x="14024361" y="20667783"/>
            <a:ext cx="255801" cy="62246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5" name="Соединительная линия уступом 620">
            <a:extLst>
              <a:ext uri="{FF2B5EF4-FFF2-40B4-BE49-F238E27FC236}">
                <a16:creationId xmlns:a16="http://schemas.microsoft.com/office/drawing/2014/main" id="{4FFBC942-3FB4-4F84-9677-3EAA1CEDCA48}"/>
              </a:ext>
            </a:extLst>
          </p:cNvPr>
          <p:cNvCxnSpPr>
            <a:cxnSpLocks/>
            <a:stCxn id="476" idx="2"/>
            <a:endCxn id="501" idx="0"/>
          </p:cNvCxnSpPr>
          <p:nvPr/>
        </p:nvCxnSpPr>
        <p:spPr>
          <a:xfrm rot="16200000" flipH="1">
            <a:off x="13930238" y="20573660"/>
            <a:ext cx="1066507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24" name="Прямоугольник 523">
            <a:extLst>
              <a:ext uri="{FF2B5EF4-FFF2-40B4-BE49-F238E27FC236}">
                <a16:creationId xmlns:a16="http://schemas.microsoft.com/office/drawing/2014/main" id="{38845350-9EFD-4225-BF8E-4B28D856BAB0}"/>
              </a:ext>
            </a:extLst>
          </p:cNvPr>
          <p:cNvSpPr/>
          <p:nvPr/>
        </p:nvSpPr>
        <p:spPr>
          <a:xfrm>
            <a:off x="10310813" y="22773808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о воссоздании Аль-</a:t>
            </a:r>
            <a:r>
              <a:rPr lang="ru-RU" sz="700" dirty="0" err="1"/>
              <a:t>Андулуса</a:t>
            </a:r>
            <a:endParaRPr lang="ru-RU" sz="700" dirty="0"/>
          </a:p>
        </p:txBody>
      </p:sp>
      <p:cxnSp>
        <p:nvCxnSpPr>
          <p:cNvPr id="525" name="Соединительная линия уступом 620">
            <a:extLst>
              <a:ext uri="{FF2B5EF4-FFF2-40B4-BE49-F238E27FC236}">
                <a16:creationId xmlns:a16="http://schemas.microsoft.com/office/drawing/2014/main" id="{828CC0F5-AA67-4601-B98A-88020B70EA82}"/>
              </a:ext>
            </a:extLst>
          </p:cNvPr>
          <p:cNvCxnSpPr>
            <a:cxnSpLocks/>
            <a:stCxn id="501" idx="2"/>
            <a:endCxn id="499" idx="0"/>
          </p:cNvCxnSpPr>
          <p:nvPr/>
        </p:nvCxnSpPr>
        <p:spPr>
          <a:xfrm rot="5400000">
            <a:off x="14335239" y="21775168"/>
            <a:ext cx="256506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9" name="Соединительная линия уступом 620">
            <a:extLst>
              <a:ext uri="{FF2B5EF4-FFF2-40B4-BE49-F238E27FC236}">
                <a16:creationId xmlns:a16="http://schemas.microsoft.com/office/drawing/2014/main" id="{BD31974B-8C00-4D1B-8404-16ABC0BD6776}"/>
              </a:ext>
            </a:extLst>
          </p:cNvPr>
          <p:cNvCxnSpPr>
            <a:cxnSpLocks/>
            <a:stCxn id="399" idx="2"/>
            <a:endCxn id="524" idx="0"/>
          </p:cNvCxnSpPr>
          <p:nvPr/>
        </p:nvCxnSpPr>
        <p:spPr>
          <a:xfrm rot="5400000">
            <a:off x="10903347" y="22317303"/>
            <a:ext cx="327134" cy="58587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2" name="Соединительная линия уступом 620">
            <a:extLst>
              <a:ext uri="{FF2B5EF4-FFF2-40B4-BE49-F238E27FC236}">
                <a16:creationId xmlns:a16="http://schemas.microsoft.com/office/drawing/2014/main" id="{062A1D1C-4E68-49B0-89B3-9869C6922BC4}"/>
              </a:ext>
            </a:extLst>
          </p:cNvPr>
          <p:cNvCxnSpPr>
            <a:cxnSpLocks/>
            <a:stCxn id="401" idx="2"/>
            <a:endCxn id="524" idx="0"/>
          </p:cNvCxnSpPr>
          <p:nvPr/>
        </p:nvCxnSpPr>
        <p:spPr>
          <a:xfrm rot="16200000" flipH="1">
            <a:off x="10311911" y="22311743"/>
            <a:ext cx="327134" cy="59699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5" name="Прямоугольник 534">
            <a:extLst>
              <a:ext uri="{FF2B5EF4-FFF2-40B4-BE49-F238E27FC236}">
                <a16:creationId xmlns:a16="http://schemas.microsoft.com/office/drawing/2014/main" id="{0EF51C39-5CDB-4991-B859-6F3CB100F62B}"/>
              </a:ext>
            </a:extLst>
          </p:cNvPr>
          <p:cNvSpPr/>
          <p:nvPr/>
        </p:nvSpPr>
        <p:spPr>
          <a:xfrm>
            <a:off x="13377867" y="22773808"/>
            <a:ext cx="926325" cy="540000"/>
          </a:xfrm>
          <a:prstGeom prst="rect">
            <a:avLst/>
          </a:prstGeom>
          <a:solidFill>
            <a:schemeClr val="accent2">
              <a:lumMod val="75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Объявить о создании Федерации арабских королевств</a:t>
            </a:r>
          </a:p>
        </p:txBody>
      </p:sp>
      <p:cxnSp>
        <p:nvCxnSpPr>
          <p:cNvPr id="536" name="Соединительная линия уступом 620">
            <a:extLst>
              <a:ext uri="{FF2B5EF4-FFF2-40B4-BE49-F238E27FC236}">
                <a16:creationId xmlns:a16="http://schemas.microsoft.com/office/drawing/2014/main" id="{70499EFD-2CD6-4B5A-BCCE-FD0B9B26485B}"/>
              </a:ext>
            </a:extLst>
          </p:cNvPr>
          <p:cNvCxnSpPr>
            <a:cxnSpLocks/>
            <a:stCxn id="495" idx="2"/>
            <a:endCxn id="535" idx="0"/>
          </p:cNvCxnSpPr>
          <p:nvPr/>
        </p:nvCxnSpPr>
        <p:spPr>
          <a:xfrm rot="16200000" flipH="1">
            <a:off x="13364629" y="22297407"/>
            <a:ext cx="327134" cy="62566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9" name="Соединительная линия уступом 620">
            <a:extLst>
              <a:ext uri="{FF2B5EF4-FFF2-40B4-BE49-F238E27FC236}">
                <a16:creationId xmlns:a16="http://schemas.microsoft.com/office/drawing/2014/main" id="{035D5408-D287-4FEE-B46A-9DAE78A1D826}"/>
              </a:ext>
            </a:extLst>
          </p:cNvPr>
          <p:cNvCxnSpPr>
            <a:cxnSpLocks/>
            <a:stCxn id="499" idx="2"/>
            <a:endCxn id="535" idx="0"/>
          </p:cNvCxnSpPr>
          <p:nvPr/>
        </p:nvCxnSpPr>
        <p:spPr>
          <a:xfrm rot="5400000">
            <a:off x="13987068" y="22297384"/>
            <a:ext cx="330387" cy="62246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5" name="Прямоугольник 544">
            <a:extLst>
              <a:ext uri="{FF2B5EF4-FFF2-40B4-BE49-F238E27FC236}">
                <a16:creationId xmlns:a16="http://schemas.microsoft.com/office/drawing/2014/main" id="{2B28C5F6-F8C7-4394-AFCC-203AC1D50050}"/>
              </a:ext>
            </a:extLst>
          </p:cNvPr>
          <p:cNvSpPr/>
          <p:nvPr/>
        </p:nvSpPr>
        <p:spPr>
          <a:xfrm>
            <a:off x="7653732" y="9084771"/>
            <a:ext cx="926325" cy="540000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800" dirty="0"/>
              <a:t>Ограничить власть монарха </a:t>
            </a:r>
            <a:r>
              <a:rPr lang="ru-RU" sz="400" dirty="0"/>
              <a:t>(Конституционная демократия с ограничением власти монарха и разделением властей.)</a:t>
            </a:r>
            <a:endParaRPr lang="ru-RU" sz="800" dirty="0"/>
          </a:p>
        </p:txBody>
      </p:sp>
      <p:cxnSp>
        <p:nvCxnSpPr>
          <p:cNvPr id="551" name="Соединительная линия уступом 620">
            <a:extLst>
              <a:ext uri="{FF2B5EF4-FFF2-40B4-BE49-F238E27FC236}">
                <a16:creationId xmlns:a16="http://schemas.microsoft.com/office/drawing/2014/main" id="{4ED43F8D-A46A-4BB5-A376-66E38C1E51CA}"/>
              </a:ext>
            </a:extLst>
          </p:cNvPr>
          <p:cNvCxnSpPr>
            <a:cxnSpLocks/>
            <a:stCxn id="642" idx="2"/>
            <a:endCxn id="645" idx="0"/>
          </p:cNvCxnSpPr>
          <p:nvPr/>
        </p:nvCxnSpPr>
        <p:spPr>
          <a:xfrm rot="5400000">
            <a:off x="10353529" y="8131374"/>
            <a:ext cx="273575" cy="271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5" name="Соединительная линия уступом 620">
            <a:extLst>
              <a:ext uri="{FF2B5EF4-FFF2-40B4-BE49-F238E27FC236}">
                <a16:creationId xmlns:a16="http://schemas.microsoft.com/office/drawing/2014/main" id="{123B5ACA-56DC-4326-AC08-8DB7CAC572B1}"/>
              </a:ext>
            </a:extLst>
          </p:cNvPr>
          <p:cNvCxnSpPr>
            <a:cxnSpLocks/>
            <a:stCxn id="395" idx="2"/>
            <a:endCxn id="545" idx="0"/>
          </p:cNvCxnSpPr>
          <p:nvPr/>
        </p:nvCxnSpPr>
        <p:spPr>
          <a:xfrm rot="16200000" flipH="1">
            <a:off x="7571521" y="8539396"/>
            <a:ext cx="1089609" cy="113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75" name="Прямоугольник 574">
            <a:extLst>
              <a:ext uri="{FF2B5EF4-FFF2-40B4-BE49-F238E27FC236}">
                <a16:creationId xmlns:a16="http://schemas.microsoft.com/office/drawing/2014/main" id="{786780DD-B636-4AAA-BB44-1B2A63E40798}"/>
              </a:ext>
            </a:extLst>
          </p:cNvPr>
          <p:cNvSpPr/>
          <p:nvPr/>
        </p:nvSpPr>
        <p:spPr>
          <a:xfrm>
            <a:off x="8251905" y="9881933"/>
            <a:ext cx="926325" cy="533025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Расширить студенческие движения</a:t>
            </a:r>
          </a:p>
        </p:txBody>
      </p:sp>
      <p:cxnSp>
        <p:nvCxnSpPr>
          <p:cNvPr id="640" name="Соединительная линия уступом 620">
            <a:extLst>
              <a:ext uri="{FF2B5EF4-FFF2-40B4-BE49-F238E27FC236}">
                <a16:creationId xmlns:a16="http://schemas.microsoft.com/office/drawing/2014/main" id="{D3BB0D87-6410-459C-A997-D75EE192B481}"/>
              </a:ext>
            </a:extLst>
          </p:cNvPr>
          <p:cNvCxnSpPr>
            <a:cxnSpLocks/>
            <a:stCxn id="545" idx="2"/>
            <a:endCxn id="575" idx="0"/>
          </p:cNvCxnSpPr>
          <p:nvPr/>
        </p:nvCxnSpPr>
        <p:spPr>
          <a:xfrm rot="16200000" flipH="1">
            <a:off x="8287400" y="9454265"/>
            <a:ext cx="257162" cy="59817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1" name="Соединительная линия уступом 620">
            <a:extLst>
              <a:ext uri="{FF2B5EF4-FFF2-40B4-BE49-F238E27FC236}">
                <a16:creationId xmlns:a16="http://schemas.microsoft.com/office/drawing/2014/main" id="{7E403C6A-A16A-4AE5-83F9-8DF46F5E0B0D}"/>
              </a:ext>
            </a:extLst>
          </p:cNvPr>
          <p:cNvCxnSpPr>
            <a:cxnSpLocks/>
            <a:stCxn id="338" idx="2"/>
            <a:endCxn id="353" idx="0"/>
          </p:cNvCxnSpPr>
          <p:nvPr/>
        </p:nvCxnSpPr>
        <p:spPr>
          <a:xfrm rot="16200000" flipH="1">
            <a:off x="9470842" y="9454443"/>
            <a:ext cx="263512" cy="60416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2" name="Прямоугольник 641">
            <a:extLst>
              <a:ext uri="{FF2B5EF4-FFF2-40B4-BE49-F238E27FC236}">
                <a16:creationId xmlns:a16="http://schemas.microsoft.com/office/drawing/2014/main" id="{BB533C37-A024-420F-AF5C-27EB9E4439F4}"/>
              </a:ext>
            </a:extLst>
          </p:cNvPr>
          <p:cNvSpPr/>
          <p:nvPr/>
        </p:nvSpPr>
        <p:spPr>
          <a:xfrm>
            <a:off x="10028508" y="7455942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Провести религиозное обновление</a:t>
            </a:r>
          </a:p>
          <a:p>
            <a:pPr algn="ctr"/>
            <a:r>
              <a:rPr lang="ru-RU" sz="200" dirty="0"/>
              <a:t>(Исламский традиционализм и </a:t>
            </a:r>
            <a:r>
              <a:rPr lang="ru-RU" sz="200" dirty="0" err="1"/>
              <a:t>салафитский</a:t>
            </a:r>
            <a:r>
              <a:rPr lang="ru-RU" sz="200" dirty="0"/>
              <a:t> реформизм. Ставка на религиозное обновление.)</a:t>
            </a:r>
            <a:endParaRPr lang="ru-RU" sz="700" dirty="0"/>
          </a:p>
        </p:txBody>
      </p:sp>
      <p:cxnSp>
        <p:nvCxnSpPr>
          <p:cNvPr id="643" name="Соединительная линия уступом 620">
            <a:extLst>
              <a:ext uri="{FF2B5EF4-FFF2-40B4-BE49-F238E27FC236}">
                <a16:creationId xmlns:a16="http://schemas.microsoft.com/office/drawing/2014/main" id="{C965B5A5-794E-42B5-AB1C-407349D08A33}"/>
              </a:ext>
            </a:extLst>
          </p:cNvPr>
          <p:cNvCxnSpPr>
            <a:cxnSpLocks/>
            <a:stCxn id="362" idx="2"/>
            <a:endCxn id="642" idx="0"/>
          </p:cNvCxnSpPr>
          <p:nvPr/>
        </p:nvCxnSpPr>
        <p:spPr>
          <a:xfrm rot="16200000" flipH="1">
            <a:off x="10067262" y="7031532"/>
            <a:ext cx="261831" cy="58698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4" name="Соединительная линия уступом 620">
            <a:extLst>
              <a:ext uri="{FF2B5EF4-FFF2-40B4-BE49-F238E27FC236}">
                <a16:creationId xmlns:a16="http://schemas.microsoft.com/office/drawing/2014/main" id="{F4438365-BF06-4E75-9F42-3B2A80D3D5BE}"/>
              </a:ext>
            </a:extLst>
          </p:cNvPr>
          <p:cNvCxnSpPr>
            <a:cxnSpLocks/>
            <a:stCxn id="345" idx="2"/>
            <a:endCxn id="642" idx="0"/>
          </p:cNvCxnSpPr>
          <p:nvPr/>
        </p:nvCxnSpPr>
        <p:spPr>
          <a:xfrm rot="5400000">
            <a:off x="10952454" y="6732103"/>
            <a:ext cx="263056" cy="118462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5" name="Прямоугольник 644">
            <a:extLst>
              <a:ext uri="{FF2B5EF4-FFF2-40B4-BE49-F238E27FC236}">
                <a16:creationId xmlns:a16="http://schemas.microsoft.com/office/drawing/2014/main" id="{7B37F56A-E948-4527-A037-80458BB9A7B2}"/>
              </a:ext>
            </a:extLst>
          </p:cNvPr>
          <p:cNvSpPr/>
          <p:nvPr/>
        </p:nvSpPr>
        <p:spPr>
          <a:xfrm>
            <a:off x="10025797" y="8269517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Расширить религиозные движения</a:t>
            </a:r>
          </a:p>
        </p:txBody>
      </p:sp>
      <p:sp>
        <p:nvSpPr>
          <p:cNvPr id="646" name="Прямоугольник 645">
            <a:extLst>
              <a:ext uri="{FF2B5EF4-FFF2-40B4-BE49-F238E27FC236}">
                <a16:creationId xmlns:a16="http://schemas.microsoft.com/office/drawing/2014/main" id="{71C433BE-2815-434C-9894-ED547310B728}"/>
              </a:ext>
            </a:extLst>
          </p:cNvPr>
          <p:cNvSpPr/>
          <p:nvPr/>
        </p:nvSpPr>
        <p:spPr>
          <a:xfrm>
            <a:off x="10028508" y="9083092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Ввести </a:t>
            </a:r>
            <a:r>
              <a:rPr lang="ru-RU" sz="700" dirty="0" err="1"/>
              <a:t>закят</a:t>
            </a:r>
            <a:endParaRPr lang="ru-RU" sz="700" dirty="0"/>
          </a:p>
        </p:txBody>
      </p:sp>
      <p:cxnSp>
        <p:nvCxnSpPr>
          <p:cNvPr id="647" name="Соединительная линия уступом 620">
            <a:extLst>
              <a:ext uri="{FF2B5EF4-FFF2-40B4-BE49-F238E27FC236}">
                <a16:creationId xmlns:a16="http://schemas.microsoft.com/office/drawing/2014/main" id="{CB4958D7-7B1D-4C5E-A8C9-2E07977098A4}"/>
              </a:ext>
            </a:extLst>
          </p:cNvPr>
          <p:cNvCxnSpPr>
            <a:cxnSpLocks/>
            <a:stCxn id="645" idx="2"/>
            <a:endCxn id="646" idx="0"/>
          </p:cNvCxnSpPr>
          <p:nvPr/>
        </p:nvCxnSpPr>
        <p:spPr>
          <a:xfrm rot="16200000" flipH="1">
            <a:off x="10353528" y="8944948"/>
            <a:ext cx="273575" cy="271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48" name="Прямоугольник 647">
            <a:extLst>
              <a:ext uri="{FF2B5EF4-FFF2-40B4-BE49-F238E27FC236}">
                <a16:creationId xmlns:a16="http://schemas.microsoft.com/office/drawing/2014/main" id="{D82C8962-4A55-40F2-92BE-18230CFEFB9E}"/>
              </a:ext>
            </a:extLst>
          </p:cNvPr>
          <p:cNvSpPr/>
          <p:nvPr/>
        </p:nvSpPr>
        <p:spPr>
          <a:xfrm>
            <a:off x="5867315" y="10693099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Снять кандалы с берберов (Алжир и Тунис)</a:t>
            </a:r>
          </a:p>
        </p:txBody>
      </p:sp>
      <p:sp>
        <p:nvSpPr>
          <p:cNvPr id="650" name="Прямоугольник 649">
            <a:extLst>
              <a:ext uri="{FF2B5EF4-FFF2-40B4-BE49-F238E27FC236}">
                <a16:creationId xmlns:a16="http://schemas.microsoft.com/office/drawing/2014/main" id="{B9D1C4C9-A2D5-4A7D-990E-D8E0541A843E}"/>
              </a:ext>
            </a:extLst>
          </p:cNvPr>
          <p:cNvSpPr/>
          <p:nvPr/>
        </p:nvSpPr>
        <p:spPr>
          <a:xfrm>
            <a:off x="11216384" y="8269651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Предоставить евреям укрытие и защиту</a:t>
            </a:r>
          </a:p>
        </p:txBody>
      </p:sp>
      <p:sp>
        <p:nvSpPr>
          <p:cNvPr id="651" name="Прямоугольник 650">
            <a:extLst>
              <a:ext uri="{FF2B5EF4-FFF2-40B4-BE49-F238E27FC236}">
                <a16:creationId xmlns:a16="http://schemas.microsoft.com/office/drawing/2014/main" id="{ECEB2BDC-5C22-4C53-874C-0D93BC34C179}"/>
              </a:ext>
            </a:extLst>
          </p:cNvPr>
          <p:cNvSpPr/>
          <p:nvPr/>
        </p:nvSpPr>
        <p:spPr>
          <a:xfrm>
            <a:off x="11216385" y="9078900"/>
            <a:ext cx="926325" cy="540000"/>
          </a:xfrm>
          <a:prstGeom prst="rect">
            <a:avLst/>
          </a:prstGeom>
          <a:solidFill>
            <a:srgbClr val="7030A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Присяга Племен (</a:t>
            </a:r>
            <a:r>
              <a:rPr lang="ru-RU" sz="700" dirty="0" err="1"/>
              <a:t>Байа</a:t>
            </a:r>
            <a:r>
              <a:rPr lang="ru-RU" sz="700" dirty="0"/>
              <a:t>)</a:t>
            </a:r>
            <a:br>
              <a:rPr lang="ru-RU" sz="700" dirty="0"/>
            </a:br>
            <a:r>
              <a:rPr lang="ru-RU" sz="200" dirty="0"/>
              <a:t>Восстановление древнего ритуала, когда вожди всех племен лично клянутся в верности королю. Фокус снижает </a:t>
            </a:r>
            <a:r>
              <a:rPr lang="ru-RU" sz="200" dirty="0" err="1"/>
              <a:t>дебаффы</a:t>
            </a:r>
            <a:r>
              <a:rPr lang="ru-RU" sz="200" dirty="0"/>
              <a:t> от автономии регионов до нуля.</a:t>
            </a:r>
            <a:endParaRPr lang="ru-RU" sz="700" dirty="0"/>
          </a:p>
        </p:txBody>
      </p:sp>
      <p:cxnSp>
        <p:nvCxnSpPr>
          <p:cNvPr id="652" name="Соединительная линия уступом 620">
            <a:extLst>
              <a:ext uri="{FF2B5EF4-FFF2-40B4-BE49-F238E27FC236}">
                <a16:creationId xmlns:a16="http://schemas.microsoft.com/office/drawing/2014/main" id="{6B19BAA7-B876-4FDF-8720-711CCAF6895F}"/>
              </a:ext>
            </a:extLst>
          </p:cNvPr>
          <p:cNvCxnSpPr>
            <a:cxnSpLocks/>
            <a:stCxn id="422" idx="2"/>
            <a:endCxn id="650" idx="0"/>
          </p:cNvCxnSpPr>
          <p:nvPr/>
        </p:nvCxnSpPr>
        <p:spPr>
          <a:xfrm rot="5400000">
            <a:off x="11539151" y="8129253"/>
            <a:ext cx="280795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3" name="Соединительная линия уступом 620">
            <a:extLst>
              <a:ext uri="{FF2B5EF4-FFF2-40B4-BE49-F238E27FC236}">
                <a16:creationId xmlns:a16="http://schemas.microsoft.com/office/drawing/2014/main" id="{AA676E65-2BF0-4B34-A2D0-5D1E66729705}"/>
              </a:ext>
            </a:extLst>
          </p:cNvPr>
          <p:cNvCxnSpPr>
            <a:cxnSpLocks/>
            <a:stCxn id="650" idx="2"/>
            <a:endCxn id="651" idx="0"/>
          </p:cNvCxnSpPr>
          <p:nvPr/>
        </p:nvCxnSpPr>
        <p:spPr>
          <a:xfrm rot="16200000" flipH="1">
            <a:off x="11544923" y="8944274"/>
            <a:ext cx="269249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4" name="Прямоугольник 653">
            <a:extLst>
              <a:ext uri="{FF2B5EF4-FFF2-40B4-BE49-F238E27FC236}">
                <a16:creationId xmlns:a16="http://schemas.microsoft.com/office/drawing/2014/main" id="{18C3F344-7D3E-437B-BFE4-9B6FC17E03FD}"/>
              </a:ext>
            </a:extLst>
          </p:cNvPr>
          <p:cNvSpPr/>
          <p:nvPr/>
        </p:nvSpPr>
        <p:spPr>
          <a:xfrm>
            <a:off x="7058064" y="10693099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Распространить свою власть на Магриб</a:t>
            </a:r>
          </a:p>
        </p:txBody>
      </p:sp>
      <p:sp>
        <p:nvSpPr>
          <p:cNvPr id="655" name="Прямоугольник 654">
            <a:extLst>
              <a:ext uri="{FF2B5EF4-FFF2-40B4-BE49-F238E27FC236}">
                <a16:creationId xmlns:a16="http://schemas.microsoft.com/office/drawing/2014/main" id="{60FF396B-0DD4-4BCC-B80F-1FD9B4AA67F3}"/>
              </a:ext>
            </a:extLst>
          </p:cNvPr>
          <p:cNvSpPr/>
          <p:nvPr/>
        </p:nvSpPr>
        <p:spPr>
          <a:xfrm>
            <a:off x="4687924" y="10693099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Прогнать колонизаторов с Ливийского плата (Ливия, Египет, Судан)</a:t>
            </a:r>
          </a:p>
        </p:txBody>
      </p:sp>
      <p:cxnSp>
        <p:nvCxnSpPr>
          <p:cNvPr id="656" name="Соединительная линия уступом 620">
            <a:extLst>
              <a:ext uri="{FF2B5EF4-FFF2-40B4-BE49-F238E27FC236}">
                <a16:creationId xmlns:a16="http://schemas.microsoft.com/office/drawing/2014/main" id="{9AE567B0-4A3A-4FF3-9DBD-A84E5CC1C1FF}"/>
              </a:ext>
            </a:extLst>
          </p:cNvPr>
          <p:cNvCxnSpPr>
            <a:cxnSpLocks/>
            <a:stCxn id="435" idx="2"/>
            <a:endCxn id="655" idx="0"/>
          </p:cNvCxnSpPr>
          <p:nvPr/>
        </p:nvCxnSpPr>
        <p:spPr>
          <a:xfrm rot="5400000">
            <a:off x="5608764" y="9970607"/>
            <a:ext cx="264816" cy="118016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57" name="Соединительная линия уступом 620">
            <a:extLst>
              <a:ext uri="{FF2B5EF4-FFF2-40B4-BE49-F238E27FC236}">
                <a16:creationId xmlns:a16="http://schemas.microsoft.com/office/drawing/2014/main" id="{A529821E-5D37-4BEC-98C4-B1362AD5926A}"/>
              </a:ext>
            </a:extLst>
          </p:cNvPr>
          <p:cNvCxnSpPr>
            <a:cxnSpLocks/>
            <a:stCxn id="435" idx="2"/>
            <a:endCxn id="648" idx="0"/>
          </p:cNvCxnSpPr>
          <p:nvPr/>
        </p:nvCxnSpPr>
        <p:spPr>
          <a:xfrm rot="5400000">
            <a:off x="6198459" y="10560302"/>
            <a:ext cx="264816" cy="77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8" name="Прямоугольник 657">
            <a:extLst>
              <a:ext uri="{FF2B5EF4-FFF2-40B4-BE49-F238E27FC236}">
                <a16:creationId xmlns:a16="http://schemas.microsoft.com/office/drawing/2014/main" id="{3CAB67B9-2BAC-4278-83A4-4C135EE9E7FE}"/>
              </a:ext>
            </a:extLst>
          </p:cNvPr>
          <p:cNvSpPr/>
          <p:nvPr/>
        </p:nvSpPr>
        <p:spPr>
          <a:xfrm>
            <a:off x="5278009" y="11497915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Освободить Аравийский полуостров</a:t>
            </a:r>
          </a:p>
        </p:txBody>
      </p:sp>
      <p:cxnSp>
        <p:nvCxnSpPr>
          <p:cNvPr id="659" name="Соединительная линия уступом 620">
            <a:extLst>
              <a:ext uri="{FF2B5EF4-FFF2-40B4-BE49-F238E27FC236}">
                <a16:creationId xmlns:a16="http://schemas.microsoft.com/office/drawing/2014/main" id="{80BCEB1D-113A-4DA9-BDFF-F4C5FEE9E390}"/>
              </a:ext>
            </a:extLst>
          </p:cNvPr>
          <p:cNvCxnSpPr>
            <a:cxnSpLocks/>
            <a:stCxn id="435" idx="2"/>
            <a:endCxn id="658" idx="0"/>
          </p:cNvCxnSpPr>
          <p:nvPr/>
        </p:nvCxnSpPr>
        <p:spPr>
          <a:xfrm rot="5400000">
            <a:off x="5501398" y="10668057"/>
            <a:ext cx="1069632" cy="590084"/>
          </a:xfrm>
          <a:prstGeom prst="bentConnector3">
            <a:avLst>
              <a:gd name="adj1" fmla="val 12599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0" name="Прямоугольник 659">
            <a:extLst>
              <a:ext uri="{FF2B5EF4-FFF2-40B4-BE49-F238E27FC236}">
                <a16:creationId xmlns:a16="http://schemas.microsoft.com/office/drawing/2014/main" id="{4656699D-0F42-4F89-9AB6-5CB375631316}"/>
              </a:ext>
            </a:extLst>
          </p:cNvPr>
          <p:cNvSpPr/>
          <p:nvPr/>
        </p:nvSpPr>
        <p:spPr>
          <a:xfrm>
            <a:off x="5862551" y="12294965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Никаких мандатов в </a:t>
            </a:r>
            <a:r>
              <a:rPr lang="ru-RU" sz="700" dirty="0" err="1"/>
              <a:t>Сириийском</a:t>
            </a:r>
            <a:r>
              <a:rPr lang="ru-RU" sz="700" dirty="0"/>
              <a:t> регионе</a:t>
            </a:r>
          </a:p>
        </p:txBody>
      </p:sp>
      <p:cxnSp>
        <p:nvCxnSpPr>
          <p:cNvPr id="661" name="Соединительная линия уступом 620">
            <a:extLst>
              <a:ext uri="{FF2B5EF4-FFF2-40B4-BE49-F238E27FC236}">
                <a16:creationId xmlns:a16="http://schemas.microsoft.com/office/drawing/2014/main" id="{AFCC26D8-BC8C-4064-ACF4-66E1DE8CBB42}"/>
              </a:ext>
            </a:extLst>
          </p:cNvPr>
          <p:cNvCxnSpPr>
            <a:cxnSpLocks/>
            <a:stCxn id="658" idx="2"/>
            <a:endCxn id="660" idx="0"/>
          </p:cNvCxnSpPr>
          <p:nvPr/>
        </p:nvCxnSpPr>
        <p:spPr>
          <a:xfrm rot="16200000" flipH="1">
            <a:off x="5904918" y="11874169"/>
            <a:ext cx="257050" cy="58454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2" name="Прямоугольник 661">
            <a:extLst>
              <a:ext uri="{FF2B5EF4-FFF2-40B4-BE49-F238E27FC236}">
                <a16:creationId xmlns:a16="http://schemas.microsoft.com/office/drawing/2014/main" id="{1219FAEA-FC53-44D6-AC37-F9E43A549BD0}"/>
              </a:ext>
            </a:extLst>
          </p:cNvPr>
          <p:cNvSpPr/>
          <p:nvPr/>
        </p:nvSpPr>
        <p:spPr>
          <a:xfrm>
            <a:off x="8255525" y="10693099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Поход на Ливийское плато</a:t>
            </a:r>
          </a:p>
        </p:txBody>
      </p:sp>
      <p:sp>
        <p:nvSpPr>
          <p:cNvPr id="663" name="Прямоугольник 662">
            <a:extLst>
              <a:ext uri="{FF2B5EF4-FFF2-40B4-BE49-F238E27FC236}">
                <a16:creationId xmlns:a16="http://schemas.microsoft.com/office/drawing/2014/main" id="{C2F8030A-BF54-4D2A-A7C1-1359E169CA4E}"/>
              </a:ext>
            </a:extLst>
          </p:cNvPr>
          <p:cNvSpPr/>
          <p:nvPr/>
        </p:nvSpPr>
        <p:spPr>
          <a:xfrm>
            <a:off x="7652592" y="11493724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Вернуть религиозные святыни Аравии</a:t>
            </a:r>
          </a:p>
        </p:txBody>
      </p:sp>
      <p:sp>
        <p:nvSpPr>
          <p:cNvPr id="664" name="Прямоугольник 663">
            <a:extLst>
              <a:ext uri="{FF2B5EF4-FFF2-40B4-BE49-F238E27FC236}">
                <a16:creationId xmlns:a16="http://schemas.microsoft.com/office/drawing/2014/main" id="{76793256-FEF2-42F0-A25D-EF1883BE28E0}"/>
              </a:ext>
            </a:extLst>
          </p:cNvPr>
          <p:cNvSpPr/>
          <p:nvPr/>
        </p:nvSpPr>
        <p:spPr>
          <a:xfrm>
            <a:off x="7058063" y="12294349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Захват дальних земель</a:t>
            </a:r>
          </a:p>
        </p:txBody>
      </p:sp>
      <p:sp>
        <p:nvSpPr>
          <p:cNvPr id="665" name="Прямоугольник 664">
            <a:extLst>
              <a:ext uri="{FF2B5EF4-FFF2-40B4-BE49-F238E27FC236}">
                <a16:creationId xmlns:a16="http://schemas.microsoft.com/office/drawing/2014/main" id="{88E696FF-E321-472E-92CA-77E983DEE5D4}"/>
              </a:ext>
            </a:extLst>
          </p:cNvPr>
          <p:cNvSpPr/>
          <p:nvPr/>
        </p:nvSpPr>
        <p:spPr>
          <a:xfrm>
            <a:off x="6460696" y="13091399"/>
            <a:ext cx="926325" cy="540000"/>
          </a:xfrm>
          <a:prstGeom prst="rect">
            <a:avLst/>
          </a:prstGeom>
          <a:gradFill flip="none" rotWithShape="1">
            <a:gsLst>
              <a:gs pos="0">
                <a:srgbClr val="7030A0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0" scaled="1"/>
            <a:tileRect/>
          </a:gra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Отец всех арабов</a:t>
            </a:r>
          </a:p>
        </p:txBody>
      </p:sp>
      <p:cxnSp>
        <p:nvCxnSpPr>
          <p:cNvPr id="666" name="Соединительная линия уступом 620">
            <a:extLst>
              <a:ext uri="{FF2B5EF4-FFF2-40B4-BE49-F238E27FC236}">
                <a16:creationId xmlns:a16="http://schemas.microsoft.com/office/drawing/2014/main" id="{D736B8FF-A872-48FA-AAEA-B10681769268}"/>
              </a:ext>
            </a:extLst>
          </p:cNvPr>
          <p:cNvCxnSpPr>
            <a:cxnSpLocks/>
            <a:stCxn id="655" idx="2"/>
            <a:endCxn id="660" idx="0"/>
          </p:cNvCxnSpPr>
          <p:nvPr/>
        </p:nvCxnSpPr>
        <p:spPr>
          <a:xfrm rot="16200000" flipH="1">
            <a:off x="5207467" y="11176718"/>
            <a:ext cx="1061866" cy="1174627"/>
          </a:xfrm>
          <a:prstGeom prst="bentConnector3">
            <a:avLst>
              <a:gd name="adj1" fmla="val 8738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7" name="Соединительная линия уступом 620">
            <a:extLst>
              <a:ext uri="{FF2B5EF4-FFF2-40B4-BE49-F238E27FC236}">
                <a16:creationId xmlns:a16="http://schemas.microsoft.com/office/drawing/2014/main" id="{891731BE-0C06-4A6D-875D-C186699E09EC}"/>
              </a:ext>
            </a:extLst>
          </p:cNvPr>
          <p:cNvCxnSpPr>
            <a:cxnSpLocks/>
            <a:stCxn id="648" idx="2"/>
            <a:endCxn id="660" idx="0"/>
          </p:cNvCxnSpPr>
          <p:nvPr/>
        </p:nvCxnSpPr>
        <p:spPr>
          <a:xfrm rot="5400000">
            <a:off x="5797163" y="11761650"/>
            <a:ext cx="1061866" cy="476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8" name="Соединительная линия уступом 620">
            <a:extLst>
              <a:ext uri="{FF2B5EF4-FFF2-40B4-BE49-F238E27FC236}">
                <a16:creationId xmlns:a16="http://schemas.microsoft.com/office/drawing/2014/main" id="{A2DB622B-75CB-4ECD-822F-58B46441EC42}"/>
              </a:ext>
            </a:extLst>
          </p:cNvPr>
          <p:cNvCxnSpPr>
            <a:cxnSpLocks/>
            <a:stCxn id="385" idx="2"/>
            <a:endCxn id="662" idx="0"/>
          </p:cNvCxnSpPr>
          <p:nvPr/>
        </p:nvCxnSpPr>
        <p:spPr>
          <a:xfrm rot="16200000" flipH="1">
            <a:off x="7985168" y="9959579"/>
            <a:ext cx="264816" cy="120222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9" name="Соединительная линия уступом 620">
            <a:extLst>
              <a:ext uri="{FF2B5EF4-FFF2-40B4-BE49-F238E27FC236}">
                <a16:creationId xmlns:a16="http://schemas.microsoft.com/office/drawing/2014/main" id="{BC7070B2-A274-4CFB-9239-E5C1E89FB4DE}"/>
              </a:ext>
            </a:extLst>
          </p:cNvPr>
          <p:cNvCxnSpPr>
            <a:cxnSpLocks/>
            <a:stCxn id="385" idx="2"/>
            <a:endCxn id="654" idx="0"/>
          </p:cNvCxnSpPr>
          <p:nvPr/>
        </p:nvCxnSpPr>
        <p:spPr>
          <a:xfrm rot="16200000" flipH="1">
            <a:off x="7386437" y="10558309"/>
            <a:ext cx="264816" cy="476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0" name="Соединительная линия уступом 620">
            <a:extLst>
              <a:ext uri="{FF2B5EF4-FFF2-40B4-BE49-F238E27FC236}">
                <a16:creationId xmlns:a16="http://schemas.microsoft.com/office/drawing/2014/main" id="{9A4E2F1D-8712-4D2A-924B-A0C92EF6AEEC}"/>
              </a:ext>
            </a:extLst>
          </p:cNvPr>
          <p:cNvCxnSpPr>
            <a:cxnSpLocks/>
            <a:stCxn id="385" idx="2"/>
            <a:endCxn id="663" idx="0"/>
          </p:cNvCxnSpPr>
          <p:nvPr/>
        </p:nvCxnSpPr>
        <p:spPr>
          <a:xfrm rot="16200000" flipH="1">
            <a:off x="7283389" y="10661357"/>
            <a:ext cx="1065441" cy="599291"/>
          </a:xfrm>
          <a:prstGeom prst="bentConnector3">
            <a:avLst>
              <a:gd name="adj1" fmla="val 12005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1" name="Соединительная линия уступом 620">
            <a:extLst>
              <a:ext uri="{FF2B5EF4-FFF2-40B4-BE49-F238E27FC236}">
                <a16:creationId xmlns:a16="http://schemas.microsoft.com/office/drawing/2014/main" id="{AF048FC1-75E1-4A69-9262-337B413790DB}"/>
              </a:ext>
            </a:extLst>
          </p:cNvPr>
          <p:cNvCxnSpPr>
            <a:cxnSpLocks/>
            <a:stCxn id="654" idx="2"/>
            <a:endCxn id="664" idx="0"/>
          </p:cNvCxnSpPr>
          <p:nvPr/>
        </p:nvCxnSpPr>
        <p:spPr>
          <a:xfrm rot="5400000">
            <a:off x="6990602" y="11763724"/>
            <a:ext cx="1061250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4" name="Соединительная линия уступом 620">
            <a:extLst>
              <a:ext uri="{FF2B5EF4-FFF2-40B4-BE49-F238E27FC236}">
                <a16:creationId xmlns:a16="http://schemas.microsoft.com/office/drawing/2014/main" id="{F00985B5-C9B1-4C58-871B-155E5500E864}"/>
              </a:ext>
            </a:extLst>
          </p:cNvPr>
          <p:cNvCxnSpPr>
            <a:cxnSpLocks/>
            <a:stCxn id="662" idx="2"/>
            <a:endCxn id="664" idx="0"/>
          </p:cNvCxnSpPr>
          <p:nvPr/>
        </p:nvCxnSpPr>
        <p:spPr>
          <a:xfrm rot="5400000">
            <a:off x="7589332" y="11164993"/>
            <a:ext cx="1061250" cy="1197462"/>
          </a:xfrm>
          <a:prstGeom prst="bentConnector3">
            <a:avLst>
              <a:gd name="adj1" fmla="val 10509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0" name="Соединительная линия уступом 620">
            <a:extLst>
              <a:ext uri="{FF2B5EF4-FFF2-40B4-BE49-F238E27FC236}">
                <a16:creationId xmlns:a16="http://schemas.microsoft.com/office/drawing/2014/main" id="{54C45103-9610-4747-AF7B-92360349A296}"/>
              </a:ext>
            </a:extLst>
          </p:cNvPr>
          <p:cNvCxnSpPr>
            <a:cxnSpLocks/>
            <a:stCxn id="663" idx="2"/>
            <a:endCxn id="664" idx="0"/>
          </p:cNvCxnSpPr>
          <p:nvPr/>
        </p:nvCxnSpPr>
        <p:spPr>
          <a:xfrm rot="5400000">
            <a:off x="7688179" y="11866772"/>
            <a:ext cx="260625" cy="59452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3" name="Соединительная линия уступом 620">
            <a:extLst>
              <a:ext uri="{FF2B5EF4-FFF2-40B4-BE49-F238E27FC236}">
                <a16:creationId xmlns:a16="http://schemas.microsoft.com/office/drawing/2014/main" id="{DE2D8494-1503-4DF6-A629-C5B24D7D0A7A}"/>
              </a:ext>
            </a:extLst>
          </p:cNvPr>
          <p:cNvCxnSpPr>
            <a:cxnSpLocks/>
            <a:stCxn id="664" idx="2"/>
            <a:endCxn id="665" idx="0"/>
          </p:cNvCxnSpPr>
          <p:nvPr/>
        </p:nvCxnSpPr>
        <p:spPr>
          <a:xfrm rot="5400000">
            <a:off x="7094018" y="12664191"/>
            <a:ext cx="257050" cy="597367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6" name="Соединительная линия уступом 620">
            <a:extLst>
              <a:ext uri="{FF2B5EF4-FFF2-40B4-BE49-F238E27FC236}">
                <a16:creationId xmlns:a16="http://schemas.microsoft.com/office/drawing/2014/main" id="{2C209F84-093F-4DE0-AB5F-949879174C14}"/>
              </a:ext>
            </a:extLst>
          </p:cNvPr>
          <p:cNvCxnSpPr>
            <a:cxnSpLocks/>
            <a:stCxn id="660" idx="2"/>
            <a:endCxn id="665" idx="0"/>
          </p:cNvCxnSpPr>
          <p:nvPr/>
        </p:nvCxnSpPr>
        <p:spPr>
          <a:xfrm rot="16200000" flipH="1">
            <a:off x="6496569" y="12664109"/>
            <a:ext cx="256434" cy="59814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09" name="Прямоугольник 408">
            <a:extLst>
              <a:ext uri="{FF2B5EF4-FFF2-40B4-BE49-F238E27FC236}">
                <a16:creationId xmlns:a16="http://schemas.microsoft.com/office/drawing/2014/main" id="{F94A8CD5-CDDE-4607-989B-0C72CA0A2183}"/>
              </a:ext>
            </a:extLst>
          </p:cNvPr>
          <p:cNvSpPr/>
          <p:nvPr/>
        </p:nvSpPr>
        <p:spPr>
          <a:xfrm>
            <a:off x="3514511" y="8277242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Железнодорожная петля Танжер - Фес</a:t>
            </a:r>
            <a:br>
              <a:rPr lang="ru-RU" sz="700" dirty="0"/>
            </a:br>
            <a:r>
              <a:rPr lang="ru-RU" sz="100" dirty="0"/>
              <a:t>(Исторический контекст: До войны французская колея была развита слабо. Под руководством американских инженеров снабжение между портами Атлантики и базами снабжения вглубь страны было переведено на круглосуточные </a:t>
            </a:r>
            <a:r>
              <a:rPr lang="ru-RU" sz="100" dirty="0" err="1"/>
              <a:t>рельсы.Эффекты</a:t>
            </a:r>
            <a:r>
              <a:rPr lang="ru-RU" sz="100" dirty="0"/>
              <a:t> в игре: Максимальная пропускная способность снабжения (</a:t>
            </a:r>
            <a:r>
              <a:rPr lang="ru-RU" sz="100" dirty="0" err="1"/>
              <a:t>Supply</a:t>
            </a:r>
            <a:r>
              <a:rPr lang="ru-RU" sz="100" dirty="0"/>
              <a:t> </a:t>
            </a:r>
            <a:r>
              <a:rPr lang="ru-RU" sz="100" dirty="0" err="1"/>
              <a:t>Hub</a:t>
            </a:r>
            <a:r>
              <a:rPr lang="ru-RU" sz="100" dirty="0"/>
              <a:t>) по всему Марокко. Скорость передвижения сухопутных войск в регионе \(+15\%\))</a:t>
            </a:r>
            <a:endParaRPr lang="ru-RU" sz="700" dirty="0"/>
          </a:p>
        </p:txBody>
      </p:sp>
      <p:sp>
        <p:nvSpPr>
          <p:cNvPr id="417" name="Прямоугольник 416">
            <a:extLst>
              <a:ext uri="{FF2B5EF4-FFF2-40B4-BE49-F238E27FC236}">
                <a16:creationId xmlns:a16="http://schemas.microsoft.com/office/drawing/2014/main" id="{8D4076E3-5173-4E28-AAAB-8723F6E1B29D}"/>
              </a:ext>
            </a:extLst>
          </p:cNvPr>
          <p:cNvSpPr/>
          <p:nvPr/>
        </p:nvSpPr>
        <p:spPr>
          <a:xfrm>
            <a:off x="4086253" y="9073464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Военные госпитали эвакуации</a:t>
            </a:r>
            <a:br>
              <a:rPr lang="ru-RU" sz="700" dirty="0"/>
            </a:br>
            <a:r>
              <a:rPr lang="ru-RU" sz="200" dirty="0"/>
              <a:t>(Исторический контекст: В Марокко развернули сеть тыловых госпиталей США, которые принимали раненых с сицилийского и итальянского </a:t>
            </a:r>
            <a:r>
              <a:rPr lang="ru-RU" sz="200" dirty="0" err="1"/>
              <a:t>фронтов.Эффекты</a:t>
            </a:r>
            <a:r>
              <a:rPr lang="ru-RU" sz="200" dirty="0"/>
              <a:t> в игре: Национальный дух: Снижение безвозвратных потерь армии (</a:t>
            </a:r>
            <a:r>
              <a:rPr lang="ru-RU" sz="200" dirty="0" err="1"/>
              <a:t>Trickleback</a:t>
            </a:r>
            <a:r>
              <a:rPr lang="ru-RU" sz="200" dirty="0"/>
              <a:t>) на \(+15\%\), скорость восстановления опыта дивизий \(+10\%\)) </a:t>
            </a:r>
            <a:endParaRPr lang="ru-RU" sz="700" dirty="0"/>
          </a:p>
        </p:txBody>
      </p:sp>
      <p:sp>
        <p:nvSpPr>
          <p:cNvPr id="427" name="Прямоугольник 426">
            <a:extLst>
              <a:ext uri="{FF2B5EF4-FFF2-40B4-BE49-F238E27FC236}">
                <a16:creationId xmlns:a16="http://schemas.microsoft.com/office/drawing/2014/main" id="{3D111D3C-3C2E-4B44-9FB8-2691F7F68F40}"/>
              </a:ext>
            </a:extLst>
          </p:cNvPr>
          <p:cNvSpPr/>
          <p:nvPr/>
        </p:nvSpPr>
        <p:spPr>
          <a:xfrm>
            <a:off x="3508415" y="7448856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Поддержка США</a:t>
            </a:r>
          </a:p>
        </p:txBody>
      </p:sp>
      <p:cxnSp>
        <p:nvCxnSpPr>
          <p:cNvPr id="433" name="Соединительная линия уступом 620">
            <a:extLst>
              <a:ext uri="{FF2B5EF4-FFF2-40B4-BE49-F238E27FC236}">
                <a16:creationId xmlns:a16="http://schemas.microsoft.com/office/drawing/2014/main" id="{6EE2660D-766B-4A4B-8513-1F262155B5E7}"/>
              </a:ext>
            </a:extLst>
          </p:cNvPr>
          <p:cNvCxnSpPr>
            <a:cxnSpLocks/>
            <a:stCxn id="372" idx="2"/>
            <a:endCxn id="427" idx="0"/>
          </p:cNvCxnSpPr>
          <p:nvPr/>
        </p:nvCxnSpPr>
        <p:spPr>
          <a:xfrm rot="5400000">
            <a:off x="3851429" y="7328705"/>
            <a:ext cx="240301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4" name="Соединительная линия уступом 620">
            <a:extLst>
              <a:ext uri="{FF2B5EF4-FFF2-40B4-BE49-F238E27FC236}">
                <a16:creationId xmlns:a16="http://schemas.microsoft.com/office/drawing/2014/main" id="{2F6B1CB6-50E2-4B75-BFBB-E2C6E8B4DCE6}"/>
              </a:ext>
            </a:extLst>
          </p:cNvPr>
          <p:cNvCxnSpPr>
            <a:cxnSpLocks/>
            <a:stCxn id="427" idx="2"/>
            <a:endCxn id="409" idx="0"/>
          </p:cNvCxnSpPr>
          <p:nvPr/>
        </p:nvCxnSpPr>
        <p:spPr>
          <a:xfrm rot="16200000" flipH="1">
            <a:off x="3830433" y="8130001"/>
            <a:ext cx="288386" cy="6096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6" name="Соединительная линия уступом 620">
            <a:extLst>
              <a:ext uri="{FF2B5EF4-FFF2-40B4-BE49-F238E27FC236}">
                <a16:creationId xmlns:a16="http://schemas.microsoft.com/office/drawing/2014/main" id="{593B12CD-5F29-4B60-BD55-0E6F2A16BF27}"/>
              </a:ext>
            </a:extLst>
          </p:cNvPr>
          <p:cNvCxnSpPr>
            <a:cxnSpLocks/>
            <a:stCxn id="427" idx="2"/>
            <a:endCxn id="417" idx="0"/>
          </p:cNvCxnSpPr>
          <p:nvPr/>
        </p:nvCxnSpPr>
        <p:spPr>
          <a:xfrm rot="16200000" flipH="1">
            <a:off x="3718193" y="8242241"/>
            <a:ext cx="1084608" cy="577838"/>
          </a:xfrm>
          <a:prstGeom prst="bentConnector3">
            <a:avLst>
              <a:gd name="adj1" fmla="val 12999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2" name="Прямоугольник 441">
            <a:extLst>
              <a:ext uri="{FF2B5EF4-FFF2-40B4-BE49-F238E27FC236}">
                <a16:creationId xmlns:a16="http://schemas.microsoft.com/office/drawing/2014/main" id="{558E7069-282C-4D0D-A06F-74949CAC250A}"/>
              </a:ext>
            </a:extLst>
          </p:cNvPr>
          <p:cNvSpPr/>
          <p:nvPr/>
        </p:nvSpPr>
        <p:spPr>
          <a:xfrm>
            <a:off x="4675386" y="8269965"/>
            <a:ext cx="926325" cy="540000"/>
          </a:xfrm>
          <a:prstGeom prst="rect">
            <a:avLst/>
          </a:prstGeom>
          <a:solidFill>
            <a:schemeClr val="bg1">
              <a:lumMod val="50000"/>
            </a:schemeClr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Военно-морская авиабаза Порт-</a:t>
            </a:r>
            <a:r>
              <a:rPr lang="ru-RU" sz="700" dirty="0" err="1"/>
              <a:t>Лиоте</a:t>
            </a:r>
            <a:br>
              <a:rPr lang="ru-RU" sz="700" dirty="0"/>
            </a:br>
            <a:r>
              <a:rPr lang="ru-RU" sz="200" dirty="0"/>
              <a:t>(Исторический контекст: База была отбита у </a:t>
            </a:r>
            <a:r>
              <a:rPr lang="ru-RU" sz="200" dirty="0" err="1"/>
              <a:t>вишистов</a:t>
            </a:r>
            <a:r>
              <a:rPr lang="ru-RU" sz="200" dirty="0"/>
              <a:t> во время операции «Факел» и превращена в мощнейший узел авиации ВМС США. Отсюда взлетали американские «</a:t>
            </a:r>
            <a:r>
              <a:rPr lang="ru-RU" sz="200" dirty="0" err="1"/>
              <a:t>Каталины</a:t>
            </a:r>
            <a:r>
              <a:rPr lang="ru-RU" sz="200" dirty="0"/>
              <a:t>» и «</a:t>
            </a:r>
            <a:r>
              <a:rPr lang="ru-RU" sz="200" dirty="0" err="1"/>
              <a:t>Либерейторы</a:t>
            </a:r>
            <a:r>
              <a:rPr lang="ru-RU" sz="200" dirty="0"/>
              <a:t>» для охоты за немецкими субмаринами U-</a:t>
            </a:r>
            <a:r>
              <a:rPr lang="ru-RU" sz="200" dirty="0" err="1"/>
              <a:t>boat</a:t>
            </a:r>
            <a:r>
              <a:rPr lang="ru-RU" sz="200" dirty="0"/>
              <a:t> в Гибралтарском </a:t>
            </a:r>
            <a:r>
              <a:rPr lang="ru-RU" sz="200" dirty="0" err="1"/>
              <a:t>проливе.Эффекты</a:t>
            </a:r>
            <a:r>
              <a:rPr lang="ru-RU" sz="200" dirty="0"/>
              <a:t> в игре: В регионе Западное Марокко строится аэродром 5-го уровня и радар 2-го уровня. Бонус к обнаружению подлодок для всей авиации в Западных подходах \(+20\%\))</a:t>
            </a:r>
            <a:endParaRPr lang="ru-RU" sz="700" dirty="0"/>
          </a:p>
        </p:txBody>
      </p:sp>
      <p:cxnSp>
        <p:nvCxnSpPr>
          <p:cNvPr id="443" name="Соединительная линия уступом 620">
            <a:extLst>
              <a:ext uri="{FF2B5EF4-FFF2-40B4-BE49-F238E27FC236}">
                <a16:creationId xmlns:a16="http://schemas.microsoft.com/office/drawing/2014/main" id="{6DC2BB2F-54F8-4A05-ACB6-FC77D8E80346}"/>
              </a:ext>
            </a:extLst>
          </p:cNvPr>
          <p:cNvCxnSpPr>
            <a:cxnSpLocks/>
            <a:stCxn id="427" idx="2"/>
            <a:endCxn id="442" idx="0"/>
          </p:cNvCxnSpPr>
          <p:nvPr/>
        </p:nvCxnSpPr>
        <p:spPr>
          <a:xfrm rot="16200000" flipH="1">
            <a:off x="4414509" y="7545924"/>
            <a:ext cx="281109" cy="116697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4" name="Соединительная линия уступом 620">
            <a:extLst>
              <a:ext uri="{FF2B5EF4-FFF2-40B4-BE49-F238E27FC236}">
                <a16:creationId xmlns:a16="http://schemas.microsoft.com/office/drawing/2014/main" id="{413DC653-93E2-404F-B9A6-2F1EB8C5C198}"/>
              </a:ext>
            </a:extLst>
          </p:cNvPr>
          <p:cNvCxnSpPr>
            <a:cxnSpLocks/>
            <a:stCxn id="370" idx="2"/>
            <a:endCxn id="442" idx="0"/>
          </p:cNvCxnSpPr>
          <p:nvPr/>
        </p:nvCxnSpPr>
        <p:spPr>
          <a:xfrm rot="5400000">
            <a:off x="5301635" y="7837541"/>
            <a:ext cx="269338" cy="59551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47" name="Прямоугольник 446">
            <a:extLst>
              <a:ext uri="{FF2B5EF4-FFF2-40B4-BE49-F238E27FC236}">
                <a16:creationId xmlns:a16="http://schemas.microsoft.com/office/drawing/2014/main" id="{B0F75998-AA54-4F32-B805-812B3D0FE1D3}"/>
              </a:ext>
            </a:extLst>
          </p:cNvPr>
          <p:cNvSpPr/>
          <p:nvPr/>
        </p:nvSpPr>
        <p:spPr>
          <a:xfrm>
            <a:off x="17688637" y="5844111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Национализация банков</a:t>
            </a:r>
          </a:p>
        </p:txBody>
      </p:sp>
      <p:sp>
        <p:nvSpPr>
          <p:cNvPr id="449" name="Прямоугольник 448">
            <a:extLst>
              <a:ext uri="{FF2B5EF4-FFF2-40B4-BE49-F238E27FC236}">
                <a16:creationId xmlns:a16="http://schemas.microsoft.com/office/drawing/2014/main" id="{5CE1941D-08BE-4787-8655-E09661F81408}"/>
              </a:ext>
            </a:extLst>
          </p:cNvPr>
          <p:cNvSpPr/>
          <p:nvPr/>
        </p:nvSpPr>
        <p:spPr>
          <a:xfrm>
            <a:off x="16506944" y="907761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Повышение уровня жизни населения</a:t>
            </a:r>
          </a:p>
        </p:txBody>
      </p:sp>
      <p:sp>
        <p:nvSpPr>
          <p:cNvPr id="452" name="Прямоугольник 451">
            <a:extLst>
              <a:ext uri="{FF2B5EF4-FFF2-40B4-BE49-F238E27FC236}">
                <a16:creationId xmlns:a16="http://schemas.microsoft.com/office/drawing/2014/main" id="{C1BA60D6-76AC-482A-A00A-454B8631DDB7}"/>
              </a:ext>
            </a:extLst>
          </p:cNvPr>
          <p:cNvSpPr/>
          <p:nvPr/>
        </p:nvSpPr>
        <p:spPr>
          <a:xfrm>
            <a:off x="14124393" y="830594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 err="1"/>
              <a:t>Мароккансая</a:t>
            </a:r>
            <a:r>
              <a:rPr lang="ru-RU" sz="700" dirty="0"/>
              <a:t> молодёжная коммунистическая партия</a:t>
            </a:r>
          </a:p>
        </p:txBody>
      </p:sp>
      <p:sp>
        <p:nvSpPr>
          <p:cNvPr id="453" name="Прямоугольник 452">
            <a:extLst>
              <a:ext uri="{FF2B5EF4-FFF2-40B4-BE49-F238E27FC236}">
                <a16:creationId xmlns:a16="http://schemas.microsoft.com/office/drawing/2014/main" id="{E8ED2674-4FC5-4881-BA08-77010A80A3AA}"/>
              </a:ext>
            </a:extLst>
          </p:cNvPr>
          <p:cNvSpPr/>
          <p:nvPr/>
        </p:nvSpPr>
        <p:spPr>
          <a:xfrm>
            <a:off x="16491703" y="11593266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600" dirty="0"/>
              <a:t>Продвигать арабо-мусульманскую марокканскую национальную идентичность</a:t>
            </a:r>
            <a:br>
              <a:rPr lang="ru-RU" sz="100" dirty="0"/>
            </a:br>
            <a:r>
              <a:rPr lang="ru-RU" sz="100" dirty="0"/>
              <a:t>В ходе своего выступления Султан утверждал, что для победы над фашизмом необходимо «единство французского и марокканского народов, независимо от религии, которое является частным и личным».136 Действительно, Султан однажды заявил, что в Коране нет ничего, что препятствовало бы мусульманам участвовать в коммунистической или профсоюзной деятельности, потому что, в конце концов, «в 600 году Сиди Мухаммад не думал ни о Всеобщей конфедерации труда, ни о Коммунистической партии»)</a:t>
            </a:r>
            <a:endParaRPr lang="ru-RU" sz="600" dirty="0"/>
          </a:p>
        </p:txBody>
      </p:sp>
      <p:sp>
        <p:nvSpPr>
          <p:cNvPr id="454" name="Прямоугольник 453">
            <a:extLst>
              <a:ext uri="{FF2B5EF4-FFF2-40B4-BE49-F238E27FC236}">
                <a16:creationId xmlns:a16="http://schemas.microsoft.com/office/drawing/2014/main" id="{A16A72A1-4D21-4526-A383-B4ACAA398993}"/>
              </a:ext>
            </a:extLst>
          </p:cNvPr>
          <p:cNvSpPr/>
          <p:nvPr/>
        </p:nvSpPr>
        <p:spPr>
          <a:xfrm>
            <a:off x="16501863" y="1327037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Идеальное Марокко</a:t>
            </a:r>
            <a:br>
              <a:rPr lang="ru-RU" sz="700" dirty="0"/>
            </a:br>
            <a:r>
              <a:rPr lang="ru-RU" sz="300" dirty="0"/>
              <a:t>(Марокканские еврейские коммунисты боролись за идеализированное Марокко, которое так и не воплотилось в жизнь.)</a:t>
            </a:r>
            <a:endParaRPr lang="ru-RU" sz="700" dirty="0"/>
          </a:p>
        </p:txBody>
      </p:sp>
      <p:sp>
        <p:nvSpPr>
          <p:cNvPr id="456" name="Прямоугольник 455">
            <a:extLst>
              <a:ext uri="{FF2B5EF4-FFF2-40B4-BE49-F238E27FC236}">
                <a16:creationId xmlns:a16="http://schemas.microsoft.com/office/drawing/2014/main" id="{A9E2206B-36B0-4366-A016-75A2CE7F86BD}"/>
              </a:ext>
            </a:extLst>
          </p:cNvPr>
          <p:cNvSpPr/>
          <p:nvPr/>
        </p:nvSpPr>
        <p:spPr>
          <a:xfrm>
            <a:off x="18883030" y="663995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Легализовать Антифашистский комитет</a:t>
            </a:r>
            <a:br>
              <a:rPr lang="ru-RU" sz="700" dirty="0"/>
            </a:br>
            <a:r>
              <a:rPr lang="ru-RU" sz="100" dirty="0"/>
              <a:t>(В июне 1935 года в Марокко был создан официальный «Антифашистский комитет», члены которого уже предпринимали значительные действия. Будучи предшественником Марокканского народного фронта (официально основанного в марте 1936 года), Антифашистский комитет включал в себя многочисленные организации «</a:t>
            </a:r>
            <a:r>
              <a:rPr lang="ru-RU" sz="100" dirty="0" err="1"/>
              <a:t>Амикале</a:t>
            </a:r>
            <a:r>
              <a:rPr lang="ru-RU" sz="100" dirty="0"/>
              <a:t>» и профессиональные федерации, созданные европейцами до того, как было разрешено создание профсоюзов, Марокканскую федерацию Лиги за права человека, Федерацию борцов за мир, SFIO и Молодежную социалистическую организацию, Федерацию республиканских борцов, секции группы «Свободная мысль», группу «Друзья СССР» и другие левые организации, которые чиновники протектората назвали «экстремистскими». К комитету также присоединились видные деятели марокканских мусульманских националистических организаций, в том числе Хасан </a:t>
            </a:r>
            <a:r>
              <a:rPr lang="ru-RU" sz="100" dirty="0" err="1"/>
              <a:t>Уаззани</a:t>
            </a:r>
            <a:r>
              <a:rPr lang="ru-RU" sz="100" dirty="0"/>
              <a:t>, Мухаммад </a:t>
            </a:r>
            <a:r>
              <a:rPr lang="ru-RU" sz="100" dirty="0" err="1"/>
              <a:t>Холти</a:t>
            </a:r>
            <a:r>
              <a:rPr lang="ru-RU" sz="100" dirty="0"/>
              <a:t>, Омар бен </a:t>
            </a:r>
            <a:r>
              <a:rPr lang="ru-RU" sz="100" dirty="0" err="1"/>
              <a:t>Абдельджелил</a:t>
            </a:r>
            <a:r>
              <a:rPr lang="ru-RU" sz="100" dirty="0"/>
              <a:t>, Ахмед </a:t>
            </a:r>
            <a:r>
              <a:rPr lang="ru-RU" sz="100" dirty="0" err="1"/>
              <a:t>Балафредж</a:t>
            </a:r>
            <a:r>
              <a:rPr lang="ru-RU" sz="100" dirty="0"/>
              <a:t>, Мухаммад аль-</a:t>
            </a:r>
            <a:r>
              <a:rPr lang="ru-RU" sz="100" dirty="0" err="1"/>
              <a:t>Фасси</a:t>
            </a:r>
            <a:r>
              <a:rPr lang="ru-RU" sz="100" dirty="0"/>
              <a:t> и Ахмед </a:t>
            </a:r>
            <a:r>
              <a:rPr lang="ru-RU" sz="100" dirty="0" err="1"/>
              <a:t>Уаззани</a:t>
            </a:r>
            <a:r>
              <a:rPr lang="ru-RU" sz="100" dirty="0"/>
              <a:t>. Представитель ведомства подверг критике европейские правительства за их «слабость» и инертность перед лицом коммунистической и революционной активности в Северной Африке, жалуясь на то, что «все используется» в революционных целях, от антисемитизма до «очевидного неравенства между расами». Он предупредил, что такие тенденции, если их не остановить, приведут к «психическому заражению» и «ненависти» среди колониальных подданных Французской Северной Африки к Франции, их «защитнику». Несмотря на все попытки предотвратить левую </a:t>
            </a:r>
            <a:r>
              <a:rPr lang="ru-RU" sz="100" dirty="0" err="1"/>
              <a:t>марокканско</a:t>
            </a:r>
            <a:r>
              <a:rPr lang="ru-RU" sz="100" dirty="0"/>
              <a:t>-европейскую солидарность и мусульманско-еврейскую организацию, власти Французского протектората с растущей тревогой отмечали быстрый рост числа марокканских евреев и мусульман среди членов таких организаций, как «Друзья СССР» и других «радикальных» организаций европейского происхождения.111)</a:t>
            </a:r>
            <a:endParaRPr lang="ru-RU" sz="700" dirty="0"/>
          </a:p>
        </p:txBody>
      </p:sp>
      <p:sp>
        <p:nvSpPr>
          <p:cNvPr id="457" name="Прямоугольник 456">
            <a:extLst>
              <a:ext uri="{FF2B5EF4-FFF2-40B4-BE49-F238E27FC236}">
                <a16:creationId xmlns:a16="http://schemas.microsoft.com/office/drawing/2014/main" id="{400071D4-0AE7-4BD3-BDEC-D359A88C0B61}"/>
              </a:ext>
            </a:extLst>
          </p:cNvPr>
          <p:cNvSpPr/>
          <p:nvPr/>
        </p:nvSpPr>
        <p:spPr>
          <a:xfrm>
            <a:off x="16493728" y="1075471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Поддержка </a:t>
            </a:r>
            <a:r>
              <a:rPr lang="ru-RU" sz="700" dirty="0" err="1"/>
              <a:t>нац</a:t>
            </a:r>
            <a:r>
              <a:rPr lang="ru-RU" sz="700" dirty="0"/>
              <a:t> меньшинств</a:t>
            </a:r>
          </a:p>
        </p:txBody>
      </p:sp>
      <p:sp>
        <p:nvSpPr>
          <p:cNvPr id="459" name="Прямоугольник 458">
            <a:extLst>
              <a:ext uri="{FF2B5EF4-FFF2-40B4-BE49-F238E27FC236}">
                <a16:creationId xmlns:a16="http://schemas.microsoft.com/office/drawing/2014/main" id="{09264916-28B5-459C-9A21-1DAA5E36DA13}"/>
              </a:ext>
            </a:extLst>
          </p:cNvPr>
          <p:cNvSpPr/>
          <p:nvPr/>
        </p:nvSpPr>
        <p:spPr>
          <a:xfrm>
            <a:off x="15899439" y="12431818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Предложить Израилю объединиться</a:t>
            </a:r>
          </a:p>
        </p:txBody>
      </p:sp>
      <p:sp>
        <p:nvSpPr>
          <p:cNvPr id="460" name="Прямоугольник 459">
            <a:extLst>
              <a:ext uri="{FF2B5EF4-FFF2-40B4-BE49-F238E27FC236}">
                <a16:creationId xmlns:a16="http://schemas.microsoft.com/office/drawing/2014/main" id="{0EA75BDB-B6D7-432C-916F-4F73C1D348D0}"/>
              </a:ext>
            </a:extLst>
          </p:cNvPr>
          <p:cNvSpPr/>
          <p:nvPr/>
        </p:nvSpPr>
        <p:spPr>
          <a:xfrm>
            <a:off x="17087318" y="12434913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Освободить Святую землю</a:t>
            </a:r>
          </a:p>
        </p:txBody>
      </p:sp>
      <p:sp>
        <p:nvSpPr>
          <p:cNvPr id="461" name="Прямоугольник 460">
            <a:extLst>
              <a:ext uri="{FF2B5EF4-FFF2-40B4-BE49-F238E27FC236}">
                <a16:creationId xmlns:a16="http://schemas.microsoft.com/office/drawing/2014/main" id="{82D94EEE-15DE-4B9E-A9F6-F24B5C818A61}"/>
              </a:ext>
            </a:extLst>
          </p:cNvPr>
          <p:cNvSpPr/>
          <p:nvPr/>
        </p:nvSpPr>
        <p:spPr>
          <a:xfrm>
            <a:off x="17693717" y="1327037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Связи с мировыми сионистскими движениями</a:t>
            </a:r>
            <a:br>
              <a:rPr lang="ru-RU" sz="700" dirty="0"/>
            </a:br>
            <a:r>
              <a:rPr lang="ru-RU" sz="200" dirty="0"/>
              <a:t>(быстрый рост числа марокканских евреев и мусульман среди членов таких организаций, как «Друзья СССР» и других «радикальных» организаций европейского происхождения.)</a:t>
            </a:r>
            <a:endParaRPr lang="ru-RU" sz="700" dirty="0"/>
          </a:p>
        </p:txBody>
      </p:sp>
      <p:sp>
        <p:nvSpPr>
          <p:cNvPr id="462" name="Прямоугольник 461">
            <a:extLst>
              <a:ext uri="{FF2B5EF4-FFF2-40B4-BE49-F238E27FC236}">
                <a16:creationId xmlns:a16="http://schemas.microsoft.com/office/drawing/2014/main" id="{074A91A3-FDD6-45FB-B9F8-A16E806C5E50}"/>
              </a:ext>
            </a:extLst>
          </p:cNvPr>
          <p:cNvSpPr/>
          <p:nvPr/>
        </p:nvSpPr>
        <p:spPr>
          <a:xfrm>
            <a:off x="15309318" y="1075471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Привлечь испанских беженцев</a:t>
            </a:r>
          </a:p>
        </p:txBody>
      </p:sp>
      <p:sp>
        <p:nvSpPr>
          <p:cNvPr id="467" name="Прямоугольник 466">
            <a:extLst>
              <a:ext uri="{FF2B5EF4-FFF2-40B4-BE49-F238E27FC236}">
                <a16:creationId xmlns:a16="http://schemas.microsoft.com/office/drawing/2014/main" id="{CB0A795A-6556-4388-9326-2B1D5C99B424}"/>
              </a:ext>
            </a:extLst>
          </p:cNvPr>
          <p:cNvSpPr/>
          <p:nvPr/>
        </p:nvSpPr>
        <p:spPr>
          <a:xfrm>
            <a:off x="16496783" y="9916162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Активная поддержка интернационализма</a:t>
            </a:r>
          </a:p>
        </p:txBody>
      </p:sp>
      <p:sp>
        <p:nvSpPr>
          <p:cNvPr id="469" name="Прямоугольник 468">
            <a:extLst>
              <a:ext uri="{FF2B5EF4-FFF2-40B4-BE49-F238E27FC236}">
                <a16:creationId xmlns:a16="http://schemas.microsoft.com/office/drawing/2014/main" id="{A0FE13A0-495E-411D-906E-F3A66E09A857}"/>
              </a:ext>
            </a:extLst>
          </p:cNvPr>
          <p:cNvSpPr/>
          <p:nvPr/>
        </p:nvSpPr>
        <p:spPr>
          <a:xfrm>
            <a:off x="17690014" y="1075471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Поддерживать всеобщие права человека</a:t>
            </a:r>
          </a:p>
        </p:txBody>
      </p:sp>
      <p:sp>
        <p:nvSpPr>
          <p:cNvPr id="470" name="Прямоугольник 469">
            <a:extLst>
              <a:ext uri="{FF2B5EF4-FFF2-40B4-BE49-F238E27FC236}">
                <a16:creationId xmlns:a16="http://schemas.microsoft.com/office/drawing/2014/main" id="{EE9C3761-85EE-4A6D-A59B-A63F7E66CDE1}"/>
              </a:ext>
            </a:extLst>
          </p:cNvPr>
          <p:cNvSpPr/>
          <p:nvPr/>
        </p:nvSpPr>
        <p:spPr>
          <a:xfrm>
            <a:off x="18270119" y="746652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Прекратить вопиющую эксплуатацию женщин</a:t>
            </a:r>
          </a:p>
        </p:txBody>
      </p:sp>
      <p:sp>
        <p:nvSpPr>
          <p:cNvPr id="472" name="Прямоугольник 471">
            <a:extLst>
              <a:ext uri="{FF2B5EF4-FFF2-40B4-BE49-F238E27FC236}">
                <a16:creationId xmlns:a16="http://schemas.microsoft.com/office/drawing/2014/main" id="{6E9F1647-F412-4B77-A2E3-7F643FCC3DBD}"/>
              </a:ext>
            </a:extLst>
          </p:cNvPr>
          <p:cNvSpPr/>
          <p:nvPr/>
        </p:nvSpPr>
        <p:spPr>
          <a:xfrm>
            <a:off x="14126730" y="662849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Коммунистические ассоциации </a:t>
            </a:r>
            <a:r>
              <a:rPr lang="ru-RU" sz="300" dirty="0"/>
              <a:t>(создав в 1945 году «Коммунистические ассоциации» (</a:t>
            </a:r>
            <a:r>
              <a:rPr lang="ru-RU" sz="300" dirty="0" err="1"/>
              <a:t>Amicales</a:t>
            </a:r>
            <a:r>
              <a:rPr lang="ru-RU" sz="300" dirty="0"/>
              <a:t> </a:t>
            </a:r>
            <a:r>
              <a:rPr lang="ru-RU" sz="300" dirty="0" err="1"/>
              <a:t>Communistes</a:t>
            </a:r>
            <a:r>
              <a:rPr lang="ru-RU" sz="300" dirty="0"/>
              <a:t>) с целью вербовки в сельской местности.)</a:t>
            </a:r>
            <a:endParaRPr lang="ru-RU" sz="700" dirty="0"/>
          </a:p>
        </p:txBody>
      </p:sp>
      <p:sp>
        <p:nvSpPr>
          <p:cNvPr id="474" name="Прямоугольник 473">
            <a:extLst>
              <a:ext uri="{FF2B5EF4-FFF2-40B4-BE49-F238E27FC236}">
                <a16:creationId xmlns:a16="http://schemas.microsoft.com/office/drawing/2014/main" id="{7CCBFDA2-886A-4C3B-A834-114B4FFE7251}"/>
              </a:ext>
            </a:extLst>
          </p:cNvPr>
          <p:cNvSpPr/>
          <p:nvPr/>
        </p:nvSpPr>
        <p:spPr>
          <a:xfrm>
            <a:off x="18880490" y="8320016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Союзом женщин Марокко</a:t>
            </a:r>
            <a:br>
              <a:rPr lang="ru-RU" sz="700" dirty="0"/>
            </a:br>
            <a:r>
              <a:rPr lang="ru-RU" sz="200" dirty="0"/>
              <a:t>(во главе с мадам Фортуне Султан (женой Леона Султана), </a:t>
            </a:r>
            <a:r>
              <a:rPr lang="ru-RU" sz="200" dirty="0" err="1"/>
              <a:t>Люсетт</a:t>
            </a:r>
            <a:r>
              <a:rPr lang="ru-RU" sz="200" dirty="0"/>
              <a:t> </a:t>
            </a:r>
            <a:r>
              <a:rPr lang="ru-RU" sz="200" dirty="0" err="1"/>
              <a:t>Мазелла</a:t>
            </a:r>
            <a:r>
              <a:rPr lang="ru-RU" sz="200" dirty="0"/>
              <a:t> (женой Мишеля </a:t>
            </a:r>
            <a:r>
              <a:rPr lang="ru-RU" sz="200" dirty="0" err="1"/>
              <a:t>Мазеллы</a:t>
            </a:r>
            <a:r>
              <a:rPr lang="ru-RU" sz="200" dirty="0"/>
              <a:t>) и </a:t>
            </a:r>
            <a:r>
              <a:rPr lang="ru-RU" sz="200" dirty="0" err="1"/>
              <a:t>Фреей</a:t>
            </a:r>
            <a:r>
              <a:rPr lang="ru-RU" sz="200" dirty="0"/>
              <a:t> </a:t>
            </a:r>
            <a:r>
              <a:rPr lang="ru-RU" sz="200" dirty="0" err="1"/>
              <a:t>Айаш</a:t>
            </a:r>
            <a:r>
              <a:rPr lang="ru-RU" sz="200" dirty="0"/>
              <a:t> (женой </a:t>
            </a:r>
            <a:r>
              <a:rPr lang="ru-RU" sz="200" dirty="0" err="1"/>
              <a:t>Жермена</a:t>
            </a:r>
            <a:r>
              <a:rPr lang="ru-RU" sz="200" dirty="0"/>
              <a:t> </a:t>
            </a:r>
            <a:r>
              <a:rPr lang="ru-RU" sz="200" dirty="0" err="1"/>
              <a:t>Айаша</a:t>
            </a:r>
            <a:r>
              <a:rPr lang="ru-RU" sz="200" dirty="0"/>
              <a:t>, марокканской еврейкой из Сале) — работали с «</a:t>
            </a:r>
            <a:r>
              <a:rPr lang="ru-RU" sz="200" dirty="0" err="1"/>
              <a:t>Амикалес</a:t>
            </a:r>
            <a:r>
              <a:rPr lang="ru-RU" sz="200" dirty="0"/>
              <a:t>» над расширением вербовки как в городских, так и в сельских общинах.)</a:t>
            </a:r>
            <a:endParaRPr lang="ru-RU" sz="700" dirty="0"/>
          </a:p>
        </p:txBody>
      </p:sp>
      <p:sp>
        <p:nvSpPr>
          <p:cNvPr id="475" name="Прямоугольник 474">
            <a:extLst>
              <a:ext uri="{FF2B5EF4-FFF2-40B4-BE49-F238E27FC236}">
                <a16:creationId xmlns:a16="http://schemas.microsoft.com/office/drawing/2014/main" id="{F3614565-66FF-43E4-A9C0-09A7111CF91B}"/>
              </a:ext>
            </a:extLst>
          </p:cNvPr>
          <p:cNvSpPr/>
          <p:nvPr/>
        </p:nvSpPr>
        <p:spPr>
          <a:xfrm>
            <a:off x="16494244" y="6640229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Программы повышения грамотности</a:t>
            </a:r>
            <a:br>
              <a:rPr lang="ru-RU" sz="700" dirty="0"/>
            </a:br>
            <a:r>
              <a:rPr lang="ru-RU" sz="100" dirty="0"/>
              <a:t>(Помимо не совсем эффективных программ повышения грамотности, проводимых МКМ, участие в деятельности МКМ само по себе представляло собой своего рода «школу», как писал Саймон Леви.&lt;</a:t>
            </a:r>
            <a:r>
              <a:rPr lang="ru-RU" sz="100" dirty="0" err="1"/>
              <a:t>sup</a:t>
            </a:r>
            <a:r>
              <a:rPr lang="ru-RU" sz="100" dirty="0"/>
              <a:t>&gt;167&lt;/</a:t>
            </a:r>
            <a:r>
              <a:rPr lang="ru-RU" sz="100" dirty="0" err="1"/>
              <a:t>sup</a:t>
            </a:r>
            <a:r>
              <a:rPr lang="ru-RU" sz="100" dirty="0"/>
              <a:t>&gt; Леви писал: «Для многих евреев [МКМ] была плавильным котлом солидарности в борьбе. Демократический призыв после войны привел в движение скрытые силы. Когда независимость стала конкретной целью, МКМ предложила четкие ответы для меньшинств и вовлекла их в трудовую и политическую деятельность».)</a:t>
            </a:r>
            <a:endParaRPr lang="ru-RU" sz="700" dirty="0"/>
          </a:p>
        </p:txBody>
      </p:sp>
      <p:sp>
        <p:nvSpPr>
          <p:cNvPr id="478" name="Прямоугольник 477">
            <a:extLst>
              <a:ext uri="{FF2B5EF4-FFF2-40B4-BE49-F238E27FC236}">
                <a16:creationId xmlns:a16="http://schemas.microsoft.com/office/drawing/2014/main" id="{87B8F8F9-1B80-41A2-B2AC-7511FE35B053}"/>
              </a:ext>
            </a:extLst>
          </p:cNvPr>
          <p:cNvSpPr/>
          <p:nvPr/>
        </p:nvSpPr>
        <p:spPr>
          <a:xfrm>
            <a:off x="18880490" y="5844109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Принять французских беженцев</a:t>
            </a:r>
          </a:p>
        </p:txBody>
      </p:sp>
      <p:cxnSp>
        <p:nvCxnSpPr>
          <p:cNvPr id="479" name="Соединительная линия уступом 620">
            <a:extLst>
              <a:ext uri="{FF2B5EF4-FFF2-40B4-BE49-F238E27FC236}">
                <a16:creationId xmlns:a16="http://schemas.microsoft.com/office/drawing/2014/main" id="{98560C68-CEA5-4F2F-B43B-A9BC34BD1102}"/>
              </a:ext>
            </a:extLst>
          </p:cNvPr>
          <p:cNvCxnSpPr>
            <a:cxnSpLocks/>
            <a:stCxn id="231" idx="2"/>
            <a:endCxn id="215" idx="0"/>
          </p:cNvCxnSpPr>
          <p:nvPr/>
        </p:nvCxnSpPr>
        <p:spPr>
          <a:xfrm rot="16200000" flipH="1">
            <a:off x="15052649" y="5117344"/>
            <a:ext cx="263529" cy="1193716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2" name="Соединительная линия уступом 620">
            <a:extLst>
              <a:ext uri="{FF2B5EF4-FFF2-40B4-BE49-F238E27FC236}">
                <a16:creationId xmlns:a16="http://schemas.microsoft.com/office/drawing/2014/main" id="{7294AAD0-0FD1-43C8-B469-906C5EA921AB}"/>
              </a:ext>
            </a:extLst>
          </p:cNvPr>
          <p:cNvCxnSpPr>
            <a:cxnSpLocks/>
            <a:stCxn id="229" idx="2"/>
            <a:endCxn id="447" idx="0"/>
          </p:cNvCxnSpPr>
          <p:nvPr/>
        </p:nvCxnSpPr>
        <p:spPr>
          <a:xfrm rot="5400000">
            <a:off x="18621976" y="5114875"/>
            <a:ext cx="259061" cy="119941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3" name="Соединительная линия уступом 620">
            <a:extLst>
              <a:ext uri="{FF2B5EF4-FFF2-40B4-BE49-F238E27FC236}">
                <a16:creationId xmlns:a16="http://schemas.microsoft.com/office/drawing/2014/main" id="{69DFD40F-7A77-4675-8435-0E943B9818CF}"/>
              </a:ext>
            </a:extLst>
          </p:cNvPr>
          <p:cNvCxnSpPr>
            <a:cxnSpLocks/>
            <a:stCxn id="447" idx="2"/>
            <a:endCxn id="475" idx="0"/>
          </p:cNvCxnSpPr>
          <p:nvPr/>
        </p:nvCxnSpPr>
        <p:spPr>
          <a:xfrm rot="5400000">
            <a:off x="17426545" y="5914974"/>
            <a:ext cx="256118" cy="119439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4" name="Соединительная линия уступом 620">
            <a:extLst>
              <a:ext uri="{FF2B5EF4-FFF2-40B4-BE49-F238E27FC236}">
                <a16:creationId xmlns:a16="http://schemas.microsoft.com/office/drawing/2014/main" id="{E5D476AA-1A04-497F-A84C-8B24048ABCFD}"/>
              </a:ext>
            </a:extLst>
          </p:cNvPr>
          <p:cNvCxnSpPr>
            <a:cxnSpLocks/>
            <a:stCxn id="215" idx="2"/>
            <a:endCxn id="219" idx="0"/>
          </p:cNvCxnSpPr>
          <p:nvPr/>
        </p:nvCxnSpPr>
        <p:spPr>
          <a:xfrm rot="5400000">
            <a:off x="15658204" y="6509034"/>
            <a:ext cx="246135" cy="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5" name="Соединительная линия уступом 620">
            <a:extLst>
              <a:ext uri="{FF2B5EF4-FFF2-40B4-BE49-F238E27FC236}">
                <a16:creationId xmlns:a16="http://schemas.microsoft.com/office/drawing/2014/main" id="{A11EE601-D377-4053-9856-66E2957DD134}"/>
              </a:ext>
            </a:extLst>
          </p:cNvPr>
          <p:cNvCxnSpPr>
            <a:cxnSpLocks/>
            <a:stCxn id="215" idx="2"/>
            <a:endCxn id="472" idx="0"/>
          </p:cNvCxnSpPr>
          <p:nvPr/>
        </p:nvCxnSpPr>
        <p:spPr>
          <a:xfrm rot="5400000">
            <a:off x="15064317" y="5911543"/>
            <a:ext cx="242530" cy="119137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6" name="Соединительная линия уступом 620">
            <a:extLst>
              <a:ext uri="{FF2B5EF4-FFF2-40B4-BE49-F238E27FC236}">
                <a16:creationId xmlns:a16="http://schemas.microsoft.com/office/drawing/2014/main" id="{103F8ECF-F1D5-4944-9E9B-C99E3A1A44AC}"/>
              </a:ext>
            </a:extLst>
          </p:cNvPr>
          <p:cNvCxnSpPr>
            <a:cxnSpLocks/>
            <a:stCxn id="219" idx="2"/>
            <a:endCxn id="250" idx="0"/>
          </p:cNvCxnSpPr>
          <p:nvPr/>
        </p:nvCxnSpPr>
        <p:spPr>
          <a:xfrm rot="5400000">
            <a:off x="15326843" y="7019829"/>
            <a:ext cx="302155" cy="60670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7" name="Соединительная линия уступом 620">
            <a:extLst>
              <a:ext uri="{FF2B5EF4-FFF2-40B4-BE49-F238E27FC236}">
                <a16:creationId xmlns:a16="http://schemas.microsoft.com/office/drawing/2014/main" id="{D4B80950-8155-4084-8E34-082B98922699}"/>
              </a:ext>
            </a:extLst>
          </p:cNvPr>
          <p:cNvCxnSpPr>
            <a:cxnSpLocks/>
            <a:stCxn id="219" idx="2"/>
            <a:endCxn id="270" idx="0"/>
          </p:cNvCxnSpPr>
          <p:nvPr/>
        </p:nvCxnSpPr>
        <p:spPr>
          <a:xfrm rot="16200000" flipH="1">
            <a:off x="15208129" y="7745242"/>
            <a:ext cx="1147915" cy="163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8" name="Соединительная линия уступом 620">
            <a:extLst>
              <a:ext uri="{FF2B5EF4-FFF2-40B4-BE49-F238E27FC236}">
                <a16:creationId xmlns:a16="http://schemas.microsoft.com/office/drawing/2014/main" id="{A68C80CE-2CAB-4ADC-9C54-E26116F6EBC4}"/>
              </a:ext>
            </a:extLst>
          </p:cNvPr>
          <p:cNvCxnSpPr>
            <a:cxnSpLocks/>
            <a:stCxn id="475" idx="2"/>
            <a:endCxn id="257" idx="0"/>
          </p:cNvCxnSpPr>
          <p:nvPr/>
        </p:nvCxnSpPr>
        <p:spPr>
          <a:xfrm rot="5400000">
            <a:off x="16512991" y="7029841"/>
            <a:ext cx="294028" cy="59480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0" name="Соединительная линия уступом 620">
            <a:extLst>
              <a:ext uri="{FF2B5EF4-FFF2-40B4-BE49-F238E27FC236}">
                <a16:creationId xmlns:a16="http://schemas.microsoft.com/office/drawing/2014/main" id="{8193FEB3-3195-4F87-B110-408DF9F3DCEC}"/>
              </a:ext>
            </a:extLst>
          </p:cNvPr>
          <p:cNvCxnSpPr>
            <a:cxnSpLocks/>
            <a:stCxn id="475" idx="2"/>
            <a:endCxn id="253" idx="0"/>
          </p:cNvCxnSpPr>
          <p:nvPr/>
        </p:nvCxnSpPr>
        <p:spPr>
          <a:xfrm rot="16200000" flipH="1">
            <a:off x="16393194" y="7744441"/>
            <a:ext cx="1136045" cy="761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1" name="Соединительная линия уступом 620">
            <a:extLst>
              <a:ext uri="{FF2B5EF4-FFF2-40B4-BE49-F238E27FC236}">
                <a16:creationId xmlns:a16="http://schemas.microsoft.com/office/drawing/2014/main" id="{C3FA3928-BB9E-44E3-A6A9-027303C8B10F}"/>
              </a:ext>
            </a:extLst>
          </p:cNvPr>
          <p:cNvCxnSpPr>
            <a:cxnSpLocks/>
            <a:stCxn id="253" idx="2"/>
            <a:endCxn id="449" idx="0"/>
          </p:cNvCxnSpPr>
          <p:nvPr/>
        </p:nvCxnSpPr>
        <p:spPr>
          <a:xfrm rot="16200000" flipH="1">
            <a:off x="16856898" y="8964401"/>
            <a:ext cx="221336" cy="508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2" name="Соединительная линия уступом 620">
            <a:extLst>
              <a:ext uri="{FF2B5EF4-FFF2-40B4-BE49-F238E27FC236}">
                <a16:creationId xmlns:a16="http://schemas.microsoft.com/office/drawing/2014/main" id="{1348DB09-1CBA-4AF4-9106-18AA30A8BD7F}"/>
              </a:ext>
            </a:extLst>
          </p:cNvPr>
          <p:cNvCxnSpPr>
            <a:cxnSpLocks/>
            <a:stCxn id="202" idx="2"/>
            <a:endCxn id="253" idx="0"/>
          </p:cNvCxnSpPr>
          <p:nvPr/>
        </p:nvCxnSpPr>
        <p:spPr>
          <a:xfrm rot="5400000">
            <a:off x="16990391" y="7154864"/>
            <a:ext cx="1136045" cy="1186774"/>
          </a:xfrm>
          <a:prstGeom prst="bentConnector3">
            <a:avLst>
              <a:gd name="adj1" fmla="val 12885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3" name="Соединительная линия уступом 620">
            <a:extLst>
              <a:ext uri="{FF2B5EF4-FFF2-40B4-BE49-F238E27FC236}">
                <a16:creationId xmlns:a16="http://schemas.microsoft.com/office/drawing/2014/main" id="{001F07AD-046C-491B-BF2B-7BC150C1E326}"/>
              </a:ext>
            </a:extLst>
          </p:cNvPr>
          <p:cNvCxnSpPr>
            <a:cxnSpLocks/>
            <a:stCxn id="202" idx="2"/>
            <a:endCxn id="220" idx="0"/>
          </p:cNvCxnSpPr>
          <p:nvPr/>
        </p:nvCxnSpPr>
        <p:spPr>
          <a:xfrm rot="5400000">
            <a:off x="17705998" y="7024713"/>
            <a:ext cx="290286" cy="60131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4" name="Соединительная линия уступом 620">
            <a:extLst>
              <a:ext uri="{FF2B5EF4-FFF2-40B4-BE49-F238E27FC236}">
                <a16:creationId xmlns:a16="http://schemas.microsoft.com/office/drawing/2014/main" id="{9D081202-8E8F-42EB-97F7-F4801E18AE3E}"/>
              </a:ext>
            </a:extLst>
          </p:cNvPr>
          <p:cNvCxnSpPr>
            <a:cxnSpLocks/>
            <a:stCxn id="202" idx="2"/>
            <a:endCxn id="470" idx="0"/>
          </p:cNvCxnSpPr>
          <p:nvPr/>
        </p:nvCxnSpPr>
        <p:spPr>
          <a:xfrm rot="16200000" flipH="1">
            <a:off x="18299393" y="7032636"/>
            <a:ext cx="286296" cy="58148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7" name="Соединительная линия уступом 620">
            <a:extLst>
              <a:ext uri="{FF2B5EF4-FFF2-40B4-BE49-F238E27FC236}">
                <a16:creationId xmlns:a16="http://schemas.microsoft.com/office/drawing/2014/main" id="{96D22CD3-8E70-48FE-BF72-B36B25D9BA07}"/>
              </a:ext>
            </a:extLst>
          </p:cNvPr>
          <p:cNvCxnSpPr>
            <a:cxnSpLocks/>
            <a:stCxn id="202" idx="2"/>
            <a:endCxn id="216" idx="0"/>
          </p:cNvCxnSpPr>
          <p:nvPr/>
        </p:nvCxnSpPr>
        <p:spPr>
          <a:xfrm rot="16200000" flipH="1">
            <a:off x="17584447" y="7747582"/>
            <a:ext cx="1139787" cy="508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98" name="Соединительная линия уступом 620">
            <a:extLst>
              <a:ext uri="{FF2B5EF4-FFF2-40B4-BE49-F238E27FC236}">
                <a16:creationId xmlns:a16="http://schemas.microsoft.com/office/drawing/2014/main" id="{520634DA-2FC9-48C7-AC46-1859AD0C2EF6}"/>
              </a:ext>
            </a:extLst>
          </p:cNvPr>
          <p:cNvCxnSpPr>
            <a:cxnSpLocks/>
            <a:stCxn id="216" idx="2"/>
            <a:endCxn id="449" idx="0"/>
          </p:cNvCxnSpPr>
          <p:nvPr/>
        </p:nvCxnSpPr>
        <p:spPr>
          <a:xfrm rot="5400000">
            <a:off x="17454697" y="8375427"/>
            <a:ext cx="217594" cy="118677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0" name="Соединительная линия уступом 620">
            <a:extLst>
              <a:ext uri="{FF2B5EF4-FFF2-40B4-BE49-F238E27FC236}">
                <a16:creationId xmlns:a16="http://schemas.microsoft.com/office/drawing/2014/main" id="{29361F29-95E6-4334-B5E4-E011ED5CB776}"/>
              </a:ext>
            </a:extLst>
          </p:cNvPr>
          <p:cNvCxnSpPr>
            <a:cxnSpLocks/>
            <a:stCxn id="270" idx="2"/>
            <a:endCxn id="449" idx="0"/>
          </p:cNvCxnSpPr>
          <p:nvPr/>
        </p:nvCxnSpPr>
        <p:spPr>
          <a:xfrm rot="16200000" flipH="1">
            <a:off x="16267709" y="8375211"/>
            <a:ext cx="217593" cy="118720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6" name="Соединительная линия уступом 620">
            <a:extLst>
              <a:ext uri="{FF2B5EF4-FFF2-40B4-BE49-F238E27FC236}">
                <a16:creationId xmlns:a16="http://schemas.microsoft.com/office/drawing/2014/main" id="{E9C3D880-6F0F-46CA-A860-2FA56B8391C2}"/>
              </a:ext>
            </a:extLst>
          </p:cNvPr>
          <p:cNvCxnSpPr>
            <a:cxnSpLocks/>
            <a:stCxn id="470" idx="2"/>
            <a:endCxn id="474" idx="0"/>
          </p:cNvCxnSpPr>
          <p:nvPr/>
        </p:nvCxnSpPr>
        <p:spPr>
          <a:xfrm rot="16200000" flipH="1">
            <a:off x="18881722" y="7858084"/>
            <a:ext cx="313491" cy="61037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2" name="Соединительная линия уступом 620">
            <a:extLst>
              <a:ext uri="{FF2B5EF4-FFF2-40B4-BE49-F238E27FC236}">
                <a16:creationId xmlns:a16="http://schemas.microsoft.com/office/drawing/2014/main" id="{13BF0CA5-FC10-4E83-8E36-B72C083DC2DE}"/>
              </a:ext>
            </a:extLst>
          </p:cNvPr>
          <p:cNvCxnSpPr>
            <a:cxnSpLocks/>
            <a:stCxn id="472" idx="2"/>
            <a:endCxn id="452" idx="0"/>
          </p:cNvCxnSpPr>
          <p:nvPr/>
        </p:nvCxnSpPr>
        <p:spPr>
          <a:xfrm rot="5400000">
            <a:off x="14020000" y="7736054"/>
            <a:ext cx="1137450" cy="233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6" name="Соединительная линия уступом 620">
            <a:extLst>
              <a:ext uri="{FF2B5EF4-FFF2-40B4-BE49-F238E27FC236}">
                <a16:creationId xmlns:a16="http://schemas.microsoft.com/office/drawing/2014/main" id="{9AFE2E3D-7649-454E-9945-F7739EF8EDE4}"/>
              </a:ext>
            </a:extLst>
          </p:cNvPr>
          <p:cNvCxnSpPr>
            <a:cxnSpLocks/>
            <a:stCxn id="456" idx="2"/>
            <a:endCxn id="474" idx="0"/>
          </p:cNvCxnSpPr>
          <p:nvPr/>
        </p:nvCxnSpPr>
        <p:spPr>
          <a:xfrm rot="5400000">
            <a:off x="18774893" y="7748715"/>
            <a:ext cx="1140061" cy="254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8" name="Соединительная линия уступом 620">
            <a:extLst>
              <a:ext uri="{FF2B5EF4-FFF2-40B4-BE49-F238E27FC236}">
                <a16:creationId xmlns:a16="http://schemas.microsoft.com/office/drawing/2014/main" id="{10C0898C-B086-4CCF-8E4C-CD9650831642}"/>
              </a:ext>
            </a:extLst>
          </p:cNvPr>
          <p:cNvCxnSpPr>
            <a:cxnSpLocks/>
            <a:stCxn id="447" idx="2"/>
            <a:endCxn id="456" idx="0"/>
          </p:cNvCxnSpPr>
          <p:nvPr/>
        </p:nvCxnSpPr>
        <p:spPr>
          <a:xfrm rot="16200000" flipH="1">
            <a:off x="18621074" y="5914836"/>
            <a:ext cx="255844" cy="1194393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44" name="Прямоугольник 543">
            <a:extLst>
              <a:ext uri="{FF2B5EF4-FFF2-40B4-BE49-F238E27FC236}">
                <a16:creationId xmlns:a16="http://schemas.microsoft.com/office/drawing/2014/main" id="{2B23A7A3-C6CC-4FA1-83CD-C97089BD720A}"/>
              </a:ext>
            </a:extLst>
          </p:cNvPr>
          <p:cNvSpPr/>
          <p:nvPr/>
        </p:nvSpPr>
        <p:spPr>
          <a:xfrm>
            <a:off x="15318107" y="13270370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Принять концепцию «</a:t>
            </a:r>
            <a:r>
              <a:rPr lang="ru-RU" sz="700" dirty="0" err="1"/>
              <a:t>Ахуват</a:t>
            </a:r>
            <a:r>
              <a:rPr lang="ru-RU" sz="700" dirty="0"/>
              <a:t> </a:t>
            </a:r>
            <a:r>
              <a:rPr lang="ru-RU" sz="700" dirty="0" err="1"/>
              <a:t>амим</a:t>
            </a:r>
            <a:r>
              <a:rPr lang="ru-RU" sz="700" dirty="0"/>
              <a:t>» </a:t>
            </a:r>
            <a:r>
              <a:rPr lang="ru-RU" sz="100" dirty="0"/>
              <a:t>(то ключевая идеологическая доктрина израильского коммунистического движения в XX веке. Она служила главным противовесом как сионистскому, так и арабскому национализму.🎯 Суть </a:t>
            </a:r>
            <a:r>
              <a:rPr lang="ru-RU" sz="100" dirty="0" err="1"/>
              <a:t>концепцииВ</a:t>
            </a:r>
            <a:r>
              <a:rPr lang="ru-RU" sz="100" dirty="0"/>
              <a:t> основе «</a:t>
            </a:r>
            <a:r>
              <a:rPr lang="ru-RU" sz="100" dirty="0" err="1"/>
              <a:t>Ахуват</a:t>
            </a:r>
            <a:r>
              <a:rPr lang="ru-RU" sz="100" dirty="0"/>
              <a:t> </a:t>
            </a:r>
            <a:r>
              <a:rPr lang="ru-RU" sz="100" dirty="0" err="1"/>
              <a:t>амим</a:t>
            </a:r>
            <a:r>
              <a:rPr lang="ru-RU" sz="100" dirty="0"/>
              <a:t>» лежит классический марксистский тезис: главное разделение между людьми — классовое, а не </a:t>
            </a:r>
            <a:r>
              <a:rPr lang="ru-RU" sz="100" dirty="0" err="1"/>
              <a:t>национальное.Движение</a:t>
            </a:r>
            <a:r>
              <a:rPr lang="ru-RU" sz="100" dirty="0"/>
              <a:t> утверждало, что у арабских и еврейских трудящихся один враг — крупный капитал и </a:t>
            </a:r>
            <a:r>
              <a:rPr lang="ru-RU" sz="100" dirty="0" err="1"/>
              <a:t>империализм.Концепция</a:t>
            </a:r>
            <a:r>
              <a:rPr lang="ru-RU" sz="100" dirty="0"/>
              <a:t> требовала полного отказа от шовинизма. Арабские коммунисты боролись с антисемитизмом и призывами «сбросить евреев в море», а еврейские коммунисты — с расизмом, дискриминацией арабов и идеей «трансфера» (выселения) коренного населения.)</a:t>
            </a:r>
            <a:endParaRPr lang="ru-RU" sz="700" dirty="0"/>
          </a:p>
        </p:txBody>
      </p:sp>
      <p:cxnSp>
        <p:nvCxnSpPr>
          <p:cNvPr id="548" name="Соединительная линия уступом 620">
            <a:extLst>
              <a:ext uri="{FF2B5EF4-FFF2-40B4-BE49-F238E27FC236}">
                <a16:creationId xmlns:a16="http://schemas.microsoft.com/office/drawing/2014/main" id="{245903BA-9B58-47BE-861F-CE2C572E03E8}"/>
              </a:ext>
            </a:extLst>
          </p:cNvPr>
          <p:cNvCxnSpPr>
            <a:cxnSpLocks/>
            <a:stCxn id="459" idx="2"/>
            <a:endCxn id="544" idx="0"/>
          </p:cNvCxnSpPr>
          <p:nvPr/>
        </p:nvCxnSpPr>
        <p:spPr>
          <a:xfrm rot="5400000">
            <a:off x="15922660" y="12830428"/>
            <a:ext cx="298552" cy="581332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2" name="Соединительная линия уступом 620">
            <a:extLst>
              <a:ext uri="{FF2B5EF4-FFF2-40B4-BE49-F238E27FC236}">
                <a16:creationId xmlns:a16="http://schemas.microsoft.com/office/drawing/2014/main" id="{AE0754C8-C7CD-49A7-A8A9-E1A6E1D41A5C}"/>
              </a:ext>
            </a:extLst>
          </p:cNvPr>
          <p:cNvCxnSpPr>
            <a:cxnSpLocks/>
            <a:stCxn id="460" idx="2"/>
            <a:endCxn id="544" idx="0"/>
          </p:cNvCxnSpPr>
          <p:nvPr/>
        </p:nvCxnSpPr>
        <p:spPr>
          <a:xfrm rot="5400000">
            <a:off x="16518148" y="12238036"/>
            <a:ext cx="295457" cy="1769211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6" name="Соединительная линия уступом 620">
            <a:extLst>
              <a:ext uri="{FF2B5EF4-FFF2-40B4-BE49-F238E27FC236}">
                <a16:creationId xmlns:a16="http://schemas.microsoft.com/office/drawing/2014/main" id="{FCCAFA67-A758-429A-AE1A-9B3B06E0541D}"/>
              </a:ext>
            </a:extLst>
          </p:cNvPr>
          <p:cNvCxnSpPr>
            <a:cxnSpLocks/>
            <a:stCxn id="459" idx="2"/>
            <a:endCxn id="461" idx="0"/>
          </p:cNvCxnSpPr>
          <p:nvPr/>
        </p:nvCxnSpPr>
        <p:spPr>
          <a:xfrm rot="16200000" flipH="1">
            <a:off x="17110465" y="12223955"/>
            <a:ext cx="298552" cy="1794278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9" name="Соединительная линия уступом 620">
            <a:extLst>
              <a:ext uri="{FF2B5EF4-FFF2-40B4-BE49-F238E27FC236}">
                <a16:creationId xmlns:a16="http://schemas.microsoft.com/office/drawing/2014/main" id="{43B8C75E-30B8-428B-9E75-E4E1DD5B817F}"/>
              </a:ext>
            </a:extLst>
          </p:cNvPr>
          <p:cNvCxnSpPr>
            <a:cxnSpLocks/>
            <a:stCxn id="460" idx="2"/>
            <a:endCxn id="461" idx="0"/>
          </p:cNvCxnSpPr>
          <p:nvPr/>
        </p:nvCxnSpPr>
        <p:spPr>
          <a:xfrm rot="16200000" flipH="1">
            <a:off x="17705952" y="12819441"/>
            <a:ext cx="295457" cy="606399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4" name="Соединительная линия уступом 620">
            <a:extLst>
              <a:ext uri="{FF2B5EF4-FFF2-40B4-BE49-F238E27FC236}">
                <a16:creationId xmlns:a16="http://schemas.microsoft.com/office/drawing/2014/main" id="{6AB63DF3-B448-4E13-9B39-655A22258632}"/>
              </a:ext>
            </a:extLst>
          </p:cNvPr>
          <p:cNvCxnSpPr>
            <a:cxnSpLocks/>
            <a:stCxn id="229" idx="2"/>
            <a:endCxn id="203" idx="0"/>
          </p:cNvCxnSpPr>
          <p:nvPr/>
        </p:nvCxnSpPr>
        <p:spPr>
          <a:xfrm rot="16200000" flipH="1">
            <a:off x="18908101" y="6028159"/>
            <a:ext cx="1952195" cy="1065975"/>
          </a:xfrm>
          <a:prstGeom prst="bentConnector3">
            <a:avLst>
              <a:gd name="adj1" fmla="val 6804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0" name="Соединительная линия уступом 620">
            <a:extLst>
              <a:ext uri="{FF2B5EF4-FFF2-40B4-BE49-F238E27FC236}">
                <a16:creationId xmlns:a16="http://schemas.microsoft.com/office/drawing/2014/main" id="{E202C518-A64C-4973-B337-9DF8FEF64A7B}"/>
              </a:ext>
            </a:extLst>
          </p:cNvPr>
          <p:cNvCxnSpPr>
            <a:cxnSpLocks/>
            <a:stCxn id="467" idx="2"/>
            <a:endCxn id="462" idx="0"/>
          </p:cNvCxnSpPr>
          <p:nvPr/>
        </p:nvCxnSpPr>
        <p:spPr>
          <a:xfrm rot="5400000">
            <a:off x="16216938" y="10011706"/>
            <a:ext cx="298552" cy="118746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3" name="Соединительная линия уступом 620">
            <a:extLst>
              <a:ext uri="{FF2B5EF4-FFF2-40B4-BE49-F238E27FC236}">
                <a16:creationId xmlns:a16="http://schemas.microsoft.com/office/drawing/2014/main" id="{8358C2D3-F58C-4FBB-9CF4-0FAF330B2EC6}"/>
              </a:ext>
            </a:extLst>
          </p:cNvPr>
          <p:cNvCxnSpPr>
            <a:cxnSpLocks/>
            <a:stCxn id="467" idx="2"/>
            <a:endCxn id="469" idx="0"/>
          </p:cNvCxnSpPr>
          <p:nvPr/>
        </p:nvCxnSpPr>
        <p:spPr>
          <a:xfrm rot="16200000" flipH="1">
            <a:off x="17407285" y="10008822"/>
            <a:ext cx="298552" cy="119323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6" name="Соединительная линия уступом 620">
            <a:extLst>
              <a:ext uri="{FF2B5EF4-FFF2-40B4-BE49-F238E27FC236}">
                <a16:creationId xmlns:a16="http://schemas.microsoft.com/office/drawing/2014/main" id="{DB43D146-32E5-4B0D-A45C-B3BC81315958}"/>
              </a:ext>
            </a:extLst>
          </p:cNvPr>
          <p:cNvCxnSpPr>
            <a:cxnSpLocks/>
            <a:stCxn id="467" idx="2"/>
            <a:endCxn id="457" idx="0"/>
          </p:cNvCxnSpPr>
          <p:nvPr/>
        </p:nvCxnSpPr>
        <p:spPr>
          <a:xfrm rot="5400000">
            <a:off x="16809143" y="10603911"/>
            <a:ext cx="298552" cy="305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9" name="Соединительная линия уступом 620">
            <a:extLst>
              <a:ext uri="{FF2B5EF4-FFF2-40B4-BE49-F238E27FC236}">
                <a16:creationId xmlns:a16="http://schemas.microsoft.com/office/drawing/2014/main" id="{BA3B4AFA-5FE2-439F-8A1D-B01A400164E4}"/>
              </a:ext>
            </a:extLst>
          </p:cNvPr>
          <p:cNvCxnSpPr>
            <a:cxnSpLocks/>
            <a:stCxn id="457" idx="2"/>
            <a:endCxn id="453" idx="0"/>
          </p:cNvCxnSpPr>
          <p:nvPr/>
        </p:nvCxnSpPr>
        <p:spPr>
          <a:xfrm rot="5400000">
            <a:off x="16806603" y="11442978"/>
            <a:ext cx="298552" cy="202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2" name="Соединительная линия уступом 620">
            <a:extLst>
              <a:ext uri="{FF2B5EF4-FFF2-40B4-BE49-F238E27FC236}">
                <a16:creationId xmlns:a16="http://schemas.microsoft.com/office/drawing/2014/main" id="{AABB4E71-9FE1-4A20-9647-4E13D7300A28}"/>
              </a:ext>
            </a:extLst>
          </p:cNvPr>
          <p:cNvCxnSpPr>
            <a:cxnSpLocks/>
            <a:stCxn id="453" idx="2"/>
            <a:endCxn id="459" idx="0"/>
          </p:cNvCxnSpPr>
          <p:nvPr/>
        </p:nvCxnSpPr>
        <p:spPr>
          <a:xfrm rot="5400000">
            <a:off x="16509458" y="11986410"/>
            <a:ext cx="298552" cy="59226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5" name="Соединительная линия уступом 620">
            <a:extLst>
              <a:ext uri="{FF2B5EF4-FFF2-40B4-BE49-F238E27FC236}">
                <a16:creationId xmlns:a16="http://schemas.microsoft.com/office/drawing/2014/main" id="{67A4AAC9-1C72-4507-B30A-1C80434BB64E}"/>
              </a:ext>
            </a:extLst>
          </p:cNvPr>
          <p:cNvCxnSpPr>
            <a:cxnSpLocks/>
            <a:stCxn id="453" idx="2"/>
            <a:endCxn id="460" idx="0"/>
          </p:cNvCxnSpPr>
          <p:nvPr/>
        </p:nvCxnSpPr>
        <p:spPr>
          <a:xfrm rot="16200000" flipH="1">
            <a:off x="17101850" y="11986281"/>
            <a:ext cx="301647" cy="59561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8" name="Соединительная линия уступом 620">
            <a:extLst>
              <a:ext uri="{FF2B5EF4-FFF2-40B4-BE49-F238E27FC236}">
                <a16:creationId xmlns:a16="http://schemas.microsoft.com/office/drawing/2014/main" id="{53E3C412-DEA6-40C0-90E0-F7470B6BECD1}"/>
              </a:ext>
            </a:extLst>
          </p:cNvPr>
          <p:cNvCxnSpPr>
            <a:cxnSpLocks/>
            <a:stCxn id="229" idx="2"/>
            <a:endCxn id="478" idx="0"/>
          </p:cNvCxnSpPr>
          <p:nvPr/>
        </p:nvCxnSpPr>
        <p:spPr>
          <a:xfrm rot="5400000">
            <a:off x="19217903" y="5710800"/>
            <a:ext cx="259059" cy="755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5" name="Прямоугольник 604">
            <a:extLst>
              <a:ext uri="{FF2B5EF4-FFF2-40B4-BE49-F238E27FC236}">
                <a16:creationId xmlns:a16="http://schemas.microsoft.com/office/drawing/2014/main" id="{E337B5E4-6092-4A99-913F-23B110D867B2}"/>
              </a:ext>
            </a:extLst>
          </p:cNvPr>
          <p:cNvSpPr/>
          <p:nvPr/>
        </p:nvSpPr>
        <p:spPr>
          <a:xfrm>
            <a:off x="13561717" y="5854077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Исключить французов из партии</a:t>
            </a:r>
          </a:p>
        </p:txBody>
      </p:sp>
      <p:cxnSp>
        <p:nvCxnSpPr>
          <p:cNvPr id="626" name="Соединительная линия уступом 620">
            <a:extLst>
              <a:ext uri="{FF2B5EF4-FFF2-40B4-BE49-F238E27FC236}">
                <a16:creationId xmlns:a16="http://schemas.microsoft.com/office/drawing/2014/main" id="{BDAA3EA9-B00C-4072-ACCE-CF6588B70FBD}"/>
              </a:ext>
            </a:extLst>
          </p:cNvPr>
          <p:cNvCxnSpPr>
            <a:cxnSpLocks/>
            <a:stCxn id="289" idx="2"/>
            <a:endCxn id="467" idx="0"/>
          </p:cNvCxnSpPr>
          <p:nvPr/>
        </p:nvCxnSpPr>
        <p:spPr>
          <a:xfrm rot="5400000">
            <a:off x="18839780" y="7741972"/>
            <a:ext cx="294357" cy="4054023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9" name="Соединительная линия уступом 620">
            <a:extLst>
              <a:ext uri="{FF2B5EF4-FFF2-40B4-BE49-F238E27FC236}">
                <a16:creationId xmlns:a16="http://schemas.microsoft.com/office/drawing/2014/main" id="{1A9262D3-BC8A-42AD-A524-EA6E00F3D5C6}"/>
              </a:ext>
            </a:extLst>
          </p:cNvPr>
          <p:cNvCxnSpPr>
            <a:cxnSpLocks/>
            <a:stCxn id="459" idx="2"/>
            <a:endCxn id="454" idx="0"/>
          </p:cNvCxnSpPr>
          <p:nvPr/>
        </p:nvCxnSpPr>
        <p:spPr>
          <a:xfrm rot="16200000" flipH="1">
            <a:off x="16514538" y="12819882"/>
            <a:ext cx="298552" cy="602424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2" name="Соединительная линия уступом 620">
            <a:extLst>
              <a:ext uri="{FF2B5EF4-FFF2-40B4-BE49-F238E27FC236}">
                <a16:creationId xmlns:a16="http://schemas.microsoft.com/office/drawing/2014/main" id="{CB2E3E8A-AA7A-4B6A-B31E-041278D0202D}"/>
              </a:ext>
            </a:extLst>
          </p:cNvPr>
          <p:cNvCxnSpPr>
            <a:cxnSpLocks/>
            <a:stCxn id="460" idx="2"/>
            <a:endCxn id="454" idx="0"/>
          </p:cNvCxnSpPr>
          <p:nvPr/>
        </p:nvCxnSpPr>
        <p:spPr>
          <a:xfrm rot="5400000">
            <a:off x="17110026" y="12829914"/>
            <a:ext cx="295457" cy="58545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5" name="Прямая соединительная линия 634">
            <a:extLst>
              <a:ext uri="{FF2B5EF4-FFF2-40B4-BE49-F238E27FC236}">
                <a16:creationId xmlns:a16="http://schemas.microsoft.com/office/drawing/2014/main" id="{6BE52F0A-B2EE-4D5C-89C1-F14F989FF99E}"/>
              </a:ext>
            </a:extLst>
          </p:cNvPr>
          <p:cNvCxnSpPr>
            <a:cxnSpLocks/>
            <a:stCxn id="460" idx="1"/>
            <a:endCxn id="459" idx="3"/>
          </p:cNvCxnSpPr>
          <p:nvPr/>
        </p:nvCxnSpPr>
        <p:spPr>
          <a:xfrm flipH="1" flipV="1">
            <a:off x="16825764" y="12701818"/>
            <a:ext cx="261554" cy="3095"/>
          </a:xfrm>
          <a:prstGeom prst="line">
            <a:avLst/>
          </a:prstGeom>
          <a:ln w="38100">
            <a:solidFill>
              <a:srgbClr val="C0000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8" name="Соединительная линия уступом 620">
            <a:extLst>
              <a:ext uri="{FF2B5EF4-FFF2-40B4-BE49-F238E27FC236}">
                <a16:creationId xmlns:a16="http://schemas.microsoft.com/office/drawing/2014/main" id="{BAEA8480-DD49-412D-99D7-E0097C2EE541}"/>
              </a:ext>
            </a:extLst>
          </p:cNvPr>
          <p:cNvCxnSpPr>
            <a:cxnSpLocks/>
            <a:stCxn id="231" idx="2"/>
            <a:endCxn id="605" idx="0"/>
          </p:cNvCxnSpPr>
          <p:nvPr/>
        </p:nvCxnSpPr>
        <p:spPr>
          <a:xfrm rot="5400000">
            <a:off x="14170399" y="5436920"/>
            <a:ext cx="271639" cy="562675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72" name="Прямоугольник 671">
            <a:extLst>
              <a:ext uri="{FF2B5EF4-FFF2-40B4-BE49-F238E27FC236}">
                <a16:creationId xmlns:a16="http://schemas.microsoft.com/office/drawing/2014/main" id="{CFE91351-277E-4E4C-8EAA-BE1186BEF4CF}"/>
              </a:ext>
            </a:extLst>
          </p:cNvPr>
          <p:cNvSpPr/>
          <p:nvPr/>
        </p:nvSpPr>
        <p:spPr>
          <a:xfrm>
            <a:off x="13558688" y="9081805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Полная национализация французского имущества</a:t>
            </a:r>
          </a:p>
        </p:txBody>
      </p:sp>
      <p:cxnSp>
        <p:nvCxnSpPr>
          <p:cNvPr id="673" name="Соединительная линия уступом 620">
            <a:extLst>
              <a:ext uri="{FF2B5EF4-FFF2-40B4-BE49-F238E27FC236}">
                <a16:creationId xmlns:a16="http://schemas.microsoft.com/office/drawing/2014/main" id="{B7632463-B8F9-4CE2-9D4D-A8817A8CA83B}"/>
              </a:ext>
            </a:extLst>
          </p:cNvPr>
          <p:cNvCxnSpPr>
            <a:cxnSpLocks/>
            <a:stCxn id="605" idx="2"/>
            <a:endCxn id="672" idx="0"/>
          </p:cNvCxnSpPr>
          <p:nvPr/>
        </p:nvCxnSpPr>
        <p:spPr>
          <a:xfrm rot="5400000">
            <a:off x="12679502" y="7736427"/>
            <a:ext cx="2687728" cy="302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7" name="Соединительная линия уступом 620">
            <a:extLst>
              <a:ext uri="{FF2B5EF4-FFF2-40B4-BE49-F238E27FC236}">
                <a16:creationId xmlns:a16="http://schemas.microsoft.com/office/drawing/2014/main" id="{B768D324-794D-4757-A700-B6ED49687AE3}"/>
              </a:ext>
            </a:extLst>
          </p:cNvPr>
          <p:cNvCxnSpPr>
            <a:cxnSpLocks/>
            <a:stCxn id="672" idx="2"/>
            <a:endCxn id="467" idx="0"/>
          </p:cNvCxnSpPr>
          <p:nvPr/>
        </p:nvCxnSpPr>
        <p:spPr>
          <a:xfrm rot="16200000" flipH="1">
            <a:off x="15343720" y="8299935"/>
            <a:ext cx="294357" cy="293809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8" name="Соединительная линия уступом 620">
            <a:extLst>
              <a:ext uri="{FF2B5EF4-FFF2-40B4-BE49-F238E27FC236}">
                <a16:creationId xmlns:a16="http://schemas.microsoft.com/office/drawing/2014/main" id="{107A50E5-4279-4F78-BB4D-D0EE1845AA2E}"/>
              </a:ext>
            </a:extLst>
          </p:cNvPr>
          <p:cNvCxnSpPr>
            <a:cxnSpLocks/>
            <a:stCxn id="336" idx="2"/>
            <a:endCxn id="358" idx="0"/>
          </p:cNvCxnSpPr>
          <p:nvPr/>
        </p:nvCxnSpPr>
        <p:spPr>
          <a:xfrm rot="16200000" flipH="1">
            <a:off x="11540200" y="4539526"/>
            <a:ext cx="269100" cy="2361219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9" name="Соединительная линия уступом 620">
            <a:extLst>
              <a:ext uri="{FF2B5EF4-FFF2-40B4-BE49-F238E27FC236}">
                <a16:creationId xmlns:a16="http://schemas.microsoft.com/office/drawing/2014/main" id="{0BE6AA82-FCC9-4929-AAB7-F0B54221683C}"/>
              </a:ext>
            </a:extLst>
          </p:cNvPr>
          <p:cNvCxnSpPr>
            <a:cxnSpLocks/>
            <a:stCxn id="231" idx="2"/>
            <a:endCxn id="358" idx="0"/>
          </p:cNvCxnSpPr>
          <p:nvPr/>
        </p:nvCxnSpPr>
        <p:spPr>
          <a:xfrm rot="5400000">
            <a:off x="13585334" y="4852465"/>
            <a:ext cx="272248" cy="1732195"/>
          </a:xfrm>
          <a:prstGeom prst="bentConnector3">
            <a:avLst>
              <a:gd name="adj1" fmla="val 50000"/>
            </a:avLst>
          </a:prstGeom>
          <a:ln w="19050">
            <a:prstDash val="dash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82" name="Прямоугольник 681">
            <a:extLst>
              <a:ext uri="{FF2B5EF4-FFF2-40B4-BE49-F238E27FC236}">
                <a16:creationId xmlns:a16="http://schemas.microsoft.com/office/drawing/2014/main" id="{47EC0B54-2B64-4C65-B4C0-70F9B959A7B0}"/>
              </a:ext>
            </a:extLst>
          </p:cNvPr>
          <p:cNvSpPr/>
          <p:nvPr/>
        </p:nvSpPr>
        <p:spPr>
          <a:xfrm>
            <a:off x="20550806" y="9916161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Остаться союзником Франции</a:t>
            </a:r>
          </a:p>
        </p:txBody>
      </p:sp>
      <p:sp>
        <p:nvSpPr>
          <p:cNvPr id="684" name="Прямоугольник 683">
            <a:extLst>
              <a:ext uri="{FF2B5EF4-FFF2-40B4-BE49-F238E27FC236}">
                <a16:creationId xmlns:a16="http://schemas.microsoft.com/office/drawing/2014/main" id="{441B5A07-9519-45BC-9B4D-4EA0DD9C5CA5}"/>
              </a:ext>
            </a:extLst>
          </p:cNvPr>
          <p:cNvSpPr/>
          <p:nvPr/>
        </p:nvSpPr>
        <p:spPr>
          <a:xfrm>
            <a:off x="13558539" y="9920354"/>
            <a:ext cx="926325" cy="540000"/>
          </a:xfrm>
          <a:prstGeom prst="rect">
            <a:avLst/>
          </a:prstGeom>
          <a:solidFill>
            <a:srgbClr val="FF0000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/>
              <a:t>Вступить в Коминтерн</a:t>
            </a:r>
          </a:p>
        </p:txBody>
      </p:sp>
      <p:cxnSp>
        <p:nvCxnSpPr>
          <p:cNvPr id="685" name="Соединительная линия уступом 620">
            <a:extLst>
              <a:ext uri="{FF2B5EF4-FFF2-40B4-BE49-F238E27FC236}">
                <a16:creationId xmlns:a16="http://schemas.microsoft.com/office/drawing/2014/main" id="{30DEDB27-1BFF-4A10-A5D0-5B8EB220E568}"/>
              </a:ext>
            </a:extLst>
          </p:cNvPr>
          <p:cNvCxnSpPr>
            <a:cxnSpLocks/>
            <a:stCxn id="672" idx="2"/>
            <a:endCxn id="684" idx="0"/>
          </p:cNvCxnSpPr>
          <p:nvPr/>
        </p:nvCxnSpPr>
        <p:spPr>
          <a:xfrm rot="5400000">
            <a:off x="13872503" y="9771005"/>
            <a:ext cx="298549" cy="14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7" name="Соединительная линия уступом 620">
            <a:extLst>
              <a:ext uri="{FF2B5EF4-FFF2-40B4-BE49-F238E27FC236}">
                <a16:creationId xmlns:a16="http://schemas.microsoft.com/office/drawing/2014/main" id="{AFB626DD-C424-4137-9D19-667C6B93FBFB}"/>
              </a:ext>
            </a:extLst>
          </p:cNvPr>
          <p:cNvCxnSpPr>
            <a:cxnSpLocks/>
            <a:stCxn id="289" idx="2"/>
            <a:endCxn id="682" idx="0"/>
          </p:cNvCxnSpPr>
          <p:nvPr/>
        </p:nvCxnSpPr>
        <p:spPr>
          <a:xfrm rot="5400000">
            <a:off x="20866791" y="9768983"/>
            <a:ext cx="294356" cy="1270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6" name="Соединительная линия уступом 620">
            <a:extLst>
              <a:ext uri="{FF2B5EF4-FFF2-40B4-BE49-F238E27FC236}">
                <a16:creationId xmlns:a16="http://schemas.microsoft.com/office/drawing/2014/main" id="{C2E25588-1DBF-4AFC-8AD0-2B705FB8FBDC}"/>
              </a:ext>
            </a:extLst>
          </p:cNvPr>
          <p:cNvCxnSpPr>
            <a:cxnSpLocks/>
            <a:stCxn id="308" idx="2"/>
            <a:endCxn id="311" idx="0"/>
          </p:cNvCxnSpPr>
          <p:nvPr/>
        </p:nvCxnSpPr>
        <p:spPr>
          <a:xfrm rot="5400000">
            <a:off x="9801643" y="14983756"/>
            <a:ext cx="337947" cy="555344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3" name="Соединительная линия уступом 620">
            <a:extLst>
              <a:ext uri="{FF2B5EF4-FFF2-40B4-BE49-F238E27FC236}">
                <a16:creationId xmlns:a16="http://schemas.microsoft.com/office/drawing/2014/main" id="{E1F63AED-8F53-410D-97A5-29896073417B}"/>
              </a:ext>
            </a:extLst>
          </p:cNvPr>
          <p:cNvCxnSpPr>
            <a:cxnSpLocks/>
            <a:stCxn id="308" idx="2"/>
            <a:endCxn id="307" idx="0"/>
          </p:cNvCxnSpPr>
          <p:nvPr/>
        </p:nvCxnSpPr>
        <p:spPr>
          <a:xfrm rot="16200000" flipH="1">
            <a:off x="10408445" y="14932298"/>
            <a:ext cx="337947" cy="658260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4" name="Соединительная линия уступом 620">
            <a:extLst>
              <a:ext uri="{FF2B5EF4-FFF2-40B4-BE49-F238E27FC236}">
                <a16:creationId xmlns:a16="http://schemas.microsoft.com/office/drawing/2014/main" id="{52081357-7316-4DC8-82BA-0E8B295FB117}"/>
              </a:ext>
            </a:extLst>
          </p:cNvPr>
          <p:cNvCxnSpPr>
            <a:cxnSpLocks/>
            <a:stCxn id="303" idx="2"/>
            <a:endCxn id="302" idx="0"/>
          </p:cNvCxnSpPr>
          <p:nvPr/>
        </p:nvCxnSpPr>
        <p:spPr>
          <a:xfrm rot="5400000">
            <a:off x="6479535" y="14958474"/>
            <a:ext cx="337947" cy="60590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6" name="Соединительная линия уступом 620">
            <a:extLst>
              <a:ext uri="{FF2B5EF4-FFF2-40B4-BE49-F238E27FC236}">
                <a16:creationId xmlns:a16="http://schemas.microsoft.com/office/drawing/2014/main" id="{1FC3434E-63FB-4C17-9AAA-7F3F13F81A01}"/>
              </a:ext>
            </a:extLst>
          </p:cNvPr>
          <p:cNvCxnSpPr>
            <a:cxnSpLocks/>
            <a:stCxn id="303" idx="2"/>
            <a:endCxn id="301" idx="0"/>
          </p:cNvCxnSpPr>
          <p:nvPr/>
        </p:nvCxnSpPr>
        <p:spPr>
          <a:xfrm rot="16200000" flipH="1">
            <a:off x="7099653" y="14944264"/>
            <a:ext cx="337947" cy="63432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8" name="Прямоугольник 507">
            <a:extLst>
              <a:ext uri="{FF2B5EF4-FFF2-40B4-BE49-F238E27FC236}">
                <a16:creationId xmlns:a16="http://schemas.microsoft.com/office/drawing/2014/main" id="{46E197FE-2A45-4F0F-9B6C-9BF43DFB2083}"/>
              </a:ext>
            </a:extLst>
          </p:cNvPr>
          <p:cNvSpPr/>
          <p:nvPr/>
        </p:nvSpPr>
        <p:spPr>
          <a:xfrm>
            <a:off x="6484428" y="16231112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 err="1"/>
              <a:t>Танжерский</a:t>
            </a:r>
            <a:r>
              <a:rPr lang="ru-RU" sz="700" dirty="0"/>
              <a:t> офшор и контрабанда</a:t>
            </a:r>
            <a:br>
              <a:rPr lang="ru-RU" sz="700" dirty="0"/>
            </a:br>
            <a:r>
              <a:rPr lang="ru-RU" sz="100" dirty="0"/>
              <a:t>(Историко-игровое </a:t>
            </a:r>
            <a:r>
              <a:rPr lang="ru-RU" sz="100" dirty="0" err="1"/>
              <a:t>описание:«Пока</a:t>
            </a:r>
            <a:r>
              <a:rPr lang="ru-RU" sz="100" dirty="0"/>
              <a:t> в Европе разгорается Вторая мировая война, Танжер может стать тихой гаванью для бегущих капиталов. Ослабив банковский контроль и закрыв глаза на контрабандные рынки, мы превратим город в центр теневой торговли дефицитным сырьем, станками и валютой. Все это пойдет на нужды нашей марокканской промышленности».⚙️ Игровые </a:t>
            </a:r>
            <a:r>
              <a:rPr lang="ru-RU" sz="100" dirty="0" err="1"/>
              <a:t>эффекты:Прямой</a:t>
            </a:r>
            <a:r>
              <a:rPr lang="ru-RU" sz="100" dirty="0"/>
              <a:t> финансовый </a:t>
            </a:r>
            <a:r>
              <a:rPr lang="ru-RU" sz="100" dirty="0" err="1"/>
              <a:t>прирост:Прирост</a:t>
            </a:r>
            <a:r>
              <a:rPr lang="ru-RU" sz="100" dirty="0"/>
              <a:t> политической власти: +120 (символизирует взятки и налоги с банкиров).Прибыль гражданской промышленности (</a:t>
            </a:r>
            <a:r>
              <a:rPr lang="ru-RU" sz="100" dirty="0" err="1"/>
              <a:t>Consumer</a:t>
            </a:r>
            <a:r>
              <a:rPr lang="ru-RU" sz="100" dirty="0"/>
              <a:t> </a:t>
            </a:r>
            <a:r>
              <a:rPr lang="ru-RU" sz="100" dirty="0" err="1"/>
              <a:t>Goods</a:t>
            </a:r>
            <a:r>
              <a:rPr lang="ru-RU" sz="100" dirty="0"/>
              <a:t> </a:t>
            </a:r>
            <a:r>
              <a:rPr lang="ru-RU" sz="100" dirty="0" err="1"/>
              <a:t>Factories</a:t>
            </a:r>
            <a:r>
              <a:rPr lang="ru-RU" sz="100" dirty="0"/>
              <a:t>): −3% (снижение товаров народного потребления, так как экономика насыщается за счет контрабанды).)</a:t>
            </a:r>
            <a:endParaRPr lang="ru-RU" sz="700" dirty="0"/>
          </a:p>
        </p:txBody>
      </p:sp>
      <p:cxnSp>
        <p:nvCxnSpPr>
          <p:cNvPr id="509" name="Соединительная линия уступом 620">
            <a:extLst>
              <a:ext uri="{FF2B5EF4-FFF2-40B4-BE49-F238E27FC236}">
                <a16:creationId xmlns:a16="http://schemas.microsoft.com/office/drawing/2014/main" id="{B6557F02-1289-420C-B9C0-FD17946E8DBA}"/>
              </a:ext>
            </a:extLst>
          </p:cNvPr>
          <p:cNvCxnSpPr>
            <a:cxnSpLocks/>
            <a:stCxn id="301" idx="2"/>
            <a:endCxn id="508" idx="0"/>
          </p:cNvCxnSpPr>
          <p:nvPr/>
        </p:nvCxnSpPr>
        <p:spPr>
          <a:xfrm rot="5400000">
            <a:off x="7136336" y="15781658"/>
            <a:ext cx="260710" cy="638199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0" name="Соединительная линия уступом 620">
            <a:extLst>
              <a:ext uri="{FF2B5EF4-FFF2-40B4-BE49-F238E27FC236}">
                <a16:creationId xmlns:a16="http://schemas.microsoft.com/office/drawing/2014/main" id="{93DCDEC9-BCF1-404B-B8A7-351298345583}"/>
              </a:ext>
            </a:extLst>
          </p:cNvPr>
          <p:cNvCxnSpPr>
            <a:cxnSpLocks/>
            <a:stCxn id="302" idx="2"/>
            <a:endCxn id="508" idx="0"/>
          </p:cNvCxnSpPr>
          <p:nvPr/>
        </p:nvCxnSpPr>
        <p:spPr>
          <a:xfrm rot="16200000" flipH="1">
            <a:off x="6516217" y="15799738"/>
            <a:ext cx="260710" cy="602037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1" name="Прямоугольник 510">
            <a:extLst>
              <a:ext uri="{FF2B5EF4-FFF2-40B4-BE49-F238E27FC236}">
                <a16:creationId xmlns:a16="http://schemas.microsoft.com/office/drawing/2014/main" id="{29342093-D9E4-4C0B-AB04-1B4C6FB72429}"/>
              </a:ext>
            </a:extLst>
          </p:cNvPr>
          <p:cNvSpPr/>
          <p:nvPr/>
        </p:nvSpPr>
        <p:spPr>
          <a:xfrm>
            <a:off x="5888253" y="17057844"/>
            <a:ext cx="926325" cy="540000"/>
          </a:xfrm>
          <a:prstGeom prst="rect">
            <a:avLst/>
          </a:prstGeom>
          <a:solidFill>
            <a:schemeClr val="bg1"/>
          </a:solidFill>
          <a:ln w="19050"/>
        </p:spPr>
        <p:style>
          <a:lnRef idx="2">
            <a:schemeClr val="accent1"/>
          </a:lnRef>
          <a:fillRef idx="1">
            <a:schemeClr val="lt1"/>
          </a:fillRef>
          <a:effectRef idx="0">
            <a:schemeClr val="accent1"/>
          </a:effectRef>
          <a:fontRef idx="minor">
            <a:schemeClr val="dk1"/>
          </a:fontRef>
        </p:style>
        <p:txBody>
          <a:bodyPr lIns="124733" tIns="62367" rIns="124733" bIns="62367" rtlCol="0" anchor="ctr"/>
          <a:lstStyle/>
          <a:p>
            <a:pPr algn="ctr"/>
            <a:r>
              <a:rPr lang="ru-RU" sz="700" dirty="0" err="1"/>
              <a:t>Танжерская</a:t>
            </a:r>
            <a:r>
              <a:rPr lang="ru-RU" sz="700" dirty="0"/>
              <a:t> судостроительная верфь</a:t>
            </a:r>
          </a:p>
        </p:txBody>
      </p:sp>
      <p:cxnSp>
        <p:nvCxnSpPr>
          <p:cNvPr id="512" name="Соединительная линия уступом 620">
            <a:extLst>
              <a:ext uri="{FF2B5EF4-FFF2-40B4-BE49-F238E27FC236}">
                <a16:creationId xmlns:a16="http://schemas.microsoft.com/office/drawing/2014/main" id="{8E9AF91D-7B78-4A46-8C41-9626DB43DAD7}"/>
              </a:ext>
            </a:extLst>
          </p:cNvPr>
          <p:cNvCxnSpPr>
            <a:cxnSpLocks/>
            <a:stCxn id="302" idx="2"/>
            <a:endCxn id="511" idx="0"/>
          </p:cNvCxnSpPr>
          <p:nvPr/>
        </p:nvCxnSpPr>
        <p:spPr>
          <a:xfrm rot="16200000" flipH="1">
            <a:off x="5804764" y="16511192"/>
            <a:ext cx="1087442" cy="5862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7" name="Соединительная линия уступом 620">
            <a:extLst>
              <a:ext uri="{FF2B5EF4-FFF2-40B4-BE49-F238E27FC236}">
                <a16:creationId xmlns:a16="http://schemas.microsoft.com/office/drawing/2014/main" id="{A10160AE-185D-4BBF-8C85-3CFE3904D664}"/>
              </a:ext>
            </a:extLst>
          </p:cNvPr>
          <p:cNvCxnSpPr>
            <a:cxnSpLocks/>
            <a:stCxn id="161" idx="2"/>
            <a:endCxn id="160" idx="0"/>
          </p:cNvCxnSpPr>
          <p:nvPr/>
        </p:nvCxnSpPr>
        <p:spPr>
          <a:xfrm rot="5400000">
            <a:off x="7179578" y="19002766"/>
            <a:ext cx="261343" cy="624841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3" name="Соединительная линия уступом 620">
            <a:extLst>
              <a:ext uri="{FF2B5EF4-FFF2-40B4-BE49-F238E27FC236}">
                <a16:creationId xmlns:a16="http://schemas.microsoft.com/office/drawing/2014/main" id="{4141F6BE-135E-42B6-8DA8-5C6264A94EF0}"/>
              </a:ext>
            </a:extLst>
          </p:cNvPr>
          <p:cNvCxnSpPr>
            <a:cxnSpLocks/>
            <a:stCxn id="159" idx="2"/>
            <a:endCxn id="164" idx="0"/>
          </p:cNvCxnSpPr>
          <p:nvPr/>
        </p:nvCxnSpPr>
        <p:spPr>
          <a:xfrm rot="16200000" flipH="1">
            <a:off x="7488501" y="20295903"/>
            <a:ext cx="260714" cy="1242058"/>
          </a:xfrm>
          <a:prstGeom prst="bentConnector3">
            <a:avLst>
              <a:gd name="adj1" fmla="val 50000"/>
            </a:avLst>
          </a:prstGeom>
          <a:ln w="19050"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113188735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53272</TotalTime>
  <Words>1973</Words>
  <Application>Microsoft Office PowerPoint</Application>
  <PresentationFormat>Произвольный</PresentationFormat>
  <Paragraphs>211</Paragraphs>
  <Slides>1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Тема Office</vt:lpstr>
      <vt:lpstr>Презентация PowerPoint</vt:lpstr>
    </vt:vector>
  </TitlesOfParts>
  <Company>SPecialiST RePack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Kirill</dc:creator>
  <cp:lastModifiedBy>User</cp:lastModifiedBy>
  <cp:revision>2442</cp:revision>
  <dcterms:created xsi:type="dcterms:W3CDTF">2018-10-23T08:09:21Z</dcterms:created>
  <dcterms:modified xsi:type="dcterms:W3CDTF">2026-06-22T13:29:21Z</dcterms:modified>
</cp:coreProperties>
</file>