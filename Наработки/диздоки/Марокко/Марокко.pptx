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3FB1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33" d="100"/>
          <a:sy n="33" d="100"/>
        </p:scale>
        <p:origin x="-552" y="19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46698778" y="2309389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 (1936) </a:t>
            </a:r>
            <a:r>
              <a:rPr lang="ru-RU" sz="100" dirty="0"/>
              <a:t>(В 1936 году Франция усиливала гарнизоны, опасаясь, что испанский хаос перекинется на их часть </a:t>
            </a:r>
            <a:r>
              <a:rPr lang="ru-RU" sz="100" dirty="0" err="1"/>
              <a:t>Марокко.Эффект</a:t>
            </a:r>
            <a:r>
              <a:rPr lang="ru-RU" sz="100" dirty="0"/>
              <a:t> в HOI 4: Добавляет 2 военные фабрики и 1 инфраструктуру в регион Фес.</a:t>
            </a:r>
            <a:endParaRPr lang="ru-RU" sz="700" dirty="0"/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46369670" y="23179570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47605215" y="23190621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47317920" y="2477909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45452182" y="239718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47923272" y="2397184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46378507" y="24241841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47950135" y="24342790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46714589" y="23712597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45473665" y="24335031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48540579" y="2477600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марокканцев в генералитет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44833691" y="247767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 (1937) </a:t>
            </a:r>
            <a:r>
              <a:rPr lang="ru-RU" sz="100" dirty="0"/>
              <a:t>(Стандартный </a:t>
            </a:r>
            <a:r>
              <a:rPr lang="ru-RU" sz="100" dirty="0" err="1"/>
              <a:t>гум</a:t>
            </a:r>
            <a:r>
              <a:rPr lang="ru-RU" sz="100" dirty="0"/>
              <a:t> представлял собой конно-стрелковое подразделение, эквивалентное роте. В его составе имелся верховой взвод (на лошадях или верблюдах), вьючный взвод, а также 3-4 стрелковых взвода. Такая организация позволяла </a:t>
            </a:r>
            <a:r>
              <a:rPr lang="ru-RU" sz="100" dirty="0" err="1"/>
              <a:t>гумам</a:t>
            </a:r>
            <a:r>
              <a:rPr lang="ru-RU" sz="100" dirty="0"/>
              <a:t> вести автономные боевые действия в условиях горно-пустынной </a:t>
            </a:r>
            <a:r>
              <a:rPr lang="ru-RU" sz="100" dirty="0" err="1"/>
              <a:t>местности.Первый</a:t>
            </a:r>
            <a:r>
              <a:rPr lang="ru-RU" sz="100" dirty="0"/>
              <a:t> марокканский </a:t>
            </a:r>
            <a:r>
              <a:rPr lang="ru-RU" sz="100" dirty="0" err="1"/>
              <a:t>гум</a:t>
            </a:r>
            <a:r>
              <a:rPr lang="ru-RU" sz="100" dirty="0"/>
              <a:t> был сформирован 5 ноября 1908 г. В дальнейшем их число постоянно росло. Если в 1914 г. в армии протектората насчитывалось 15 </a:t>
            </a:r>
            <a:r>
              <a:rPr lang="ru-RU" sz="100" dirty="0" err="1"/>
              <a:t>гумов</a:t>
            </a:r>
            <a:r>
              <a:rPr lang="ru-RU" sz="100" dirty="0"/>
              <a:t>, к 1934 г. — году, связываемому французами с завершением операции по “примирению” Марокко — их насчитывалось уже 51. Как правило, каждым </a:t>
            </a:r>
            <a:r>
              <a:rPr lang="ru-RU" sz="100" dirty="0" err="1"/>
              <a:t>гумом</a:t>
            </a:r>
            <a:r>
              <a:rPr lang="ru-RU" sz="100" dirty="0"/>
              <a:t> командовал французский офицер из состава Службы туземных дел. В 1937 г. был создан институт </a:t>
            </a:r>
            <a:r>
              <a:rPr lang="ru-RU" sz="100" dirty="0" err="1"/>
              <a:t>тумов</a:t>
            </a:r>
            <a:r>
              <a:rPr lang="ru-RU" sz="100" dirty="0"/>
              <a:t> вспомогательной службы. Забегая вперед, необходимо отметить, что к началу Второй мировой войны в войсках протектората насчитывалось 57 действующих </a:t>
            </a:r>
            <a:r>
              <a:rPr lang="ru-RU" sz="100" dirty="0" err="1"/>
              <a:t>гумов</a:t>
            </a:r>
            <a:r>
              <a:rPr lang="ru-RU" sz="100" dirty="0"/>
              <a:t> и 64 вспомогательных)</a:t>
            </a:r>
            <a:endParaRPr lang="ru-RU" sz="700" dirty="0"/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44833043" y="25594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r>
              <a:rPr lang="ru-RU" sz="700" dirty="0"/>
              <a:t> (1940) </a:t>
            </a:r>
            <a:r>
              <a:rPr lang="ru-RU" sz="300" dirty="0"/>
              <a:t>(После мобилизации число первых было доведено до 121. К апрелю 1940 г. они были сведены в 16 таборов (батальонов) по 4-5 </a:t>
            </a:r>
            <a:r>
              <a:rPr lang="ru-RU" sz="300" dirty="0" err="1"/>
              <a:t>гумов</a:t>
            </a:r>
            <a:r>
              <a:rPr lang="ru-RU" sz="300" dirty="0"/>
              <a:t> в каждом.)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43590659" y="2477600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Директива </a:t>
            </a:r>
            <a:r>
              <a:rPr lang="ru-RU" sz="700" dirty="0" err="1"/>
              <a:t>Ногеса</a:t>
            </a:r>
            <a:r>
              <a:rPr lang="ru-RU" sz="700" dirty="0"/>
              <a:t>: Мобилизация племен Атласа </a:t>
            </a:r>
            <a:r>
              <a:rPr lang="ru-RU" sz="100" dirty="0"/>
              <a:t>(С 1936 года Франция резко увеличила набор коренных марокканцев (арабов и берберов) в ряды регулярных частей — </a:t>
            </a:r>
            <a:r>
              <a:rPr lang="ru-RU" sz="100" dirty="0" err="1"/>
              <a:t>Тиральеров</a:t>
            </a:r>
            <a:r>
              <a:rPr lang="ru-RU" sz="100" dirty="0"/>
              <a:t> (Тайлеров) и </a:t>
            </a:r>
            <a:r>
              <a:rPr lang="ru-RU" sz="100" dirty="0" err="1"/>
              <a:t>Гумьеров</a:t>
            </a:r>
            <a:r>
              <a:rPr lang="ru-RU" sz="100" dirty="0"/>
              <a:t>. К 1939 году </a:t>
            </a:r>
            <a:r>
              <a:rPr lang="ru-RU" sz="100" dirty="0" err="1"/>
              <a:t>Ногесу</a:t>
            </a:r>
            <a:r>
              <a:rPr lang="ru-RU" sz="100" dirty="0"/>
              <a:t> удалось поставить под ружье невиданное для колонии число местных </a:t>
            </a:r>
            <a:r>
              <a:rPr lang="ru-RU" sz="100" dirty="0" err="1"/>
              <a:t>жителей.Эффект</a:t>
            </a:r>
            <a:r>
              <a:rPr lang="ru-RU" sz="100" dirty="0"/>
              <a:t> в HOI 4: Дает постоянный бонус к призывному населению (</a:t>
            </a:r>
            <a:r>
              <a:rPr lang="ru-RU" sz="100" dirty="0" err="1"/>
              <a:t>Manpower</a:t>
            </a:r>
            <a:r>
              <a:rPr lang="ru-RU" sz="100" dirty="0"/>
              <a:t>) +2.50% на национальных территориях. Снижает время подготовки пехотных дивизий на 10%.)</a:t>
            </a:r>
            <a:endParaRPr lang="ru-RU" sz="700" dirty="0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46074888" y="2478183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 </a:t>
            </a:r>
            <a:r>
              <a:rPr lang="ru-RU" sz="100" dirty="0"/>
              <a:t>(В конце 1930-х годов в Марокко были сформированы и доукомплектованы элитные марокканские пулеметные и пехотные дивизии (</a:t>
            </a:r>
            <a:r>
              <a:rPr lang="ru-RU" sz="100" dirty="0" err="1"/>
              <a:t>Division</a:t>
            </a:r>
            <a:r>
              <a:rPr lang="ru-RU" sz="100" dirty="0"/>
              <a:t> </a:t>
            </a:r>
            <a:r>
              <a:rPr lang="ru-RU" sz="100" dirty="0" err="1"/>
              <a:t>d'Infanterie</a:t>
            </a:r>
            <a:r>
              <a:rPr lang="ru-RU" sz="100" dirty="0"/>
              <a:t> </a:t>
            </a:r>
            <a:r>
              <a:rPr lang="ru-RU" sz="100" dirty="0" err="1"/>
              <a:t>Marocaine</a:t>
            </a:r>
            <a:r>
              <a:rPr lang="ru-RU" sz="100" dirty="0"/>
              <a:t>). В 1939 году их перебросили во Францию, где они героически проявили себя в боях 1940 года (например, при </a:t>
            </a:r>
            <a:r>
              <a:rPr lang="ru-RU" sz="100" dirty="0" err="1"/>
              <a:t>Жамблу</a:t>
            </a:r>
            <a:r>
              <a:rPr lang="ru-RU" sz="100" dirty="0"/>
              <a:t>).Эффект в HOI 4: </a:t>
            </a:r>
            <a:r>
              <a:rPr lang="ru-RU" sz="100" dirty="0" err="1"/>
              <a:t>Спавнит</a:t>
            </a:r>
            <a:r>
              <a:rPr lang="ru-RU" sz="100" dirty="0"/>
              <a:t> в Касабланке 2 пехотные дивизии с полной организацией, оснащенные уникальным батальоном поддержки (усиленная ПВО/противотанковое оружие).)</a:t>
            </a:r>
            <a:endParaRPr lang="ru-RU" sz="700" dirty="0"/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44852502" y="23713162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45157566" y="25455352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46074887" y="25594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 </a:t>
            </a:r>
            <a:r>
              <a:rPr lang="ru-RU" sz="100" dirty="0"/>
              <a:t>(2-й иностранный пехотный полк (2e REI) Иностранного легиона базировался в Марокко и в этот период активно укреплял внутренние рубежи протектората для предотвращения диверсий </a:t>
            </a:r>
            <a:r>
              <a:rPr lang="ru-RU" sz="100" dirty="0" err="1"/>
              <a:t>Оси.Эффект</a:t>
            </a:r>
            <a:r>
              <a:rPr lang="ru-RU" sz="100" dirty="0"/>
              <a:t> в HOI 4: Добавляет 1 элитную дивизию Иностранного легиона. Дает национальный дух «Жесткий колониальный порядок» (-15% к скорости роста сопротивления в североафриканских регионах).)</a:t>
            </a:r>
            <a:endParaRPr lang="ru-RU" sz="700" dirty="0"/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46401650" y="25458240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47316086" y="255969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(Французское командование опасалось, что профашистские силы из Испанского Сахары или итальянские войска из Ливии могут нанести удар через пустыню во фланг. Были созданы специальные мобильные дозоры (</a:t>
            </a:r>
            <a:r>
              <a:rPr lang="ru-RU" sz="100" dirty="0" err="1"/>
              <a:t>Compagnies</a:t>
            </a:r>
            <a:r>
              <a:rPr lang="ru-RU" sz="100" dirty="0"/>
              <a:t> </a:t>
            </a:r>
            <a:r>
              <a:rPr lang="ru-RU" sz="100" dirty="0" err="1"/>
              <a:t>Sahariennes</a:t>
            </a:r>
            <a:r>
              <a:rPr lang="ru-RU" sz="100" dirty="0"/>
              <a:t>).Эффект в HOI 4: Дает войскам национальный дух «Адаптация к пустыне» (+15% к защите и -10% к истощению (</a:t>
            </a:r>
            <a:r>
              <a:rPr lang="ru-RU" sz="100" dirty="0" err="1"/>
              <a:t>Attrition</a:t>
            </a:r>
            <a:r>
              <a:rPr lang="ru-RU" sz="100" dirty="0"/>
              <a:t>) в пустынных регионах).)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47317919" y="264147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 </a:t>
            </a:r>
            <a:r>
              <a:rPr lang="ru-RU" sz="200" dirty="0"/>
              <a:t>(Проход Таза — стратегический коридор между горами Риф и Атлас, связывающий Марокко с Алжиром. В 1938–1939 годах </a:t>
            </a:r>
            <a:r>
              <a:rPr lang="ru-RU" sz="200" dirty="0" err="1"/>
              <a:t>Ногес</a:t>
            </a:r>
            <a:r>
              <a:rPr lang="ru-RU" sz="200" dirty="0"/>
              <a:t> укрепил этот проход на случай прорыва испанских войск Франко на </a:t>
            </a:r>
            <a:r>
              <a:rPr lang="ru-RU" sz="200" dirty="0" err="1"/>
              <a:t>восток.Эффект</a:t>
            </a:r>
            <a:r>
              <a:rPr lang="ru-RU" sz="200" dirty="0"/>
              <a:t> в HOI 4: Строит сухопутные укрепления (</a:t>
            </a:r>
            <a:r>
              <a:rPr lang="ru-RU" sz="200" dirty="0" err="1"/>
              <a:t>Land</a:t>
            </a:r>
            <a:r>
              <a:rPr lang="ru-RU" sz="200" dirty="0"/>
              <a:t> </a:t>
            </a:r>
            <a:r>
              <a:rPr lang="ru-RU" sz="200" dirty="0" err="1"/>
              <a:t>Fort</a:t>
            </a:r>
            <a:r>
              <a:rPr lang="ru-RU" sz="200" dirty="0"/>
              <a:t>) 3-го уровня в провинции Таза.)</a:t>
            </a:r>
            <a:endParaRPr lang="ru-RU" sz="700" dirty="0"/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47641260" y="25457080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47641259" y="26274892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46091699" y="24335487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47327245" y="23722648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46698779" y="274243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 </a:t>
            </a:r>
            <a:r>
              <a:rPr lang="ru-RU" sz="100" dirty="0"/>
              <a:t>(Понимая уязвимость морских путей из метрополии, французское командование в 1937 году начало расширять склады боеприпасов и ремонтные мастерские в Марокко, чтобы армия могла воевать автономно как минимум 6 </a:t>
            </a:r>
            <a:r>
              <a:rPr lang="ru-RU" sz="100" dirty="0" err="1"/>
              <a:t>месяцев.Эффект</a:t>
            </a:r>
            <a:r>
              <a:rPr lang="ru-RU" sz="100" dirty="0"/>
              <a:t> в HOI 4: Добавляет 1 военную фабрику в Касабланку. Увеличивает максимальную емкость региональных складов снабжения на +20%.)</a:t>
            </a:r>
            <a:endParaRPr lang="ru-RU" sz="700" dirty="0"/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46317928" y="25355857"/>
            <a:ext cx="2912523" cy="1224493"/>
          </a:xfrm>
          <a:prstGeom prst="bentConnector3">
            <a:avLst>
              <a:gd name="adj1" fmla="val 4908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45082381" y="25344804"/>
            <a:ext cx="2912524" cy="1246597"/>
          </a:xfrm>
          <a:prstGeom prst="bentConnector3">
            <a:avLst>
              <a:gd name="adj1" fmla="val 4542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43914858" y="2545497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46074886" y="264147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44218725" y="264125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44850083" y="25966446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50" idx="2"/>
            <a:endCxn id="43" idx="0"/>
          </p:cNvCxnSpPr>
          <p:nvPr/>
        </p:nvCxnSpPr>
        <p:spPr>
          <a:xfrm rot="16200000" flipH="1">
            <a:off x="43819573" y="25550255"/>
            <a:ext cx="1096564" cy="628066"/>
          </a:xfrm>
          <a:prstGeom prst="bentConnector3">
            <a:avLst>
              <a:gd name="adj1" fmla="val 11433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46398013" y="26274678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48563006" y="24335270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49779430" y="2477600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49182432" y="23715845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47316086" y="282371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43590658" y="255939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 </a:t>
            </a:r>
            <a:r>
              <a:rPr lang="ru-RU" sz="100" dirty="0"/>
              <a:t>(С 1936 года Франция резко увеличила набор коренных марокканцев (арабов и берберов) в ряды регулярных частей — </a:t>
            </a:r>
            <a:r>
              <a:rPr lang="ru-RU" sz="100" dirty="0" err="1"/>
              <a:t>Тиральеров</a:t>
            </a:r>
            <a:r>
              <a:rPr lang="ru-RU" sz="100" dirty="0"/>
              <a:t> (Тайлеров) и </a:t>
            </a:r>
            <a:r>
              <a:rPr lang="ru-RU" sz="100" dirty="0" err="1"/>
              <a:t>Гумьеров</a:t>
            </a:r>
            <a:r>
              <a:rPr lang="ru-RU" sz="100" dirty="0"/>
              <a:t>. К 1939 году </a:t>
            </a:r>
            <a:r>
              <a:rPr lang="ru-RU" sz="100" dirty="0" err="1"/>
              <a:t>Ногесу</a:t>
            </a:r>
            <a:r>
              <a:rPr lang="ru-RU" sz="100" dirty="0"/>
              <a:t> удалось поставить под ружье невиданное для колонии число местных </a:t>
            </a:r>
            <a:r>
              <a:rPr lang="ru-RU" sz="100" dirty="0" err="1"/>
              <a:t>жителей.Эффект</a:t>
            </a:r>
            <a:r>
              <a:rPr lang="ru-RU" sz="100" dirty="0"/>
              <a:t> в HOI 4: Дает постоянный бонус к призывному населению (</a:t>
            </a:r>
            <a:r>
              <a:rPr lang="ru-RU" sz="100" dirty="0" err="1"/>
              <a:t>Manpower</a:t>
            </a:r>
            <a:r>
              <a:rPr lang="ru-RU" sz="100" dirty="0"/>
              <a:t>) +2.50% на национальных территориях. Снижает время подготовки пехотных дивизий на 10%.)</a:t>
            </a:r>
            <a:endParaRPr lang="ru-RU" sz="700" dirty="0"/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47334194" y="27792112"/>
            <a:ext cx="272803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43594468" y="274243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спаги: Рождение моторизованной кавалерии (Полки марокканских </a:t>
            </a:r>
            <a:r>
              <a:rPr lang="ru-RU" sz="700" dirty="0" err="1"/>
              <a:t>спагов</a:t>
            </a:r>
            <a:r>
              <a:rPr lang="ru-RU" sz="700" dirty="0"/>
              <a:t> </a:t>
            </a:r>
            <a:r>
              <a:rPr lang="ru-RU" sz="100" dirty="0"/>
              <a:t>(элитная туземная кавалерия) славились своей стремительностью. В 1937–1938 годах 1-й и 2-й полки </a:t>
            </a:r>
            <a:r>
              <a:rPr lang="ru-RU" sz="100" dirty="0" err="1"/>
              <a:t>спагов</a:t>
            </a:r>
            <a:r>
              <a:rPr lang="ru-RU" sz="100" dirty="0"/>
              <a:t> начали частично пересаживать на мотоциклы и легкие бронеавтомобили, создавая разведывательные группы (GRDI).Эффект в HOI 4: Дает скидку 50% на исследование бронеавтомобилей (</a:t>
            </a:r>
            <a:r>
              <a:rPr lang="ru-RU" sz="100" dirty="0" err="1"/>
              <a:t>Armored</a:t>
            </a:r>
            <a:r>
              <a:rPr lang="ru-RU" sz="100" dirty="0"/>
              <a:t> </a:t>
            </a:r>
            <a:r>
              <a:rPr lang="ru-RU" sz="100" dirty="0" err="1"/>
              <a:t>Cars</a:t>
            </a:r>
            <a:r>
              <a:rPr lang="ru-RU" sz="100" dirty="0"/>
              <a:t>) или моторизованной пехоты. Увеличивает максимальную скорость кавалерийских и моторизованных шаблонов на +10%.)</a:t>
            </a:r>
            <a:endParaRPr lang="ru-RU" sz="700" dirty="0"/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43410511" y="26777245"/>
            <a:ext cx="1290430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49779429" y="255939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 (+в горах и горняки)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50103629" y="2545497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Прямоугольник 86">
            <a:extLst>
              <a:ext uri="{FF2B5EF4-FFF2-40B4-BE49-F238E27FC236}">
                <a16:creationId xmlns:a16="http://schemas.microsoft.com/office/drawing/2014/main" id="{FFA5A51C-91CE-46B7-9AE4-E05DEBBD456D}"/>
              </a:ext>
            </a:extLst>
          </p:cNvPr>
          <p:cNvSpPr/>
          <p:nvPr/>
        </p:nvSpPr>
        <p:spPr>
          <a:xfrm>
            <a:off x="48542412" y="2559410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Французских офицеров Марокканцами</a:t>
            </a: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48542674" y="264125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Французских офицеров Марокканцами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47750244" y="26981575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46074885" y="2823716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87" idx="0"/>
          </p:cNvCxnSpPr>
          <p:nvPr/>
        </p:nvCxnSpPr>
        <p:spPr>
          <a:xfrm rot="16200000" flipH="1">
            <a:off x="48865607" y="25454140"/>
            <a:ext cx="278103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Соединительная линия уступом 620">
            <a:extLst>
              <a:ext uri="{FF2B5EF4-FFF2-40B4-BE49-F238E27FC236}">
                <a16:creationId xmlns:a16="http://schemas.microsoft.com/office/drawing/2014/main" id="{1D3BB680-7BC6-4E4D-93B0-5693659E5A26}"/>
              </a:ext>
            </a:extLst>
          </p:cNvPr>
          <p:cNvCxnSpPr>
            <a:cxnSpLocks/>
            <a:stCxn id="87" idx="2"/>
            <a:endCxn id="90" idx="0"/>
          </p:cNvCxnSpPr>
          <p:nvPr/>
        </p:nvCxnSpPr>
        <p:spPr>
          <a:xfrm rot="16200000" flipH="1">
            <a:off x="48866476" y="26273208"/>
            <a:ext cx="278461" cy="2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46713594" y="27788819"/>
            <a:ext cx="272802" cy="6238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46074885" y="291706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48534750" y="291702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46961924" y="28353293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48192058" y="28364359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41115911" y="2309389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42351808" y="247760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41115912" y="247760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 </a:t>
            </a:r>
            <a:r>
              <a:rPr lang="ru-RU" sz="100" dirty="0"/>
              <a:t>(Опасаясь влияния Торреса, верховный комиссар генерал </a:t>
            </a:r>
            <a:r>
              <a:rPr lang="ru-RU" sz="100" dirty="0" err="1"/>
              <a:t>Бейгбедер</a:t>
            </a:r>
            <a:r>
              <a:rPr lang="ru-RU" sz="100" dirty="0"/>
              <a:t> противопоставил ему другого националистического деятеля - Мекки </a:t>
            </a:r>
            <a:r>
              <a:rPr lang="ru-RU" sz="100" dirty="0" err="1"/>
              <a:t>Насыри</a:t>
            </a:r>
            <a:r>
              <a:rPr lang="ru-RU" sz="100" dirty="0"/>
              <a:t>. Последний снискал популярность </a:t>
            </a:r>
            <a:r>
              <a:rPr lang="ru-RU" sz="100" dirty="0" err="1"/>
              <a:t>реча¬ми</a:t>
            </a:r>
            <a:r>
              <a:rPr lang="ru-RU" sz="100" dirty="0"/>
              <a:t> в Большой мечети о национальных чаяниях марокканского народа. Верховный комиссар помог </a:t>
            </a:r>
            <a:r>
              <a:rPr lang="ru-RU" sz="100" dirty="0" err="1"/>
              <a:t>Насыри</a:t>
            </a:r>
            <a:r>
              <a:rPr lang="ru-RU" sz="100" dirty="0"/>
              <a:t> создать Партию </a:t>
            </a:r>
            <a:r>
              <a:rPr lang="ru-RU" sz="100" dirty="0" err="1"/>
              <a:t>ма¬рокканского</a:t>
            </a:r>
            <a:r>
              <a:rPr lang="ru-RU" sz="100" dirty="0"/>
              <a:t> единства (ПМЕ). Лидеры обеих партий представляли одни н те же социальные слои, выдвигали практически </a:t>
            </a:r>
            <a:r>
              <a:rPr lang="ru-RU" sz="100" dirty="0" err="1"/>
              <a:t>идентич¬ные</a:t>
            </a:r>
            <a:r>
              <a:rPr lang="ru-RU" sz="100" dirty="0"/>
              <a:t> требования. Но для арабского населения партия </a:t>
            </a:r>
            <a:r>
              <a:rPr lang="ru-RU" sz="100" dirty="0" err="1"/>
              <a:t>Насыри</a:t>
            </a:r>
            <a:r>
              <a:rPr lang="ru-RU" sz="100" dirty="0"/>
              <a:t> была более привлекательной вследствие ее приверженности </a:t>
            </a:r>
            <a:r>
              <a:rPr lang="ru-RU" sz="100" dirty="0" err="1"/>
              <a:t>ара¬бизму</a:t>
            </a:r>
            <a:r>
              <a:rPr lang="ru-RU" sz="100" dirty="0"/>
              <a:t>: ПМЕ выступала за то, чтобы арабский язык был объявлен единственным официальным языком мусульманского Марокко. Обе партии первоначально не ставили перед собой конкретных задач по изменению положения в испанской зоне.)</a:t>
            </a:r>
            <a:endParaRPr lang="ru-RU" sz="70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41724922" y="239718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39877061" y="247760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40486071" y="239718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41095181" y="23487947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41714606" y="23498361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41132073" y="24329001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41751499" y="24339417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42369447" y="24330479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40512648" y="24339417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41132074" y="23719992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40803386" y="25046004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41115911" y="255939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42349367" y="255939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5400000">
            <a:off x="41440110" y="25454969"/>
            <a:ext cx="27793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5400000">
            <a:off x="42674786" y="25453749"/>
            <a:ext cx="277930" cy="24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42974576" y="264118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62" idx="2"/>
            <a:endCxn id="113" idx="0"/>
          </p:cNvCxnSpPr>
          <p:nvPr/>
        </p:nvCxnSpPr>
        <p:spPr>
          <a:xfrm rot="16200000" flipH="1">
            <a:off x="42578426" y="25552549"/>
            <a:ext cx="1095859" cy="622768"/>
          </a:xfrm>
          <a:prstGeom prst="bentConnector3">
            <a:avLst>
              <a:gd name="adj1" fmla="val 1198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46667851" y="191631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46667850" y="207639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школы в новую систему образования </a:t>
            </a:r>
            <a:r>
              <a:rPr lang="ru-RU" sz="100" dirty="0"/>
              <a:t>(Доступ к аттестату о среднем образовании был предоставлен марокканскому мусульманскому населению в 1930 году, но доступ к элитным французским школам ( лицеям ) был предоставлен мусульманскому населению только после окончания войны. [ 11 ] Около девяноста процентов мусульманского населения Марокко были неграмотны во время Второй мировой войны. [)</a:t>
            </a:r>
            <a:endParaRPr lang="ru-RU" sz="700" dirty="0"/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46050630" y="199632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светское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47292690" y="199632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школы</a:t>
            </a:r>
          </a:p>
        </p:txBody>
      </p:sp>
      <p:cxnSp>
        <p:nvCxnSpPr>
          <p:cNvPr id="140" name="Прямая соединительная линия 139">
            <a:extLst>
              <a:ext uri="{FF2B5EF4-FFF2-40B4-BE49-F238E27FC236}">
                <a16:creationId xmlns:a16="http://schemas.microsoft.com/office/drawing/2014/main" id="{08D9148F-FD7B-49BC-A4DA-251ACA054636}"/>
              </a:ext>
            </a:extLst>
          </p:cNvPr>
          <p:cNvCxnSpPr>
            <a:cxnSpLocks/>
            <a:stCxn id="137" idx="1"/>
            <a:endCxn id="136" idx="3"/>
          </p:cNvCxnSpPr>
          <p:nvPr/>
        </p:nvCxnSpPr>
        <p:spPr>
          <a:xfrm flipH="1">
            <a:off x="46976955" y="20233204"/>
            <a:ext cx="31573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46692354" y="19524544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47313383" y="19520734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Соединительная линия уступом 620">
            <a:extLst>
              <a:ext uri="{FF2B5EF4-FFF2-40B4-BE49-F238E27FC236}">
                <a16:creationId xmlns:a16="http://schemas.microsoft.com/office/drawing/2014/main" id="{01DB8A97-03F6-49A6-8100-7A59ACF12FE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46692049" y="20324948"/>
            <a:ext cx="260709" cy="61722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Соединительная линия уступом 620">
            <a:extLst>
              <a:ext uri="{FF2B5EF4-FFF2-40B4-BE49-F238E27FC236}">
                <a16:creationId xmlns:a16="http://schemas.microsoft.com/office/drawing/2014/main" id="{419368A3-9936-4226-A921-A5B7276F6845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47313079" y="20321138"/>
            <a:ext cx="260709" cy="6248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48534749" y="207639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48534750" y="199632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47934414" y="18899703"/>
            <a:ext cx="260099" cy="18668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48867558" y="20633558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4808570" y="199632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46071325" y="18903513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4810998" y="207639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45142592" y="20632343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47292690" y="1676032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  <a:p>
            <a:pPr algn="ctr"/>
            <a:r>
              <a:rPr lang="ru-RU" sz="100" dirty="0"/>
              <a:t>(Чтобы занять сотни тысяч разорившихся крестьян, бежавших в города и создававших первые трущобы (бидонвили) Касабланки и Рабата, французы скопировали американские методы «Нового курса» </a:t>
            </a:r>
            <a:r>
              <a:rPr lang="ru-RU" sz="100" dirty="0" err="1"/>
              <a:t>Рузвельта:Инфраструктурные</a:t>
            </a:r>
            <a:r>
              <a:rPr lang="ru-RU" sz="100" dirty="0"/>
              <a:t> фокусы: Марокканцев массово нанимали за минимальную оплату и паёк на ручной труд — строительство дорог, прокладку телефонных линий и ирригационных </a:t>
            </a:r>
            <a:r>
              <a:rPr lang="ru-RU" sz="100" dirty="0" err="1"/>
              <a:t>каналов.Форсирование</a:t>
            </a:r>
            <a:r>
              <a:rPr lang="ru-RU" sz="100" dirty="0"/>
              <a:t> строительства плотины Эль-</a:t>
            </a:r>
            <a:r>
              <a:rPr lang="ru-RU" sz="100" dirty="0" err="1"/>
              <a:t>Кансера</a:t>
            </a:r>
            <a:r>
              <a:rPr lang="ru-RU" sz="100" dirty="0"/>
              <a:t>: В 1937 году были брошены колоссальные человеческие ресурсы на ускорение строительства этой ГЭС на реке </a:t>
            </a:r>
            <a:r>
              <a:rPr lang="ru-RU" sz="100" dirty="0" err="1"/>
              <a:t>Бех</a:t>
            </a:r>
            <a:r>
              <a:rPr lang="ru-RU" sz="100" dirty="0"/>
              <a:t> для обеспечения водой Новых городов.)</a:t>
            </a:r>
            <a:endParaRPr lang="ru-RU" sz="700" dirty="0"/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46667849" y="175616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  <a:p>
            <a:pPr algn="ctr"/>
            <a:r>
              <a:rPr lang="ru-RU" sz="100" dirty="0"/>
              <a:t>(В 1938 году в </a:t>
            </a:r>
            <a:r>
              <a:rPr lang="ru-RU" sz="100" dirty="0" err="1"/>
              <a:t>Сафи</a:t>
            </a:r>
            <a:r>
              <a:rPr lang="ru-RU" sz="100" dirty="0"/>
              <a:t> и </a:t>
            </a:r>
            <a:r>
              <a:rPr lang="ru-RU" sz="100" dirty="0" err="1"/>
              <a:t>Агадире</a:t>
            </a:r>
            <a:r>
              <a:rPr lang="ru-RU" sz="100" dirty="0"/>
              <a:t> начался бум строительства заводов по производству рыбных консервов (сардин). Это было сделано для долгосрочного снабжения французской армии </a:t>
            </a:r>
            <a:r>
              <a:rPr lang="ru-RU" sz="100" dirty="0" err="1"/>
              <a:t>сухпайками</a:t>
            </a:r>
            <a:r>
              <a:rPr lang="ru-RU" sz="100" dirty="0"/>
              <a:t>.) Продовольственный мост: Вся консервная промышленность </a:t>
            </a:r>
            <a:r>
              <a:rPr lang="ru-RU" sz="100" dirty="0" err="1"/>
              <a:t>Сафи</a:t>
            </a:r>
            <a:r>
              <a:rPr lang="ru-RU" sz="100" dirty="0"/>
              <a:t> и </a:t>
            </a:r>
            <a:r>
              <a:rPr lang="ru-RU" sz="100" dirty="0" err="1"/>
              <a:t>Агадира</a:t>
            </a:r>
            <a:r>
              <a:rPr lang="ru-RU" sz="100" dirty="0"/>
              <a:t> (производство рыбных и мясных консервов) работала исключительно на французскую армию. Поставки цитрусовых и ранних овощей частным лицам в Европу прекратились — всё уходило на нужды госпиталей и воинских частей.</a:t>
            </a:r>
            <a:endParaRPr lang="ru-RU" sz="700" dirty="0"/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46667847" y="215652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r>
              <a:rPr lang="ru-RU" sz="700" dirty="0"/>
              <a:t> </a:t>
            </a:r>
            <a:r>
              <a:rPr lang="ru-RU" sz="200" dirty="0"/>
              <a:t>(Параллельно в Марокко шла реформа старейшего исламского центра — Аль-</a:t>
            </a:r>
            <a:r>
              <a:rPr lang="ru-RU" sz="200" dirty="0" err="1"/>
              <a:t>Карауина</a:t>
            </a:r>
            <a:r>
              <a:rPr lang="ru-RU" sz="200" dirty="0"/>
              <a:t> в Фесе, основанного еще в 859 </a:t>
            </a:r>
            <a:r>
              <a:rPr lang="ru-RU" sz="200" dirty="0" err="1"/>
              <a:t>году.В</a:t>
            </a:r>
            <a:r>
              <a:rPr lang="ru-RU" sz="200" dirty="0"/>
              <a:t> 1947 году его частично интегрировали в систему государственного </a:t>
            </a:r>
            <a:r>
              <a:rPr lang="ru-RU" sz="200" dirty="0" err="1"/>
              <a:t>образования.Полноценным</a:t>
            </a:r>
            <a:r>
              <a:rPr lang="ru-RU" sz="200" dirty="0"/>
              <a:t> государственным современным светским университетом по европейским стандартам (с выдачей дипломов единого образца) Аль-</a:t>
            </a:r>
            <a:r>
              <a:rPr lang="ru-RU" sz="200" dirty="0" err="1"/>
              <a:t>Карауин</a:t>
            </a:r>
            <a:r>
              <a:rPr lang="ru-RU" sz="200" dirty="0"/>
              <a:t> официально стал только в 1963 году специальным королевским указом)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44814922" y="159509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  <a:p>
            <a:pPr algn="ctr"/>
            <a:r>
              <a:rPr lang="ru-RU" sz="100" dirty="0"/>
              <a:t>(В сентябре 1936 года Франция провела девальвацию французского франка. Вслед за ним колониальный Банк Марокко (</a:t>
            </a:r>
            <a:r>
              <a:rPr lang="ru-RU" sz="100" dirty="0" err="1"/>
              <a:t>Banque</a:t>
            </a:r>
            <a:r>
              <a:rPr lang="ru-RU" sz="100" dirty="0"/>
              <a:t> </a:t>
            </a:r>
            <a:r>
              <a:rPr lang="ru-RU" sz="100" dirty="0" err="1"/>
              <a:t>d’Etat</a:t>
            </a:r>
            <a:r>
              <a:rPr lang="ru-RU" sz="100" dirty="0"/>
              <a:t> </a:t>
            </a:r>
            <a:r>
              <a:rPr lang="ru-RU" sz="100" dirty="0" err="1"/>
              <a:t>du</a:t>
            </a:r>
            <a:r>
              <a:rPr lang="ru-RU" sz="100" dirty="0"/>
              <a:t> </a:t>
            </a:r>
            <a:r>
              <a:rPr lang="ru-RU" sz="100" dirty="0" err="1"/>
              <a:t>Maroc</a:t>
            </a:r>
            <a:r>
              <a:rPr lang="ru-RU" sz="100" dirty="0"/>
              <a:t>) был вынужден девальвировать марокканский франк на 25–35%.Результат: Это сделало марокканские экспортные товары (фосфаты, зерно, металлы) значительно дешевле и привлекательнее на мировом рынке, что резко стимулировало экспорт и увеличило доходы протектората)</a:t>
            </a:r>
            <a:endParaRPr lang="ru-RU" sz="600" dirty="0"/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46667850" y="1836238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r>
              <a:rPr lang="ru-RU" sz="700" dirty="0"/>
              <a:t> </a:t>
            </a:r>
            <a:r>
              <a:rPr lang="ru-RU" sz="100" dirty="0"/>
              <a:t>(В 1939 году была официально введена в строй крупная гидроэлектростанция на реке </a:t>
            </a:r>
            <a:r>
              <a:rPr lang="ru-RU" sz="100" dirty="0" err="1"/>
              <a:t>Бех</a:t>
            </a:r>
            <a:r>
              <a:rPr lang="ru-RU" sz="100" dirty="0"/>
              <a:t>. Она дала промышленную электроэнергию военным заводам и мастерским </a:t>
            </a:r>
            <a:r>
              <a:rPr lang="ru-RU" sz="100" dirty="0" err="1"/>
              <a:t>Мекнеса</a:t>
            </a:r>
            <a:r>
              <a:rPr lang="ru-RU" sz="100" dirty="0"/>
              <a:t> и Рабата.)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47909909" y="1836238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</a:p>
          <a:p>
            <a:pPr algn="ctr"/>
            <a:r>
              <a:rPr lang="ru-RU" sz="100" dirty="0"/>
              <a:t>(Марокко превратилось в ключевого сырьевого донора французского ВПК, который лихорадочно наращивал производство </a:t>
            </a:r>
            <a:r>
              <a:rPr lang="ru-RU" sz="100" dirty="0" err="1"/>
              <a:t>оружия.Экспортные</a:t>
            </a:r>
            <a:r>
              <a:rPr lang="ru-RU" sz="100" dirty="0"/>
              <a:t> квоты: В 1938 году был введен жесткий контроль над экспортом стратегического сырья. Весь объем добычи кобальта (месторождение </a:t>
            </a:r>
            <a:r>
              <a:rPr lang="ru-RU" sz="100" dirty="0" err="1"/>
              <a:t>Бу-Аззер</a:t>
            </a:r>
            <a:r>
              <a:rPr lang="ru-RU" sz="100" dirty="0"/>
              <a:t>) и марганца (</a:t>
            </a:r>
            <a:r>
              <a:rPr lang="ru-RU" sz="100" dirty="0" err="1"/>
              <a:t>Бу</a:t>
            </a:r>
            <a:r>
              <a:rPr lang="ru-RU" sz="100" dirty="0"/>
              <a:t>-Арфа) теперь принудительно направлялся на металлургические заводы Франции для производства броневой стали. Фокус «Сырьевой донор Метрополии»: Добавляет в регионы Марокко дополнительные единицы хрома/стали (имитирующих марганец и кобальт) и увеличивает скорость их добычи на +10%, но направляет часть ресурсов Франции.) Перевести всю экономику на военные рельсы (Переход на режим военной экономики и </a:t>
            </a:r>
            <a:r>
              <a:rPr lang="ru-RU" sz="100" dirty="0" err="1"/>
              <a:t>нормированияС</a:t>
            </a:r>
            <a:r>
              <a:rPr lang="ru-RU" sz="100" dirty="0"/>
              <a:t> началом войны в сентябре 1939 года свободный рынок в Марокко фактически перестал </a:t>
            </a:r>
            <a:r>
              <a:rPr lang="ru-RU" sz="100" dirty="0" err="1"/>
              <a:t>существовать.Введение</a:t>
            </a:r>
            <a:r>
              <a:rPr lang="ru-RU" sz="100" dirty="0"/>
              <a:t> карточной системы: Французская администрация ввела жесткое нормирование и купоны на базовые товары: сахар, чай, ткани, горючее и </a:t>
            </a:r>
            <a:r>
              <a:rPr lang="ru-RU" sz="100" dirty="0" err="1"/>
              <a:t>мыло.Контроль</a:t>
            </a:r>
            <a:r>
              <a:rPr lang="ru-RU" sz="100" dirty="0"/>
              <a:t> цен и конфискации: Были введены суровые наказания за спекуляцию. Специальные экономические патрули имели право конфисковать «излишки» зерна у крупных землевладельцев для нужд </a:t>
            </a:r>
            <a:r>
              <a:rPr lang="ru-RU" sz="100" dirty="0" err="1"/>
              <a:t>армии.Замораживание</a:t>
            </a:r>
            <a:r>
              <a:rPr lang="ru-RU" sz="100" dirty="0"/>
              <a:t> капиталов: Были введены жесткие ограничения на вывоз валюты и золота из протектората, чтобы предотвратить панику и бегство европейских капиталов.)</a:t>
            </a:r>
          </a:p>
          <a:p>
            <a:pPr algn="ctr"/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47909910" y="175616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 </a:t>
            </a:r>
            <a:r>
              <a:rPr lang="ru-RU" sz="100" dirty="0"/>
              <a:t>(Выход фосфатной промышленности на пик </a:t>
            </a:r>
            <a:r>
              <a:rPr lang="ru-RU" sz="100" dirty="0" err="1"/>
              <a:t>производстваНесмотря</a:t>
            </a:r>
            <a:r>
              <a:rPr lang="ru-RU" sz="100" dirty="0"/>
              <a:t> на кризис в сельском хозяйстве, промышленный сектор показал рекордный </a:t>
            </a:r>
            <a:r>
              <a:rPr lang="ru-RU" sz="100" dirty="0" err="1"/>
              <a:t>рост.Валютный</a:t>
            </a:r>
            <a:r>
              <a:rPr lang="ru-RU" sz="100" dirty="0"/>
              <a:t> донор: Государственная OCP (</a:t>
            </a:r>
            <a:r>
              <a:rPr lang="ru-RU" sz="100" dirty="0" err="1"/>
              <a:t>Office</a:t>
            </a:r>
            <a:r>
              <a:rPr lang="ru-RU" sz="100" dirty="0"/>
              <a:t> </a:t>
            </a:r>
            <a:r>
              <a:rPr lang="ru-RU" sz="100" dirty="0" err="1"/>
              <a:t>Chérifien</a:t>
            </a:r>
            <a:r>
              <a:rPr lang="ru-RU" sz="100" dirty="0"/>
              <a:t> </a:t>
            </a:r>
            <a:r>
              <a:rPr lang="ru-RU" sz="100" dirty="0" err="1"/>
              <a:t>des</a:t>
            </a:r>
            <a:r>
              <a:rPr lang="ru-RU" sz="100" dirty="0"/>
              <a:t> </a:t>
            </a:r>
            <a:r>
              <a:rPr lang="ru-RU" sz="100" dirty="0" err="1"/>
              <a:t>Phosphates</a:t>
            </a:r>
            <a:r>
              <a:rPr lang="ru-RU" sz="100" dirty="0"/>
              <a:t>) в </a:t>
            </a:r>
            <a:r>
              <a:rPr lang="ru-RU" sz="100" dirty="0" err="1"/>
              <a:t>Хурибге</a:t>
            </a:r>
            <a:r>
              <a:rPr lang="ru-RU" sz="100" dirty="0"/>
              <a:t> в 1937 году полностью модернизировала конвейерные линии и увеличила добычу фосфатов до исторического максимума. Это позволило Франции перекрыть дефицит бюджета протектората, возникший из-за засухи.)</a:t>
            </a:r>
            <a:endParaRPr lang="ru-RU" sz="700" dirty="0"/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46049854" y="16760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  <a:p>
            <a:pPr algn="ctr"/>
            <a:r>
              <a:rPr lang="ru-RU" sz="200" dirty="0"/>
              <a:t>В 1936 году шло форсированное расширение узкоколейной ветки в Сахару до города </a:t>
            </a:r>
            <a:r>
              <a:rPr lang="ru-RU" sz="200" dirty="0" err="1"/>
              <a:t>Бу</a:t>
            </a:r>
            <a:r>
              <a:rPr lang="ru-RU" sz="200" dirty="0"/>
              <a:t>-Арфа для вывоза стратегического марганца из рудников </a:t>
            </a:r>
            <a:r>
              <a:rPr lang="ru-RU" sz="200" dirty="0" err="1"/>
              <a:t>Бу-Аззер</a:t>
            </a:r>
            <a:r>
              <a:rPr lang="ru-RU" sz="200" dirty="0"/>
              <a:t>. Это была подготовка к созданию </a:t>
            </a:r>
            <a:r>
              <a:rPr lang="ru-RU" sz="200" dirty="0" err="1"/>
              <a:t>Транссахарской</a:t>
            </a:r>
            <a:r>
              <a:rPr lang="ru-RU" sz="200" dirty="0"/>
              <a:t> магистрали.</a:t>
            </a:r>
            <a:endParaRPr lang="ru-RU" sz="600" dirty="0"/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45423909" y="175616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  <a:p>
            <a:pPr algn="ctr"/>
            <a:r>
              <a:rPr lang="ru-RU" sz="100" dirty="0"/>
              <a:t>(Поскольку государственное образование искусственно сдерживало марокканцев (в 1945 году в школах училось всего около 35 000 местных детей), марокканское национальное движение и буржуазия начали массово открывать «Свободные школы» (</a:t>
            </a:r>
            <a:r>
              <a:rPr lang="ru-RU" sz="100" dirty="0" err="1"/>
              <a:t>Ecoles</a:t>
            </a:r>
            <a:r>
              <a:rPr lang="ru-RU" sz="100" dirty="0"/>
              <a:t> </a:t>
            </a:r>
            <a:r>
              <a:rPr lang="ru-RU" sz="100" dirty="0" err="1"/>
              <a:t>Libres</a:t>
            </a:r>
            <a:r>
              <a:rPr lang="ru-RU" sz="100" dirty="0"/>
              <a:t>).В период 1936–1939 годов эти частные школы пережили </a:t>
            </a:r>
            <a:r>
              <a:rPr lang="ru-RU" sz="100" dirty="0" err="1"/>
              <a:t>бум.Их</a:t>
            </a:r>
            <a:r>
              <a:rPr lang="ru-RU" sz="100" dirty="0"/>
              <a:t> главная реформа заключалась в модернизации учебного плана: в отличие от традиционных коранических школ (</a:t>
            </a:r>
            <a:r>
              <a:rPr lang="ru-RU" sz="100" dirty="0" err="1"/>
              <a:t>мсid</a:t>
            </a:r>
            <a:r>
              <a:rPr lang="ru-RU" sz="100" dirty="0"/>
              <a:t>), где тексты зазубривались, здесь преподавали математику, историю и географию на арабском языке, воспитывая будущих лидеров борьбы за независимость.)</a:t>
            </a:r>
            <a:endParaRPr lang="ru-RU" sz="700" dirty="0"/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45423910" y="191586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  <a:p>
            <a:pPr algn="ctr"/>
            <a:r>
              <a:rPr lang="ru-RU" sz="100" dirty="0"/>
              <a:t>(Голод спровоцировал эпидемии среди населения и массовый падеж скота, который был основой экономики </a:t>
            </a:r>
            <a:r>
              <a:rPr lang="ru-RU" sz="100" dirty="0" err="1"/>
              <a:t>берберов.«Операция</a:t>
            </a:r>
            <a:r>
              <a:rPr lang="ru-RU" sz="100" dirty="0"/>
              <a:t> ветеринарии»: Колониальные власти организовали принудительную бесплатную вакцинацию оставшегося скота от ящура и </a:t>
            </a:r>
            <a:r>
              <a:rPr lang="ru-RU" sz="100" dirty="0" err="1"/>
              <a:t>чумы.Мобильные</a:t>
            </a:r>
            <a:r>
              <a:rPr lang="ru-RU" sz="100" dirty="0"/>
              <a:t> госпитали: Для борьбы с сыпным тифом и чумой в 1937 году французы создали сеть мобильных медицинских отрядов, которые перемещались по Сахаре и Атласу, вакцинируя местных жителей.)</a:t>
            </a:r>
            <a:endParaRPr lang="ru-RU" sz="700" dirty="0"/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45423909" y="1836238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  <a:p>
            <a:pPr algn="ctr"/>
            <a:r>
              <a:rPr lang="ru-RU" sz="100" dirty="0"/>
              <a:t>(Из-за сильного неурожая зерновых в предыдущие годы администрация ввела жесткое регулирование цен на хлеб и муку для предотвращения спекуляций. Султан Мухаммед V добился от французов выделения дотаций и посевного зерна для беднейших марокканских крестьян (феллахов).) Из-за полного отсутствия дождей в начале 1937 года урожай зерна в южных и центральных регионах Марокко погиб. Надвигался массовый голод среди коренного населения (феллахов).Создание «Фонда солидарности»: Администрация </a:t>
            </a:r>
            <a:r>
              <a:rPr lang="ru-RU" sz="100" dirty="0" err="1"/>
              <a:t>Ногеса</a:t>
            </a:r>
            <a:r>
              <a:rPr lang="ru-RU" sz="100" dirty="0"/>
              <a:t> ввела чрезвычайный налог на сверхприбыли крупных европейских компаний для закупки </a:t>
            </a:r>
            <a:r>
              <a:rPr lang="ru-RU" sz="100" dirty="0" err="1"/>
              <a:t>зерна.Экстренный</a:t>
            </a:r>
            <a:r>
              <a:rPr lang="ru-RU" sz="100" dirty="0"/>
              <a:t> импорт и бесплатная раздача: Были отменены пошлины на ввоз пшеницы из Алжира и Франции. В пострадавших регионах (Марракеш, </a:t>
            </a:r>
            <a:r>
              <a:rPr lang="ru-RU" sz="100" dirty="0" err="1"/>
              <a:t>Сус</a:t>
            </a:r>
            <a:r>
              <a:rPr lang="ru-RU" sz="100" dirty="0"/>
              <a:t>) французы открыли пункты бесплатной раздачи супа и зерна, чтобы остановить голодные марши на </a:t>
            </a:r>
            <a:r>
              <a:rPr lang="ru-RU" sz="100" dirty="0" err="1"/>
              <a:t>Касабланку.Запрет</a:t>
            </a:r>
            <a:r>
              <a:rPr lang="ru-RU" sz="100" dirty="0"/>
              <a:t> на вывоз хлеба: Весной 1937 года был введен полный запрет на экспорт марокканского зерна в Европу, чтобы удержать внутренние цены.</a:t>
            </a:r>
            <a:endParaRPr lang="ru-RU" sz="600" dirty="0"/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4814921" y="1676538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  <a:p>
            <a:pPr algn="ctr"/>
            <a:r>
              <a:rPr lang="ru-RU" sz="100" dirty="0"/>
              <a:t>(Для борьбы с безработицей среди коренного населения и решения проблемы засух в 1936 году было выделено целевое государственное финансирование на новые инфраструктурные объекты. В частности, активизировалось финансирование строительства плотины </a:t>
            </a:r>
            <a:r>
              <a:rPr lang="ru-RU" sz="100" dirty="0" err="1"/>
              <a:t>Касба-Тадла</a:t>
            </a:r>
            <a:r>
              <a:rPr lang="ru-RU" sz="100" dirty="0"/>
              <a:t> и гидротехнических сооружений на ключевой реке </a:t>
            </a:r>
            <a:r>
              <a:rPr lang="ru-RU" sz="100" dirty="0" err="1"/>
              <a:t>Умм</a:t>
            </a:r>
            <a:r>
              <a:rPr lang="ru-RU" sz="100" dirty="0"/>
              <a:t>-эр-</a:t>
            </a:r>
            <a:r>
              <a:rPr lang="ru-RU" sz="100" dirty="0" err="1"/>
              <a:t>Рбия</a:t>
            </a:r>
            <a:r>
              <a:rPr lang="ru-RU" sz="100" dirty="0"/>
              <a:t>. Это дало сильный толчок строительному сектору.)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47292690" y="15950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cxnSp>
        <p:nvCxnSpPr>
          <p:cNvPr id="174" name="Соединительная линия уступом 620">
            <a:extLst>
              <a:ext uri="{FF2B5EF4-FFF2-40B4-BE49-F238E27FC236}">
                <a16:creationId xmlns:a16="http://schemas.microsoft.com/office/drawing/2014/main" id="{94BD342C-0CA0-4ADE-8B26-47E1657800A2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45140869" y="16628167"/>
            <a:ext cx="27443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47909908" y="19163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0" name="Соединительная линия уступом 620">
            <a:extLst>
              <a:ext uri="{FF2B5EF4-FFF2-40B4-BE49-F238E27FC236}">
                <a16:creationId xmlns:a16="http://schemas.microsoft.com/office/drawing/2014/main" id="{10DC8736-A3A3-4600-A289-6DCEADA27B6F}"/>
              </a:ext>
            </a:extLst>
          </p:cNvPr>
          <p:cNvCxnSpPr>
            <a:cxnSpLocks/>
            <a:stCxn id="172" idx="2"/>
            <a:endCxn id="161" idx="0"/>
          </p:cNvCxnSpPr>
          <p:nvPr/>
        </p:nvCxnSpPr>
        <p:spPr>
          <a:xfrm rot="5400000">
            <a:off x="47621166" y="16625639"/>
            <a:ext cx="269375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45758929" y="19030526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48242716" y="18232027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48242714" y="19032742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47000654" y="18232027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47621685" y="17610998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47621683" y="18411715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47000655" y="19032744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4179969" y="175616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  <a:p>
            <a:pPr algn="ctr"/>
            <a:r>
              <a:rPr lang="ru-RU" sz="100" dirty="0"/>
              <a:t>(</a:t>
            </a:r>
            <a:r>
              <a:rPr lang="ru-RU" sz="100" b="1" dirty="0"/>
              <a:t>Франко-берберские школы:</a:t>
            </a:r>
            <a:r>
              <a:rPr lang="ru-RU" sz="100" dirty="0"/>
              <a:t> В горах Атласа </a:t>
            </a:r>
            <a:r>
              <a:rPr lang="ru-RU" sz="100" dirty="0" err="1"/>
              <a:t>Ногес</a:t>
            </a:r>
            <a:r>
              <a:rPr lang="ru-RU" sz="100" dirty="0"/>
              <a:t> продолжил развивать сеть школ, где обучение велось исключительно на французском языке, а арабский язык и исламское право были полностью исключены. Это делалось для того, чтобы оторвать берберов от арабского большинства страны.)</a:t>
            </a:r>
            <a:endParaRPr lang="ru-RU" sz="700" dirty="0"/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5106294" y="17831669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4179968" y="183627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 </a:t>
            </a:r>
            <a:r>
              <a:rPr lang="ru-RU" sz="200" dirty="0"/>
              <a:t>(Ближе к концу Второй мировой войны, под давлением модернизационных процессов, колониальные власти пошли на историческую уступку и заложили базу для женского среднего образования. Были созданы первые специализированные колледжи для мусульманских девушек (в частности, в Рабате и Фесе), что стало революционным шагом для традиционного марокканского общества того времени.)</a:t>
            </a:r>
            <a:endParaRPr lang="ru-RU" sz="700" dirty="0"/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4832465" y="17116050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45454435" y="17129032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45134540" y="17610261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4512570" y="18232231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45134745" y="17610056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45756715" y="18232026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45760551" y="16008485"/>
            <a:ext cx="270001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Соединительная линия уступом 620">
            <a:extLst>
              <a:ext uri="{FF2B5EF4-FFF2-40B4-BE49-F238E27FC236}">
                <a16:creationId xmlns:a16="http://schemas.microsoft.com/office/drawing/2014/main" id="{7BEE4F34-8379-47D8-8C0B-4D8DE22A0B97}"/>
              </a:ext>
            </a:extLst>
          </p:cNvPr>
          <p:cNvCxnSpPr>
            <a:cxnSpLocks/>
            <a:stCxn id="172" idx="2"/>
            <a:endCxn id="167" idx="0"/>
          </p:cNvCxnSpPr>
          <p:nvPr/>
        </p:nvCxnSpPr>
        <p:spPr>
          <a:xfrm rot="5400000">
            <a:off x="46999435" y="16004534"/>
            <a:ext cx="270000" cy="124283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46691655" y="17122313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Соединительная линия уступом 620">
            <a:extLst>
              <a:ext uri="{FF2B5EF4-FFF2-40B4-BE49-F238E27FC236}">
                <a16:creationId xmlns:a16="http://schemas.microsoft.com/office/drawing/2014/main" id="{EB1802D9-6AEF-43B0-8B61-D88E8CD70023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47312762" y="17118578"/>
            <a:ext cx="261343" cy="624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47933792" y="17122388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4647695" y="18097105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45269665" y="18719075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45268725" y="17476075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45890695" y="18098045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47000341" y="21434583"/>
            <a:ext cx="261342" cy="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Прямоугольник 347">
            <a:extLst>
              <a:ext uri="{FF2B5EF4-FFF2-40B4-BE49-F238E27FC236}">
                <a16:creationId xmlns:a16="http://schemas.microsoft.com/office/drawing/2014/main" id="{96EF85BB-BE9E-4122-8899-B2A2E5D8A2E8}"/>
              </a:ext>
            </a:extLst>
          </p:cNvPr>
          <p:cNvSpPr/>
          <p:nvPr/>
        </p:nvSpPr>
        <p:spPr>
          <a:xfrm>
            <a:off x="6931766" y="143601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школы в новую систему образования </a:t>
            </a:r>
            <a:r>
              <a:rPr lang="ru-RU" sz="100" dirty="0"/>
              <a:t>(Доступ к аттестату о среднем образовании был предоставлен марокканскому мусульманскому населению в 1930 году, но доступ к элитным французским школам ( лицеям ) был предоставлен мусульманскому населению только после окончания войны. [ 11 ] Около девяноста процентов мусульманского населения Марокко были неграмотны во время Второй мировой войны. [)</a:t>
            </a:r>
            <a:endParaRPr lang="ru-RU" sz="700" dirty="0"/>
          </a:p>
        </p:txBody>
      </p: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4CA8FC15-8BD7-44C7-B0F7-E64D65C693AC}"/>
              </a:ext>
            </a:extLst>
          </p:cNvPr>
          <p:cNvSpPr/>
          <p:nvPr/>
        </p:nvSpPr>
        <p:spPr>
          <a:xfrm>
            <a:off x="6314546" y="6353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светское образование</a:t>
            </a:r>
          </a:p>
        </p:txBody>
      </p:sp>
      <p:sp>
        <p:nvSpPr>
          <p:cNvPr id="351" name="Прямоугольник 350">
            <a:extLst>
              <a:ext uri="{FF2B5EF4-FFF2-40B4-BE49-F238E27FC236}">
                <a16:creationId xmlns:a16="http://schemas.microsoft.com/office/drawing/2014/main" id="{81001C44-0901-492A-8AC5-FE2786AEA7B3}"/>
              </a:ext>
            </a:extLst>
          </p:cNvPr>
          <p:cNvSpPr/>
          <p:nvPr/>
        </p:nvSpPr>
        <p:spPr>
          <a:xfrm>
            <a:off x="7556606" y="6353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школы</a:t>
            </a:r>
          </a:p>
        </p:txBody>
      </p: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351" idx="1"/>
            <a:endCxn id="349" idx="3"/>
          </p:cNvCxnSpPr>
          <p:nvPr/>
        </p:nvCxnSpPr>
        <p:spPr>
          <a:xfrm flipH="1">
            <a:off x="7240871" y="905310"/>
            <a:ext cx="31573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Соединительная линия уступом 620">
            <a:extLst>
              <a:ext uri="{FF2B5EF4-FFF2-40B4-BE49-F238E27FC236}">
                <a16:creationId xmlns:a16="http://schemas.microsoft.com/office/drawing/2014/main" id="{E0DD6A66-BBE5-472E-9058-C725ABAFA56D}"/>
              </a:ext>
            </a:extLst>
          </p:cNvPr>
          <p:cNvCxnSpPr>
            <a:cxnSpLocks/>
            <a:stCxn id="349" idx="2"/>
            <a:endCxn id="348" idx="0"/>
          </p:cNvCxnSpPr>
          <p:nvPr/>
        </p:nvCxnSpPr>
        <p:spPr>
          <a:xfrm rot="16200000" flipH="1">
            <a:off x="6955965" y="997054"/>
            <a:ext cx="260709" cy="61722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36138E5C-EE6A-49E1-BF94-C6EF03975FF7}"/>
              </a:ext>
            </a:extLst>
          </p:cNvPr>
          <p:cNvCxnSpPr>
            <a:cxnSpLocks/>
            <a:stCxn id="351" idx="2"/>
            <a:endCxn id="348" idx="0"/>
          </p:cNvCxnSpPr>
          <p:nvPr/>
        </p:nvCxnSpPr>
        <p:spPr>
          <a:xfrm rot="5400000">
            <a:off x="7576995" y="993244"/>
            <a:ext cx="260709" cy="6248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7C251E4A-3D3C-47B2-8576-73040B029DB0}"/>
              </a:ext>
            </a:extLst>
          </p:cNvPr>
          <p:cNvCxnSpPr>
            <a:cxnSpLocks/>
          </p:cNvCxnSpPr>
          <p:nvPr/>
        </p:nvCxnSpPr>
        <p:spPr>
          <a:xfrm rot="5400000">
            <a:off x="6335241" y="-42438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50424</TotalTime>
  <Words>2311</Words>
  <Application>Microsoft Office PowerPoint</Application>
  <PresentationFormat>Произвольный</PresentationFormat>
  <Paragraphs>73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2357</cp:revision>
  <dcterms:created xsi:type="dcterms:W3CDTF">2018-10-23T08:09:21Z</dcterms:created>
  <dcterms:modified xsi:type="dcterms:W3CDTF">2026-06-10T13:22:02Z</dcterms:modified>
</cp:coreProperties>
</file>