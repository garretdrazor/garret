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  <a:srgbClr val="F13F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69" autoAdjust="0"/>
    <p:restoredTop sz="96374" autoAdjust="0"/>
  </p:normalViewPr>
  <p:slideViewPr>
    <p:cSldViewPr snapToGrid="0">
      <p:cViewPr>
        <p:scale>
          <a:sx n="140" d="100"/>
          <a:sy n="140" d="100"/>
        </p:scale>
        <p:origin x="-10848" y="-4704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28.07.2026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28.07.2026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28.07.2026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28.07.2026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28.07.2026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28.07.2026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28.07.2026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28.07.2026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28.07.2026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28.07.2026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28.07.2026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28.07.2026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28.07.2026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Прямоугольник 581"/>
          <p:cNvSpPr/>
          <p:nvPr/>
        </p:nvSpPr>
        <p:spPr>
          <a:xfrm>
            <a:off x="11789141" y="1448062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лагерей в Фесе</a:t>
            </a:r>
          </a:p>
        </p:txBody>
      </p:sp>
      <p:cxnSp>
        <p:nvCxnSpPr>
          <p:cNvPr id="118" name="Соединительная линия уступом 620">
            <a:extLst>
              <a:ext uri="{FF2B5EF4-FFF2-40B4-BE49-F238E27FC236}">
                <a16:creationId xmlns:a16="http://schemas.microsoft.com/office/drawing/2014/main" id="{C1702904-0E50-4FBA-B873-2C147B00B9E8}"/>
              </a:ext>
            </a:extLst>
          </p:cNvPr>
          <p:cNvCxnSpPr>
            <a:cxnSpLocks/>
            <a:stCxn id="582" idx="2"/>
            <a:endCxn id="15" idx="0"/>
          </p:cNvCxnSpPr>
          <p:nvPr/>
        </p:nvCxnSpPr>
        <p:spPr>
          <a:xfrm rot="5400000">
            <a:off x="11460033" y="14566300"/>
            <a:ext cx="337946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Соединительная линия уступом 620">
            <a:extLst>
              <a:ext uri="{FF2B5EF4-FFF2-40B4-BE49-F238E27FC236}">
                <a16:creationId xmlns:a16="http://schemas.microsoft.com/office/drawing/2014/main" id="{2C4B12DA-382A-45C6-AD96-13081055D21D}"/>
              </a:ext>
            </a:extLst>
          </p:cNvPr>
          <p:cNvCxnSpPr>
            <a:cxnSpLocks/>
            <a:stCxn id="582" idx="2"/>
            <a:endCxn id="17" idx="0"/>
          </p:cNvCxnSpPr>
          <p:nvPr/>
        </p:nvCxnSpPr>
        <p:spPr>
          <a:xfrm rot="16200000" flipH="1">
            <a:off x="12695578" y="14577351"/>
            <a:ext cx="337947" cy="12244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Прямоугольник 349">
            <a:extLst>
              <a:ext uri="{FF2B5EF4-FFF2-40B4-BE49-F238E27FC236}">
                <a16:creationId xmlns:a16="http://schemas.microsoft.com/office/drawing/2014/main" id="{E4F8202D-E0A0-4FEF-9048-C9AE139FEE7E}"/>
              </a:ext>
            </a:extLst>
          </p:cNvPr>
          <p:cNvSpPr/>
          <p:nvPr/>
        </p:nvSpPr>
        <p:spPr>
          <a:xfrm>
            <a:off x="12408283" y="1616582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Увеличение срока службы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86BD42C-E6E8-4E9A-972F-66E45C5E9F5A}"/>
              </a:ext>
            </a:extLst>
          </p:cNvPr>
          <p:cNvSpPr/>
          <p:nvPr/>
        </p:nvSpPr>
        <p:spPr>
          <a:xfrm>
            <a:off x="10542545" y="153585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опираться на племенные войска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1A641D6-0384-4A0F-A884-6A52826677FD}"/>
              </a:ext>
            </a:extLst>
          </p:cNvPr>
          <p:cNvSpPr/>
          <p:nvPr/>
        </p:nvSpPr>
        <p:spPr>
          <a:xfrm>
            <a:off x="13013635" y="15358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Отказаться от иррегулярных формирований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C5EB57FB-243F-45A9-A62E-8A1DC06BD87A}"/>
              </a:ext>
            </a:extLst>
          </p:cNvPr>
          <p:cNvCxnSpPr>
            <a:cxnSpLocks/>
            <a:stCxn id="17" idx="1"/>
            <a:endCxn id="15" idx="3"/>
          </p:cNvCxnSpPr>
          <p:nvPr/>
        </p:nvCxnSpPr>
        <p:spPr>
          <a:xfrm flipH="1" flipV="1">
            <a:off x="11468870" y="15628571"/>
            <a:ext cx="1544765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620">
            <a:extLst>
              <a:ext uri="{FF2B5EF4-FFF2-40B4-BE49-F238E27FC236}">
                <a16:creationId xmlns:a16="http://schemas.microsoft.com/office/drawing/2014/main" id="{CBC1F065-34F6-4123-81AC-C7D623B89A58}"/>
              </a:ext>
            </a:extLst>
          </p:cNvPr>
          <p:cNvCxnSpPr>
            <a:cxnSpLocks/>
            <a:stCxn id="17" idx="2"/>
            <a:endCxn id="350" idx="0"/>
          </p:cNvCxnSpPr>
          <p:nvPr/>
        </p:nvCxnSpPr>
        <p:spPr>
          <a:xfrm rot="5400000">
            <a:off x="13040498" y="15729520"/>
            <a:ext cx="267249" cy="6053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Соединительная линия уступом 620">
            <a:extLst>
              <a:ext uri="{FF2B5EF4-FFF2-40B4-BE49-F238E27FC236}">
                <a16:creationId xmlns:a16="http://schemas.microsoft.com/office/drawing/2014/main" id="{DEC2AC59-3F71-42F7-A646-3D9EBC9EDE81}"/>
              </a:ext>
            </a:extLst>
          </p:cNvPr>
          <p:cNvCxnSpPr>
            <a:cxnSpLocks/>
            <a:stCxn id="15" idx="2"/>
            <a:endCxn id="350" idx="0"/>
          </p:cNvCxnSpPr>
          <p:nvPr/>
        </p:nvCxnSpPr>
        <p:spPr>
          <a:xfrm rot="16200000" flipH="1">
            <a:off x="11804952" y="15099327"/>
            <a:ext cx="267250" cy="186573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ная линия уступом 620">
            <a:extLst>
              <a:ext uri="{FF2B5EF4-FFF2-40B4-BE49-F238E27FC236}">
                <a16:creationId xmlns:a16="http://schemas.microsoft.com/office/drawing/2014/main" id="{964FE8F6-6759-4708-9BBE-3D1603C20D2D}"/>
              </a:ext>
            </a:extLst>
          </p:cNvPr>
          <p:cNvCxnSpPr>
            <a:cxnSpLocks/>
            <a:stCxn id="15" idx="2"/>
            <a:endCxn id="47" idx="0"/>
          </p:cNvCxnSpPr>
          <p:nvPr/>
        </p:nvCxnSpPr>
        <p:spPr>
          <a:xfrm rot="5400000">
            <a:off x="10564028" y="15721761"/>
            <a:ext cx="264871" cy="61849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4616A96A-22CB-4BD3-B3D1-BCF1717A972F}"/>
              </a:ext>
            </a:extLst>
          </p:cNvPr>
          <p:cNvSpPr/>
          <p:nvPr/>
        </p:nvSpPr>
        <p:spPr>
          <a:xfrm>
            <a:off x="13630942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элитных солдат в гвардию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FE5B1A21-6DBA-4A86-A4D1-6624A5F82543}"/>
              </a:ext>
            </a:extLst>
          </p:cNvPr>
          <p:cNvSpPr/>
          <p:nvPr/>
        </p:nvSpPr>
        <p:spPr>
          <a:xfrm>
            <a:off x="9924054" y="1616344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институт </a:t>
            </a:r>
            <a:r>
              <a:rPr lang="ru-RU" sz="700" dirty="0" err="1"/>
              <a:t>гумов</a:t>
            </a:r>
            <a:r>
              <a:rPr lang="ru-RU" sz="700" dirty="0"/>
              <a:t> вспомогательной службы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2C1738C5-A41E-4331-A29C-50F11F29894B}"/>
              </a:ext>
            </a:extLst>
          </p:cNvPr>
          <p:cNvSpPr/>
          <p:nvPr/>
        </p:nvSpPr>
        <p:spPr>
          <a:xfrm>
            <a:off x="9923406" y="169813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Мобилизация </a:t>
            </a:r>
            <a:r>
              <a:rPr lang="ru-RU" sz="700" dirty="0" err="1"/>
              <a:t>гумов</a:t>
            </a:r>
            <a:endParaRPr lang="ru-RU" sz="700" dirty="0"/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714B254A-36D5-4290-AB41-31D23B38DA78}"/>
              </a:ext>
            </a:extLst>
          </p:cNvPr>
          <p:cNvSpPr/>
          <p:nvPr/>
        </p:nvSpPr>
        <p:spPr>
          <a:xfrm>
            <a:off x="8681022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Реформирование Марокканских стрелков</a:t>
            </a: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E2A84C2C-9F41-4511-B24F-8A024E481F7E}"/>
              </a:ext>
            </a:extLst>
          </p:cNvPr>
          <p:cNvSpPr/>
          <p:nvPr/>
        </p:nvSpPr>
        <p:spPr>
          <a:xfrm>
            <a:off x="11165251" y="1616856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Развертывание 1-й и 3-й Марокканских пехотных дивизий</a:t>
            </a:r>
          </a:p>
        </p:txBody>
      </p:sp>
      <p:cxnSp>
        <p:nvCxnSpPr>
          <p:cNvPr id="66" name="Соединительная линия уступом 620">
            <a:extLst>
              <a:ext uri="{FF2B5EF4-FFF2-40B4-BE49-F238E27FC236}">
                <a16:creationId xmlns:a16="http://schemas.microsoft.com/office/drawing/2014/main" id="{775EF59B-92BB-448D-9060-1020657DAE50}"/>
              </a:ext>
            </a:extLst>
          </p:cNvPr>
          <p:cNvCxnSpPr>
            <a:cxnSpLocks/>
            <a:stCxn id="15" idx="2"/>
            <a:endCxn id="50" idx="0"/>
          </p:cNvCxnSpPr>
          <p:nvPr/>
        </p:nvCxnSpPr>
        <p:spPr>
          <a:xfrm rot="5400000">
            <a:off x="9942865" y="15099892"/>
            <a:ext cx="264165" cy="186152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Соединительная линия уступом 620">
            <a:extLst>
              <a:ext uri="{FF2B5EF4-FFF2-40B4-BE49-F238E27FC236}">
                <a16:creationId xmlns:a16="http://schemas.microsoft.com/office/drawing/2014/main" id="{9347027B-3953-4C7C-87D7-9E28155E8A97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rot="5400000">
            <a:off x="10247929" y="16842082"/>
            <a:ext cx="277929" cy="64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3CF48485-A290-42AB-9C6F-E8084039BD49}"/>
              </a:ext>
            </a:extLst>
          </p:cNvPr>
          <p:cNvSpPr/>
          <p:nvPr/>
        </p:nvSpPr>
        <p:spPr>
          <a:xfrm>
            <a:off x="11165250" y="169813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Интеграция Иностранного легиона в гарнизон Феса</a:t>
            </a:r>
          </a:p>
        </p:txBody>
      </p:sp>
      <p:cxnSp>
        <p:nvCxnSpPr>
          <p:cNvPr id="120" name="Соединительная линия уступом 620">
            <a:extLst>
              <a:ext uri="{FF2B5EF4-FFF2-40B4-BE49-F238E27FC236}">
                <a16:creationId xmlns:a16="http://schemas.microsoft.com/office/drawing/2014/main" id="{1C49954F-9A8C-47CD-A07F-8EACC55803D6}"/>
              </a:ext>
            </a:extLst>
          </p:cNvPr>
          <p:cNvCxnSpPr>
            <a:cxnSpLocks/>
            <a:stCxn id="64" idx="2"/>
            <a:endCxn id="119" idx="0"/>
          </p:cNvCxnSpPr>
          <p:nvPr/>
        </p:nvCxnSpPr>
        <p:spPr>
          <a:xfrm rot="5400000">
            <a:off x="11492013" y="16844970"/>
            <a:ext cx="27280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A64226DA-F307-4AD4-868A-E3263905A7C0}"/>
              </a:ext>
            </a:extLst>
          </p:cNvPr>
          <p:cNvSpPr/>
          <p:nvPr/>
        </p:nvSpPr>
        <p:spPr>
          <a:xfrm>
            <a:off x="12406449" y="1698363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План обороны Марокканской Сахары </a:t>
            </a:r>
            <a:r>
              <a:rPr lang="ru-RU" sz="100" dirty="0"/>
              <a:t>(</a:t>
            </a:r>
            <a:endParaRPr lang="ru-RU" sz="700" dirty="0"/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3617F385-549C-4202-8FFA-47012C570CE6}"/>
              </a:ext>
            </a:extLst>
          </p:cNvPr>
          <p:cNvSpPr/>
          <p:nvPr/>
        </p:nvSpPr>
        <p:spPr>
          <a:xfrm>
            <a:off x="12408282" y="178014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Фортификация прохода Таза</a:t>
            </a:r>
          </a:p>
        </p:txBody>
      </p:sp>
      <p:cxnSp>
        <p:nvCxnSpPr>
          <p:cNvPr id="128" name="Соединительная линия уступом 620">
            <a:extLst>
              <a:ext uri="{FF2B5EF4-FFF2-40B4-BE49-F238E27FC236}">
                <a16:creationId xmlns:a16="http://schemas.microsoft.com/office/drawing/2014/main" id="{B56A252E-000F-46D9-8A67-9B4FFEF6E95A}"/>
              </a:ext>
            </a:extLst>
          </p:cNvPr>
          <p:cNvCxnSpPr>
            <a:cxnSpLocks/>
            <a:stCxn id="350" idx="2"/>
            <a:endCxn id="126" idx="0"/>
          </p:cNvCxnSpPr>
          <p:nvPr/>
        </p:nvCxnSpPr>
        <p:spPr>
          <a:xfrm rot="5400000">
            <a:off x="12731623" y="16843810"/>
            <a:ext cx="277812" cy="18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Соединительная линия уступом 620">
            <a:extLst>
              <a:ext uri="{FF2B5EF4-FFF2-40B4-BE49-F238E27FC236}">
                <a16:creationId xmlns:a16="http://schemas.microsoft.com/office/drawing/2014/main" id="{DA899D96-1E1A-4363-AB63-73A3D0E880CA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12731622" y="17661622"/>
            <a:ext cx="277812" cy="18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Соединительная линия уступом 620">
            <a:extLst>
              <a:ext uri="{FF2B5EF4-FFF2-40B4-BE49-F238E27FC236}">
                <a16:creationId xmlns:a16="http://schemas.microsoft.com/office/drawing/2014/main" id="{427284D2-5073-49BB-80E8-8CBFE6818061}"/>
              </a:ext>
            </a:extLst>
          </p:cNvPr>
          <p:cNvCxnSpPr>
            <a:cxnSpLocks/>
            <a:stCxn id="15" idx="2"/>
            <a:endCxn id="64" idx="0"/>
          </p:cNvCxnSpPr>
          <p:nvPr/>
        </p:nvCxnSpPr>
        <p:spPr>
          <a:xfrm rot="16200000" flipH="1">
            <a:off x="11182062" y="15722217"/>
            <a:ext cx="269998" cy="6227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Соединительная линия уступом 620">
            <a:extLst>
              <a:ext uri="{FF2B5EF4-FFF2-40B4-BE49-F238E27FC236}">
                <a16:creationId xmlns:a16="http://schemas.microsoft.com/office/drawing/2014/main" id="{AA1582C5-1439-4397-8237-B28164A1D826}"/>
              </a:ext>
            </a:extLst>
          </p:cNvPr>
          <p:cNvCxnSpPr>
            <a:cxnSpLocks/>
            <a:stCxn id="17" idx="2"/>
            <a:endCxn id="64" idx="0"/>
          </p:cNvCxnSpPr>
          <p:nvPr/>
        </p:nvCxnSpPr>
        <p:spPr>
          <a:xfrm rot="5400000">
            <a:off x="12417608" y="15109378"/>
            <a:ext cx="269997" cy="18483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Прямоугольник 141">
            <a:extLst>
              <a:ext uri="{FF2B5EF4-FFF2-40B4-BE49-F238E27FC236}">
                <a16:creationId xmlns:a16="http://schemas.microsoft.com/office/drawing/2014/main" id="{3A5FD517-775F-41FA-954E-4997092012D0}"/>
              </a:ext>
            </a:extLst>
          </p:cNvPr>
          <p:cNvSpPr/>
          <p:nvPr/>
        </p:nvSpPr>
        <p:spPr>
          <a:xfrm>
            <a:off x="11789141" y="186033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Арсенал в Касабланке</a:t>
            </a:r>
          </a:p>
        </p:txBody>
      </p:sp>
      <p:cxnSp>
        <p:nvCxnSpPr>
          <p:cNvPr id="145" name="Соединительная линия уступом 620">
            <a:extLst>
              <a:ext uri="{FF2B5EF4-FFF2-40B4-BE49-F238E27FC236}">
                <a16:creationId xmlns:a16="http://schemas.microsoft.com/office/drawing/2014/main" id="{BF25CA53-BF7B-46EB-B789-F78E5EBDB9E6}"/>
              </a:ext>
            </a:extLst>
          </p:cNvPr>
          <p:cNvCxnSpPr>
            <a:cxnSpLocks/>
            <a:stCxn id="17" idx="2"/>
            <a:endCxn id="142" idx="0"/>
          </p:cNvCxnSpPr>
          <p:nvPr/>
        </p:nvCxnSpPr>
        <p:spPr>
          <a:xfrm rot="5400000">
            <a:off x="11512187" y="16638689"/>
            <a:ext cx="2704729" cy="1224494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Соединительная линия уступом 620">
            <a:extLst>
              <a:ext uri="{FF2B5EF4-FFF2-40B4-BE49-F238E27FC236}">
                <a16:creationId xmlns:a16="http://schemas.microsoft.com/office/drawing/2014/main" id="{01D1BF9F-D513-46C7-908C-5B4C91A12224}"/>
              </a:ext>
            </a:extLst>
          </p:cNvPr>
          <p:cNvCxnSpPr>
            <a:cxnSpLocks/>
            <a:stCxn id="15" idx="2"/>
            <a:endCxn id="142" idx="0"/>
          </p:cNvCxnSpPr>
          <p:nvPr/>
        </p:nvCxnSpPr>
        <p:spPr>
          <a:xfrm rot="16200000" flipH="1">
            <a:off x="10276641" y="16627638"/>
            <a:ext cx="2704730" cy="1246596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Соединительная линия уступом 620">
            <a:extLst>
              <a:ext uri="{FF2B5EF4-FFF2-40B4-BE49-F238E27FC236}">
                <a16:creationId xmlns:a16="http://schemas.microsoft.com/office/drawing/2014/main" id="{0257675D-9D87-4013-A4B3-21AC7CEB9172}"/>
              </a:ext>
            </a:extLst>
          </p:cNvPr>
          <p:cNvCxnSpPr>
            <a:cxnSpLocks/>
            <a:stCxn id="50" idx="2"/>
            <a:endCxn id="67" idx="0"/>
          </p:cNvCxnSpPr>
          <p:nvPr/>
        </p:nvCxnSpPr>
        <p:spPr>
          <a:xfrm rot="5400000">
            <a:off x="9005221" y="16841700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A3C38FDA-FE76-4414-9665-A87A38A404AB}"/>
              </a:ext>
            </a:extLst>
          </p:cNvPr>
          <p:cNvSpPr/>
          <p:nvPr/>
        </p:nvSpPr>
        <p:spPr>
          <a:xfrm>
            <a:off x="11165249" y="178014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Обучение местных офицеров французской школе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AE2352-9C3C-4C3B-ABF6-0C9820D5E2E7}"/>
              </a:ext>
            </a:extLst>
          </p:cNvPr>
          <p:cNvSpPr/>
          <p:nvPr/>
        </p:nvSpPr>
        <p:spPr>
          <a:xfrm>
            <a:off x="9309088" y="177993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Ужесточить контроль над племенами</a:t>
            </a:r>
          </a:p>
        </p:txBody>
      </p:sp>
      <p:cxnSp>
        <p:nvCxnSpPr>
          <p:cNvPr id="44" name="Соединительная линия уступом 620">
            <a:extLst>
              <a:ext uri="{FF2B5EF4-FFF2-40B4-BE49-F238E27FC236}">
                <a16:creationId xmlns:a16="http://schemas.microsoft.com/office/drawing/2014/main" id="{69B81608-81C7-4019-91A2-1B383072EED4}"/>
              </a:ext>
            </a:extLst>
          </p:cNvPr>
          <p:cNvCxnSpPr>
            <a:cxnSpLocks/>
            <a:stCxn id="48" idx="2"/>
            <a:endCxn id="43" idx="0"/>
          </p:cNvCxnSpPr>
          <p:nvPr/>
        </p:nvCxnSpPr>
        <p:spPr>
          <a:xfrm rot="5400000">
            <a:off x="9940446" y="17353176"/>
            <a:ext cx="277929" cy="614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ная линия уступом 620">
            <a:extLst>
              <a:ext uri="{FF2B5EF4-FFF2-40B4-BE49-F238E27FC236}">
                <a16:creationId xmlns:a16="http://schemas.microsoft.com/office/drawing/2014/main" id="{CD7FE15A-1A35-4AA9-ADAF-3D870341CBB3}"/>
              </a:ext>
            </a:extLst>
          </p:cNvPr>
          <p:cNvCxnSpPr>
            <a:cxnSpLocks/>
            <a:stCxn id="67" idx="2"/>
            <a:endCxn id="43" idx="0"/>
          </p:cNvCxnSpPr>
          <p:nvPr/>
        </p:nvCxnSpPr>
        <p:spPr>
          <a:xfrm rot="16200000" flipH="1">
            <a:off x="9318900" y="17345948"/>
            <a:ext cx="278635" cy="6280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ная линия уступом 620">
            <a:extLst>
              <a:ext uri="{FF2B5EF4-FFF2-40B4-BE49-F238E27FC236}">
                <a16:creationId xmlns:a16="http://schemas.microsoft.com/office/drawing/2014/main" id="{5CB7E9BC-A998-4582-8577-A7B4D3E86F93}"/>
              </a:ext>
            </a:extLst>
          </p:cNvPr>
          <p:cNvCxnSpPr>
            <a:cxnSpLocks/>
            <a:stCxn id="119" idx="2"/>
            <a:endCxn id="34" idx="0"/>
          </p:cNvCxnSpPr>
          <p:nvPr/>
        </p:nvCxnSpPr>
        <p:spPr>
          <a:xfrm rot="5400000">
            <a:off x="11488376" y="17661408"/>
            <a:ext cx="28007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ная линия уступом 620">
            <a:extLst>
              <a:ext uri="{FF2B5EF4-FFF2-40B4-BE49-F238E27FC236}">
                <a16:creationId xmlns:a16="http://schemas.microsoft.com/office/drawing/2014/main" id="{1516A531-E45C-47DC-8EC6-CF2565E937C1}"/>
              </a:ext>
            </a:extLst>
          </p:cNvPr>
          <p:cNvCxnSpPr>
            <a:cxnSpLocks/>
            <a:stCxn id="17" idx="2"/>
            <a:endCxn id="45" idx="0"/>
          </p:cNvCxnSpPr>
          <p:nvPr/>
        </p:nvCxnSpPr>
        <p:spPr>
          <a:xfrm rot="16200000" flipH="1">
            <a:off x="13653369" y="15722000"/>
            <a:ext cx="264164" cy="61730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96D625CF-709C-45A4-8F67-B38EF72340EB}"/>
              </a:ext>
            </a:extLst>
          </p:cNvPr>
          <p:cNvSpPr/>
          <p:nvPr/>
        </p:nvSpPr>
        <p:spPr>
          <a:xfrm>
            <a:off x="14869793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Регулярные войска из племенных солдат</a:t>
            </a:r>
          </a:p>
        </p:txBody>
      </p:sp>
      <p:cxnSp>
        <p:nvCxnSpPr>
          <p:cNvPr id="57" name="Соединительная линия уступом 620">
            <a:extLst>
              <a:ext uri="{FF2B5EF4-FFF2-40B4-BE49-F238E27FC236}">
                <a16:creationId xmlns:a16="http://schemas.microsoft.com/office/drawing/2014/main" id="{5D641075-D3D8-4219-B7E7-A761E6C0A7DF}"/>
              </a:ext>
            </a:extLst>
          </p:cNvPr>
          <p:cNvCxnSpPr>
            <a:cxnSpLocks/>
            <a:stCxn id="17" idx="2"/>
            <a:endCxn id="56" idx="0"/>
          </p:cNvCxnSpPr>
          <p:nvPr/>
        </p:nvCxnSpPr>
        <p:spPr>
          <a:xfrm rot="16200000" flipH="1">
            <a:off x="14272795" y="15102575"/>
            <a:ext cx="264164" cy="18561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2406E51A-589D-4271-952F-39105A27CEFF}"/>
              </a:ext>
            </a:extLst>
          </p:cNvPr>
          <p:cNvSpPr/>
          <p:nvPr/>
        </p:nvSpPr>
        <p:spPr>
          <a:xfrm>
            <a:off x="12406449" y="1962389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нового генерального штаба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A0D2DCD8-B96C-4D26-9B7E-0AB17D422E33}"/>
              </a:ext>
            </a:extLst>
          </p:cNvPr>
          <p:cNvSpPr/>
          <p:nvPr/>
        </p:nvSpPr>
        <p:spPr>
          <a:xfrm>
            <a:off x="8681021" y="1698066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с равнин</a:t>
            </a:r>
          </a:p>
        </p:txBody>
      </p:sp>
      <p:cxnSp>
        <p:nvCxnSpPr>
          <p:cNvPr id="68" name="Соединительная линия уступом 620">
            <a:extLst>
              <a:ext uri="{FF2B5EF4-FFF2-40B4-BE49-F238E27FC236}">
                <a16:creationId xmlns:a16="http://schemas.microsoft.com/office/drawing/2014/main" id="{641849B0-CEFB-44B3-9377-BE36AEA44928}"/>
              </a:ext>
            </a:extLst>
          </p:cNvPr>
          <p:cNvCxnSpPr>
            <a:cxnSpLocks/>
            <a:stCxn id="142" idx="2"/>
            <a:endCxn id="60" idx="0"/>
          </p:cNvCxnSpPr>
          <p:nvPr/>
        </p:nvCxnSpPr>
        <p:spPr>
          <a:xfrm rot="16200000" flipH="1">
            <a:off x="12320660" y="19074945"/>
            <a:ext cx="480597" cy="61730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27032395-622E-45E8-8B35-5FB7A32F4FFC}"/>
              </a:ext>
            </a:extLst>
          </p:cNvPr>
          <p:cNvSpPr/>
          <p:nvPr/>
        </p:nvSpPr>
        <p:spPr>
          <a:xfrm>
            <a:off x="8684831" y="186033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Марокканские спаги</a:t>
            </a:r>
          </a:p>
        </p:txBody>
      </p:sp>
      <p:cxnSp>
        <p:nvCxnSpPr>
          <p:cNvPr id="77" name="Соединительная линия уступом 620">
            <a:extLst>
              <a:ext uri="{FF2B5EF4-FFF2-40B4-BE49-F238E27FC236}">
                <a16:creationId xmlns:a16="http://schemas.microsoft.com/office/drawing/2014/main" id="{0E212735-8577-4146-B210-5DB708FB93DE}"/>
              </a:ext>
            </a:extLst>
          </p:cNvPr>
          <p:cNvCxnSpPr>
            <a:cxnSpLocks/>
            <a:stCxn id="67" idx="2"/>
            <a:endCxn id="72" idx="0"/>
          </p:cNvCxnSpPr>
          <p:nvPr/>
        </p:nvCxnSpPr>
        <p:spPr>
          <a:xfrm rot="16200000" flipH="1">
            <a:off x="8604771" y="18060078"/>
            <a:ext cx="1082636" cy="38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Прямоугольник 82">
            <a:extLst>
              <a:ext uri="{FF2B5EF4-FFF2-40B4-BE49-F238E27FC236}">
                <a16:creationId xmlns:a16="http://schemas.microsoft.com/office/drawing/2014/main" id="{AAF920FF-6295-4D24-8F2C-081D365110E2}"/>
              </a:ext>
            </a:extLst>
          </p:cNvPr>
          <p:cNvSpPr/>
          <p:nvPr/>
        </p:nvSpPr>
        <p:spPr>
          <a:xfrm>
            <a:off x="14869792" y="1698066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Уроки Атласских гор</a:t>
            </a:r>
          </a:p>
        </p:txBody>
      </p:sp>
      <p:cxnSp>
        <p:nvCxnSpPr>
          <p:cNvPr id="84" name="Соединительная линия уступом 620">
            <a:extLst>
              <a:ext uri="{FF2B5EF4-FFF2-40B4-BE49-F238E27FC236}">
                <a16:creationId xmlns:a16="http://schemas.microsoft.com/office/drawing/2014/main" id="{0A94EED3-3573-4BCE-B9D5-0A1985395146}"/>
              </a:ext>
            </a:extLst>
          </p:cNvPr>
          <p:cNvCxnSpPr>
            <a:cxnSpLocks/>
            <a:stCxn id="56" idx="2"/>
            <a:endCxn id="83" idx="0"/>
          </p:cNvCxnSpPr>
          <p:nvPr/>
        </p:nvCxnSpPr>
        <p:spPr>
          <a:xfrm rot="5400000">
            <a:off x="15193992" y="16841700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4D3A332D-0695-445F-8EF4-63F5B567A6E2}"/>
              </a:ext>
            </a:extLst>
          </p:cNvPr>
          <p:cNvSpPr/>
          <p:nvPr/>
        </p:nvSpPr>
        <p:spPr>
          <a:xfrm>
            <a:off x="13633037" y="177993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Поставить </a:t>
            </a:r>
            <a:r>
              <a:rPr lang="ru-RU" sz="700" dirty="0" err="1"/>
              <a:t>марроканцев</a:t>
            </a:r>
            <a:r>
              <a:rPr lang="ru-RU" sz="700" dirty="0"/>
              <a:t> на часть генеральских должностей</a:t>
            </a:r>
          </a:p>
        </p:txBody>
      </p:sp>
      <p:cxnSp>
        <p:nvCxnSpPr>
          <p:cNvPr id="91" name="Соединительная линия уступом 620">
            <a:extLst>
              <a:ext uri="{FF2B5EF4-FFF2-40B4-BE49-F238E27FC236}">
                <a16:creationId xmlns:a16="http://schemas.microsoft.com/office/drawing/2014/main" id="{35502416-1FB7-4107-8234-9BD737F2F667}"/>
              </a:ext>
            </a:extLst>
          </p:cNvPr>
          <p:cNvCxnSpPr>
            <a:cxnSpLocks/>
            <a:stCxn id="90" idx="2"/>
            <a:endCxn id="60" idx="0"/>
          </p:cNvCxnSpPr>
          <p:nvPr/>
        </p:nvCxnSpPr>
        <p:spPr>
          <a:xfrm rot="5400000">
            <a:off x="12840607" y="18368305"/>
            <a:ext cx="1284598" cy="1226588"/>
          </a:xfrm>
          <a:prstGeom prst="bentConnector3">
            <a:avLst>
              <a:gd name="adj1" fmla="val 1440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000671E6-9ACB-4797-81EA-7FFB4B3C9776}"/>
              </a:ext>
            </a:extLst>
          </p:cNvPr>
          <p:cNvSpPr/>
          <p:nvPr/>
        </p:nvSpPr>
        <p:spPr>
          <a:xfrm>
            <a:off x="11165248" y="1962389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собственных ВПК</a:t>
            </a:r>
          </a:p>
        </p:txBody>
      </p:sp>
      <p:cxnSp>
        <p:nvCxnSpPr>
          <p:cNvPr id="96" name="Соединительная линия уступом 620">
            <a:extLst>
              <a:ext uri="{FF2B5EF4-FFF2-40B4-BE49-F238E27FC236}">
                <a16:creationId xmlns:a16="http://schemas.microsoft.com/office/drawing/2014/main" id="{D0FDB751-EAC9-49EC-BA49-353FA06B40AB}"/>
              </a:ext>
            </a:extLst>
          </p:cNvPr>
          <p:cNvCxnSpPr>
            <a:cxnSpLocks/>
            <a:stCxn id="45" idx="2"/>
            <a:endCxn id="90" idx="0"/>
          </p:cNvCxnSpPr>
          <p:nvPr/>
        </p:nvCxnSpPr>
        <p:spPr>
          <a:xfrm rot="16200000" flipH="1">
            <a:off x="13546870" y="17249970"/>
            <a:ext cx="1096564" cy="20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Соединительная линия уступом 620">
            <a:extLst>
              <a:ext uri="{FF2B5EF4-FFF2-40B4-BE49-F238E27FC236}">
                <a16:creationId xmlns:a16="http://schemas.microsoft.com/office/drawing/2014/main" id="{44B3E05F-84E6-4CD9-9732-9187DD92FD5C}"/>
              </a:ext>
            </a:extLst>
          </p:cNvPr>
          <p:cNvCxnSpPr>
            <a:cxnSpLocks/>
            <a:stCxn id="142" idx="2"/>
            <a:endCxn id="95" idx="0"/>
          </p:cNvCxnSpPr>
          <p:nvPr/>
        </p:nvCxnSpPr>
        <p:spPr>
          <a:xfrm rot="5400000">
            <a:off x="11700060" y="19071653"/>
            <a:ext cx="480596" cy="6238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6C923ED8-0C6F-4BDA-A9DA-A14DE820EC4E}"/>
              </a:ext>
            </a:extLst>
          </p:cNvPr>
          <p:cNvSpPr/>
          <p:nvPr/>
        </p:nvSpPr>
        <p:spPr>
          <a:xfrm>
            <a:off x="11165248" y="2055734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ВВС Марокко</a:t>
            </a: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989C3CAC-2E57-4936-AE42-8D1347A1FF71}"/>
              </a:ext>
            </a:extLst>
          </p:cNvPr>
          <p:cNvSpPr/>
          <p:nvPr/>
        </p:nvSpPr>
        <p:spPr>
          <a:xfrm>
            <a:off x="13625113" y="2055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Основать ВМФ Марокко</a:t>
            </a:r>
          </a:p>
        </p:txBody>
      </p:sp>
      <p:cxnSp>
        <p:nvCxnSpPr>
          <p:cNvPr id="122" name="Соединительная линия уступом 620">
            <a:extLst>
              <a:ext uri="{FF2B5EF4-FFF2-40B4-BE49-F238E27FC236}">
                <a16:creationId xmlns:a16="http://schemas.microsoft.com/office/drawing/2014/main" id="{AF5CC368-C69C-4F49-A3A5-D2D665957A34}"/>
              </a:ext>
            </a:extLst>
          </p:cNvPr>
          <p:cNvCxnSpPr>
            <a:cxnSpLocks/>
            <a:stCxn id="60" idx="2"/>
            <a:endCxn id="116" idx="0"/>
          </p:cNvCxnSpPr>
          <p:nvPr/>
        </p:nvCxnSpPr>
        <p:spPr>
          <a:xfrm rot="5400000">
            <a:off x="12052287" y="19740023"/>
            <a:ext cx="393450" cy="12412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Соединительная линия уступом 620">
            <a:extLst>
              <a:ext uri="{FF2B5EF4-FFF2-40B4-BE49-F238E27FC236}">
                <a16:creationId xmlns:a16="http://schemas.microsoft.com/office/drawing/2014/main" id="{D5615A50-0893-4183-9AB3-0F88CC013A32}"/>
              </a:ext>
            </a:extLst>
          </p:cNvPr>
          <p:cNvCxnSpPr>
            <a:cxnSpLocks/>
            <a:stCxn id="60" idx="2"/>
            <a:endCxn id="117" idx="0"/>
          </p:cNvCxnSpPr>
          <p:nvPr/>
        </p:nvCxnSpPr>
        <p:spPr>
          <a:xfrm rot="16200000" flipH="1">
            <a:off x="13282421" y="19751089"/>
            <a:ext cx="393047" cy="12186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1BDF08AB-F681-45B6-B5CD-61E85C8BCE61}"/>
              </a:ext>
            </a:extLst>
          </p:cNvPr>
          <p:cNvSpPr/>
          <p:nvPr/>
        </p:nvSpPr>
        <p:spPr>
          <a:xfrm>
            <a:off x="21587346" y="1530518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власти халифа</a:t>
            </a:r>
          </a:p>
        </p:txBody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F01E357F-2538-4F42-A508-D7C977E20E3E}"/>
              </a:ext>
            </a:extLst>
          </p:cNvPr>
          <p:cNvSpPr/>
          <p:nvPr/>
        </p:nvSpPr>
        <p:spPr>
          <a:xfrm>
            <a:off x="22823243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железные рудники Эль-Рифа к работе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6AED1E57-3209-4749-B8A1-832D75242D7D}"/>
              </a:ext>
            </a:extLst>
          </p:cNvPr>
          <p:cNvSpPr/>
          <p:nvPr/>
        </p:nvSpPr>
        <p:spPr>
          <a:xfrm>
            <a:off x="21587347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Репрессировать членов Партии Марокканского Единства</a:t>
            </a: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74692AA-CCE2-4AB8-9FED-C4FEB6AED264}"/>
              </a:ext>
            </a:extLst>
          </p:cNvPr>
          <p:cNvSpPr/>
          <p:nvPr/>
        </p:nvSpPr>
        <p:spPr>
          <a:xfrm>
            <a:off x="22196357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Подчинить власти </a:t>
            </a:r>
            <a:r>
              <a:rPr lang="ru-RU" sz="700" dirty="0" err="1"/>
              <a:t>Рифские</a:t>
            </a:r>
            <a:r>
              <a:rPr lang="ru-RU" sz="700" dirty="0"/>
              <a:t> племена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4E0BC902-F193-41B5-9412-7B2908EC0C4D}"/>
              </a:ext>
            </a:extLst>
          </p:cNvPr>
          <p:cNvSpPr/>
          <p:nvPr/>
        </p:nvSpPr>
        <p:spPr>
          <a:xfrm>
            <a:off x="20348496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националистов из Испанского протектората в систему</a:t>
            </a:r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83D56CB7-8E45-4830-9F6B-4811EE5F5515}"/>
              </a:ext>
            </a:extLst>
          </p:cNvPr>
          <p:cNvSpPr/>
          <p:nvPr/>
        </p:nvSpPr>
        <p:spPr>
          <a:xfrm>
            <a:off x="20957506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испанских </a:t>
            </a:r>
            <a:r>
              <a:rPr lang="ru-RU" sz="700" dirty="0" err="1"/>
              <a:t>регулярисов</a:t>
            </a:r>
            <a:r>
              <a:rPr lang="ru-RU" sz="700" dirty="0"/>
              <a:t> в армию</a:t>
            </a:r>
          </a:p>
        </p:txBody>
      </p:sp>
      <p:cxnSp>
        <p:nvCxnSpPr>
          <p:cNvPr id="71" name="Соединительная линия уступом 620">
            <a:extLst>
              <a:ext uri="{FF2B5EF4-FFF2-40B4-BE49-F238E27FC236}">
                <a16:creationId xmlns:a16="http://schemas.microsoft.com/office/drawing/2014/main" id="{FC503326-F9EF-430D-9DFB-5A12F33842F7}"/>
              </a:ext>
            </a:extLst>
          </p:cNvPr>
          <p:cNvCxnSpPr>
            <a:cxnSpLocks/>
            <a:stCxn id="61" idx="2"/>
            <a:endCxn id="70" idx="0"/>
          </p:cNvCxnSpPr>
          <p:nvPr/>
        </p:nvCxnSpPr>
        <p:spPr>
          <a:xfrm rot="5400000">
            <a:off x="21566616" y="15699236"/>
            <a:ext cx="337947" cy="629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ная линия уступом 620">
            <a:extLst>
              <a:ext uri="{FF2B5EF4-FFF2-40B4-BE49-F238E27FC236}">
                <a16:creationId xmlns:a16="http://schemas.microsoft.com/office/drawing/2014/main" id="{A7450548-355A-4BD6-802F-F779613A5B27}"/>
              </a:ext>
            </a:extLst>
          </p:cNvPr>
          <p:cNvCxnSpPr>
            <a:cxnSpLocks/>
            <a:stCxn id="61" idx="2"/>
            <a:endCxn id="65" idx="0"/>
          </p:cNvCxnSpPr>
          <p:nvPr/>
        </p:nvCxnSpPr>
        <p:spPr>
          <a:xfrm rot="16200000" flipH="1">
            <a:off x="22186041" y="15709650"/>
            <a:ext cx="337947" cy="6090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Соединительная линия уступом 620">
            <a:extLst>
              <a:ext uri="{FF2B5EF4-FFF2-40B4-BE49-F238E27FC236}">
                <a16:creationId xmlns:a16="http://schemas.microsoft.com/office/drawing/2014/main" id="{78C7FACD-A76A-4290-A8B6-AA4949ACE264}"/>
              </a:ext>
            </a:extLst>
          </p:cNvPr>
          <p:cNvCxnSpPr>
            <a:cxnSpLocks/>
            <a:stCxn id="70" idx="2"/>
            <a:endCxn id="63" idx="0"/>
          </p:cNvCxnSpPr>
          <p:nvPr/>
        </p:nvCxnSpPr>
        <p:spPr>
          <a:xfrm rot="16200000" flipH="1">
            <a:off x="21603508" y="16540290"/>
            <a:ext cx="264163" cy="6298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Соединительная линия уступом 620">
            <a:extLst>
              <a:ext uri="{FF2B5EF4-FFF2-40B4-BE49-F238E27FC236}">
                <a16:creationId xmlns:a16="http://schemas.microsoft.com/office/drawing/2014/main" id="{628A329A-99EE-44F7-B1A4-82DAB3BC0CE4}"/>
              </a:ext>
            </a:extLst>
          </p:cNvPr>
          <p:cNvCxnSpPr>
            <a:cxnSpLocks/>
            <a:stCxn id="65" idx="2"/>
            <a:endCxn id="63" idx="0"/>
          </p:cNvCxnSpPr>
          <p:nvPr/>
        </p:nvCxnSpPr>
        <p:spPr>
          <a:xfrm rot="5400000">
            <a:off x="22222934" y="16550706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Соединительная линия уступом 620">
            <a:extLst>
              <a:ext uri="{FF2B5EF4-FFF2-40B4-BE49-F238E27FC236}">
                <a16:creationId xmlns:a16="http://schemas.microsoft.com/office/drawing/2014/main" id="{A1BFEAB3-7700-47A8-97C5-F33E5DF32541}"/>
              </a:ext>
            </a:extLst>
          </p:cNvPr>
          <p:cNvCxnSpPr>
            <a:cxnSpLocks/>
            <a:stCxn id="65" idx="2"/>
            <a:endCxn id="62" idx="0"/>
          </p:cNvCxnSpPr>
          <p:nvPr/>
        </p:nvCxnSpPr>
        <p:spPr>
          <a:xfrm rot="16200000" flipH="1">
            <a:off x="22840882" y="16541768"/>
            <a:ext cx="264163" cy="6268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Соединительная линия уступом 620">
            <a:extLst>
              <a:ext uri="{FF2B5EF4-FFF2-40B4-BE49-F238E27FC236}">
                <a16:creationId xmlns:a16="http://schemas.microsoft.com/office/drawing/2014/main" id="{96F05825-E7D9-467F-B987-1D4CE8BB13E2}"/>
              </a:ext>
            </a:extLst>
          </p:cNvPr>
          <p:cNvCxnSpPr>
            <a:cxnSpLocks/>
            <a:stCxn id="70" idx="2"/>
            <a:endCxn id="69" idx="0"/>
          </p:cNvCxnSpPr>
          <p:nvPr/>
        </p:nvCxnSpPr>
        <p:spPr>
          <a:xfrm rot="5400000">
            <a:off x="20984083" y="16550706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Соединительная линия уступом 620">
            <a:extLst>
              <a:ext uri="{FF2B5EF4-FFF2-40B4-BE49-F238E27FC236}">
                <a16:creationId xmlns:a16="http://schemas.microsoft.com/office/drawing/2014/main" id="{167B7C7B-C300-4E14-8725-ADB1B931CB98}"/>
              </a:ext>
            </a:extLst>
          </p:cNvPr>
          <p:cNvCxnSpPr>
            <a:cxnSpLocks/>
            <a:stCxn id="65" idx="2"/>
            <a:endCxn id="69" idx="0"/>
          </p:cNvCxnSpPr>
          <p:nvPr/>
        </p:nvCxnSpPr>
        <p:spPr>
          <a:xfrm rot="5400000">
            <a:off x="21603509" y="15931281"/>
            <a:ext cx="264163" cy="184786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Прямая соединительная линия 96">
            <a:extLst>
              <a:ext uri="{FF2B5EF4-FFF2-40B4-BE49-F238E27FC236}">
                <a16:creationId xmlns:a16="http://schemas.microsoft.com/office/drawing/2014/main" id="{3B9A9F20-E65F-4A9E-BCC9-9DAC8EB1342A}"/>
              </a:ext>
            </a:extLst>
          </p:cNvPr>
          <p:cNvCxnSpPr>
            <a:cxnSpLocks/>
            <a:stCxn id="63" idx="1"/>
            <a:endCxn id="69" idx="3"/>
          </p:cNvCxnSpPr>
          <p:nvPr/>
        </p:nvCxnSpPr>
        <p:spPr>
          <a:xfrm flipH="1">
            <a:off x="21274821" y="17257293"/>
            <a:ext cx="31252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1F14AB13-F1EA-4B81-8451-4DDA8E257BA4}"/>
              </a:ext>
            </a:extLst>
          </p:cNvPr>
          <p:cNvSpPr/>
          <p:nvPr/>
        </p:nvSpPr>
        <p:spPr>
          <a:xfrm>
            <a:off x="21588878" y="1780522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влияния партию Национальных Реформ</a:t>
            </a: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ECE50FB2-31E6-46C4-9D3A-104FC81239E8}"/>
              </a:ext>
            </a:extLst>
          </p:cNvPr>
          <p:cNvSpPr/>
          <p:nvPr/>
        </p:nvSpPr>
        <p:spPr>
          <a:xfrm>
            <a:off x="22825284" y="1780522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Развить промышленность севера</a:t>
            </a:r>
          </a:p>
        </p:txBody>
      </p:sp>
      <p:cxnSp>
        <p:nvCxnSpPr>
          <p:cNvPr id="103" name="Соединительная линия уступом 620">
            <a:extLst>
              <a:ext uri="{FF2B5EF4-FFF2-40B4-BE49-F238E27FC236}">
                <a16:creationId xmlns:a16="http://schemas.microsoft.com/office/drawing/2014/main" id="{0F770443-4F5C-4EEA-BC82-45096A8FC7CF}"/>
              </a:ext>
            </a:extLst>
          </p:cNvPr>
          <p:cNvCxnSpPr>
            <a:cxnSpLocks/>
            <a:stCxn id="63" idx="2"/>
            <a:endCxn id="101" idx="0"/>
          </p:cNvCxnSpPr>
          <p:nvPr/>
        </p:nvCxnSpPr>
        <p:spPr>
          <a:xfrm rot="16200000" flipH="1">
            <a:off x="21912311" y="17665491"/>
            <a:ext cx="277929" cy="15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Соединительная линия уступом 620">
            <a:extLst>
              <a:ext uri="{FF2B5EF4-FFF2-40B4-BE49-F238E27FC236}">
                <a16:creationId xmlns:a16="http://schemas.microsoft.com/office/drawing/2014/main" id="{4F310D0C-26BE-453B-8C9B-905C2BDEA260}"/>
              </a:ext>
            </a:extLst>
          </p:cNvPr>
          <p:cNvCxnSpPr>
            <a:cxnSpLocks/>
            <a:stCxn id="62" idx="2"/>
            <a:endCxn id="102" idx="0"/>
          </p:cNvCxnSpPr>
          <p:nvPr/>
        </p:nvCxnSpPr>
        <p:spPr>
          <a:xfrm rot="16200000" flipH="1">
            <a:off x="23148461" y="17665237"/>
            <a:ext cx="277930" cy="20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BC31CCD4-CC55-4D34-8E0A-40DB584DBBBF}"/>
              </a:ext>
            </a:extLst>
          </p:cNvPr>
          <p:cNvSpPr/>
          <p:nvPr/>
        </p:nvSpPr>
        <p:spPr>
          <a:xfrm>
            <a:off x="22823715" y="185790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Вернуться к активной торговле мандаринами</a:t>
            </a:r>
          </a:p>
        </p:txBody>
      </p:sp>
      <p:cxnSp>
        <p:nvCxnSpPr>
          <p:cNvPr id="132" name="Соединительная линия уступом 620">
            <a:extLst>
              <a:ext uri="{FF2B5EF4-FFF2-40B4-BE49-F238E27FC236}">
                <a16:creationId xmlns:a16="http://schemas.microsoft.com/office/drawing/2014/main" id="{AEF2F215-C881-4F8A-8CAA-796991A31A9B}"/>
              </a:ext>
            </a:extLst>
          </p:cNvPr>
          <p:cNvCxnSpPr>
            <a:cxnSpLocks/>
            <a:stCxn id="102" idx="2"/>
            <a:endCxn id="113" idx="0"/>
          </p:cNvCxnSpPr>
          <p:nvPr/>
        </p:nvCxnSpPr>
        <p:spPr>
          <a:xfrm rot="5400000">
            <a:off x="23170750" y="18461352"/>
            <a:ext cx="233826" cy="15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F8E638F8-87A1-42A3-B0B5-E2866ADB6525}"/>
              </a:ext>
            </a:extLst>
          </p:cNvPr>
          <p:cNvSpPr/>
          <p:nvPr/>
        </p:nvSpPr>
        <p:spPr>
          <a:xfrm>
            <a:off x="6340011" y="177789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государственный банк Марокко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5CD4D2E-02FD-40F3-9B79-AC32C4F387A4}"/>
              </a:ext>
            </a:extLst>
          </p:cNvPr>
          <p:cNvSpPr/>
          <p:nvPr/>
        </p:nvSpPr>
        <p:spPr>
          <a:xfrm>
            <a:off x="6340010" y="193797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Французские учреждения в новую систему образования</a:t>
            </a:r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3FDAFDBE-96D8-45C2-BC5D-878BC9F8B7F2}"/>
              </a:ext>
            </a:extLst>
          </p:cNvPr>
          <p:cNvSpPr/>
          <p:nvPr/>
        </p:nvSpPr>
        <p:spPr>
          <a:xfrm>
            <a:off x="5722790" y="185790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Обязательное начальное образование</a:t>
            </a:r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F3E0C390-3D96-483F-B3EC-2211AC86D036}"/>
              </a:ext>
            </a:extLst>
          </p:cNvPr>
          <p:cNvSpPr/>
          <p:nvPr/>
        </p:nvSpPr>
        <p:spPr>
          <a:xfrm>
            <a:off x="6964850" y="185790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Единая учебная программа и вечерние школы</a:t>
            </a:r>
          </a:p>
        </p:txBody>
      </p:sp>
      <p:cxnSp>
        <p:nvCxnSpPr>
          <p:cNvPr id="141" name="Соединительная линия уступом 620">
            <a:extLst>
              <a:ext uri="{FF2B5EF4-FFF2-40B4-BE49-F238E27FC236}">
                <a16:creationId xmlns:a16="http://schemas.microsoft.com/office/drawing/2014/main" id="{851DA87B-FC5F-4219-B97B-2D0AC6314594}"/>
              </a:ext>
            </a:extLst>
          </p:cNvPr>
          <p:cNvCxnSpPr>
            <a:cxnSpLocks/>
            <a:stCxn id="133" idx="2"/>
            <a:endCxn id="136" idx="0"/>
          </p:cNvCxnSpPr>
          <p:nvPr/>
        </p:nvCxnSpPr>
        <p:spPr>
          <a:xfrm rot="5400000">
            <a:off x="6364514" y="18140392"/>
            <a:ext cx="260100" cy="6172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Соединительная линия уступом 620">
            <a:extLst>
              <a:ext uri="{FF2B5EF4-FFF2-40B4-BE49-F238E27FC236}">
                <a16:creationId xmlns:a16="http://schemas.microsoft.com/office/drawing/2014/main" id="{0F472F40-02E6-490C-AF0B-15FF503A319E}"/>
              </a:ext>
            </a:extLst>
          </p:cNvPr>
          <p:cNvCxnSpPr>
            <a:cxnSpLocks/>
            <a:stCxn id="133" idx="2"/>
            <a:endCxn id="137" idx="0"/>
          </p:cNvCxnSpPr>
          <p:nvPr/>
        </p:nvCxnSpPr>
        <p:spPr>
          <a:xfrm rot="16200000" flipH="1">
            <a:off x="6985543" y="18136582"/>
            <a:ext cx="260100" cy="6248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8CB37AF-4F05-4087-86D6-C449AB4BD77B}"/>
              </a:ext>
            </a:extLst>
          </p:cNvPr>
          <p:cNvSpPr/>
          <p:nvPr/>
        </p:nvSpPr>
        <p:spPr>
          <a:xfrm>
            <a:off x="7593019" y="2018714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Пустить иностранные банки в страну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753471EF-1556-4020-A5BF-12D16F8965A5}"/>
              </a:ext>
            </a:extLst>
          </p:cNvPr>
          <p:cNvSpPr/>
          <p:nvPr/>
        </p:nvSpPr>
        <p:spPr>
          <a:xfrm>
            <a:off x="7593020" y="1938643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Внедрить Марокканский дирхам</a:t>
            </a:r>
          </a:p>
        </p:txBody>
      </p:sp>
      <p:cxnSp>
        <p:nvCxnSpPr>
          <p:cNvPr id="149" name="Соединительная линия уступом 620">
            <a:extLst>
              <a:ext uri="{FF2B5EF4-FFF2-40B4-BE49-F238E27FC236}">
                <a16:creationId xmlns:a16="http://schemas.microsoft.com/office/drawing/2014/main" id="{0026C1BB-50CA-4518-B86F-14EC51070B51}"/>
              </a:ext>
            </a:extLst>
          </p:cNvPr>
          <p:cNvCxnSpPr>
            <a:cxnSpLocks/>
            <a:stCxn id="133" idx="2"/>
            <a:endCxn id="148" idx="0"/>
          </p:cNvCxnSpPr>
          <p:nvPr/>
        </p:nvCxnSpPr>
        <p:spPr>
          <a:xfrm rot="16200000" flipH="1">
            <a:off x="6895939" y="18226186"/>
            <a:ext cx="1067479" cy="1253009"/>
          </a:xfrm>
          <a:prstGeom prst="bentConnector3">
            <a:avLst>
              <a:gd name="adj1" fmla="val 1056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Соединительная линия уступом 620">
            <a:extLst>
              <a:ext uri="{FF2B5EF4-FFF2-40B4-BE49-F238E27FC236}">
                <a16:creationId xmlns:a16="http://schemas.microsoft.com/office/drawing/2014/main" id="{3E1962AF-9446-4D47-8B98-FE2EAB3657D4}"/>
              </a:ext>
            </a:extLst>
          </p:cNvPr>
          <p:cNvCxnSpPr>
            <a:cxnSpLocks/>
            <a:stCxn id="148" idx="2"/>
            <a:endCxn id="147" idx="0"/>
          </p:cNvCxnSpPr>
          <p:nvPr/>
        </p:nvCxnSpPr>
        <p:spPr>
          <a:xfrm rot="5400000">
            <a:off x="7925828" y="20056786"/>
            <a:ext cx="26071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DD7427AF-80D0-408A-B81F-77375D5490CB}"/>
              </a:ext>
            </a:extLst>
          </p:cNvPr>
          <p:cNvSpPr/>
          <p:nvPr/>
        </p:nvSpPr>
        <p:spPr>
          <a:xfrm>
            <a:off x="4480730" y="185790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Дать толчок тяжёлой промышленности</a:t>
            </a:r>
          </a:p>
        </p:txBody>
      </p:sp>
      <p:cxnSp>
        <p:nvCxnSpPr>
          <p:cNvPr id="153" name="Соединительная линия уступом 620">
            <a:extLst>
              <a:ext uri="{FF2B5EF4-FFF2-40B4-BE49-F238E27FC236}">
                <a16:creationId xmlns:a16="http://schemas.microsoft.com/office/drawing/2014/main" id="{C480C53B-A2DF-4046-A686-033B9D079831}"/>
              </a:ext>
            </a:extLst>
          </p:cNvPr>
          <p:cNvCxnSpPr>
            <a:cxnSpLocks/>
            <a:stCxn id="133" idx="2"/>
            <a:endCxn id="151" idx="0"/>
          </p:cNvCxnSpPr>
          <p:nvPr/>
        </p:nvCxnSpPr>
        <p:spPr>
          <a:xfrm rot="5400000">
            <a:off x="5743485" y="17519361"/>
            <a:ext cx="260098" cy="1859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3C51ADB6-A21D-4C68-AE41-8BE2E1853373}"/>
              </a:ext>
            </a:extLst>
          </p:cNvPr>
          <p:cNvSpPr/>
          <p:nvPr/>
        </p:nvSpPr>
        <p:spPr>
          <a:xfrm>
            <a:off x="4483158" y="193797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путь индустриализации Марокко</a:t>
            </a:r>
          </a:p>
        </p:txBody>
      </p:sp>
      <p:cxnSp>
        <p:nvCxnSpPr>
          <p:cNvPr id="155" name="Соединительная линия уступом 620">
            <a:extLst>
              <a:ext uri="{FF2B5EF4-FFF2-40B4-BE49-F238E27FC236}">
                <a16:creationId xmlns:a16="http://schemas.microsoft.com/office/drawing/2014/main" id="{466D1665-8F86-44FC-AC03-61547B4F4895}"/>
              </a:ext>
            </a:extLst>
          </p:cNvPr>
          <p:cNvCxnSpPr>
            <a:cxnSpLocks/>
            <a:stCxn id="151" idx="2"/>
            <a:endCxn id="154" idx="0"/>
          </p:cNvCxnSpPr>
          <p:nvPr/>
        </p:nvCxnSpPr>
        <p:spPr>
          <a:xfrm rot="16200000" flipH="1">
            <a:off x="4814752" y="19248191"/>
            <a:ext cx="260711" cy="24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FE9EC9A5-C1C1-4A0E-B8B7-F01A783C17F6}"/>
              </a:ext>
            </a:extLst>
          </p:cNvPr>
          <p:cNvSpPr/>
          <p:nvPr/>
        </p:nvSpPr>
        <p:spPr>
          <a:xfrm>
            <a:off x="6964850" y="153761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программы «Службы общественного труда»</a:t>
            </a:r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5E653D53-D3EB-4C36-8E90-451A3AF33803}"/>
              </a:ext>
            </a:extLst>
          </p:cNvPr>
          <p:cNvSpPr/>
          <p:nvPr/>
        </p:nvSpPr>
        <p:spPr>
          <a:xfrm>
            <a:off x="6340009" y="16177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Развитие консервной промышленности</a:t>
            </a: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D61DE4B7-57E6-4E8C-BD46-A2F477B184A2}"/>
              </a:ext>
            </a:extLst>
          </p:cNvPr>
          <p:cNvSpPr/>
          <p:nvPr/>
        </p:nvSpPr>
        <p:spPr>
          <a:xfrm>
            <a:off x="6340009" y="2018047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Реформа Аль-</a:t>
            </a:r>
            <a:r>
              <a:rPr lang="ru-RU" sz="700" dirty="0" err="1"/>
              <a:t>Карауина</a:t>
            </a:r>
            <a:endParaRPr lang="ru-RU" sz="700" dirty="0"/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D0BB93EC-C765-4576-A338-1A004324E439}"/>
              </a:ext>
            </a:extLst>
          </p:cNvPr>
          <p:cNvSpPr/>
          <p:nvPr/>
        </p:nvSpPr>
        <p:spPr>
          <a:xfrm>
            <a:off x="5722013" y="1456036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Девальвировать Марокканский франк</a:t>
            </a:r>
          </a:p>
        </p:txBody>
      </p:sp>
      <p:sp>
        <p:nvSpPr>
          <p:cNvPr id="159" name="Прямоугольник 158">
            <a:extLst>
              <a:ext uri="{FF2B5EF4-FFF2-40B4-BE49-F238E27FC236}">
                <a16:creationId xmlns:a16="http://schemas.microsoft.com/office/drawing/2014/main" id="{89E81C15-521A-467F-B686-27E0D558A9BF}"/>
              </a:ext>
            </a:extLst>
          </p:cNvPr>
          <p:cNvSpPr/>
          <p:nvPr/>
        </p:nvSpPr>
        <p:spPr>
          <a:xfrm>
            <a:off x="6340010" y="1697823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ГЭС Эль-</a:t>
            </a:r>
            <a:r>
              <a:rPr lang="ru-RU" sz="700" dirty="0" err="1"/>
              <a:t>Кансера</a:t>
            </a:r>
            <a:endParaRPr lang="ru-RU" sz="700" dirty="0"/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47BF9C19-F6CD-4ECB-BE1F-55F72B77F001}"/>
              </a:ext>
            </a:extLst>
          </p:cNvPr>
          <p:cNvSpPr/>
          <p:nvPr/>
        </p:nvSpPr>
        <p:spPr>
          <a:xfrm>
            <a:off x="7582069" y="1697823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Перевести добычу на военные рельсы</a:t>
            </a:r>
            <a:endParaRPr lang="ru-RU" sz="100" dirty="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1A8EE704-11C7-46AB-81B1-C8C4620EDDE1}"/>
              </a:ext>
            </a:extLst>
          </p:cNvPr>
          <p:cNvSpPr/>
          <p:nvPr/>
        </p:nvSpPr>
        <p:spPr>
          <a:xfrm>
            <a:off x="7582070" y="16177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фосфатных конвейеров</a:t>
            </a:r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4C01390C-3604-44AF-B95C-E19422D133EE}"/>
              </a:ext>
            </a:extLst>
          </p:cNvPr>
          <p:cNvSpPr/>
          <p:nvPr/>
        </p:nvSpPr>
        <p:spPr>
          <a:xfrm>
            <a:off x="5722014" y="153768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Строительство Южной железной дороги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C86CE29A-CB8F-4444-A22F-6E9A6F234F55}"/>
              </a:ext>
            </a:extLst>
          </p:cNvPr>
          <p:cNvSpPr/>
          <p:nvPr/>
        </p:nvSpPr>
        <p:spPr>
          <a:xfrm>
            <a:off x="5096069" y="161775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проект «свободных школ»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965735E6-9298-480D-AE1F-E6C4CFFDD1A1}"/>
              </a:ext>
            </a:extLst>
          </p:cNvPr>
          <p:cNvSpPr/>
          <p:nvPr/>
        </p:nvSpPr>
        <p:spPr>
          <a:xfrm>
            <a:off x="5096070" y="17774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Санитарные реформы</a:t>
            </a: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0EA51F14-395B-4668-B146-4C4161B7EABF}"/>
              </a:ext>
            </a:extLst>
          </p:cNvPr>
          <p:cNvSpPr/>
          <p:nvPr/>
        </p:nvSpPr>
        <p:spPr>
          <a:xfrm>
            <a:off x="5096069" y="1697823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Французские дотации для феллахов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F581326F-C887-4214-A377-CCD739D3F382}"/>
              </a:ext>
            </a:extLst>
          </p:cNvPr>
          <p:cNvSpPr/>
          <p:nvPr/>
        </p:nvSpPr>
        <p:spPr>
          <a:xfrm>
            <a:off x="4487081" y="1538123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Построить плотину </a:t>
            </a:r>
            <a:r>
              <a:rPr lang="ru-RU" sz="700" dirty="0" err="1"/>
              <a:t>Касба-Тадла</a:t>
            </a:r>
            <a:endParaRPr lang="ru-RU" sz="700" dirty="0"/>
          </a:p>
        </p:txBody>
      </p:sp>
      <p:sp>
        <p:nvSpPr>
          <p:cNvPr id="172" name="Прямоугольник 171">
            <a:extLst>
              <a:ext uri="{FF2B5EF4-FFF2-40B4-BE49-F238E27FC236}">
                <a16:creationId xmlns:a16="http://schemas.microsoft.com/office/drawing/2014/main" id="{7D0BC22F-B057-40C4-8EBE-37521534682D}"/>
              </a:ext>
            </a:extLst>
          </p:cNvPr>
          <p:cNvSpPr/>
          <p:nvPr/>
        </p:nvSpPr>
        <p:spPr>
          <a:xfrm>
            <a:off x="6468606" y="18076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трудовые реформы</a:t>
            </a:r>
          </a:p>
          <a:p>
            <a:pPr algn="ctr"/>
            <a:r>
              <a:rPr lang="ru-RU" sz="100" dirty="0"/>
              <a:t>(После прихода к власти левых во Франции летом 1936 года по всему Марокко прокатилась волна рабочих протестов. Крупнейшие забастовки вспыхнули на фосфатных рудниках </a:t>
            </a:r>
            <a:r>
              <a:rPr lang="ru-RU" sz="100" dirty="0" err="1"/>
              <a:t>Хурибги</a:t>
            </a:r>
            <a:r>
              <a:rPr lang="ru-RU" sz="100" dirty="0"/>
              <a:t>. Французский генеральный резидент Шарль </a:t>
            </a:r>
            <a:r>
              <a:rPr lang="ru-RU" sz="100" dirty="0" err="1"/>
              <a:t>Ногес</a:t>
            </a:r>
            <a:r>
              <a:rPr lang="ru-RU" sz="100" dirty="0"/>
              <a:t> был вынужден пойти на экономические уступки местному </a:t>
            </a:r>
            <a:r>
              <a:rPr lang="ru-RU" sz="100" dirty="0" err="1"/>
              <a:t>населению:Была</a:t>
            </a:r>
            <a:r>
              <a:rPr lang="ru-RU" sz="100" dirty="0"/>
              <a:t> законодательно увеличена минимальная заработная плата для марокканских </a:t>
            </a:r>
            <a:r>
              <a:rPr lang="ru-RU" sz="100" dirty="0" err="1"/>
              <a:t>рабочих.Была</a:t>
            </a:r>
            <a:r>
              <a:rPr lang="ru-RU" sz="100" dirty="0"/>
              <a:t> введена официальная 40-часовая рабочая неделя (для европейских специалистов) и сокращен рабочий день для местных шахтеров.)</a:t>
            </a:r>
            <a:endParaRPr lang="ru-RU" sz="600" dirty="0"/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CB3D1342-AF6F-45C2-8B29-2D66C97503EB}"/>
              </a:ext>
            </a:extLst>
          </p:cNvPr>
          <p:cNvSpPr/>
          <p:nvPr/>
        </p:nvSpPr>
        <p:spPr>
          <a:xfrm>
            <a:off x="7582068" y="177789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Запустить военные заводы и мастерские в </a:t>
            </a:r>
            <a:r>
              <a:rPr lang="ru-RU" sz="700" dirty="0" err="1"/>
              <a:t>Макнесе</a:t>
            </a:r>
            <a:r>
              <a:rPr lang="ru-RU" sz="700" dirty="0"/>
              <a:t> и </a:t>
            </a:r>
            <a:r>
              <a:rPr lang="ru-RU" sz="700" dirty="0" err="1"/>
              <a:t>Ребате</a:t>
            </a:r>
            <a:endParaRPr lang="ru-RU" sz="700" dirty="0"/>
          </a:p>
        </p:txBody>
      </p:sp>
      <p:cxnSp>
        <p:nvCxnSpPr>
          <p:cNvPr id="189" name="Соединительная линия уступом 620">
            <a:extLst>
              <a:ext uri="{FF2B5EF4-FFF2-40B4-BE49-F238E27FC236}">
                <a16:creationId xmlns:a16="http://schemas.microsoft.com/office/drawing/2014/main" id="{7C686C0B-B75D-4F52-8561-05F2CAD940FD}"/>
              </a:ext>
            </a:extLst>
          </p:cNvPr>
          <p:cNvCxnSpPr>
            <a:cxnSpLocks/>
            <a:stCxn id="170" idx="2"/>
            <a:endCxn id="169" idx="0"/>
          </p:cNvCxnSpPr>
          <p:nvPr/>
        </p:nvCxnSpPr>
        <p:spPr>
          <a:xfrm rot="16200000" flipH="1">
            <a:off x="5431089" y="17646374"/>
            <a:ext cx="25628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Соединительная линия уступом 620">
            <a:extLst>
              <a:ext uri="{FF2B5EF4-FFF2-40B4-BE49-F238E27FC236}">
                <a16:creationId xmlns:a16="http://schemas.microsoft.com/office/drawing/2014/main" id="{2366AF65-0D98-447C-B7A5-6E3A72161930}"/>
              </a:ext>
            </a:extLst>
          </p:cNvPr>
          <p:cNvCxnSpPr>
            <a:cxnSpLocks/>
            <a:stCxn id="166" idx="2"/>
            <a:endCxn id="165" idx="0"/>
          </p:cNvCxnSpPr>
          <p:nvPr/>
        </p:nvCxnSpPr>
        <p:spPr>
          <a:xfrm rot="5400000">
            <a:off x="7914876" y="16847875"/>
            <a:ext cx="26071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Соединительная линия уступом 620">
            <a:extLst>
              <a:ext uri="{FF2B5EF4-FFF2-40B4-BE49-F238E27FC236}">
                <a16:creationId xmlns:a16="http://schemas.microsoft.com/office/drawing/2014/main" id="{E7C08983-8D44-4498-99BD-254BF64E7274}"/>
              </a:ext>
            </a:extLst>
          </p:cNvPr>
          <p:cNvCxnSpPr>
            <a:cxnSpLocks/>
            <a:stCxn id="165" idx="2"/>
            <a:endCxn id="164" idx="0"/>
          </p:cNvCxnSpPr>
          <p:nvPr/>
        </p:nvCxnSpPr>
        <p:spPr>
          <a:xfrm rot="5400000">
            <a:off x="7914874" y="17648590"/>
            <a:ext cx="2607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Соединительная линия уступом 620">
            <a:extLst>
              <a:ext uri="{FF2B5EF4-FFF2-40B4-BE49-F238E27FC236}">
                <a16:creationId xmlns:a16="http://schemas.microsoft.com/office/drawing/2014/main" id="{28E6A8E6-7749-40BE-8958-4DEE2DD96DE3}"/>
              </a:ext>
            </a:extLst>
          </p:cNvPr>
          <p:cNvCxnSpPr>
            <a:cxnSpLocks/>
            <a:stCxn id="160" idx="2"/>
            <a:endCxn id="159" idx="0"/>
          </p:cNvCxnSpPr>
          <p:nvPr/>
        </p:nvCxnSpPr>
        <p:spPr>
          <a:xfrm rot="16200000" flipH="1">
            <a:off x="6672814" y="16847875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Соединительная линия уступом 620">
            <a:extLst>
              <a:ext uri="{FF2B5EF4-FFF2-40B4-BE49-F238E27FC236}">
                <a16:creationId xmlns:a16="http://schemas.microsoft.com/office/drawing/2014/main" id="{4A75F75A-BDCF-494C-A9E3-E29F4988BF22}"/>
              </a:ext>
            </a:extLst>
          </p:cNvPr>
          <p:cNvCxnSpPr>
            <a:cxnSpLocks/>
            <a:stCxn id="166" idx="2"/>
            <a:endCxn id="159" idx="0"/>
          </p:cNvCxnSpPr>
          <p:nvPr/>
        </p:nvCxnSpPr>
        <p:spPr>
          <a:xfrm rot="5400000">
            <a:off x="7293845" y="16226846"/>
            <a:ext cx="260717" cy="124206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Соединительная линия уступом 620">
            <a:extLst>
              <a:ext uri="{FF2B5EF4-FFF2-40B4-BE49-F238E27FC236}">
                <a16:creationId xmlns:a16="http://schemas.microsoft.com/office/drawing/2014/main" id="{20B6CC3A-7999-4202-8709-65A70E605078}"/>
              </a:ext>
            </a:extLst>
          </p:cNvPr>
          <p:cNvCxnSpPr>
            <a:cxnSpLocks/>
            <a:stCxn id="165" idx="2"/>
            <a:endCxn id="133" idx="0"/>
          </p:cNvCxnSpPr>
          <p:nvPr/>
        </p:nvCxnSpPr>
        <p:spPr>
          <a:xfrm rot="5400000">
            <a:off x="7293843" y="17027563"/>
            <a:ext cx="260720" cy="124205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Соединительная линия уступом 620">
            <a:extLst>
              <a:ext uri="{FF2B5EF4-FFF2-40B4-BE49-F238E27FC236}">
                <a16:creationId xmlns:a16="http://schemas.microsoft.com/office/drawing/2014/main" id="{5B8091A2-FEB0-4588-A97C-712582A9CFE4}"/>
              </a:ext>
            </a:extLst>
          </p:cNvPr>
          <p:cNvCxnSpPr>
            <a:cxnSpLocks/>
            <a:stCxn id="159" idx="2"/>
            <a:endCxn id="133" idx="0"/>
          </p:cNvCxnSpPr>
          <p:nvPr/>
        </p:nvCxnSpPr>
        <p:spPr>
          <a:xfrm rot="16200000" flipH="1">
            <a:off x="6672815" y="17648592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1ED3E070-7793-4DFC-9262-57A19B08DA47}"/>
              </a:ext>
            </a:extLst>
          </p:cNvPr>
          <p:cNvSpPr/>
          <p:nvPr/>
        </p:nvSpPr>
        <p:spPr>
          <a:xfrm>
            <a:off x="3852129" y="161775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Франко-берберские школы</a:t>
            </a:r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2C4F37CE-664B-436A-B255-CCE3A2F068A8}"/>
              </a:ext>
            </a:extLst>
          </p:cNvPr>
          <p:cNvCxnSpPr>
            <a:cxnSpLocks/>
            <a:stCxn id="168" idx="1"/>
            <a:endCxn id="245" idx="3"/>
          </p:cNvCxnSpPr>
          <p:nvPr/>
        </p:nvCxnSpPr>
        <p:spPr>
          <a:xfrm flipH="1">
            <a:off x="4778454" y="16447517"/>
            <a:ext cx="31761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рямоугольник 265">
            <a:extLst>
              <a:ext uri="{FF2B5EF4-FFF2-40B4-BE49-F238E27FC236}">
                <a16:creationId xmlns:a16="http://schemas.microsoft.com/office/drawing/2014/main" id="{68B1E117-0997-408B-8E5D-B6D54012F4BC}"/>
              </a:ext>
            </a:extLst>
          </p:cNvPr>
          <p:cNvSpPr/>
          <p:nvPr/>
        </p:nvSpPr>
        <p:spPr>
          <a:xfrm>
            <a:off x="3852128" y="1697864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колледжи для женщин</a:t>
            </a:r>
          </a:p>
        </p:txBody>
      </p:sp>
      <p:cxnSp>
        <p:nvCxnSpPr>
          <p:cNvPr id="267" name="Соединительная линия уступом 620">
            <a:extLst>
              <a:ext uri="{FF2B5EF4-FFF2-40B4-BE49-F238E27FC236}">
                <a16:creationId xmlns:a16="http://schemas.microsoft.com/office/drawing/2014/main" id="{840FDEEB-F3AE-4C87-A93A-2D8E549CDC61}"/>
              </a:ext>
            </a:extLst>
          </p:cNvPr>
          <p:cNvCxnSpPr>
            <a:cxnSpLocks/>
            <a:stCxn id="171" idx="2"/>
            <a:endCxn id="245" idx="0"/>
          </p:cNvCxnSpPr>
          <p:nvPr/>
        </p:nvCxnSpPr>
        <p:spPr>
          <a:xfrm rot="5400000">
            <a:off x="4504625" y="15731898"/>
            <a:ext cx="256286" cy="6349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Соединительная линия уступом 620">
            <a:extLst>
              <a:ext uri="{FF2B5EF4-FFF2-40B4-BE49-F238E27FC236}">
                <a16:creationId xmlns:a16="http://schemas.microsoft.com/office/drawing/2014/main" id="{C42987BF-3C90-4273-8578-F4ECAA730943}"/>
              </a:ext>
            </a:extLst>
          </p:cNvPr>
          <p:cNvCxnSpPr>
            <a:cxnSpLocks/>
            <a:stCxn id="171" idx="2"/>
            <a:endCxn id="168" idx="0"/>
          </p:cNvCxnSpPr>
          <p:nvPr/>
        </p:nvCxnSpPr>
        <p:spPr>
          <a:xfrm rot="16200000" flipH="1">
            <a:off x="5126595" y="15744880"/>
            <a:ext cx="256286" cy="6089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Соединительная линия уступом 620">
            <a:extLst>
              <a:ext uri="{FF2B5EF4-FFF2-40B4-BE49-F238E27FC236}">
                <a16:creationId xmlns:a16="http://schemas.microsoft.com/office/drawing/2014/main" id="{CC9C22C5-0599-4A63-A76A-3E6E9BB2C8AF}"/>
              </a:ext>
            </a:extLst>
          </p:cNvPr>
          <p:cNvCxnSpPr>
            <a:cxnSpLocks/>
            <a:stCxn id="168" idx="2"/>
            <a:endCxn id="266" idx="0"/>
          </p:cNvCxnSpPr>
          <p:nvPr/>
        </p:nvCxnSpPr>
        <p:spPr>
          <a:xfrm rot="5400000">
            <a:off x="4806700" y="16226109"/>
            <a:ext cx="261124" cy="12439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Соединительная линия уступом 620">
            <a:extLst>
              <a:ext uri="{FF2B5EF4-FFF2-40B4-BE49-F238E27FC236}">
                <a16:creationId xmlns:a16="http://schemas.microsoft.com/office/drawing/2014/main" id="{B37C4214-5DF9-4BB7-87F6-3E8E0886C3AC}"/>
              </a:ext>
            </a:extLst>
          </p:cNvPr>
          <p:cNvCxnSpPr>
            <a:cxnSpLocks/>
            <a:stCxn id="245" idx="2"/>
            <a:endCxn id="266" idx="0"/>
          </p:cNvCxnSpPr>
          <p:nvPr/>
        </p:nvCxnSpPr>
        <p:spPr>
          <a:xfrm rot="5400000">
            <a:off x="4184730" y="16848079"/>
            <a:ext cx="261124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Соединительная линия уступом 620">
            <a:extLst>
              <a:ext uri="{FF2B5EF4-FFF2-40B4-BE49-F238E27FC236}">
                <a16:creationId xmlns:a16="http://schemas.microsoft.com/office/drawing/2014/main" id="{066864E5-04F4-434A-9229-08D47A32E87B}"/>
              </a:ext>
            </a:extLst>
          </p:cNvPr>
          <p:cNvCxnSpPr>
            <a:cxnSpLocks/>
            <a:stCxn id="245" idx="2"/>
            <a:endCxn id="170" idx="0"/>
          </p:cNvCxnSpPr>
          <p:nvPr/>
        </p:nvCxnSpPr>
        <p:spPr>
          <a:xfrm rot="16200000" flipH="1">
            <a:off x="4806905" y="16225904"/>
            <a:ext cx="260715" cy="1243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Соединительная линия уступом 620">
            <a:extLst>
              <a:ext uri="{FF2B5EF4-FFF2-40B4-BE49-F238E27FC236}">
                <a16:creationId xmlns:a16="http://schemas.microsoft.com/office/drawing/2014/main" id="{C7785B8F-424F-443D-A8C2-43EC2C92A8DF}"/>
              </a:ext>
            </a:extLst>
          </p:cNvPr>
          <p:cNvCxnSpPr>
            <a:cxnSpLocks/>
            <a:stCxn id="168" idx="2"/>
            <a:endCxn id="170" idx="0"/>
          </p:cNvCxnSpPr>
          <p:nvPr/>
        </p:nvCxnSpPr>
        <p:spPr>
          <a:xfrm rot="5400000">
            <a:off x="5428875" y="16847874"/>
            <a:ext cx="260715" cy="1270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Соединительная линия уступом 620">
            <a:extLst>
              <a:ext uri="{FF2B5EF4-FFF2-40B4-BE49-F238E27FC236}">
                <a16:creationId xmlns:a16="http://schemas.microsoft.com/office/drawing/2014/main" id="{E78ABD49-6846-4088-9270-5DAE8DC72206}"/>
              </a:ext>
            </a:extLst>
          </p:cNvPr>
          <p:cNvCxnSpPr>
            <a:cxnSpLocks/>
            <a:stCxn id="163" idx="2"/>
            <a:endCxn id="167" idx="0"/>
          </p:cNvCxnSpPr>
          <p:nvPr/>
        </p:nvCxnSpPr>
        <p:spPr>
          <a:xfrm rot="16200000" flipH="1">
            <a:off x="6046957" y="15238580"/>
            <a:ext cx="276438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Соединительная линия уступом 620">
            <a:extLst>
              <a:ext uri="{FF2B5EF4-FFF2-40B4-BE49-F238E27FC236}">
                <a16:creationId xmlns:a16="http://schemas.microsoft.com/office/drawing/2014/main" id="{7BAF9731-AEDE-4588-8E73-E99D5DAF63CC}"/>
              </a:ext>
            </a:extLst>
          </p:cNvPr>
          <p:cNvCxnSpPr>
            <a:cxnSpLocks/>
            <a:stCxn id="167" idx="2"/>
            <a:endCxn id="160" idx="0"/>
          </p:cNvCxnSpPr>
          <p:nvPr/>
        </p:nvCxnSpPr>
        <p:spPr>
          <a:xfrm rot="16200000" flipH="1">
            <a:off x="6363815" y="15738161"/>
            <a:ext cx="260718" cy="6179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Соединительная линия уступом 620">
            <a:extLst>
              <a:ext uri="{FF2B5EF4-FFF2-40B4-BE49-F238E27FC236}">
                <a16:creationId xmlns:a16="http://schemas.microsoft.com/office/drawing/2014/main" id="{8A4CC061-E820-4B91-8265-908A117C76F1}"/>
              </a:ext>
            </a:extLst>
          </p:cNvPr>
          <p:cNvCxnSpPr>
            <a:cxnSpLocks/>
            <a:stCxn id="161" idx="2"/>
            <a:endCxn id="166" idx="0"/>
          </p:cNvCxnSpPr>
          <p:nvPr/>
        </p:nvCxnSpPr>
        <p:spPr>
          <a:xfrm rot="16200000" flipH="1">
            <a:off x="7605952" y="15738236"/>
            <a:ext cx="261343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Соединительная линия уступом 620">
            <a:extLst>
              <a:ext uri="{FF2B5EF4-FFF2-40B4-BE49-F238E27FC236}">
                <a16:creationId xmlns:a16="http://schemas.microsoft.com/office/drawing/2014/main" id="{5ACF4EDF-5A7A-4565-8335-9607E0AC4C9F}"/>
              </a:ext>
            </a:extLst>
          </p:cNvPr>
          <p:cNvCxnSpPr>
            <a:cxnSpLocks/>
            <a:stCxn id="245" idx="2"/>
            <a:endCxn id="136" idx="0"/>
          </p:cNvCxnSpPr>
          <p:nvPr/>
        </p:nvCxnSpPr>
        <p:spPr>
          <a:xfrm rot="16200000" flipH="1">
            <a:off x="4319855" y="16712953"/>
            <a:ext cx="1861535" cy="187066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Соединительная линия уступом 620">
            <a:extLst>
              <a:ext uri="{FF2B5EF4-FFF2-40B4-BE49-F238E27FC236}">
                <a16:creationId xmlns:a16="http://schemas.microsoft.com/office/drawing/2014/main" id="{EEADD502-DF21-435B-AB40-628C775C396B}"/>
              </a:ext>
            </a:extLst>
          </p:cNvPr>
          <p:cNvCxnSpPr>
            <a:cxnSpLocks/>
            <a:stCxn id="168" idx="2"/>
            <a:endCxn id="136" idx="0"/>
          </p:cNvCxnSpPr>
          <p:nvPr/>
        </p:nvCxnSpPr>
        <p:spPr>
          <a:xfrm rot="16200000" flipH="1">
            <a:off x="4941825" y="17334923"/>
            <a:ext cx="1861535" cy="626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Соединительная линия уступом 620">
            <a:extLst>
              <a:ext uri="{FF2B5EF4-FFF2-40B4-BE49-F238E27FC236}">
                <a16:creationId xmlns:a16="http://schemas.microsoft.com/office/drawing/2014/main" id="{FBF4967B-DC3B-4838-96A4-4D328C5EB6C2}"/>
              </a:ext>
            </a:extLst>
          </p:cNvPr>
          <p:cNvCxnSpPr>
            <a:cxnSpLocks/>
            <a:stCxn id="245" idx="2"/>
            <a:endCxn id="137" idx="0"/>
          </p:cNvCxnSpPr>
          <p:nvPr/>
        </p:nvCxnSpPr>
        <p:spPr>
          <a:xfrm rot="16200000" flipH="1">
            <a:off x="4940885" y="16091923"/>
            <a:ext cx="1861535" cy="3112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620">
            <a:extLst>
              <a:ext uri="{FF2B5EF4-FFF2-40B4-BE49-F238E27FC236}">
                <a16:creationId xmlns:a16="http://schemas.microsoft.com/office/drawing/2014/main" id="{46EC63F1-0538-4C28-BA2B-A65FEC33ACED}"/>
              </a:ext>
            </a:extLst>
          </p:cNvPr>
          <p:cNvCxnSpPr>
            <a:cxnSpLocks/>
            <a:stCxn id="168" idx="2"/>
            <a:endCxn id="137" idx="0"/>
          </p:cNvCxnSpPr>
          <p:nvPr/>
        </p:nvCxnSpPr>
        <p:spPr>
          <a:xfrm rot="16200000" flipH="1">
            <a:off x="5562855" y="16713893"/>
            <a:ext cx="1861535" cy="186878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Соединительная линия уступом 620">
            <a:extLst>
              <a:ext uri="{FF2B5EF4-FFF2-40B4-BE49-F238E27FC236}">
                <a16:creationId xmlns:a16="http://schemas.microsoft.com/office/drawing/2014/main" id="{4AB5D48F-D0AA-4EBC-BF72-566D53293AF6}"/>
              </a:ext>
            </a:extLst>
          </p:cNvPr>
          <p:cNvCxnSpPr>
            <a:cxnSpLocks/>
            <a:stCxn id="134" idx="2"/>
            <a:endCxn id="162" idx="0"/>
          </p:cNvCxnSpPr>
          <p:nvPr/>
        </p:nvCxnSpPr>
        <p:spPr>
          <a:xfrm rot="5400000">
            <a:off x="6672819" y="20050115"/>
            <a:ext cx="2607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Прямая соединительная линия 351">
            <a:extLst>
              <a:ext uri="{FF2B5EF4-FFF2-40B4-BE49-F238E27FC236}">
                <a16:creationId xmlns:a16="http://schemas.microsoft.com/office/drawing/2014/main" id="{1CE47EEF-D77B-4B21-8647-CDBA028F81B3}"/>
              </a:ext>
            </a:extLst>
          </p:cNvPr>
          <p:cNvCxnSpPr>
            <a:cxnSpLocks/>
            <a:stCxn id="178" idx="1"/>
            <a:endCxn id="172" idx="3"/>
          </p:cNvCxnSpPr>
          <p:nvPr/>
        </p:nvCxnSpPr>
        <p:spPr>
          <a:xfrm flipH="1">
            <a:off x="7394931" y="2077655"/>
            <a:ext cx="910463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BD9685A5-0F5B-46E4-B9C4-11EF0AFB73FB}"/>
              </a:ext>
            </a:extLst>
          </p:cNvPr>
          <p:cNvSpPr/>
          <p:nvPr/>
        </p:nvSpPr>
        <p:spPr>
          <a:xfrm>
            <a:off x="3852127" y="177690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Секторы модернизации сельской местности</a:t>
            </a:r>
            <a:endParaRPr lang="ru-RU" sz="100" dirty="0"/>
          </a:p>
        </p:txBody>
      </p:sp>
      <p:cxnSp>
        <p:nvCxnSpPr>
          <p:cNvPr id="158" name="Соединительная линия уступом 620">
            <a:extLst>
              <a:ext uri="{FF2B5EF4-FFF2-40B4-BE49-F238E27FC236}">
                <a16:creationId xmlns:a16="http://schemas.microsoft.com/office/drawing/2014/main" id="{2C19DE1B-1420-4A75-9AEA-95F5D82E5583}"/>
              </a:ext>
            </a:extLst>
          </p:cNvPr>
          <p:cNvCxnSpPr>
            <a:cxnSpLocks/>
            <a:stCxn id="170" idx="2"/>
            <a:endCxn id="156" idx="0"/>
          </p:cNvCxnSpPr>
          <p:nvPr/>
        </p:nvCxnSpPr>
        <p:spPr>
          <a:xfrm rot="5400000">
            <a:off x="4811852" y="17021670"/>
            <a:ext cx="250818" cy="124394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Соединительная линия уступом 620">
            <a:extLst>
              <a:ext uri="{FF2B5EF4-FFF2-40B4-BE49-F238E27FC236}">
                <a16:creationId xmlns:a16="http://schemas.microsoft.com/office/drawing/2014/main" id="{73562267-8A4D-4264-8436-A6E73CEB01B1}"/>
              </a:ext>
            </a:extLst>
          </p:cNvPr>
          <p:cNvCxnSpPr>
            <a:cxnSpLocks/>
            <a:stCxn id="163" idx="2"/>
            <a:endCxn id="171" idx="0"/>
          </p:cNvCxnSpPr>
          <p:nvPr/>
        </p:nvCxnSpPr>
        <p:spPr>
          <a:xfrm rot="5400000">
            <a:off x="5427276" y="14623330"/>
            <a:ext cx="280869" cy="12349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Соединительная линия уступом 620">
            <a:extLst>
              <a:ext uri="{FF2B5EF4-FFF2-40B4-BE49-F238E27FC236}">
                <a16:creationId xmlns:a16="http://schemas.microsoft.com/office/drawing/2014/main" id="{00ED7BF8-0741-478A-8257-53724D844C8D}"/>
              </a:ext>
            </a:extLst>
          </p:cNvPr>
          <p:cNvCxnSpPr>
            <a:cxnSpLocks/>
            <a:stCxn id="163" idx="2"/>
            <a:endCxn id="161" idx="0"/>
          </p:cNvCxnSpPr>
          <p:nvPr/>
        </p:nvCxnSpPr>
        <p:spPr>
          <a:xfrm rot="16200000" flipH="1">
            <a:off x="6668688" y="14616849"/>
            <a:ext cx="275813" cy="124283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B4B88F2F-4EFD-4A52-B891-709773C0E63B}"/>
              </a:ext>
            </a:extLst>
          </p:cNvPr>
          <p:cNvSpPr/>
          <p:nvPr/>
        </p:nvSpPr>
        <p:spPr>
          <a:xfrm>
            <a:off x="16499564" y="180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Пороховая бочка красного июня</a:t>
            </a:r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F7376C2C-9CEE-4C5F-B577-5679B2784641}"/>
              </a:ext>
            </a:extLst>
          </p:cNvPr>
          <p:cNvSpPr/>
          <p:nvPr/>
        </p:nvSpPr>
        <p:spPr>
          <a:xfrm>
            <a:off x="17087898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компромисс с новой Францией</a:t>
            </a:r>
          </a:p>
        </p:txBody>
      </p:sp>
      <p:sp>
        <p:nvSpPr>
          <p:cNvPr id="182" name="Прямоугольник 181">
            <a:extLst>
              <a:ext uri="{FF2B5EF4-FFF2-40B4-BE49-F238E27FC236}">
                <a16:creationId xmlns:a16="http://schemas.microsoft.com/office/drawing/2014/main" id="{55B2DC33-8CEE-4512-B070-84F26EE25CE0}"/>
              </a:ext>
            </a:extLst>
          </p:cNvPr>
          <p:cNvSpPr/>
          <p:nvPr/>
        </p:nvSpPr>
        <p:spPr>
          <a:xfrm>
            <a:off x="15900594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у Коминтерна</a:t>
            </a:r>
          </a:p>
        </p:txBody>
      </p:sp>
      <p:sp>
        <p:nvSpPr>
          <p:cNvPr id="183" name="Прямоугольник 182">
            <a:extLst>
              <a:ext uri="{FF2B5EF4-FFF2-40B4-BE49-F238E27FC236}">
                <a16:creationId xmlns:a16="http://schemas.microsoft.com/office/drawing/2014/main" id="{4A8E4594-12D1-4A9F-BC83-2A7912C7E9C1}"/>
              </a:ext>
            </a:extLst>
          </p:cNvPr>
          <p:cNvSpPr/>
          <p:nvPr/>
        </p:nvSpPr>
        <p:spPr>
          <a:xfrm>
            <a:off x="16499562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«взрывные работы» шахтёров</a:t>
            </a:r>
          </a:p>
        </p:txBody>
      </p:sp>
      <p:sp>
        <p:nvSpPr>
          <p:cNvPr id="184" name="Прямоугольник 183">
            <a:extLst>
              <a:ext uri="{FF2B5EF4-FFF2-40B4-BE49-F238E27FC236}">
                <a16:creationId xmlns:a16="http://schemas.microsoft.com/office/drawing/2014/main" id="{9DC3C11A-ED8D-4111-8F88-E8E38E2BC526}"/>
              </a:ext>
            </a:extLst>
          </p:cNvPr>
          <p:cNvSpPr/>
          <p:nvPr/>
        </p:nvSpPr>
        <p:spPr>
          <a:xfrm>
            <a:off x="17688637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Вооружить отряды Красной гвардии</a:t>
            </a:r>
          </a:p>
        </p:txBody>
      </p:sp>
      <p:sp>
        <p:nvSpPr>
          <p:cNvPr id="185" name="Прямоугольник 184">
            <a:extLst>
              <a:ext uri="{FF2B5EF4-FFF2-40B4-BE49-F238E27FC236}">
                <a16:creationId xmlns:a16="http://schemas.microsoft.com/office/drawing/2014/main" id="{DA8DB325-2F64-4AE2-83F8-F3166E26E271}"/>
              </a:ext>
            </a:extLst>
          </p:cNvPr>
          <p:cNvSpPr/>
          <p:nvPr/>
        </p:nvSpPr>
        <p:spPr>
          <a:xfrm>
            <a:off x="15310487" y="34276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племён Атласа</a:t>
            </a:r>
          </a:p>
        </p:txBody>
      </p:sp>
      <p:cxnSp>
        <p:nvCxnSpPr>
          <p:cNvPr id="186" name="Соединительная линия уступом 620">
            <a:extLst>
              <a:ext uri="{FF2B5EF4-FFF2-40B4-BE49-F238E27FC236}">
                <a16:creationId xmlns:a16="http://schemas.microsoft.com/office/drawing/2014/main" id="{613ABB53-6376-41CF-897F-500F98B80A66}"/>
              </a:ext>
            </a:extLst>
          </p:cNvPr>
          <p:cNvCxnSpPr>
            <a:cxnSpLocks/>
            <a:stCxn id="178" idx="2"/>
            <a:endCxn id="182" idx="0"/>
          </p:cNvCxnSpPr>
          <p:nvPr/>
        </p:nvCxnSpPr>
        <p:spPr>
          <a:xfrm rot="5400000">
            <a:off x="16528242" y="2183170"/>
            <a:ext cx="270000" cy="59897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Соединительная линия уступом 620">
            <a:extLst>
              <a:ext uri="{FF2B5EF4-FFF2-40B4-BE49-F238E27FC236}">
                <a16:creationId xmlns:a16="http://schemas.microsoft.com/office/drawing/2014/main" id="{270265E6-88D6-4986-81F8-E9F04325F57A}"/>
              </a:ext>
            </a:extLst>
          </p:cNvPr>
          <p:cNvCxnSpPr>
            <a:cxnSpLocks/>
            <a:stCxn id="178" idx="2"/>
            <a:endCxn id="181" idx="0"/>
          </p:cNvCxnSpPr>
          <p:nvPr/>
        </p:nvCxnSpPr>
        <p:spPr>
          <a:xfrm rot="16200000" flipH="1">
            <a:off x="17121894" y="2188488"/>
            <a:ext cx="270000" cy="5883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единительная линия 187">
            <a:extLst>
              <a:ext uri="{FF2B5EF4-FFF2-40B4-BE49-F238E27FC236}">
                <a16:creationId xmlns:a16="http://schemas.microsoft.com/office/drawing/2014/main" id="{F79F1BE0-6109-4625-9C29-E6A8D1F422DC}"/>
              </a:ext>
            </a:extLst>
          </p:cNvPr>
          <p:cNvCxnSpPr>
            <a:cxnSpLocks/>
            <a:stCxn id="181" idx="1"/>
            <a:endCxn id="182" idx="3"/>
          </p:cNvCxnSpPr>
          <p:nvPr/>
        </p:nvCxnSpPr>
        <p:spPr>
          <a:xfrm flipH="1">
            <a:off x="16826919" y="2887655"/>
            <a:ext cx="26097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Соединительная линия уступом 620">
            <a:extLst>
              <a:ext uri="{FF2B5EF4-FFF2-40B4-BE49-F238E27FC236}">
                <a16:creationId xmlns:a16="http://schemas.microsoft.com/office/drawing/2014/main" id="{355C520A-9137-49BB-B3DE-B42F47010ADA}"/>
              </a:ext>
            </a:extLst>
          </p:cNvPr>
          <p:cNvCxnSpPr>
            <a:cxnSpLocks/>
            <a:stCxn id="178" idx="2"/>
            <a:endCxn id="185" idx="0"/>
          </p:cNvCxnSpPr>
          <p:nvPr/>
        </p:nvCxnSpPr>
        <p:spPr>
          <a:xfrm rot="5400000">
            <a:off x="15828190" y="2293116"/>
            <a:ext cx="1079999" cy="1189077"/>
          </a:xfrm>
          <a:prstGeom prst="bentConnector3">
            <a:avLst>
              <a:gd name="adj1" fmla="val 1209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Соединительная линия уступом 620">
            <a:extLst>
              <a:ext uri="{FF2B5EF4-FFF2-40B4-BE49-F238E27FC236}">
                <a16:creationId xmlns:a16="http://schemas.microsoft.com/office/drawing/2014/main" id="{2BE64C25-E8F0-401C-BA1C-5549B15D2E5B}"/>
              </a:ext>
            </a:extLst>
          </p:cNvPr>
          <p:cNvCxnSpPr>
            <a:cxnSpLocks/>
            <a:stCxn id="178" idx="2"/>
            <a:endCxn id="184" idx="0"/>
          </p:cNvCxnSpPr>
          <p:nvPr/>
        </p:nvCxnSpPr>
        <p:spPr>
          <a:xfrm rot="16200000" flipH="1">
            <a:off x="17017263" y="2293118"/>
            <a:ext cx="1080000" cy="1189073"/>
          </a:xfrm>
          <a:prstGeom prst="bentConnector3">
            <a:avLst>
              <a:gd name="adj1" fmla="val 1209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Соединительная линия уступом 620">
            <a:extLst>
              <a:ext uri="{FF2B5EF4-FFF2-40B4-BE49-F238E27FC236}">
                <a16:creationId xmlns:a16="http://schemas.microsoft.com/office/drawing/2014/main" id="{971C1CBF-A3AA-408F-A1D2-9C9D75D41B8F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 rot="5400000">
            <a:off x="16422726" y="2887654"/>
            <a:ext cx="1080000" cy="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Прямоугольник 192">
            <a:extLst>
              <a:ext uri="{FF2B5EF4-FFF2-40B4-BE49-F238E27FC236}">
                <a16:creationId xmlns:a16="http://schemas.microsoft.com/office/drawing/2014/main" id="{CEBD78CE-17CE-43A0-BD37-6E227DB122CD}"/>
              </a:ext>
            </a:extLst>
          </p:cNvPr>
          <p:cNvSpPr/>
          <p:nvPr/>
        </p:nvSpPr>
        <p:spPr>
          <a:xfrm>
            <a:off x="15309318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помощь среди националистов</a:t>
            </a:r>
          </a:p>
        </p:txBody>
      </p:sp>
      <p:sp>
        <p:nvSpPr>
          <p:cNvPr id="194" name="Прямоугольник 193">
            <a:extLst>
              <a:ext uri="{FF2B5EF4-FFF2-40B4-BE49-F238E27FC236}">
                <a16:creationId xmlns:a16="http://schemas.microsoft.com/office/drawing/2014/main" id="{DE354935-DCCA-4E3F-BE40-654491151E16}"/>
              </a:ext>
            </a:extLst>
          </p:cNvPr>
          <p:cNvSpPr/>
          <p:nvPr/>
        </p:nvSpPr>
        <p:spPr>
          <a:xfrm>
            <a:off x="17686865" y="42435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Переманить остатки марокканцев из армии</a:t>
            </a:r>
          </a:p>
        </p:txBody>
      </p:sp>
      <p:cxnSp>
        <p:nvCxnSpPr>
          <p:cNvPr id="195" name="Соединительная линия уступом 620">
            <a:extLst>
              <a:ext uri="{FF2B5EF4-FFF2-40B4-BE49-F238E27FC236}">
                <a16:creationId xmlns:a16="http://schemas.microsoft.com/office/drawing/2014/main" id="{EFBD37AD-79FE-4447-8A69-147D52878238}"/>
              </a:ext>
            </a:extLst>
          </p:cNvPr>
          <p:cNvCxnSpPr>
            <a:cxnSpLocks/>
            <a:stCxn id="181" idx="2"/>
            <a:endCxn id="229" idx="0"/>
          </p:cNvCxnSpPr>
          <p:nvPr/>
        </p:nvCxnSpPr>
        <p:spPr>
          <a:xfrm rot="16200000" flipH="1">
            <a:off x="17507439" y="3201277"/>
            <a:ext cx="1887395" cy="1800150"/>
          </a:xfrm>
          <a:prstGeom prst="bentConnector3">
            <a:avLst>
              <a:gd name="adj1" fmla="val 51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Соединительная линия уступом 620">
            <a:extLst>
              <a:ext uri="{FF2B5EF4-FFF2-40B4-BE49-F238E27FC236}">
                <a16:creationId xmlns:a16="http://schemas.microsoft.com/office/drawing/2014/main" id="{E9EB3CF6-3D48-4724-B19F-D706D559FC5D}"/>
              </a:ext>
            </a:extLst>
          </p:cNvPr>
          <p:cNvCxnSpPr>
            <a:cxnSpLocks/>
            <a:stCxn id="182" idx="2"/>
            <a:endCxn id="231" idx="0"/>
          </p:cNvCxnSpPr>
          <p:nvPr/>
        </p:nvCxnSpPr>
        <p:spPr>
          <a:xfrm rot="5400000">
            <a:off x="14533265" y="3211945"/>
            <a:ext cx="1884783" cy="1776202"/>
          </a:xfrm>
          <a:prstGeom prst="bentConnector3">
            <a:avLst>
              <a:gd name="adj1" fmla="val 552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Прямоугольник 197">
            <a:extLst>
              <a:ext uri="{FF2B5EF4-FFF2-40B4-BE49-F238E27FC236}">
                <a16:creationId xmlns:a16="http://schemas.microsoft.com/office/drawing/2014/main" id="{01483DFB-5720-4EC7-82D0-9CC2FB45BAFB}"/>
              </a:ext>
            </a:extLst>
          </p:cNvPr>
          <p:cNvSpPr/>
          <p:nvPr/>
        </p:nvSpPr>
        <p:spPr>
          <a:xfrm>
            <a:off x="16494244" y="58524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Судьба султана?</a:t>
            </a:r>
          </a:p>
        </p:txBody>
      </p:sp>
      <p:cxnSp>
        <p:nvCxnSpPr>
          <p:cNvPr id="199" name="Соединительная линия уступом 620">
            <a:extLst>
              <a:ext uri="{FF2B5EF4-FFF2-40B4-BE49-F238E27FC236}">
                <a16:creationId xmlns:a16="http://schemas.microsoft.com/office/drawing/2014/main" id="{7D3CB62A-02A1-45FC-8FBA-E15235435620}"/>
              </a:ext>
            </a:extLst>
          </p:cNvPr>
          <p:cNvCxnSpPr>
            <a:cxnSpLocks/>
            <a:stCxn id="183" idx="2"/>
            <a:endCxn id="194" idx="0"/>
          </p:cNvCxnSpPr>
          <p:nvPr/>
        </p:nvCxnSpPr>
        <p:spPr>
          <a:xfrm rot="16200000" flipH="1">
            <a:off x="17418423" y="3511956"/>
            <a:ext cx="275907" cy="118730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Соединительная линия уступом 620">
            <a:extLst>
              <a:ext uri="{FF2B5EF4-FFF2-40B4-BE49-F238E27FC236}">
                <a16:creationId xmlns:a16="http://schemas.microsoft.com/office/drawing/2014/main" id="{521B31FB-7CFF-4558-AB1E-BEC09F2E040D}"/>
              </a:ext>
            </a:extLst>
          </p:cNvPr>
          <p:cNvCxnSpPr>
            <a:cxnSpLocks/>
            <a:stCxn id="184" idx="2"/>
            <a:endCxn id="194" idx="0"/>
          </p:cNvCxnSpPr>
          <p:nvPr/>
        </p:nvCxnSpPr>
        <p:spPr>
          <a:xfrm rot="5400000">
            <a:off x="18012961" y="4104722"/>
            <a:ext cx="275907" cy="177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Соединительная линия уступом 620">
            <a:extLst>
              <a:ext uri="{FF2B5EF4-FFF2-40B4-BE49-F238E27FC236}">
                <a16:creationId xmlns:a16="http://schemas.microsoft.com/office/drawing/2014/main" id="{964295CE-967D-4989-94F2-12B863910B48}"/>
              </a:ext>
            </a:extLst>
          </p:cNvPr>
          <p:cNvCxnSpPr>
            <a:cxnSpLocks/>
            <a:stCxn id="185" idx="2"/>
            <a:endCxn id="194" idx="0"/>
          </p:cNvCxnSpPr>
          <p:nvPr/>
        </p:nvCxnSpPr>
        <p:spPr>
          <a:xfrm rot="16200000" flipH="1">
            <a:off x="16823885" y="2917419"/>
            <a:ext cx="275908" cy="23763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Соединительная линия уступом 620">
            <a:extLst>
              <a:ext uri="{FF2B5EF4-FFF2-40B4-BE49-F238E27FC236}">
                <a16:creationId xmlns:a16="http://schemas.microsoft.com/office/drawing/2014/main" id="{633F4767-5E0F-4CAE-AE5A-3F79227A395D}"/>
              </a:ext>
            </a:extLst>
          </p:cNvPr>
          <p:cNvCxnSpPr>
            <a:cxnSpLocks/>
            <a:stCxn id="185" idx="2"/>
            <a:endCxn id="193" idx="0"/>
          </p:cNvCxnSpPr>
          <p:nvPr/>
        </p:nvCxnSpPr>
        <p:spPr>
          <a:xfrm rot="5400000">
            <a:off x="15638067" y="4102069"/>
            <a:ext cx="269999" cy="116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Соединительная линия уступом 620">
            <a:extLst>
              <a:ext uri="{FF2B5EF4-FFF2-40B4-BE49-F238E27FC236}">
                <a16:creationId xmlns:a16="http://schemas.microsoft.com/office/drawing/2014/main" id="{4ADDAB24-CD5B-4FA7-9434-90B11D5F66B0}"/>
              </a:ext>
            </a:extLst>
          </p:cNvPr>
          <p:cNvCxnSpPr>
            <a:cxnSpLocks/>
            <a:stCxn id="183" idx="2"/>
            <a:endCxn id="193" idx="0"/>
          </p:cNvCxnSpPr>
          <p:nvPr/>
        </p:nvCxnSpPr>
        <p:spPr>
          <a:xfrm rot="5400000">
            <a:off x="16232604" y="3507532"/>
            <a:ext cx="269998" cy="119024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Соединительная линия уступом 620">
            <a:extLst>
              <a:ext uri="{FF2B5EF4-FFF2-40B4-BE49-F238E27FC236}">
                <a16:creationId xmlns:a16="http://schemas.microsoft.com/office/drawing/2014/main" id="{07BCE0E3-BBFB-4A99-9140-F3998272FA21}"/>
              </a:ext>
            </a:extLst>
          </p:cNvPr>
          <p:cNvCxnSpPr>
            <a:cxnSpLocks/>
            <a:stCxn id="184" idx="2"/>
            <a:endCxn id="193" idx="0"/>
          </p:cNvCxnSpPr>
          <p:nvPr/>
        </p:nvCxnSpPr>
        <p:spPr>
          <a:xfrm rot="5400000">
            <a:off x="16827142" y="2912995"/>
            <a:ext cx="269998" cy="237931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Прямоугольник 228">
            <a:extLst>
              <a:ext uri="{FF2B5EF4-FFF2-40B4-BE49-F238E27FC236}">
                <a16:creationId xmlns:a16="http://schemas.microsoft.com/office/drawing/2014/main" id="{4F0ACAB2-A532-4A4A-BE2B-6DD898A778A6}"/>
              </a:ext>
            </a:extLst>
          </p:cNvPr>
          <p:cNvSpPr/>
          <p:nvPr/>
        </p:nvSpPr>
        <p:spPr>
          <a:xfrm>
            <a:off x="18888048" y="504505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Новое правительство Марокко согласовано</a:t>
            </a:r>
          </a:p>
        </p:txBody>
      </p:sp>
      <p:sp>
        <p:nvSpPr>
          <p:cNvPr id="231" name="Прямоугольник 230">
            <a:extLst>
              <a:ext uri="{FF2B5EF4-FFF2-40B4-BE49-F238E27FC236}">
                <a16:creationId xmlns:a16="http://schemas.microsoft.com/office/drawing/2014/main" id="{1FF530F6-3A49-4FDD-B396-8F8B8659BA04}"/>
              </a:ext>
            </a:extLst>
          </p:cNvPr>
          <p:cNvSpPr/>
          <p:nvPr/>
        </p:nvSpPr>
        <p:spPr>
          <a:xfrm>
            <a:off x="14124392" y="504243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Новая страна рабочих!</a:t>
            </a:r>
          </a:p>
        </p:txBody>
      </p:sp>
      <p:cxnSp>
        <p:nvCxnSpPr>
          <p:cNvPr id="237" name="Прямая соединительная линия 236">
            <a:extLst>
              <a:ext uri="{FF2B5EF4-FFF2-40B4-BE49-F238E27FC236}">
                <a16:creationId xmlns:a16="http://schemas.microsoft.com/office/drawing/2014/main" id="{71C9DE65-C59A-4802-9A6D-6EAE192DEEAD}"/>
              </a:ext>
            </a:extLst>
          </p:cNvPr>
          <p:cNvCxnSpPr>
            <a:cxnSpLocks/>
            <a:stCxn id="229" idx="1"/>
            <a:endCxn id="231" idx="3"/>
          </p:cNvCxnSpPr>
          <p:nvPr/>
        </p:nvCxnSpPr>
        <p:spPr>
          <a:xfrm flipH="1" flipV="1">
            <a:off x="15050717" y="5312438"/>
            <a:ext cx="3837331" cy="2612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Соединительная линия уступом 620">
            <a:extLst>
              <a:ext uri="{FF2B5EF4-FFF2-40B4-BE49-F238E27FC236}">
                <a16:creationId xmlns:a16="http://schemas.microsoft.com/office/drawing/2014/main" id="{E9DDE346-6CA1-4730-80E4-589129037BCE}"/>
              </a:ext>
            </a:extLst>
          </p:cNvPr>
          <p:cNvCxnSpPr>
            <a:cxnSpLocks/>
            <a:stCxn id="229" idx="2"/>
            <a:endCxn id="198" idx="0"/>
          </p:cNvCxnSpPr>
          <p:nvPr/>
        </p:nvCxnSpPr>
        <p:spPr>
          <a:xfrm rot="5400000">
            <a:off x="18020611" y="4521846"/>
            <a:ext cx="267397" cy="239380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Соединительная линия уступом 620">
            <a:extLst>
              <a:ext uri="{FF2B5EF4-FFF2-40B4-BE49-F238E27FC236}">
                <a16:creationId xmlns:a16="http://schemas.microsoft.com/office/drawing/2014/main" id="{98A83083-FD9A-4D4D-BF49-0BDA5EAC70FC}"/>
              </a:ext>
            </a:extLst>
          </p:cNvPr>
          <p:cNvCxnSpPr>
            <a:cxnSpLocks/>
            <a:stCxn id="231" idx="2"/>
            <a:endCxn id="198" idx="0"/>
          </p:cNvCxnSpPr>
          <p:nvPr/>
        </p:nvCxnSpPr>
        <p:spPr>
          <a:xfrm rot="16200000" flipH="1">
            <a:off x="15637477" y="4532516"/>
            <a:ext cx="270009" cy="23698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Прямоугольник 258">
            <a:extLst>
              <a:ext uri="{FF2B5EF4-FFF2-40B4-BE49-F238E27FC236}">
                <a16:creationId xmlns:a16="http://schemas.microsoft.com/office/drawing/2014/main" id="{0F5E597A-C48B-4749-B709-20BB7A4E003E}"/>
              </a:ext>
            </a:extLst>
          </p:cNvPr>
          <p:cNvSpPr/>
          <p:nvPr/>
        </p:nvSpPr>
        <p:spPr>
          <a:xfrm>
            <a:off x="7059827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Запросить оружие для гарнизонов</a:t>
            </a:r>
          </a:p>
        </p:txBody>
      </p:sp>
      <p:sp>
        <p:nvSpPr>
          <p:cNvPr id="263" name="Прямоугольник 262">
            <a:extLst>
              <a:ext uri="{FF2B5EF4-FFF2-40B4-BE49-F238E27FC236}">
                <a16:creationId xmlns:a16="http://schemas.microsoft.com/office/drawing/2014/main" id="{970C5735-49A0-4EC6-85CF-24E9FB4CD637}"/>
              </a:ext>
            </a:extLst>
          </p:cNvPr>
          <p:cNvSpPr/>
          <p:nvPr/>
        </p:nvSpPr>
        <p:spPr>
          <a:xfrm>
            <a:off x="8242834" y="26032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Марокканскому Комитету Действий</a:t>
            </a:r>
          </a:p>
        </p:txBody>
      </p:sp>
      <p:sp>
        <p:nvSpPr>
          <p:cNvPr id="264" name="Прямоугольник 263">
            <a:extLst>
              <a:ext uri="{FF2B5EF4-FFF2-40B4-BE49-F238E27FC236}">
                <a16:creationId xmlns:a16="http://schemas.microsoft.com/office/drawing/2014/main" id="{E9D86B21-BA50-4EED-8AF3-33349A7A2289}"/>
              </a:ext>
            </a:extLst>
          </p:cNvPr>
          <p:cNvSpPr/>
          <p:nvPr/>
        </p:nvSpPr>
        <p:spPr>
          <a:xfrm>
            <a:off x="5872525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любые сходки рабочих</a:t>
            </a:r>
          </a:p>
        </p:txBody>
      </p:sp>
      <p:sp>
        <p:nvSpPr>
          <p:cNvPr id="265" name="Прямоугольник 264">
            <a:extLst>
              <a:ext uri="{FF2B5EF4-FFF2-40B4-BE49-F238E27FC236}">
                <a16:creationId xmlns:a16="http://schemas.microsoft.com/office/drawing/2014/main" id="{CA5A524B-95E8-4622-98BC-8DEB6F253FBB}"/>
              </a:ext>
            </a:extLst>
          </p:cNvPr>
          <p:cNvSpPr/>
          <p:nvPr/>
        </p:nvSpPr>
        <p:spPr>
          <a:xfrm>
            <a:off x="4680775" y="26027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Противостоять Марокканскому комитету действий</a:t>
            </a:r>
          </a:p>
        </p:txBody>
      </p:sp>
      <p:cxnSp>
        <p:nvCxnSpPr>
          <p:cNvPr id="268" name="Прямая соединительная линия 267">
            <a:extLst>
              <a:ext uri="{FF2B5EF4-FFF2-40B4-BE49-F238E27FC236}">
                <a16:creationId xmlns:a16="http://schemas.microsoft.com/office/drawing/2014/main" id="{FABFED8D-A35E-4FC6-A3E3-47325AA7A5E2}"/>
              </a:ext>
            </a:extLst>
          </p:cNvPr>
          <p:cNvCxnSpPr>
            <a:cxnSpLocks/>
            <a:stCxn id="263" idx="1"/>
            <a:endCxn id="265" idx="3"/>
          </p:cNvCxnSpPr>
          <p:nvPr/>
        </p:nvCxnSpPr>
        <p:spPr>
          <a:xfrm flipH="1" flipV="1">
            <a:off x="5607100" y="2872759"/>
            <a:ext cx="2635734" cy="53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Соединительная линия уступом 620">
            <a:extLst>
              <a:ext uri="{FF2B5EF4-FFF2-40B4-BE49-F238E27FC236}">
                <a16:creationId xmlns:a16="http://schemas.microsoft.com/office/drawing/2014/main" id="{29A1668A-421E-4114-AEFA-F23A40594868}"/>
              </a:ext>
            </a:extLst>
          </p:cNvPr>
          <p:cNvCxnSpPr>
            <a:cxnSpLocks/>
            <a:stCxn id="172" idx="2"/>
            <a:endCxn id="265" idx="0"/>
          </p:cNvCxnSpPr>
          <p:nvPr/>
        </p:nvCxnSpPr>
        <p:spPr>
          <a:xfrm rot="5400000">
            <a:off x="5910302" y="1581292"/>
            <a:ext cx="255104" cy="17878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Соединительная линия уступом 620">
            <a:extLst>
              <a:ext uri="{FF2B5EF4-FFF2-40B4-BE49-F238E27FC236}">
                <a16:creationId xmlns:a16="http://schemas.microsoft.com/office/drawing/2014/main" id="{81A345AD-C194-4185-B40E-0B46A19DE726}"/>
              </a:ext>
            </a:extLst>
          </p:cNvPr>
          <p:cNvCxnSpPr>
            <a:cxnSpLocks/>
            <a:stCxn id="172" idx="2"/>
            <a:endCxn id="263" idx="0"/>
          </p:cNvCxnSpPr>
          <p:nvPr/>
        </p:nvCxnSpPr>
        <p:spPr>
          <a:xfrm rot="16200000" flipH="1">
            <a:off x="7691066" y="1588358"/>
            <a:ext cx="255635" cy="17742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рямоугольник 274">
            <a:extLst>
              <a:ext uri="{FF2B5EF4-FFF2-40B4-BE49-F238E27FC236}">
                <a16:creationId xmlns:a16="http://schemas.microsoft.com/office/drawing/2014/main" id="{FF6787D9-3183-4E89-AAFC-1047F965FF62}"/>
              </a:ext>
            </a:extLst>
          </p:cNvPr>
          <p:cNvSpPr/>
          <p:nvPr/>
        </p:nvSpPr>
        <p:spPr>
          <a:xfrm>
            <a:off x="8842200" y="423504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Заменить пост великого визиря премьер-министром</a:t>
            </a:r>
          </a:p>
        </p:txBody>
      </p:sp>
      <p:sp>
        <p:nvSpPr>
          <p:cNvPr id="283" name="Прямоугольник 282">
            <a:extLst>
              <a:ext uri="{FF2B5EF4-FFF2-40B4-BE49-F238E27FC236}">
                <a16:creationId xmlns:a16="http://schemas.microsoft.com/office/drawing/2014/main" id="{886D9F6F-BB87-4A90-BB75-348AA8E44D4C}"/>
              </a:ext>
            </a:extLst>
          </p:cNvPr>
          <p:cNvSpPr/>
          <p:nvPr/>
        </p:nvSpPr>
        <p:spPr>
          <a:xfrm>
            <a:off x="4680148" y="343416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Распустить Марокканский комитет действий</a:t>
            </a:r>
          </a:p>
        </p:txBody>
      </p:sp>
      <p:cxnSp>
        <p:nvCxnSpPr>
          <p:cNvPr id="284" name="Соединительная линия уступом 620">
            <a:extLst>
              <a:ext uri="{FF2B5EF4-FFF2-40B4-BE49-F238E27FC236}">
                <a16:creationId xmlns:a16="http://schemas.microsoft.com/office/drawing/2014/main" id="{2030DA18-5BAC-48F1-9A6A-7E9A18C9AA51}"/>
              </a:ext>
            </a:extLst>
          </p:cNvPr>
          <p:cNvCxnSpPr>
            <a:cxnSpLocks/>
            <a:stCxn id="265" idx="2"/>
            <a:endCxn id="283" idx="0"/>
          </p:cNvCxnSpPr>
          <p:nvPr/>
        </p:nvCxnSpPr>
        <p:spPr>
          <a:xfrm rot="5400000">
            <a:off x="4997924" y="3288147"/>
            <a:ext cx="291402" cy="6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рямоугольник 286">
            <a:extLst>
              <a:ext uri="{FF2B5EF4-FFF2-40B4-BE49-F238E27FC236}">
                <a16:creationId xmlns:a16="http://schemas.microsoft.com/office/drawing/2014/main" id="{7C057171-F376-4B82-B319-CBAB78F0889F}"/>
              </a:ext>
            </a:extLst>
          </p:cNvPr>
          <p:cNvSpPr/>
          <p:nvPr/>
        </p:nvSpPr>
        <p:spPr>
          <a:xfrm>
            <a:off x="8838914" y="34319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публикацию националистических газет</a:t>
            </a:r>
          </a:p>
        </p:txBody>
      </p:sp>
      <p:cxnSp>
        <p:nvCxnSpPr>
          <p:cNvPr id="288" name="Соединительная линия уступом 620">
            <a:extLst>
              <a:ext uri="{FF2B5EF4-FFF2-40B4-BE49-F238E27FC236}">
                <a16:creationId xmlns:a16="http://schemas.microsoft.com/office/drawing/2014/main" id="{2D45B470-7110-45BE-A426-4B5C553565C5}"/>
              </a:ext>
            </a:extLst>
          </p:cNvPr>
          <p:cNvCxnSpPr>
            <a:cxnSpLocks/>
            <a:stCxn id="263" idx="2"/>
            <a:endCxn id="287" idx="0"/>
          </p:cNvCxnSpPr>
          <p:nvPr/>
        </p:nvCxnSpPr>
        <p:spPr>
          <a:xfrm rot="16200000" flipH="1">
            <a:off x="8859687" y="2989600"/>
            <a:ext cx="288700" cy="596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Прямоугольник 291">
            <a:extLst>
              <a:ext uri="{FF2B5EF4-FFF2-40B4-BE49-F238E27FC236}">
                <a16:creationId xmlns:a16="http://schemas.microsoft.com/office/drawing/2014/main" id="{E32E2B1C-B462-4241-B5AE-DEE569675EFC}"/>
              </a:ext>
            </a:extLst>
          </p:cNvPr>
          <p:cNvSpPr/>
          <p:nvPr/>
        </p:nvSpPr>
        <p:spPr>
          <a:xfrm>
            <a:off x="4679402" y="425581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Довериться Франции</a:t>
            </a:r>
          </a:p>
        </p:txBody>
      </p:sp>
      <p:cxnSp>
        <p:nvCxnSpPr>
          <p:cNvPr id="293" name="Соединительная линия уступом 620">
            <a:extLst>
              <a:ext uri="{FF2B5EF4-FFF2-40B4-BE49-F238E27FC236}">
                <a16:creationId xmlns:a16="http://schemas.microsoft.com/office/drawing/2014/main" id="{757590F4-BC4D-4C90-A3CA-F02D4812C7C9}"/>
              </a:ext>
            </a:extLst>
          </p:cNvPr>
          <p:cNvCxnSpPr>
            <a:cxnSpLocks/>
            <a:stCxn id="283" idx="2"/>
            <a:endCxn id="292" idx="0"/>
          </p:cNvCxnSpPr>
          <p:nvPr/>
        </p:nvCxnSpPr>
        <p:spPr>
          <a:xfrm rot="5400000">
            <a:off x="5002113" y="4114613"/>
            <a:ext cx="281650" cy="7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Прямоугольник 309">
            <a:extLst>
              <a:ext uri="{FF2B5EF4-FFF2-40B4-BE49-F238E27FC236}">
                <a16:creationId xmlns:a16="http://schemas.microsoft.com/office/drawing/2014/main" id="{8BEE4877-4A35-41B0-BA5E-CEC9F21FB8DF}"/>
              </a:ext>
            </a:extLst>
          </p:cNvPr>
          <p:cNvSpPr/>
          <p:nvPr/>
        </p:nvSpPr>
        <p:spPr>
          <a:xfrm>
            <a:off x="7052016" y="501806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«Малый джихад»</a:t>
            </a:r>
          </a:p>
        </p:txBody>
      </p:sp>
      <p:sp>
        <p:nvSpPr>
          <p:cNvPr id="316" name="Прямоугольник 315">
            <a:extLst>
              <a:ext uri="{FF2B5EF4-FFF2-40B4-BE49-F238E27FC236}">
                <a16:creationId xmlns:a16="http://schemas.microsoft.com/office/drawing/2014/main" id="{450BAB95-3D2C-4E8B-A24B-34A46E093A03}"/>
              </a:ext>
            </a:extLst>
          </p:cNvPr>
          <p:cNvSpPr/>
          <p:nvPr/>
        </p:nvSpPr>
        <p:spPr>
          <a:xfrm>
            <a:off x="8841975" y="5042118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замену </a:t>
            </a:r>
            <a:r>
              <a:rPr lang="ru-RU" sz="700" dirty="0" err="1"/>
              <a:t>махзену</a:t>
            </a:r>
            <a:r>
              <a:rPr lang="ru-RU" sz="700" dirty="0"/>
              <a:t> </a:t>
            </a:r>
          </a:p>
        </p:txBody>
      </p:sp>
      <p:cxnSp>
        <p:nvCxnSpPr>
          <p:cNvPr id="317" name="Соединительная линия уступом 620">
            <a:extLst>
              <a:ext uri="{FF2B5EF4-FFF2-40B4-BE49-F238E27FC236}">
                <a16:creationId xmlns:a16="http://schemas.microsoft.com/office/drawing/2014/main" id="{371B4126-1CF1-4719-8DCD-4617820F982D}"/>
              </a:ext>
            </a:extLst>
          </p:cNvPr>
          <p:cNvCxnSpPr>
            <a:cxnSpLocks/>
            <a:stCxn id="287" idx="2"/>
            <a:endCxn id="285" idx="0"/>
          </p:cNvCxnSpPr>
          <p:nvPr/>
        </p:nvCxnSpPr>
        <p:spPr>
          <a:xfrm rot="5400000">
            <a:off x="8581376" y="3514345"/>
            <a:ext cx="263056" cy="11783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Соединительная линия уступом 620">
            <a:extLst>
              <a:ext uri="{FF2B5EF4-FFF2-40B4-BE49-F238E27FC236}">
                <a16:creationId xmlns:a16="http://schemas.microsoft.com/office/drawing/2014/main" id="{A39DDDD4-0444-47AF-A895-5B138AC5F7BD}"/>
              </a:ext>
            </a:extLst>
          </p:cNvPr>
          <p:cNvCxnSpPr>
            <a:cxnSpLocks/>
            <a:stCxn id="287" idx="2"/>
            <a:endCxn id="275" idx="0"/>
          </p:cNvCxnSpPr>
          <p:nvPr/>
        </p:nvCxnSpPr>
        <p:spPr>
          <a:xfrm rot="16200000" flipH="1">
            <a:off x="9172192" y="4101875"/>
            <a:ext cx="263056" cy="32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0" name="Прямоугольник 329">
            <a:extLst>
              <a:ext uri="{FF2B5EF4-FFF2-40B4-BE49-F238E27FC236}">
                <a16:creationId xmlns:a16="http://schemas.microsoft.com/office/drawing/2014/main" id="{77CC4BAF-A75D-4EBC-BE28-A54D5A61B12F}"/>
              </a:ext>
            </a:extLst>
          </p:cNvPr>
          <p:cNvSpPr/>
          <p:nvPr/>
        </p:nvSpPr>
        <p:spPr>
          <a:xfrm>
            <a:off x="6465287" y="907890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«Большой джихад»</a:t>
            </a:r>
          </a:p>
        </p:txBody>
      </p:sp>
      <p:sp>
        <p:nvSpPr>
          <p:cNvPr id="332" name="Прямоугольник 331">
            <a:extLst>
              <a:ext uri="{FF2B5EF4-FFF2-40B4-BE49-F238E27FC236}">
                <a16:creationId xmlns:a16="http://schemas.microsoft.com/office/drawing/2014/main" id="{C0D52A2B-0B1A-46DA-A360-649D00FE7B0D}"/>
              </a:ext>
            </a:extLst>
          </p:cNvPr>
          <p:cNvSpPr/>
          <p:nvPr/>
        </p:nvSpPr>
        <p:spPr>
          <a:xfrm>
            <a:off x="8842199" y="584983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Сформировать правительство</a:t>
            </a:r>
          </a:p>
        </p:txBody>
      </p:sp>
      <p:sp>
        <p:nvSpPr>
          <p:cNvPr id="344" name="Прямоугольник 343">
            <a:extLst>
              <a:ext uri="{FF2B5EF4-FFF2-40B4-BE49-F238E27FC236}">
                <a16:creationId xmlns:a16="http://schemas.microsoft.com/office/drawing/2014/main" id="{827062AB-206B-4E55-A24F-66815255E901}"/>
              </a:ext>
            </a:extLst>
          </p:cNvPr>
          <p:cNvSpPr/>
          <p:nvPr/>
        </p:nvSpPr>
        <p:spPr>
          <a:xfrm>
            <a:off x="6465289" y="585244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Алжире</a:t>
            </a:r>
          </a:p>
        </p:txBody>
      </p:sp>
      <p:sp>
        <p:nvSpPr>
          <p:cNvPr id="346" name="Прямоугольник 345">
            <a:extLst>
              <a:ext uri="{FF2B5EF4-FFF2-40B4-BE49-F238E27FC236}">
                <a16:creationId xmlns:a16="http://schemas.microsoft.com/office/drawing/2014/main" id="{214E4ECB-84D6-4EEF-A3D3-FFCF70AB74ED}"/>
              </a:ext>
            </a:extLst>
          </p:cNvPr>
          <p:cNvSpPr/>
          <p:nvPr/>
        </p:nvSpPr>
        <p:spPr>
          <a:xfrm>
            <a:off x="6468605" y="424025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французские инвестиции</a:t>
            </a:r>
          </a:p>
        </p:txBody>
      </p:sp>
      <p:cxnSp>
        <p:nvCxnSpPr>
          <p:cNvPr id="357" name="Соединительная линия уступом 620">
            <a:extLst>
              <a:ext uri="{FF2B5EF4-FFF2-40B4-BE49-F238E27FC236}">
                <a16:creationId xmlns:a16="http://schemas.microsoft.com/office/drawing/2014/main" id="{4BAE7453-0BAF-47A0-808F-1B5A718A074E}"/>
              </a:ext>
            </a:extLst>
          </p:cNvPr>
          <p:cNvCxnSpPr>
            <a:cxnSpLocks/>
            <a:stCxn id="172" idx="2"/>
            <a:endCxn id="346" idx="0"/>
          </p:cNvCxnSpPr>
          <p:nvPr/>
        </p:nvCxnSpPr>
        <p:spPr>
          <a:xfrm rot="5400000">
            <a:off x="5985471" y="3293953"/>
            <a:ext cx="189259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Прямоугольник 201">
            <a:extLst>
              <a:ext uri="{FF2B5EF4-FFF2-40B4-BE49-F238E27FC236}">
                <a16:creationId xmlns:a16="http://schemas.microsoft.com/office/drawing/2014/main" id="{DB4B7EC3-52CB-4281-940E-582336AE03DB}"/>
              </a:ext>
            </a:extLst>
          </p:cNvPr>
          <p:cNvSpPr/>
          <p:nvPr/>
        </p:nvSpPr>
        <p:spPr>
          <a:xfrm>
            <a:off x="17696257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профсоюзов</a:t>
            </a:r>
          </a:p>
        </p:txBody>
      </p:sp>
      <p:sp>
        <p:nvSpPr>
          <p:cNvPr id="203" name="Прямоугольник 202">
            <a:extLst>
              <a:ext uri="{FF2B5EF4-FFF2-40B4-BE49-F238E27FC236}">
                <a16:creationId xmlns:a16="http://schemas.microsoft.com/office/drawing/2014/main" id="{AF793957-B76C-43EC-9B76-00309BBA6C74}"/>
              </a:ext>
            </a:extLst>
          </p:cNvPr>
          <p:cNvSpPr/>
          <p:nvPr/>
        </p:nvSpPr>
        <p:spPr>
          <a:xfrm>
            <a:off x="19954023" y="753724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альянсу Народного фронта</a:t>
            </a:r>
          </a:p>
        </p:txBody>
      </p:sp>
      <p:sp>
        <p:nvSpPr>
          <p:cNvPr id="207" name="Прямоугольник 206">
            <a:extLst>
              <a:ext uri="{FF2B5EF4-FFF2-40B4-BE49-F238E27FC236}">
                <a16:creationId xmlns:a16="http://schemas.microsoft.com/office/drawing/2014/main" id="{5B03BA2E-7382-48A4-9DA3-E043F9F67F46}"/>
              </a:ext>
            </a:extLst>
          </p:cNvPr>
          <p:cNvSpPr/>
          <p:nvPr/>
        </p:nvSpPr>
        <p:spPr>
          <a:xfrm>
            <a:off x="19959104" y="832780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Нанести удар по Испанскому Марокко</a:t>
            </a:r>
          </a:p>
        </p:txBody>
      </p:sp>
      <p:cxnSp>
        <p:nvCxnSpPr>
          <p:cNvPr id="208" name="Соединительная линия уступом 620">
            <a:extLst>
              <a:ext uri="{FF2B5EF4-FFF2-40B4-BE49-F238E27FC236}">
                <a16:creationId xmlns:a16="http://schemas.microsoft.com/office/drawing/2014/main" id="{D2CA9DBC-2BFF-4366-AFF1-D3F844CBCC78}"/>
              </a:ext>
            </a:extLst>
          </p:cNvPr>
          <p:cNvCxnSpPr>
            <a:cxnSpLocks/>
            <a:stCxn id="203" idx="2"/>
            <a:endCxn id="207" idx="0"/>
          </p:cNvCxnSpPr>
          <p:nvPr/>
        </p:nvCxnSpPr>
        <p:spPr>
          <a:xfrm rot="16200000" flipH="1">
            <a:off x="20294445" y="8199985"/>
            <a:ext cx="250563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51F9863C-20E0-4A0E-9B2D-06939B1023ED}"/>
              </a:ext>
            </a:extLst>
          </p:cNvPr>
          <p:cNvSpPr/>
          <p:nvPr/>
        </p:nvSpPr>
        <p:spPr>
          <a:xfrm>
            <a:off x="15318108" y="584596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Организация коммунальной ассамблеи</a:t>
            </a:r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3C0D6112-C225-4972-BEC8-F100926161FC}"/>
              </a:ext>
            </a:extLst>
          </p:cNvPr>
          <p:cNvSpPr/>
          <p:nvPr/>
        </p:nvSpPr>
        <p:spPr>
          <a:xfrm>
            <a:off x="17693717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Установка минимальных зарплат на заводах</a:t>
            </a:r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F1F67AB4-5D6F-47D3-90A9-15EC729958DB}"/>
              </a:ext>
            </a:extLst>
          </p:cNvPr>
          <p:cNvSpPr/>
          <p:nvPr/>
        </p:nvSpPr>
        <p:spPr>
          <a:xfrm>
            <a:off x="15318107" y="663210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Аграрная реформа</a:t>
            </a:r>
          </a:p>
        </p:txBody>
      </p:sp>
      <p:sp>
        <p:nvSpPr>
          <p:cNvPr id="220" name="Прямоугольник 219">
            <a:extLst>
              <a:ext uri="{FF2B5EF4-FFF2-40B4-BE49-F238E27FC236}">
                <a16:creationId xmlns:a16="http://schemas.microsoft.com/office/drawing/2014/main" id="{6CCFB3F7-5D43-43AF-8632-E264B55AB257}"/>
              </a:ext>
            </a:extLst>
          </p:cNvPr>
          <p:cNvSpPr/>
          <p:nvPr/>
        </p:nvSpPr>
        <p:spPr>
          <a:xfrm>
            <a:off x="17087319" y="747051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фосфатных кампаний</a:t>
            </a:r>
          </a:p>
        </p:txBody>
      </p:sp>
      <p:cxnSp>
        <p:nvCxnSpPr>
          <p:cNvPr id="223" name="Соединительная линия уступом 620">
            <a:extLst>
              <a:ext uri="{FF2B5EF4-FFF2-40B4-BE49-F238E27FC236}">
                <a16:creationId xmlns:a16="http://schemas.microsoft.com/office/drawing/2014/main" id="{B36028A2-E427-4D95-96AB-B8A709A01839}"/>
              </a:ext>
            </a:extLst>
          </p:cNvPr>
          <p:cNvCxnSpPr>
            <a:cxnSpLocks/>
            <a:stCxn id="231" idx="2"/>
            <a:endCxn id="447" idx="0"/>
          </p:cNvCxnSpPr>
          <p:nvPr/>
        </p:nvCxnSpPr>
        <p:spPr>
          <a:xfrm rot="16200000" flipH="1">
            <a:off x="16238841" y="3931151"/>
            <a:ext cx="261673" cy="35642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Соединительная линия уступом 620">
            <a:extLst>
              <a:ext uri="{FF2B5EF4-FFF2-40B4-BE49-F238E27FC236}">
                <a16:creationId xmlns:a16="http://schemas.microsoft.com/office/drawing/2014/main" id="{1A69F510-F0C4-4EB4-84C3-E59AE76B0C40}"/>
              </a:ext>
            </a:extLst>
          </p:cNvPr>
          <p:cNvCxnSpPr>
            <a:cxnSpLocks/>
            <a:stCxn id="229" idx="2"/>
            <a:endCxn id="215" idx="0"/>
          </p:cNvCxnSpPr>
          <p:nvPr/>
        </p:nvCxnSpPr>
        <p:spPr>
          <a:xfrm rot="5400000">
            <a:off x="17435783" y="3930538"/>
            <a:ext cx="260917" cy="3569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Прямоугольник 249">
            <a:extLst>
              <a:ext uri="{FF2B5EF4-FFF2-40B4-BE49-F238E27FC236}">
                <a16:creationId xmlns:a16="http://schemas.microsoft.com/office/drawing/2014/main" id="{6E361355-2C93-435B-B51A-06A915035B36}"/>
              </a:ext>
            </a:extLst>
          </p:cNvPr>
          <p:cNvSpPr/>
          <p:nvPr/>
        </p:nvSpPr>
        <p:spPr>
          <a:xfrm>
            <a:off x="14711406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Увеличить кредиты феллахам</a:t>
            </a:r>
          </a:p>
        </p:txBody>
      </p:sp>
      <p:sp>
        <p:nvSpPr>
          <p:cNvPr id="253" name="Прямоугольник 252">
            <a:extLst>
              <a:ext uri="{FF2B5EF4-FFF2-40B4-BE49-F238E27FC236}">
                <a16:creationId xmlns:a16="http://schemas.microsoft.com/office/drawing/2014/main" id="{D02BCC77-E162-4C51-9B3A-5055FE880E72}"/>
              </a:ext>
            </a:extLst>
          </p:cNvPr>
          <p:cNvSpPr/>
          <p:nvPr/>
        </p:nvSpPr>
        <p:spPr>
          <a:xfrm>
            <a:off x="16501863" y="831627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социальную защиту</a:t>
            </a:r>
          </a:p>
        </p:txBody>
      </p:sp>
      <p:sp>
        <p:nvSpPr>
          <p:cNvPr id="257" name="Прямоугольник 256">
            <a:extLst>
              <a:ext uri="{FF2B5EF4-FFF2-40B4-BE49-F238E27FC236}">
                <a16:creationId xmlns:a16="http://schemas.microsoft.com/office/drawing/2014/main" id="{9C8DBF37-84FD-4A37-AA9F-B532B66BAEA5}"/>
              </a:ext>
            </a:extLst>
          </p:cNvPr>
          <p:cNvSpPr/>
          <p:nvPr/>
        </p:nvSpPr>
        <p:spPr>
          <a:xfrm>
            <a:off x="15899440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Открыть школы для феллахов</a:t>
            </a:r>
          </a:p>
        </p:txBody>
      </p:sp>
      <p:sp>
        <p:nvSpPr>
          <p:cNvPr id="270" name="Прямоугольник 269">
            <a:extLst>
              <a:ext uri="{FF2B5EF4-FFF2-40B4-BE49-F238E27FC236}">
                <a16:creationId xmlns:a16="http://schemas.microsoft.com/office/drawing/2014/main" id="{4D251A9D-8A1C-4835-A529-5CFFA224CEFA}"/>
              </a:ext>
            </a:extLst>
          </p:cNvPr>
          <p:cNvSpPr/>
          <p:nvPr/>
        </p:nvSpPr>
        <p:spPr>
          <a:xfrm>
            <a:off x="15319740" y="832001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Коллективизация</a:t>
            </a:r>
          </a:p>
        </p:txBody>
      </p:sp>
      <p:sp>
        <p:nvSpPr>
          <p:cNvPr id="280" name="Прямоугольник 279">
            <a:extLst>
              <a:ext uri="{FF2B5EF4-FFF2-40B4-BE49-F238E27FC236}">
                <a16:creationId xmlns:a16="http://schemas.microsoft.com/office/drawing/2014/main" id="{B10AA670-8579-4DAF-8ADE-4CA098BEB21A}"/>
              </a:ext>
            </a:extLst>
          </p:cNvPr>
          <p:cNvSpPr/>
          <p:nvPr/>
        </p:nvSpPr>
        <p:spPr>
          <a:xfrm>
            <a:off x="21147590" y="833309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в Европе</a:t>
            </a:r>
          </a:p>
        </p:txBody>
      </p:sp>
      <p:cxnSp>
        <p:nvCxnSpPr>
          <p:cNvPr id="281" name="Соединительная линия уступом 620">
            <a:extLst>
              <a:ext uri="{FF2B5EF4-FFF2-40B4-BE49-F238E27FC236}">
                <a16:creationId xmlns:a16="http://schemas.microsoft.com/office/drawing/2014/main" id="{C7BAECC2-8CE9-42E6-818F-3DCFB0BC736B}"/>
              </a:ext>
            </a:extLst>
          </p:cNvPr>
          <p:cNvCxnSpPr>
            <a:cxnSpLocks/>
            <a:stCxn id="203" idx="2"/>
            <a:endCxn id="280" idx="0"/>
          </p:cNvCxnSpPr>
          <p:nvPr/>
        </p:nvCxnSpPr>
        <p:spPr>
          <a:xfrm rot="16200000" flipH="1">
            <a:off x="20886047" y="7608383"/>
            <a:ext cx="255845" cy="11935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Прямоугольник 288">
            <a:extLst>
              <a:ext uri="{FF2B5EF4-FFF2-40B4-BE49-F238E27FC236}">
                <a16:creationId xmlns:a16="http://schemas.microsoft.com/office/drawing/2014/main" id="{3DE459D3-85E5-46CD-847C-3FDFF48BAE60}"/>
              </a:ext>
            </a:extLst>
          </p:cNvPr>
          <p:cNvSpPr/>
          <p:nvPr/>
        </p:nvSpPr>
        <p:spPr>
          <a:xfrm>
            <a:off x="20550806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Переговоры о независимости</a:t>
            </a:r>
          </a:p>
        </p:txBody>
      </p:sp>
      <p:cxnSp>
        <p:nvCxnSpPr>
          <p:cNvPr id="290" name="Соединительная линия уступом 620">
            <a:extLst>
              <a:ext uri="{FF2B5EF4-FFF2-40B4-BE49-F238E27FC236}">
                <a16:creationId xmlns:a16="http://schemas.microsoft.com/office/drawing/2014/main" id="{B9478120-EBE8-4218-A7F8-471C9CA75102}"/>
              </a:ext>
            </a:extLst>
          </p:cNvPr>
          <p:cNvCxnSpPr>
            <a:cxnSpLocks/>
            <a:stCxn id="207" idx="2"/>
            <a:endCxn id="289" idx="0"/>
          </p:cNvCxnSpPr>
          <p:nvPr/>
        </p:nvCxnSpPr>
        <p:spPr>
          <a:xfrm rot="16200000" flipH="1">
            <a:off x="20611120" y="8678955"/>
            <a:ext cx="213997" cy="59170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Соединительная линия уступом 620">
            <a:extLst>
              <a:ext uri="{FF2B5EF4-FFF2-40B4-BE49-F238E27FC236}">
                <a16:creationId xmlns:a16="http://schemas.microsoft.com/office/drawing/2014/main" id="{57CD163E-5033-4EE2-B625-AF4718E8D44C}"/>
              </a:ext>
            </a:extLst>
          </p:cNvPr>
          <p:cNvCxnSpPr>
            <a:cxnSpLocks/>
            <a:stCxn id="280" idx="2"/>
            <a:endCxn id="289" idx="0"/>
          </p:cNvCxnSpPr>
          <p:nvPr/>
        </p:nvCxnSpPr>
        <p:spPr>
          <a:xfrm rot="5400000">
            <a:off x="21208004" y="8679055"/>
            <a:ext cx="208715" cy="59678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6" name="Прямоугольник 285">
            <a:extLst>
              <a:ext uri="{FF2B5EF4-FFF2-40B4-BE49-F238E27FC236}">
                <a16:creationId xmlns:a16="http://schemas.microsoft.com/office/drawing/2014/main" id="{C6D605BB-0F8F-4EBC-8939-EC314CF5EA5B}"/>
              </a:ext>
            </a:extLst>
          </p:cNvPr>
          <p:cNvSpPr/>
          <p:nvPr/>
        </p:nvSpPr>
        <p:spPr>
          <a:xfrm>
            <a:off x="20345159" y="17802575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Использовать движение «</a:t>
            </a:r>
            <a:r>
              <a:rPr lang="ru-RU" sz="700" dirty="0" err="1"/>
              <a:t>Фитьян</a:t>
            </a:r>
            <a:r>
              <a:rPr lang="ru-RU" sz="700" dirty="0"/>
              <a:t>»</a:t>
            </a:r>
          </a:p>
        </p:txBody>
      </p:sp>
      <p:sp>
        <p:nvSpPr>
          <p:cNvPr id="301" name="Прямоугольник 300">
            <a:extLst>
              <a:ext uri="{FF2B5EF4-FFF2-40B4-BE49-F238E27FC236}">
                <a16:creationId xmlns:a16="http://schemas.microsoft.com/office/drawing/2014/main" id="{19D409FE-ECD9-41F9-A78D-CBCA8C55DFC3}"/>
              </a:ext>
            </a:extLst>
          </p:cNvPr>
          <p:cNvSpPr/>
          <p:nvPr/>
        </p:nvSpPr>
        <p:spPr>
          <a:xfrm>
            <a:off x="17379316" y="1617666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Танжер — столица шпионажа</a:t>
            </a:r>
            <a:r>
              <a:rPr lang="ru-RU" sz="100" dirty="0"/>
              <a:t>.</a:t>
            </a:r>
            <a:endParaRPr lang="ru-RU" sz="700" dirty="0"/>
          </a:p>
        </p:txBody>
      </p:sp>
      <p:sp>
        <p:nvSpPr>
          <p:cNvPr id="302" name="Прямоугольник 301">
            <a:extLst>
              <a:ext uri="{FF2B5EF4-FFF2-40B4-BE49-F238E27FC236}">
                <a16:creationId xmlns:a16="http://schemas.microsoft.com/office/drawing/2014/main" id="{8C12AE9B-0635-435B-A726-FBA33BFD39E9}"/>
              </a:ext>
            </a:extLst>
          </p:cNvPr>
          <p:cNvSpPr/>
          <p:nvPr/>
        </p:nvSpPr>
        <p:spPr>
          <a:xfrm>
            <a:off x="16237141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Свободный порт Танжера</a:t>
            </a:r>
          </a:p>
        </p:txBody>
      </p:sp>
      <p:sp>
        <p:nvSpPr>
          <p:cNvPr id="303" name="Прямоугольник 302">
            <a:extLst>
              <a:ext uri="{FF2B5EF4-FFF2-40B4-BE49-F238E27FC236}">
                <a16:creationId xmlns:a16="http://schemas.microsoft.com/office/drawing/2014/main" id="{C6291CBF-A1B8-479E-8EB0-EC4A56B3830E}"/>
              </a:ext>
            </a:extLst>
          </p:cNvPr>
          <p:cNvSpPr/>
          <p:nvPr/>
        </p:nvSpPr>
        <p:spPr>
          <a:xfrm>
            <a:off x="16789451" y="153250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Танжер международного статуса</a:t>
            </a:r>
          </a:p>
        </p:txBody>
      </p:sp>
      <p:sp>
        <p:nvSpPr>
          <p:cNvPr id="307" name="Прямоугольник 306">
            <a:extLst>
              <a:ext uri="{FF2B5EF4-FFF2-40B4-BE49-F238E27FC236}">
                <a16:creationId xmlns:a16="http://schemas.microsoft.com/office/drawing/2014/main" id="{2DAAD328-4716-45C4-8FE9-1418B0F0515A}"/>
              </a:ext>
            </a:extLst>
          </p:cNvPr>
          <p:cNvSpPr/>
          <p:nvPr/>
        </p:nvSpPr>
        <p:spPr>
          <a:xfrm>
            <a:off x="19844869" y="161807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Мавританские Акажу и Гуммиарабик</a:t>
            </a:r>
          </a:p>
        </p:txBody>
      </p:sp>
      <p:sp>
        <p:nvSpPr>
          <p:cNvPr id="308" name="Прямоугольник 307">
            <a:extLst>
              <a:ext uri="{FF2B5EF4-FFF2-40B4-BE49-F238E27FC236}">
                <a16:creationId xmlns:a16="http://schemas.microsoft.com/office/drawing/2014/main" id="{E64F2EC9-A188-4CC0-AF6A-2976F8412A3F}"/>
              </a:ext>
            </a:extLst>
          </p:cNvPr>
          <p:cNvSpPr/>
          <p:nvPr/>
        </p:nvSpPr>
        <p:spPr>
          <a:xfrm>
            <a:off x="19229281" y="1530280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Мавритания – южная провинция Марокко</a:t>
            </a:r>
          </a:p>
        </p:txBody>
      </p:sp>
      <p:sp>
        <p:nvSpPr>
          <p:cNvPr id="311" name="Прямоугольник 310">
            <a:extLst>
              <a:ext uri="{FF2B5EF4-FFF2-40B4-BE49-F238E27FC236}">
                <a16:creationId xmlns:a16="http://schemas.microsoft.com/office/drawing/2014/main" id="{B2273294-389F-4374-B952-FAAE7A098FFF}"/>
              </a:ext>
            </a:extLst>
          </p:cNvPr>
          <p:cNvSpPr/>
          <p:nvPr/>
        </p:nvSpPr>
        <p:spPr>
          <a:xfrm>
            <a:off x="18658553" y="161807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Транссахарская</a:t>
            </a:r>
            <a:r>
              <a:rPr lang="ru-RU" sz="700" dirty="0"/>
              <a:t> железная дорога: Фес — Нуакшот</a:t>
            </a:r>
            <a:endParaRPr lang="ru-RU" sz="600" dirty="0"/>
          </a:p>
        </p:txBody>
      </p:sp>
      <p:sp>
        <p:nvSpPr>
          <p:cNvPr id="314" name="Прямоугольник 313">
            <a:extLst>
              <a:ext uri="{FF2B5EF4-FFF2-40B4-BE49-F238E27FC236}">
                <a16:creationId xmlns:a16="http://schemas.microsoft.com/office/drawing/2014/main" id="{F565E1AC-9406-408D-8DBA-69C401B5F39C}"/>
              </a:ext>
            </a:extLst>
          </p:cNvPr>
          <p:cNvSpPr/>
          <p:nvPr/>
        </p:nvSpPr>
        <p:spPr>
          <a:xfrm>
            <a:off x="18013349" y="178025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Провозгласить Великое Марокко</a:t>
            </a:r>
          </a:p>
        </p:txBody>
      </p:sp>
      <p:cxnSp>
        <p:nvCxnSpPr>
          <p:cNvPr id="318" name="Соединительная линия уступом 620">
            <a:extLst>
              <a:ext uri="{FF2B5EF4-FFF2-40B4-BE49-F238E27FC236}">
                <a16:creationId xmlns:a16="http://schemas.microsoft.com/office/drawing/2014/main" id="{2CFC8DF2-68B2-47EE-BEBC-B56651373BE0}"/>
              </a:ext>
            </a:extLst>
          </p:cNvPr>
          <p:cNvCxnSpPr>
            <a:cxnSpLocks/>
            <a:stCxn id="61" idx="2"/>
            <a:endCxn id="314" idx="0"/>
          </p:cNvCxnSpPr>
          <p:nvPr/>
        </p:nvCxnSpPr>
        <p:spPr>
          <a:xfrm rot="5400000">
            <a:off x="19284815" y="15036881"/>
            <a:ext cx="1957392" cy="3573997"/>
          </a:xfrm>
          <a:prstGeom prst="bentConnector3">
            <a:avLst>
              <a:gd name="adj1" fmla="val 847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Соединительная линия уступом 620">
            <a:extLst>
              <a:ext uri="{FF2B5EF4-FFF2-40B4-BE49-F238E27FC236}">
                <a16:creationId xmlns:a16="http://schemas.microsoft.com/office/drawing/2014/main" id="{C378D33D-192E-4BD8-8069-087FC625EAE0}"/>
              </a:ext>
            </a:extLst>
          </p:cNvPr>
          <p:cNvCxnSpPr>
            <a:cxnSpLocks/>
            <a:stCxn id="303" idx="2"/>
            <a:endCxn id="314" idx="0"/>
          </p:cNvCxnSpPr>
          <p:nvPr/>
        </p:nvCxnSpPr>
        <p:spPr>
          <a:xfrm rot="16200000" flipH="1">
            <a:off x="16895791" y="16221853"/>
            <a:ext cx="1937545" cy="1223898"/>
          </a:xfrm>
          <a:prstGeom prst="bentConnector3">
            <a:avLst>
              <a:gd name="adj1" fmla="val 805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Соединительная линия уступом 620">
            <a:extLst>
              <a:ext uri="{FF2B5EF4-FFF2-40B4-BE49-F238E27FC236}">
                <a16:creationId xmlns:a16="http://schemas.microsoft.com/office/drawing/2014/main" id="{A1640AFC-145F-4409-A48E-55ED68C9F902}"/>
              </a:ext>
            </a:extLst>
          </p:cNvPr>
          <p:cNvCxnSpPr>
            <a:cxnSpLocks/>
            <a:stCxn id="308" idx="2"/>
            <a:endCxn id="314" idx="0"/>
          </p:cNvCxnSpPr>
          <p:nvPr/>
        </p:nvCxnSpPr>
        <p:spPr>
          <a:xfrm rot="5400000">
            <a:off x="18104592" y="16214723"/>
            <a:ext cx="1959772" cy="1215932"/>
          </a:xfrm>
          <a:prstGeom prst="bentConnector3">
            <a:avLst>
              <a:gd name="adj1" fmla="val 885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Прямоугольник 284">
            <a:extLst>
              <a:ext uri="{FF2B5EF4-FFF2-40B4-BE49-F238E27FC236}">
                <a16:creationId xmlns:a16="http://schemas.microsoft.com/office/drawing/2014/main" id="{A620BFC9-FA27-4D27-89FD-71123B8D4A03}"/>
              </a:ext>
            </a:extLst>
          </p:cNvPr>
          <p:cNvSpPr/>
          <p:nvPr/>
        </p:nvSpPr>
        <p:spPr>
          <a:xfrm>
            <a:off x="7660568" y="42350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пересмотр «плана реформ»</a:t>
            </a:r>
          </a:p>
        </p:txBody>
      </p:sp>
      <p:cxnSp>
        <p:nvCxnSpPr>
          <p:cNvPr id="329" name="Соединительная линия уступом 620">
            <a:extLst>
              <a:ext uri="{FF2B5EF4-FFF2-40B4-BE49-F238E27FC236}">
                <a16:creationId xmlns:a16="http://schemas.microsoft.com/office/drawing/2014/main" id="{B804F62F-B20E-4406-B10B-6AF6F0F673C7}"/>
              </a:ext>
            </a:extLst>
          </p:cNvPr>
          <p:cNvCxnSpPr>
            <a:cxnSpLocks/>
            <a:stCxn id="310" idx="2"/>
            <a:endCxn id="341" idx="0"/>
          </p:cNvCxnSpPr>
          <p:nvPr/>
        </p:nvCxnSpPr>
        <p:spPr>
          <a:xfrm rot="5400000">
            <a:off x="6374044" y="5522349"/>
            <a:ext cx="1105423" cy="1176849"/>
          </a:xfrm>
          <a:prstGeom prst="bentConnector3">
            <a:avLst>
              <a:gd name="adj1" fmla="val 132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Соединительная линия уступом 620">
            <a:extLst>
              <a:ext uri="{FF2B5EF4-FFF2-40B4-BE49-F238E27FC236}">
                <a16:creationId xmlns:a16="http://schemas.microsoft.com/office/drawing/2014/main" id="{D8862DE7-75C1-481F-A43A-1EDE0A9FC18C}"/>
              </a:ext>
            </a:extLst>
          </p:cNvPr>
          <p:cNvCxnSpPr>
            <a:cxnSpLocks/>
            <a:stCxn id="310" idx="2"/>
            <a:endCxn id="344" idx="0"/>
          </p:cNvCxnSpPr>
          <p:nvPr/>
        </p:nvCxnSpPr>
        <p:spPr>
          <a:xfrm rot="5400000">
            <a:off x="7074624" y="5411891"/>
            <a:ext cx="294385" cy="5867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Прямоугольник 336">
            <a:extLst>
              <a:ext uri="{FF2B5EF4-FFF2-40B4-BE49-F238E27FC236}">
                <a16:creationId xmlns:a16="http://schemas.microsoft.com/office/drawing/2014/main" id="{BA4108B4-FADE-4200-9551-1CEDA6CCEBDD}"/>
              </a:ext>
            </a:extLst>
          </p:cNvPr>
          <p:cNvSpPr/>
          <p:nvPr/>
        </p:nvSpPr>
        <p:spPr>
          <a:xfrm>
            <a:off x="6465288" y="746724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борьбу за нашу свободу</a:t>
            </a:r>
          </a:p>
        </p:txBody>
      </p:sp>
      <p:cxnSp>
        <p:nvCxnSpPr>
          <p:cNvPr id="343" name="Соединительная линия уступом 620">
            <a:extLst>
              <a:ext uri="{FF2B5EF4-FFF2-40B4-BE49-F238E27FC236}">
                <a16:creationId xmlns:a16="http://schemas.microsoft.com/office/drawing/2014/main" id="{428D6404-6AD3-4071-945C-AE9B9272A81E}"/>
              </a:ext>
            </a:extLst>
          </p:cNvPr>
          <p:cNvCxnSpPr>
            <a:cxnSpLocks/>
            <a:stCxn id="316" idx="2"/>
            <a:endCxn id="332" idx="0"/>
          </p:cNvCxnSpPr>
          <p:nvPr/>
        </p:nvCxnSpPr>
        <p:spPr>
          <a:xfrm rot="16200000" flipH="1">
            <a:off x="9171394" y="5715862"/>
            <a:ext cx="267712" cy="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9" name="Прямоугольник 348">
            <a:extLst>
              <a:ext uri="{FF2B5EF4-FFF2-40B4-BE49-F238E27FC236}">
                <a16:creationId xmlns:a16="http://schemas.microsoft.com/office/drawing/2014/main" id="{EE45BD45-0A53-4C5A-98EB-0640786C19EB}"/>
              </a:ext>
            </a:extLst>
          </p:cNvPr>
          <p:cNvSpPr/>
          <p:nvPr/>
        </p:nvSpPr>
        <p:spPr>
          <a:xfrm>
            <a:off x="7054131" y="66721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Тунисе</a:t>
            </a:r>
          </a:p>
        </p:txBody>
      </p:sp>
      <p:cxnSp>
        <p:nvCxnSpPr>
          <p:cNvPr id="351" name="Соединительная линия уступом 620">
            <a:extLst>
              <a:ext uri="{FF2B5EF4-FFF2-40B4-BE49-F238E27FC236}">
                <a16:creationId xmlns:a16="http://schemas.microsoft.com/office/drawing/2014/main" id="{D82585BF-6BF8-48AC-9670-8E0C6E3EF98F}"/>
              </a:ext>
            </a:extLst>
          </p:cNvPr>
          <p:cNvCxnSpPr>
            <a:cxnSpLocks/>
            <a:stCxn id="310" idx="2"/>
            <a:endCxn id="349" idx="0"/>
          </p:cNvCxnSpPr>
          <p:nvPr/>
        </p:nvCxnSpPr>
        <p:spPr>
          <a:xfrm rot="16200000" flipH="1">
            <a:off x="6959194" y="6114046"/>
            <a:ext cx="1114084" cy="21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ная линия уступом 620">
            <a:extLst>
              <a:ext uri="{FF2B5EF4-FFF2-40B4-BE49-F238E27FC236}">
                <a16:creationId xmlns:a16="http://schemas.microsoft.com/office/drawing/2014/main" id="{DB4DF8F9-78F8-41F8-B641-EBCF09C12118}"/>
              </a:ext>
            </a:extLst>
          </p:cNvPr>
          <p:cNvCxnSpPr>
            <a:cxnSpLocks/>
            <a:stCxn id="349" idx="2"/>
            <a:endCxn id="337" idx="0"/>
          </p:cNvCxnSpPr>
          <p:nvPr/>
        </p:nvCxnSpPr>
        <p:spPr>
          <a:xfrm rot="5400000">
            <a:off x="7095326" y="7045272"/>
            <a:ext cx="255094" cy="5888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Соединительная линия уступом 620">
            <a:extLst>
              <a:ext uri="{FF2B5EF4-FFF2-40B4-BE49-F238E27FC236}">
                <a16:creationId xmlns:a16="http://schemas.microsoft.com/office/drawing/2014/main" id="{6F4D3062-F5D9-497C-A88F-0DB499581427}"/>
              </a:ext>
            </a:extLst>
          </p:cNvPr>
          <p:cNvCxnSpPr>
            <a:cxnSpLocks/>
            <a:stCxn id="341" idx="2"/>
            <a:endCxn id="337" idx="0"/>
          </p:cNvCxnSpPr>
          <p:nvPr/>
        </p:nvCxnSpPr>
        <p:spPr>
          <a:xfrm rot="16200000" flipH="1">
            <a:off x="6501513" y="7040301"/>
            <a:ext cx="263755" cy="59012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Соединительная линия уступом 620">
            <a:extLst>
              <a:ext uri="{FF2B5EF4-FFF2-40B4-BE49-F238E27FC236}">
                <a16:creationId xmlns:a16="http://schemas.microsoft.com/office/drawing/2014/main" id="{121B70C5-1C4C-4CE5-A2C2-80B0E1D0927F}"/>
              </a:ext>
            </a:extLst>
          </p:cNvPr>
          <p:cNvCxnSpPr>
            <a:cxnSpLocks/>
            <a:stCxn id="344" idx="2"/>
            <a:endCxn id="337" idx="0"/>
          </p:cNvCxnSpPr>
          <p:nvPr/>
        </p:nvCxnSpPr>
        <p:spPr>
          <a:xfrm rot="5400000">
            <a:off x="6391056" y="6929843"/>
            <a:ext cx="1074793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Соединительная линия уступом 620">
            <a:extLst>
              <a:ext uri="{FF2B5EF4-FFF2-40B4-BE49-F238E27FC236}">
                <a16:creationId xmlns:a16="http://schemas.microsoft.com/office/drawing/2014/main" id="{D29F1913-1493-438E-B71C-8B273ED51A15}"/>
              </a:ext>
            </a:extLst>
          </p:cNvPr>
          <p:cNvCxnSpPr>
            <a:cxnSpLocks/>
            <a:stCxn id="337" idx="2"/>
            <a:endCxn id="330" idx="0"/>
          </p:cNvCxnSpPr>
          <p:nvPr/>
        </p:nvCxnSpPr>
        <p:spPr>
          <a:xfrm rot="5400000">
            <a:off x="6392621" y="8543070"/>
            <a:ext cx="107166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Прямоугольник 360">
            <a:extLst>
              <a:ext uri="{FF2B5EF4-FFF2-40B4-BE49-F238E27FC236}">
                <a16:creationId xmlns:a16="http://schemas.microsoft.com/office/drawing/2014/main" id="{12C9E2CA-67CA-4CAF-B79F-ADB9AA0C747B}"/>
              </a:ext>
            </a:extLst>
          </p:cNvPr>
          <p:cNvSpPr/>
          <p:nvPr/>
        </p:nvSpPr>
        <p:spPr>
          <a:xfrm>
            <a:off x="8247130" y="665288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Патриотичное движение </a:t>
            </a:r>
            <a:r>
              <a:rPr lang="ru-RU" sz="700" dirty="0" err="1"/>
              <a:t>Уаззани</a:t>
            </a:r>
            <a:endParaRPr lang="ru-RU" sz="700" dirty="0"/>
          </a:p>
        </p:txBody>
      </p:sp>
      <p:sp>
        <p:nvSpPr>
          <p:cNvPr id="362" name="Прямоугольник 361">
            <a:extLst>
              <a:ext uri="{FF2B5EF4-FFF2-40B4-BE49-F238E27FC236}">
                <a16:creationId xmlns:a16="http://schemas.microsoft.com/office/drawing/2014/main" id="{E332E174-E0FF-4ADC-B062-DE062C25214B}"/>
              </a:ext>
            </a:extLst>
          </p:cNvPr>
          <p:cNvSpPr/>
          <p:nvPr/>
        </p:nvSpPr>
        <p:spPr>
          <a:xfrm>
            <a:off x="9441520" y="665411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Национальная партия </a:t>
            </a:r>
            <a:r>
              <a:rPr lang="ru-RU" sz="700" dirty="0" err="1"/>
              <a:t>Фасси</a:t>
            </a:r>
            <a:endParaRPr lang="ru-RU" sz="700" dirty="0"/>
          </a:p>
        </p:txBody>
      </p:sp>
      <p:cxnSp>
        <p:nvCxnSpPr>
          <p:cNvPr id="363" name="Прямая соединительная линия 362">
            <a:extLst>
              <a:ext uri="{FF2B5EF4-FFF2-40B4-BE49-F238E27FC236}">
                <a16:creationId xmlns:a16="http://schemas.microsoft.com/office/drawing/2014/main" id="{11131FA6-1893-4E1D-9FE2-31413B226B68}"/>
              </a:ext>
            </a:extLst>
          </p:cNvPr>
          <p:cNvCxnSpPr>
            <a:cxnSpLocks/>
            <a:stCxn id="362" idx="1"/>
            <a:endCxn id="361" idx="3"/>
          </p:cNvCxnSpPr>
          <p:nvPr/>
        </p:nvCxnSpPr>
        <p:spPr>
          <a:xfrm flipH="1" flipV="1">
            <a:off x="9173455" y="6922886"/>
            <a:ext cx="268065" cy="122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Соединительная линия уступом 620">
            <a:extLst>
              <a:ext uri="{FF2B5EF4-FFF2-40B4-BE49-F238E27FC236}">
                <a16:creationId xmlns:a16="http://schemas.microsoft.com/office/drawing/2014/main" id="{4EF28AF0-E3A8-4770-8BFE-B15B9DCC626E}"/>
              </a:ext>
            </a:extLst>
          </p:cNvPr>
          <p:cNvCxnSpPr>
            <a:cxnSpLocks/>
            <a:stCxn id="332" idx="2"/>
            <a:endCxn id="362" idx="0"/>
          </p:cNvCxnSpPr>
          <p:nvPr/>
        </p:nvCxnSpPr>
        <p:spPr>
          <a:xfrm rot="16200000" flipH="1">
            <a:off x="9472882" y="6222309"/>
            <a:ext cx="264281" cy="5993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Соединительная линия уступом 620">
            <a:extLst>
              <a:ext uri="{FF2B5EF4-FFF2-40B4-BE49-F238E27FC236}">
                <a16:creationId xmlns:a16="http://schemas.microsoft.com/office/drawing/2014/main" id="{494C51AC-6E80-482F-9862-E6D4840FEA97}"/>
              </a:ext>
            </a:extLst>
          </p:cNvPr>
          <p:cNvCxnSpPr>
            <a:cxnSpLocks/>
            <a:stCxn id="332" idx="2"/>
            <a:endCxn id="361" idx="0"/>
          </p:cNvCxnSpPr>
          <p:nvPr/>
        </p:nvCxnSpPr>
        <p:spPr>
          <a:xfrm rot="5400000">
            <a:off x="8876300" y="6223824"/>
            <a:ext cx="263056" cy="5950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Прямоугольник 366">
            <a:extLst>
              <a:ext uri="{FF2B5EF4-FFF2-40B4-BE49-F238E27FC236}">
                <a16:creationId xmlns:a16="http://schemas.microsoft.com/office/drawing/2014/main" id="{1071E036-2CED-4B07-97A8-2333A262E453}"/>
              </a:ext>
            </a:extLst>
          </p:cNvPr>
          <p:cNvSpPr/>
          <p:nvPr/>
        </p:nvSpPr>
        <p:spPr>
          <a:xfrm>
            <a:off x="4680775" y="666704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Проект </a:t>
            </a:r>
            <a:r>
              <a:rPr lang="ru-RU" sz="700" dirty="0" err="1"/>
              <a:t>Нуассер</a:t>
            </a:r>
            <a:br>
              <a:rPr lang="ru-RU" sz="700" dirty="0"/>
            </a:br>
            <a:endParaRPr lang="ru-RU" sz="700" dirty="0"/>
          </a:p>
        </p:txBody>
      </p:sp>
      <p:sp>
        <p:nvSpPr>
          <p:cNvPr id="368" name="Прямоугольник 367">
            <a:extLst>
              <a:ext uri="{FF2B5EF4-FFF2-40B4-BE49-F238E27FC236}">
                <a16:creationId xmlns:a16="http://schemas.microsoft.com/office/drawing/2014/main" id="{6E3D4493-FF2E-4747-898D-4495A8488B71}"/>
              </a:ext>
            </a:extLst>
          </p:cNvPr>
          <p:cNvSpPr/>
          <p:nvPr/>
        </p:nvSpPr>
        <p:spPr>
          <a:xfrm>
            <a:off x="3508501" y="5042438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меры военного времени</a:t>
            </a:r>
          </a:p>
        </p:txBody>
      </p:sp>
      <p:sp>
        <p:nvSpPr>
          <p:cNvPr id="369" name="Прямоугольник 368">
            <a:extLst>
              <a:ext uri="{FF2B5EF4-FFF2-40B4-BE49-F238E27FC236}">
                <a16:creationId xmlns:a16="http://schemas.microsoft.com/office/drawing/2014/main" id="{209D680D-DBA7-44F5-9390-4ACF118B1831}"/>
              </a:ext>
            </a:extLst>
          </p:cNvPr>
          <p:cNvSpPr/>
          <p:nvPr/>
        </p:nvSpPr>
        <p:spPr>
          <a:xfrm>
            <a:off x="4681737" y="58601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порта Касабланки</a:t>
            </a:r>
          </a:p>
        </p:txBody>
      </p:sp>
      <p:sp>
        <p:nvSpPr>
          <p:cNvPr id="370" name="Прямоугольник 369">
            <a:extLst>
              <a:ext uri="{FF2B5EF4-FFF2-40B4-BE49-F238E27FC236}">
                <a16:creationId xmlns:a16="http://schemas.microsoft.com/office/drawing/2014/main" id="{B2D85639-B01F-4996-BF83-EF0335E16D6E}"/>
              </a:ext>
            </a:extLst>
          </p:cNvPr>
          <p:cNvSpPr/>
          <p:nvPr/>
        </p:nvSpPr>
        <p:spPr>
          <a:xfrm>
            <a:off x="5270896" y="744157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Ремонтная верфь </a:t>
            </a:r>
          </a:p>
        </p:txBody>
      </p:sp>
      <p:sp>
        <p:nvSpPr>
          <p:cNvPr id="372" name="Прямоугольник 371">
            <a:extLst>
              <a:ext uri="{FF2B5EF4-FFF2-40B4-BE49-F238E27FC236}">
                <a16:creationId xmlns:a16="http://schemas.microsoft.com/office/drawing/2014/main" id="{7DE89301-4366-4909-AA18-B24463FAB130}"/>
              </a:ext>
            </a:extLst>
          </p:cNvPr>
          <p:cNvSpPr/>
          <p:nvPr/>
        </p:nvSpPr>
        <p:spPr>
          <a:xfrm>
            <a:off x="3508416" y="66685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Подводя итоги «Факела»</a:t>
            </a:r>
          </a:p>
        </p:txBody>
      </p:sp>
      <p:cxnSp>
        <p:nvCxnSpPr>
          <p:cNvPr id="373" name="Соединительная линия уступом 620">
            <a:extLst>
              <a:ext uri="{FF2B5EF4-FFF2-40B4-BE49-F238E27FC236}">
                <a16:creationId xmlns:a16="http://schemas.microsoft.com/office/drawing/2014/main" id="{7E967D57-8385-4220-BDF1-7187168513C4}"/>
              </a:ext>
            </a:extLst>
          </p:cNvPr>
          <p:cNvCxnSpPr>
            <a:cxnSpLocks/>
            <a:stCxn id="292" idx="2"/>
            <a:endCxn id="368" idx="0"/>
          </p:cNvCxnSpPr>
          <p:nvPr/>
        </p:nvCxnSpPr>
        <p:spPr>
          <a:xfrm rot="5400000">
            <a:off x="4433802" y="4333674"/>
            <a:ext cx="246627" cy="11709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AA67ACCE-9C2A-4946-884C-805DF0C819AE}"/>
              </a:ext>
            </a:extLst>
          </p:cNvPr>
          <p:cNvSpPr/>
          <p:nvPr/>
        </p:nvSpPr>
        <p:spPr>
          <a:xfrm>
            <a:off x="5273503" y="503939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деятельность компартии</a:t>
            </a:r>
          </a:p>
        </p:txBody>
      </p:sp>
      <p:cxnSp>
        <p:nvCxnSpPr>
          <p:cNvPr id="375" name="Соединительная линия уступом 620">
            <a:extLst>
              <a:ext uri="{FF2B5EF4-FFF2-40B4-BE49-F238E27FC236}">
                <a16:creationId xmlns:a16="http://schemas.microsoft.com/office/drawing/2014/main" id="{A71C41DD-31B8-4DA1-B745-70B9E50E10AF}"/>
              </a:ext>
            </a:extLst>
          </p:cNvPr>
          <p:cNvCxnSpPr>
            <a:cxnSpLocks/>
            <a:stCxn id="292" idx="2"/>
            <a:endCxn id="374" idx="0"/>
          </p:cNvCxnSpPr>
          <p:nvPr/>
        </p:nvCxnSpPr>
        <p:spPr>
          <a:xfrm rot="16200000" flipH="1">
            <a:off x="5317825" y="4620550"/>
            <a:ext cx="243581" cy="5941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Соединительная линия уступом 620">
            <a:extLst>
              <a:ext uri="{FF2B5EF4-FFF2-40B4-BE49-F238E27FC236}">
                <a16:creationId xmlns:a16="http://schemas.microsoft.com/office/drawing/2014/main" id="{A3E09B7C-51EF-4443-9AA4-513623C2BA81}"/>
              </a:ext>
            </a:extLst>
          </p:cNvPr>
          <p:cNvCxnSpPr>
            <a:cxnSpLocks/>
            <a:stCxn id="368" idx="2"/>
            <a:endCxn id="369" idx="0"/>
          </p:cNvCxnSpPr>
          <p:nvPr/>
        </p:nvCxnSpPr>
        <p:spPr>
          <a:xfrm rot="16200000" flipH="1">
            <a:off x="4419422" y="5134680"/>
            <a:ext cx="277721" cy="117323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620">
            <a:extLst>
              <a:ext uri="{FF2B5EF4-FFF2-40B4-BE49-F238E27FC236}">
                <a16:creationId xmlns:a16="http://schemas.microsoft.com/office/drawing/2014/main" id="{25A1021B-4BC5-4315-9D51-6B448B4600A3}"/>
              </a:ext>
            </a:extLst>
          </p:cNvPr>
          <p:cNvCxnSpPr>
            <a:cxnSpLocks/>
            <a:stCxn id="369" idx="2"/>
            <a:endCxn id="370" idx="0"/>
          </p:cNvCxnSpPr>
          <p:nvPr/>
        </p:nvCxnSpPr>
        <p:spPr>
          <a:xfrm rot="16200000" flipH="1">
            <a:off x="4918771" y="6626287"/>
            <a:ext cx="1041416" cy="589159"/>
          </a:xfrm>
          <a:prstGeom prst="bentConnector3">
            <a:avLst>
              <a:gd name="adj1" fmla="val 115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Соединительная линия уступом 620">
            <a:extLst>
              <a:ext uri="{FF2B5EF4-FFF2-40B4-BE49-F238E27FC236}">
                <a16:creationId xmlns:a16="http://schemas.microsoft.com/office/drawing/2014/main" id="{574416BF-FDBD-4D0F-8EA8-F0120218A565}"/>
              </a:ext>
            </a:extLst>
          </p:cNvPr>
          <p:cNvCxnSpPr>
            <a:cxnSpLocks/>
            <a:stCxn id="369" idx="2"/>
            <a:endCxn id="367" idx="0"/>
          </p:cNvCxnSpPr>
          <p:nvPr/>
        </p:nvCxnSpPr>
        <p:spPr>
          <a:xfrm rot="5400000">
            <a:off x="5010976" y="6533121"/>
            <a:ext cx="266887" cy="9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Соединительная линия уступом 620">
            <a:extLst>
              <a:ext uri="{FF2B5EF4-FFF2-40B4-BE49-F238E27FC236}">
                <a16:creationId xmlns:a16="http://schemas.microsoft.com/office/drawing/2014/main" id="{AB744B17-5B94-43C3-B7D2-82B5DDA82D2B}"/>
              </a:ext>
            </a:extLst>
          </p:cNvPr>
          <p:cNvCxnSpPr>
            <a:cxnSpLocks/>
            <a:stCxn id="368" idx="2"/>
            <a:endCxn id="372" idx="0"/>
          </p:cNvCxnSpPr>
          <p:nvPr/>
        </p:nvCxnSpPr>
        <p:spPr>
          <a:xfrm rot="5400000">
            <a:off x="3428564" y="6125454"/>
            <a:ext cx="1086117" cy="8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CA6EF80F-ACB8-4828-A350-5C84B0FCAB4F}"/>
              </a:ext>
            </a:extLst>
          </p:cNvPr>
          <p:cNvSpPr/>
          <p:nvPr/>
        </p:nvSpPr>
        <p:spPr>
          <a:xfrm>
            <a:off x="5868093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Мавританию</a:t>
            </a:r>
          </a:p>
        </p:txBody>
      </p:sp>
      <p:cxnSp>
        <p:nvCxnSpPr>
          <p:cNvPr id="383" name="Соединительная линия уступом 620">
            <a:extLst>
              <a:ext uri="{FF2B5EF4-FFF2-40B4-BE49-F238E27FC236}">
                <a16:creationId xmlns:a16="http://schemas.microsoft.com/office/drawing/2014/main" id="{B4E2BC96-252E-4E4D-B6DB-B7D7234E2CE9}"/>
              </a:ext>
            </a:extLst>
          </p:cNvPr>
          <p:cNvCxnSpPr>
            <a:cxnSpLocks/>
            <a:stCxn id="337" idx="2"/>
            <a:endCxn id="382" idx="0"/>
          </p:cNvCxnSpPr>
          <p:nvPr/>
        </p:nvCxnSpPr>
        <p:spPr>
          <a:xfrm rot="5400000">
            <a:off x="6498716" y="7839781"/>
            <a:ext cx="262277" cy="5971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Прямоугольник 385">
            <a:extLst>
              <a:ext uri="{FF2B5EF4-FFF2-40B4-BE49-F238E27FC236}">
                <a16:creationId xmlns:a16="http://schemas.microsoft.com/office/drawing/2014/main" id="{99C6CA20-455E-4DD6-A5F1-4008035CBFB8}"/>
              </a:ext>
            </a:extLst>
          </p:cNvPr>
          <p:cNvSpPr/>
          <p:nvPr/>
        </p:nvSpPr>
        <p:spPr>
          <a:xfrm>
            <a:off x="7053302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Танжер под руку Султана</a:t>
            </a:r>
          </a:p>
        </p:txBody>
      </p:sp>
      <p:cxnSp>
        <p:nvCxnSpPr>
          <p:cNvPr id="387" name="Соединительная линия уступом 620">
            <a:extLst>
              <a:ext uri="{FF2B5EF4-FFF2-40B4-BE49-F238E27FC236}">
                <a16:creationId xmlns:a16="http://schemas.microsoft.com/office/drawing/2014/main" id="{F54D1FD9-F108-459A-BCAD-99AAA49543C5}"/>
              </a:ext>
            </a:extLst>
          </p:cNvPr>
          <p:cNvCxnSpPr>
            <a:cxnSpLocks/>
            <a:stCxn id="337" idx="2"/>
            <a:endCxn id="386" idx="0"/>
          </p:cNvCxnSpPr>
          <p:nvPr/>
        </p:nvCxnSpPr>
        <p:spPr>
          <a:xfrm rot="16200000" flipH="1">
            <a:off x="7091320" y="7844371"/>
            <a:ext cx="262277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Прямоугольник 393">
            <a:extLst>
              <a:ext uri="{FF2B5EF4-FFF2-40B4-BE49-F238E27FC236}">
                <a16:creationId xmlns:a16="http://schemas.microsoft.com/office/drawing/2014/main" id="{9E7EDF23-23F6-4AB2-AC8C-CF5D5F9A6C52}"/>
              </a:ext>
            </a:extLst>
          </p:cNvPr>
          <p:cNvSpPr/>
          <p:nvPr/>
        </p:nvSpPr>
        <p:spPr>
          <a:xfrm>
            <a:off x="8838914" y="745594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Разделить духовную и светскую власть</a:t>
            </a:r>
          </a:p>
        </p:txBody>
      </p:sp>
      <p:sp>
        <p:nvSpPr>
          <p:cNvPr id="395" name="Прямоугольник 394">
            <a:extLst>
              <a:ext uri="{FF2B5EF4-FFF2-40B4-BE49-F238E27FC236}">
                <a16:creationId xmlns:a16="http://schemas.microsoft.com/office/drawing/2014/main" id="{750E2224-5F10-44BD-8AC6-7D94ECEF7F8D}"/>
              </a:ext>
            </a:extLst>
          </p:cNvPr>
          <p:cNvSpPr/>
          <p:nvPr/>
        </p:nvSpPr>
        <p:spPr>
          <a:xfrm>
            <a:off x="7652593" y="745516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 западному образцу</a:t>
            </a:r>
          </a:p>
        </p:txBody>
      </p:sp>
      <p:cxnSp>
        <p:nvCxnSpPr>
          <p:cNvPr id="397" name="Соединительная линия уступом 620">
            <a:extLst>
              <a:ext uri="{FF2B5EF4-FFF2-40B4-BE49-F238E27FC236}">
                <a16:creationId xmlns:a16="http://schemas.microsoft.com/office/drawing/2014/main" id="{B017D1EC-332A-43A1-8281-0F6E0A856BC4}"/>
              </a:ext>
            </a:extLst>
          </p:cNvPr>
          <p:cNvCxnSpPr>
            <a:cxnSpLocks/>
            <a:stCxn id="361" idx="2"/>
            <a:endCxn id="394" idx="0"/>
          </p:cNvCxnSpPr>
          <p:nvPr/>
        </p:nvCxnSpPr>
        <p:spPr>
          <a:xfrm rot="16200000" flipH="1">
            <a:off x="8874657" y="7028522"/>
            <a:ext cx="263056" cy="5917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620">
            <a:extLst>
              <a:ext uri="{FF2B5EF4-FFF2-40B4-BE49-F238E27FC236}">
                <a16:creationId xmlns:a16="http://schemas.microsoft.com/office/drawing/2014/main" id="{C9C933A2-E386-443A-AC73-3C26918CD7AB}"/>
              </a:ext>
            </a:extLst>
          </p:cNvPr>
          <p:cNvCxnSpPr>
            <a:cxnSpLocks/>
            <a:stCxn id="362" idx="2"/>
            <a:endCxn id="394" idx="0"/>
          </p:cNvCxnSpPr>
          <p:nvPr/>
        </p:nvCxnSpPr>
        <p:spPr>
          <a:xfrm rot="5400000">
            <a:off x="9472465" y="7023723"/>
            <a:ext cx="261831" cy="6026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Соединительная линия уступом 620">
            <a:extLst>
              <a:ext uri="{FF2B5EF4-FFF2-40B4-BE49-F238E27FC236}">
                <a16:creationId xmlns:a16="http://schemas.microsoft.com/office/drawing/2014/main" id="{83EEC453-E55A-451D-A2BB-02DAD9369566}"/>
              </a:ext>
            </a:extLst>
          </p:cNvPr>
          <p:cNvCxnSpPr>
            <a:cxnSpLocks/>
            <a:stCxn id="361" idx="2"/>
            <a:endCxn id="395" idx="0"/>
          </p:cNvCxnSpPr>
          <p:nvPr/>
        </p:nvCxnSpPr>
        <p:spPr>
          <a:xfrm rot="5400000">
            <a:off x="8281887" y="7026756"/>
            <a:ext cx="262276" cy="5945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6" name="Прямоугольник 335">
            <a:extLst>
              <a:ext uri="{FF2B5EF4-FFF2-40B4-BE49-F238E27FC236}">
                <a16:creationId xmlns:a16="http://schemas.microsoft.com/office/drawing/2014/main" id="{AB16E4EB-5430-4CC3-8399-29F2F6AF61BF}"/>
              </a:ext>
            </a:extLst>
          </p:cNvPr>
          <p:cNvSpPr/>
          <p:nvPr/>
        </p:nvSpPr>
        <p:spPr>
          <a:xfrm>
            <a:off x="10026427" y="5041884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</a:t>
            </a:r>
            <a:r>
              <a:rPr lang="ru-RU" sz="700" dirty="0" err="1"/>
              <a:t>махзен</a:t>
            </a:r>
            <a:endParaRPr lang="ru-RU" sz="700" dirty="0"/>
          </a:p>
        </p:txBody>
      </p:sp>
      <p:sp>
        <p:nvSpPr>
          <p:cNvPr id="339" name="Прямоугольник 338">
            <a:extLst>
              <a:ext uri="{FF2B5EF4-FFF2-40B4-BE49-F238E27FC236}">
                <a16:creationId xmlns:a16="http://schemas.microsoft.com/office/drawing/2014/main" id="{5897BA98-1814-4172-A9D3-A31E1B1AD080}"/>
              </a:ext>
            </a:extLst>
          </p:cNvPr>
          <p:cNvSpPr/>
          <p:nvPr/>
        </p:nvSpPr>
        <p:spPr>
          <a:xfrm>
            <a:off x="10029743" y="5844112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титул короля</a:t>
            </a:r>
          </a:p>
        </p:txBody>
      </p:sp>
      <p:sp>
        <p:nvSpPr>
          <p:cNvPr id="345" name="Прямоугольник 344">
            <a:extLst>
              <a:ext uri="{FF2B5EF4-FFF2-40B4-BE49-F238E27FC236}">
                <a16:creationId xmlns:a16="http://schemas.microsoft.com/office/drawing/2014/main" id="{28323095-6A38-4E35-8C92-261E14205AE9}"/>
              </a:ext>
            </a:extLst>
          </p:cNvPr>
          <p:cNvSpPr/>
          <p:nvPr/>
        </p:nvSpPr>
        <p:spPr>
          <a:xfrm>
            <a:off x="11216940" y="665288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Сократить влияние националистов</a:t>
            </a:r>
          </a:p>
        </p:txBody>
      </p:sp>
      <p:sp>
        <p:nvSpPr>
          <p:cNvPr id="385" name="Прямоугольник 384">
            <a:extLst>
              <a:ext uri="{FF2B5EF4-FFF2-40B4-BE49-F238E27FC236}">
                <a16:creationId xmlns:a16="http://schemas.microsoft.com/office/drawing/2014/main" id="{56E8842A-823E-4F0E-9699-5B2927CC325E}"/>
              </a:ext>
            </a:extLst>
          </p:cNvPr>
          <p:cNvSpPr/>
          <p:nvPr/>
        </p:nvSpPr>
        <p:spPr>
          <a:xfrm>
            <a:off x="7053301" y="9888283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Панарабские амбиции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389" name="Соединительная линия уступом 620">
            <a:extLst>
              <a:ext uri="{FF2B5EF4-FFF2-40B4-BE49-F238E27FC236}">
                <a16:creationId xmlns:a16="http://schemas.microsoft.com/office/drawing/2014/main" id="{6939D681-CD5F-4237-8B2C-87DF6F68EDC8}"/>
              </a:ext>
            </a:extLst>
          </p:cNvPr>
          <p:cNvCxnSpPr>
            <a:cxnSpLocks/>
            <a:stCxn id="330" idx="2"/>
            <a:endCxn id="385" idx="0"/>
          </p:cNvCxnSpPr>
          <p:nvPr/>
        </p:nvCxnSpPr>
        <p:spPr>
          <a:xfrm rot="16200000" flipH="1">
            <a:off x="7087766" y="9459584"/>
            <a:ext cx="269383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Соединительная линия уступом 620">
            <a:extLst>
              <a:ext uri="{FF2B5EF4-FFF2-40B4-BE49-F238E27FC236}">
                <a16:creationId xmlns:a16="http://schemas.microsoft.com/office/drawing/2014/main" id="{58F98732-BFE8-4991-9A38-05C11FC04FDB}"/>
              </a:ext>
            </a:extLst>
          </p:cNvPr>
          <p:cNvCxnSpPr>
            <a:cxnSpLocks/>
            <a:stCxn id="330" idx="2"/>
            <a:endCxn id="435" idx="0"/>
          </p:cNvCxnSpPr>
          <p:nvPr/>
        </p:nvCxnSpPr>
        <p:spPr>
          <a:xfrm rot="5400000">
            <a:off x="6495162" y="9454994"/>
            <a:ext cx="269383" cy="5971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Прямая соединительная линия 391">
            <a:extLst>
              <a:ext uri="{FF2B5EF4-FFF2-40B4-BE49-F238E27FC236}">
                <a16:creationId xmlns:a16="http://schemas.microsoft.com/office/drawing/2014/main" id="{69363E1E-740B-4D79-AA3E-047239836AA0}"/>
              </a:ext>
            </a:extLst>
          </p:cNvPr>
          <p:cNvCxnSpPr>
            <a:cxnSpLocks/>
            <a:stCxn id="385" idx="1"/>
            <a:endCxn id="435" idx="3"/>
          </p:cNvCxnSpPr>
          <p:nvPr/>
        </p:nvCxnSpPr>
        <p:spPr>
          <a:xfrm flipH="1">
            <a:off x="6794418" y="10158283"/>
            <a:ext cx="2588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1" name="Прямоугольник 340">
            <a:extLst>
              <a:ext uri="{FF2B5EF4-FFF2-40B4-BE49-F238E27FC236}">
                <a16:creationId xmlns:a16="http://schemas.microsoft.com/office/drawing/2014/main" id="{3C2402F4-31AF-448C-B8FA-52B3ADC9CEE0}"/>
              </a:ext>
            </a:extLst>
          </p:cNvPr>
          <p:cNvSpPr/>
          <p:nvPr/>
        </p:nvSpPr>
        <p:spPr>
          <a:xfrm>
            <a:off x="5875167" y="6663485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Мавритании</a:t>
            </a:r>
          </a:p>
        </p:txBody>
      </p:sp>
      <p:sp>
        <p:nvSpPr>
          <p:cNvPr id="411" name="Прямоугольник 410">
            <a:extLst>
              <a:ext uri="{FF2B5EF4-FFF2-40B4-BE49-F238E27FC236}">
                <a16:creationId xmlns:a16="http://schemas.microsoft.com/office/drawing/2014/main" id="{C688C71C-1C36-4FD3-ADF8-83A350ED6574}"/>
              </a:ext>
            </a:extLst>
          </p:cNvPr>
          <p:cNvSpPr/>
          <p:nvPr/>
        </p:nvSpPr>
        <p:spPr>
          <a:xfrm>
            <a:off x="10028508" y="423504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Назначить лояльного королю визиря</a:t>
            </a:r>
          </a:p>
        </p:txBody>
      </p:sp>
      <p:cxnSp>
        <p:nvCxnSpPr>
          <p:cNvPr id="412" name="Прямая соединительная линия 411">
            <a:extLst>
              <a:ext uri="{FF2B5EF4-FFF2-40B4-BE49-F238E27FC236}">
                <a16:creationId xmlns:a16="http://schemas.microsoft.com/office/drawing/2014/main" id="{FE3D907B-C345-42EE-9CEE-AE0F130BD2FE}"/>
              </a:ext>
            </a:extLst>
          </p:cNvPr>
          <p:cNvCxnSpPr>
            <a:cxnSpLocks/>
            <a:stCxn id="411" idx="1"/>
            <a:endCxn id="275" idx="3"/>
          </p:cNvCxnSpPr>
          <p:nvPr/>
        </p:nvCxnSpPr>
        <p:spPr>
          <a:xfrm flipH="1">
            <a:off x="9768525" y="4505046"/>
            <a:ext cx="2599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Соединительная линия уступом 620">
            <a:extLst>
              <a:ext uri="{FF2B5EF4-FFF2-40B4-BE49-F238E27FC236}">
                <a16:creationId xmlns:a16="http://schemas.microsoft.com/office/drawing/2014/main" id="{8B330FB8-FF98-4300-95FC-E9679674C672}"/>
              </a:ext>
            </a:extLst>
          </p:cNvPr>
          <p:cNvCxnSpPr>
            <a:cxnSpLocks/>
            <a:stCxn id="287" idx="2"/>
            <a:endCxn id="411" idx="0"/>
          </p:cNvCxnSpPr>
          <p:nvPr/>
        </p:nvCxnSpPr>
        <p:spPr>
          <a:xfrm rot="16200000" flipH="1">
            <a:off x="9765346" y="3508721"/>
            <a:ext cx="263056" cy="11895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Соединительная линия уступом 620">
            <a:extLst>
              <a:ext uri="{FF2B5EF4-FFF2-40B4-BE49-F238E27FC236}">
                <a16:creationId xmlns:a16="http://schemas.microsoft.com/office/drawing/2014/main" id="{6F7D6D57-CFAB-4E36-9036-A9781AB86AF9}"/>
              </a:ext>
            </a:extLst>
          </p:cNvPr>
          <p:cNvCxnSpPr>
            <a:cxnSpLocks/>
            <a:stCxn id="411" idx="2"/>
            <a:endCxn id="336" idx="0"/>
          </p:cNvCxnSpPr>
          <p:nvPr/>
        </p:nvCxnSpPr>
        <p:spPr>
          <a:xfrm rot="5400000">
            <a:off x="10357212" y="4907425"/>
            <a:ext cx="266838" cy="2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Соединительная линия уступом 620">
            <a:extLst>
              <a:ext uri="{FF2B5EF4-FFF2-40B4-BE49-F238E27FC236}">
                <a16:creationId xmlns:a16="http://schemas.microsoft.com/office/drawing/2014/main" id="{39F7F08E-601C-4E17-AA63-BAB3202D746A}"/>
              </a:ext>
            </a:extLst>
          </p:cNvPr>
          <p:cNvCxnSpPr>
            <a:cxnSpLocks/>
            <a:stCxn id="336" idx="2"/>
            <a:endCxn id="339" idx="0"/>
          </p:cNvCxnSpPr>
          <p:nvPr/>
        </p:nvCxnSpPr>
        <p:spPr>
          <a:xfrm rot="16200000" flipH="1">
            <a:off x="10360134" y="5711340"/>
            <a:ext cx="262228" cy="331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Соединительная линия уступом 620">
            <a:extLst>
              <a:ext uri="{FF2B5EF4-FFF2-40B4-BE49-F238E27FC236}">
                <a16:creationId xmlns:a16="http://schemas.microsoft.com/office/drawing/2014/main" id="{681E0FBA-1733-43B9-98CA-A4658882A5F5}"/>
              </a:ext>
            </a:extLst>
          </p:cNvPr>
          <p:cNvCxnSpPr>
            <a:cxnSpLocks/>
            <a:stCxn id="339" idx="2"/>
            <a:endCxn id="345" idx="0"/>
          </p:cNvCxnSpPr>
          <p:nvPr/>
        </p:nvCxnSpPr>
        <p:spPr>
          <a:xfrm rot="16200000" flipH="1">
            <a:off x="10952117" y="5924900"/>
            <a:ext cx="268774" cy="118719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Прямоугольник 419">
            <a:extLst>
              <a:ext uri="{FF2B5EF4-FFF2-40B4-BE49-F238E27FC236}">
                <a16:creationId xmlns:a16="http://schemas.microsoft.com/office/drawing/2014/main" id="{D1A6BCEA-858E-4D65-ACB7-0ADE35BB1A2A}"/>
              </a:ext>
            </a:extLst>
          </p:cNvPr>
          <p:cNvSpPr/>
          <p:nvPr/>
        </p:nvSpPr>
        <p:spPr>
          <a:xfrm>
            <a:off x="11218590" y="585691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митинги и профсоюзы</a:t>
            </a:r>
          </a:p>
        </p:txBody>
      </p:sp>
      <p:cxnSp>
        <p:nvCxnSpPr>
          <p:cNvPr id="421" name="Соединительная линия уступом 620">
            <a:extLst>
              <a:ext uri="{FF2B5EF4-FFF2-40B4-BE49-F238E27FC236}">
                <a16:creationId xmlns:a16="http://schemas.microsoft.com/office/drawing/2014/main" id="{04418FFC-EF67-4950-A1E9-BF3730CDF1A8}"/>
              </a:ext>
            </a:extLst>
          </p:cNvPr>
          <p:cNvCxnSpPr>
            <a:cxnSpLocks/>
            <a:stCxn id="336" idx="2"/>
            <a:endCxn id="420" idx="0"/>
          </p:cNvCxnSpPr>
          <p:nvPr/>
        </p:nvCxnSpPr>
        <p:spPr>
          <a:xfrm rot="16200000" flipH="1">
            <a:off x="10948155" y="5123318"/>
            <a:ext cx="275032" cy="119216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2" name="Прямоугольник 421">
            <a:extLst>
              <a:ext uri="{FF2B5EF4-FFF2-40B4-BE49-F238E27FC236}">
                <a16:creationId xmlns:a16="http://schemas.microsoft.com/office/drawing/2014/main" id="{0CDAB3F3-F1D4-45E2-808F-9C0405D4348C}"/>
              </a:ext>
            </a:extLst>
          </p:cNvPr>
          <p:cNvSpPr/>
          <p:nvPr/>
        </p:nvSpPr>
        <p:spPr>
          <a:xfrm>
            <a:off x="11216385" y="744885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Единоличная власть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423" name="Соединительная линия уступом 620">
            <a:extLst>
              <a:ext uri="{FF2B5EF4-FFF2-40B4-BE49-F238E27FC236}">
                <a16:creationId xmlns:a16="http://schemas.microsoft.com/office/drawing/2014/main" id="{B2211544-6FD5-4685-9C14-221F7049609B}"/>
              </a:ext>
            </a:extLst>
          </p:cNvPr>
          <p:cNvCxnSpPr>
            <a:cxnSpLocks/>
            <a:stCxn id="420" idx="2"/>
            <a:endCxn id="345" idx="0"/>
          </p:cNvCxnSpPr>
          <p:nvPr/>
        </p:nvCxnSpPr>
        <p:spPr>
          <a:xfrm rot="5400000">
            <a:off x="11552943" y="6524076"/>
            <a:ext cx="255970" cy="165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Соединительная линия уступом 620">
            <a:extLst>
              <a:ext uri="{FF2B5EF4-FFF2-40B4-BE49-F238E27FC236}">
                <a16:creationId xmlns:a16="http://schemas.microsoft.com/office/drawing/2014/main" id="{43B70F96-3D36-4946-9DC4-867C38D732EE}"/>
              </a:ext>
            </a:extLst>
          </p:cNvPr>
          <p:cNvCxnSpPr>
            <a:cxnSpLocks/>
            <a:stCxn id="345" idx="2"/>
            <a:endCxn id="422" idx="0"/>
          </p:cNvCxnSpPr>
          <p:nvPr/>
        </p:nvCxnSpPr>
        <p:spPr>
          <a:xfrm rot="5400000">
            <a:off x="11551841" y="7320594"/>
            <a:ext cx="255970" cy="5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Соединительная линия уступом 620">
            <a:extLst>
              <a:ext uri="{FF2B5EF4-FFF2-40B4-BE49-F238E27FC236}">
                <a16:creationId xmlns:a16="http://schemas.microsoft.com/office/drawing/2014/main" id="{6E4BE841-D644-4755-A037-32E5E51165D7}"/>
              </a:ext>
            </a:extLst>
          </p:cNvPr>
          <p:cNvCxnSpPr>
            <a:cxnSpLocks/>
            <a:stCxn id="275" idx="2"/>
            <a:endCxn id="316" idx="0"/>
          </p:cNvCxnSpPr>
          <p:nvPr/>
        </p:nvCxnSpPr>
        <p:spPr>
          <a:xfrm rot="5400000">
            <a:off x="9171715" y="4908470"/>
            <a:ext cx="267072" cy="2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" name="Прямоугольник 334">
            <a:extLst>
              <a:ext uri="{FF2B5EF4-FFF2-40B4-BE49-F238E27FC236}">
                <a16:creationId xmlns:a16="http://schemas.microsoft.com/office/drawing/2014/main" id="{7EFCE7AB-5044-431F-82FE-324856B0B798}"/>
              </a:ext>
            </a:extLst>
          </p:cNvPr>
          <p:cNvSpPr/>
          <p:nvPr/>
        </p:nvSpPr>
        <p:spPr>
          <a:xfrm>
            <a:off x="8838913" y="827525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Прогрессивная социальная политика</a:t>
            </a:r>
          </a:p>
        </p:txBody>
      </p:sp>
      <p:sp>
        <p:nvSpPr>
          <p:cNvPr id="338" name="Прямоугольник 337">
            <a:extLst>
              <a:ext uri="{FF2B5EF4-FFF2-40B4-BE49-F238E27FC236}">
                <a16:creationId xmlns:a16="http://schemas.microsoft.com/office/drawing/2014/main" id="{08169D63-F220-4099-A6E8-311745F7353C}"/>
              </a:ext>
            </a:extLst>
          </p:cNvPr>
          <p:cNvSpPr/>
          <p:nvPr/>
        </p:nvSpPr>
        <p:spPr>
          <a:xfrm>
            <a:off x="8837351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Пенитенциарная реформа</a:t>
            </a:r>
          </a:p>
        </p:txBody>
      </p:sp>
      <p:cxnSp>
        <p:nvCxnSpPr>
          <p:cNvPr id="340" name="Соединительная линия уступом 620">
            <a:extLst>
              <a:ext uri="{FF2B5EF4-FFF2-40B4-BE49-F238E27FC236}">
                <a16:creationId xmlns:a16="http://schemas.microsoft.com/office/drawing/2014/main" id="{D90A5ACA-BE43-4B65-8EB3-8DC53BDEF6A1}"/>
              </a:ext>
            </a:extLst>
          </p:cNvPr>
          <p:cNvCxnSpPr>
            <a:cxnSpLocks/>
            <a:stCxn id="137" idx="2"/>
            <a:endCxn id="134" idx="0"/>
          </p:cNvCxnSpPr>
          <p:nvPr/>
        </p:nvCxnSpPr>
        <p:spPr>
          <a:xfrm rot="5400000">
            <a:off x="6985239" y="18936986"/>
            <a:ext cx="260709" cy="624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Соединительная линия уступом 620">
            <a:extLst>
              <a:ext uri="{FF2B5EF4-FFF2-40B4-BE49-F238E27FC236}">
                <a16:creationId xmlns:a16="http://schemas.microsoft.com/office/drawing/2014/main" id="{9E03EC62-C4DD-4CA8-87AA-E384052482AA}"/>
              </a:ext>
            </a:extLst>
          </p:cNvPr>
          <p:cNvCxnSpPr>
            <a:cxnSpLocks/>
            <a:stCxn id="136" idx="2"/>
            <a:endCxn id="134" idx="0"/>
          </p:cNvCxnSpPr>
          <p:nvPr/>
        </p:nvCxnSpPr>
        <p:spPr>
          <a:xfrm rot="16200000" flipH="1">
            <a:off x="6364209" y="18940796"/>
            <a:ext cx="260709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Прямоугольник 352">
            <a:extLst>
              <a:ext uri="{FF2B5EF4-FFF2-40B4-BE49-F238E27FC236}">
                <a16:creationId xmlns:a16="http://schemas.microsoft.com/office/drawing/2014/main" id="{46489E18-82A4-4C13-B5E3-665C40DCBD81}"/>
              </a:ext>
            </a:extLst>
          </p:cNvPr>
          <p:cNvSpPr/>
          <p:nvPr/>
        </p:nvSpPr>
        <p:spPr>
          <a:xfrm>
            <a:off x="9441519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Земельная реформа</a:t>
            </a:r>
          </a:p>
        </p:txBody>
      </p:sp>
      <p:sp>
        <p:nvSpPr>
          <p:cNvPr id="358" name="Прямоугольник 357">
            <a:extLst>
              <a:ext uri="{FF2B5EF4-FFF2-40B4-BE49-F238E27FC236}">
                <a16:creationId xmlns:a16="http://schemas.microsoft.com/office/drawing/2014/main" id="{FD86CD52-56C1-4503-A47B-6517D32DD7A3}"/>
              </a:ext>
            </a:extLst>
          </p:cNvPr>
          <p:cNvSpPr/>
          <p:nvPr/>
        </p:nvSpPr>
        <p:spPr>
          <a:xfrm>
            <a:off x="12392197" y="585468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rgbClr val="FF0000"/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Арабизация страны</a:t>
            </a:r>
          </a:p>
        </p:txBody>
      </p:sp>
      <p:cxnSp>
        <p:nvCxnSpPr>
          <p:cNvPr id="381" name="Соединительная линия уступом 620">
            <a:extLst>
              <a:ext uri="{FF2B5EF4-FFF2-40B4-BE49-F238E27FC236}">
                <a16:creationId xmlns:a16="http://schemas.microsoft.com/office/drawing/2014/main" id="{C3D6C0F7-DD06-4EB7-9199-E1E9D14A3A3D}"/>
              </a:ext>
            </a:extLst>
          </p:cNvPr>
          <p:cNvCxnSpPr>
            <a:cxnSpLocks/>
            <a:stCxn id="394" idx="2"/>
            <a:endCxn id="335" idx="0"/>
          </p:cNvCxnSpPr>
          <p:nvPr/>
        </p:nvCxnSpPr>
        <p:spPr>
          <a:xfrm rot="5400000">
            <a:off x="9162423" y="8135596"/>
            <a:ext cx="2793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Соединительная линия уступом 620">
            <a:extLst>
              <a:ext uri="{FF2B5EF4-FFF2-40B4-BE49-F238E27FC236}">
                <a16:creationId xmlns:a16="http://schemas.microsoft.com/office/drawing/2014/main" id="{583F77CA-19B7-4F81-B14D-F75296ED9C71}"/>
              </a:ext>
            </a:extLst>
          </p:cNvPr>
          <p:cNvCxnSpPr>
            <a:cxnSpLocks/>
            <a:stCxn id="335" idx="2"/>
            <a:endCxn id="338" idx="0"/>
          </p:cNvCxnSpPr>
          <p:nvPr/>
        </p:nvCxnSpPr>
        <p:spPr>
          <a:xfrm rot="5400000">
            <a:off x="9166535" y="8949230"/>
            <a:ext cx="269520" cy="15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5" name="Прямоугольник 414">
            <a:extLst>
              <a:ext uri="{FF2B5EF4-FFF2-40B4-BE49-F238E27FC236}">
                <a16:creationId xmlns:a16="http://schemas.microsoft.com/office/drawing/2014/main" id="{390C7082-3773-4977-8DB9-3D7B82584170}"/>
              </a:ext>
            </a:extLst>
          </p:cNvPr>
          <p:cNvSpPr/>
          <p:nvPr/>
        </p:nvSpPr>
        <p:spPr>
          <a:xfrm>
            <a:off x="19844868" y="185790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потомков Аль-Андалусской знати</a:t>
            </a:r>
          </a:p>
        </p:txBody>
      </p:sp>
      <p:cxnSp>
        <p:nvCxnSpPr>
          <p:cNvPr id="425" name="Соединительная линия уступом 620">
            <a:extLst>
              <a:ext uri="{FF2B5EF4-FFF2-40B4-BE49-F238E27FC236}">
                <a16:creationId xmlns:a16="http://schemas.microsoft.com/office/drawing/2014/main" id="{1A6E50F0-61C8-4AFD-A6D6-B74CB66D7EED}"/>
              </a:ext>
            </a:extLst>
          </p:cNvPr>
          <p:cNvCxnSpPr>
            <a:cxnSpLocks/>
            <a:stCxn id="69" idx="2"/>
            <a:endCxn id="415" idx="0"/>
          </p:cNvCxnSpPr>
          <p:nvPr/>
        </p:nvCxnSpPr>
        <p:spPr>
          <a:xfrm rot="5400000">
            <a:off x="20033967" y="17801357"/>
            <a:ext cx="1051756" cy="503628"/>
          </a:xfrm>
          <a:prstGeom prst="bentConnector3">
            <a:avLst>
              <a:gd name="adj1" fmla="val 134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Соединительная линия уступом 620">
            <a:extLst>
              <a:ext uri="{FF2B5EF4-FFF2-40B4-BE49-F238E27FC236}">
                <a16:creationId xmlns:a16="http://schemas.microsoft.com/office/drawing/2014/main" id="{77E7A6AB-9FCE-4B7E-BFF2-ABD83A544DF0}"/>
              </a:ext>
            </a:extLst>
          </p:cNvPr>
          <p:cNvCxnSpPr>
            <a:cxnSpLocks/>
            <a:stCxn id="69" idx="2"/>
          </p:cNvCxnSpPr>
          <p:nvPr/>
        </p:nvCxnSpPr>
        <p:spPr>
          <a:xfrm rot="16200000" flipH="1">
            <a:off x="20673444" y="17665508"/>
            <a:ext cx="277929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5" name="Прямоугольник 434">
            <a:extLst>
              <a:ext uri="{FF2B5EF4-FFF2-40B4-BE49-F238E27FC236}">
                <a16:creationId xmlns:a16="http://schemas.microsoft.com/office/drawing/2014/main" id="{9053197E-3894-45BF-B5ED-B88D53E365F5}"/>
              </a:ext>
            </a:extLst>
          </p:cNvPr>
          <p:cNvSpPr/>
          <p:nvPr/>
        </p:nvSpPr>
        <p:spPr>
          <a:xfrm>
            <a:off x="5868093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антиколониальные позиции в арабском мире</a:t>
            </a:r>
          </a:p>
        </p:txBody>
      </p:sp>
      <p:sp>
        <p:nvSpPr>
          <p:cNvPr id="438" name="Прямоугольник 437">
            <a:extLst>
              <a:ext uri="{FF2B5EF4-FFF2-40B4-BE49-F238E27FC236}">
                <a16:creationId xmlns:a16="http://schemas.microsoft.com/office/drawing/2014/main" id="{6E327805-D803-4557-BD42-AA00A5D18919}"/>
              </a:ext>
            </a:extLst>
          </p:cNvPr>
          <p:cNvSpPr/>
          <p:nvPr/>
        </p:nvSpPr>
        <p:spPr>
          <a:xfrm>
            <a:off x="19223009" y="17802575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муфтия Иерусалима</a:t>
            </a:r>
          </a:p>
        </p:txBody>
      </p:sp>
      <p:sp>
        <p:nvSpPr>
          <p:cNvPr id="445" name="Прямоугольник 444">
            <a:extLst>
              <a:ext uri="{FF2B5EF4-FFF2-40B4-BE49-F238E27FC236}">
                <a16:creationId xmlns:a16="http://schemas.microsoft.com/office/drawing/2014/main" id="{394C88E2-CFA8-4475-85DC-FEAC5A3AFFD9}"/>
              </a:ext>
            </a:extLst>
          </p:cNvPr>
          <p:cNvSpPr/>
          <p:nvPr/>
        </p:nvSpPr>
        <p:spPr>
          <a:xfrm>
            <a:off x="18656898" y="18579049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королей</a:t>
            </a:r>
          </a:p>
        </p:txBody>
      </p:sp>
      <p:cxnSp>
        <p:nvCxnSpPr>
          <p:cNvPr id="450" name="Соединительная линия уступом 620">
            <a:extLst>
              <a:ext uri="{FF2B5EF4-FFF2-40B4-BE49-F238E27FC236}">
                <a16:creationId xmlns:a16="http://schemas.microsoft.com/office/drawing/2014/main" id="{6F3B8769-A8E1-474A-A422-7150A0893D26}"/>
              </a:ext>
            </a:extLst>
          </p:cNvPr>
          <p:cNvCxnSpPr>
            <a:cxnSpLocks/>
            <a:stCxn id="438" idx="2"/>
            <a:endCxn id="445" idx="0"/>
          </p:cNvCxnSpPr>
          <p:nvPr/>
        </p:nvCxnSpPr>
        <p:spPr>
          <a:xfrm rot="5400000">
            <a:off x="19284880" y="18177757"/>
            <a:ext cx="236474" cy="5661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5" name="Прямоугольник 544">
            <a:extLst>
              <a:ext uri="{FF2B5EF4-FFF2-40B4-BE49-F238E27FC236}">
                <a16:creationId xmlns:a16="http://schemas.microsoft.com/office/drawing/2014/main" id="{2B28C5F6-F8C7-4394-AFCC-203AC1D50050}"/>
              </a:ext>
            </a:extLst>
          </p:cNvPr>
          <p:cNvSpPr/>
          <p:nvPr/>
        </p:nvSpPr>
        <p:spPr>
          <a:xfrm>
            <a:off x="7653732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Ограничить власть монарха</a:t>
            </a:r>
          </a:p>
        </p:txBody>
      </p:sp>
      <p:cxnSp>
        <p:nvCxnSpPr>
          <p:cNvPr id="551" name="Соединительная линия уступом 620">
            <a:extLst>
              <a:ext uri="{FF2B5EF4-FFF2-40B4-BE49-F238E27FC236}">
                <a16:creationId xmlns:a16="http://schemas.microsoft.com/office/drawing/2014/main" id="{4ED43F8D-A46A-4BB5-A376-66E38C1E51CA}"/>
              </a:ext>
            </a:extLst>
          </p:cNvPr>
          <p:cNvCxnSpPr>
            <a:cxnSpLocks/>
            <a:stCxn id="642" idx="2"/>
            <a:endCxn id="645" idx="0"/>
          </p:cNvCxnSpPr>
          <p:nvPr/>
        </p:nvCxnSpPr>
        <p:spPr>
          <a:xfrm rot="16200000" flipH="1">
            <a:off x="10355433" y="8132179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Соединительная линия уступом 620">
            <a:extLst>
              <a:ext uri="{FF2B5EF4-FFF2-40B4-BE49-F238E27FC236}">
                <a16:creationId xmlns:a16="http://schemas.microsoft.com/office/drawing/2014/main" id="{123B5ACA-56DC-4326-AC08-8DB7CAC572B1}"/>
              </a:ext>
            </a:extLst>
          </p:cNvPr>
          <p:cNvCxnSpPr>
            <a:cxnSpLocks/>
            <a:stCxn id="395" idx="2"/>
            <a:endCxn id="545" idx="0"/>
          </p:cNvCxnSpPr>
          <p:nvPr/>
        </p:nvCxnSpPr>
        <p:spPr>
          <a:xfrm rot="16200000" flipH="1">
            <a:off x="7571521" y="8539396"/>
            <a:ext cx="1089609" cy="11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Прямоугольник 574">
            <a:extLst>
              <a:ext uri="{FF2B5EF4-FFF2-40B4-BE49-F238E27FC236}">
                <a16:creationId xmlns:a16="http://schemas.microsoft.com/office/drawing/2014/main" id="{786780DD-B636-4AAA-BB44-1B2A63E40798}"/>
              </a:ext>
            </a:extLst>
          </p:cNvPr>
          <p:cNvSpPr/>
          <p:nvPr/>
        </p:nvSpPr>
        <p:spPr>
          <a:xfrm>
            <a:off x="8251905" y="9881933"/>
            <a:ext cx="926325" cy="5330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студенческие движения</a:t>
            </a:r>
          </a:p>
        </p:txBody>
      </p:sp>
      <p:cxnSp>
        <p:nvCxnSpPr>
          <p:cNvPr id="640" name="Соединительная линия уступом 620">
            <a:extLst>
              <a:ext uri="{FF2B5EF4-FFF2-40B4-BE49-F238E27FC236}">
                <a16:creationId xmlns:a16="http://schemas.microsoft.com/office/drawing/2014/main" id="{D3BB0D87-6410-459C-A997-D75EE192B481}"/>
              </a:ext>
            </a:extLst>
          </p:cNvPr>
          <p:cNvCxnSpPr>
            <a:cxnSpLocks/>
            <a:stCxn id="545" idx="2"/>
            <a:endCxn id="575" idx="0"/>
          </p:cNvCxnSpPr>
          <p:nvPr/>
        </p:nvCxnSpPr>
        <p:spPr>
          <a:xfrm rot="16200000" flipH="1">
            <a:off x="8287400" y="9454265"/>
            <a:ext cx="257162" cy="5981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Соединительная линия уступом 620">
            <a:extLst>
              <a:ext uri="{FF2B5EF4-FFF2-40B4-BE49-F238E27FC236}">
                <a16:creationId xmlns:a16="http://schemas.microsoft.com/office/drawing/2014/main" id="{7E403C6A-A16A-4AE5-83F9-8DF46F5E0B0D}"/>
              </a:ext>
            </a:extLst>
          </p:cNvPr>
          <p:cNvCxnSpPr>
            <a:cxnSpLocks/>
            <a:stCxn id="338" idx="2"/>
            <a:endCxn id="353" idx="0"/>
          </p:cNvCxnSpPr>
          <p:nvPr/>
        </p:nvCxnSpPr>
        <p:spPr>
          <a:xfrm rot="16200000" flipH="1">
            <a:off x="9470842" y="9454443"/>
            <a:ext cx="263512" cy="60416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2" name="Прямоугольник 641">
            <a:extLst>
              <a:ext uri="{FF2B5EF4-FFF2-40B4-BE49-F238E27FC236}">
                <a16:creationId xmlns:a16="http://schemas.microsoft.com/office/drawing/2014/main" id="{BB533C37-A024-420F-AF5C-27EB9E4439F4}"/>
              </a:ext>
            </a:extLst>
          </p:cNvPr>
          <p:cNvSpPr/>
          <p:nvPr/>
        </p:nvSpPr>
        <p:spPr>
          <a:xfrm>
            <a:off x="10028508" y="745594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религиозное обновление</a:t>
            </a:r>
          </a:p>
        </p:txBody>
      </p:sp>
      <p:cxnSp>
        <p:nvCxnSpPr>
          <p:cNvPr id="643" name="Соединительная линия уступом 620">
            <a:extLst>
              <a:ext uri="{FF2B5EF4-FFF2-40B4-BE49-F238E27FC236}">
                <a16:creationId xmlns:a16="http://schemas.microsoft.com/office/drawing/2014/main" id="{C965B5A5-794E-42B5-AB1C-407349D08A33}"/>
              </a:ext>
            </a:extLst>
          </p:cNvPr>
          <p:cNvCxnSpPr>
            <a:cxnSpLocks/>
            <a:stCxn id="362" idx="2"/>
            <a:endCxn id="642" idx="0"/>
          </p:cNvCxnSpPr>
          <p:nvPr/>
        </p:nvCxnSpPr>
        <p:spPr>
          <a:xfrm rot="16200000" flipH="1">
            <a:off x="10067262" y="7031532"/>
            <a:ext cx="261831" cy="58698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Соединительная линия уступом 620">
            <a:extLst>
              <a:ext uri="{FF2B5EF4-FFF2-40B4-BE49-F238E27FC236}">
                <a16:creationId xmlns:a16="http://schemas.microsoft.com/office/drawing/2014/main" id="{F4438365-BF06-4E75-9F42-3B2A80D3D5BE}"/>
              </a:ext>
            </a:extLst>
          </p:cNvPr>
          <p:cNvCxnSpPr>
            <a:cxnSpLocks/>
            <a:stCxn id="345" idx="2"/>
            <a:endCxn id="642" idx="0"/>
          </p:cNvCxnSpPr>
          <p:nvPr/>
        </p:nvCxnSpPr>
        <p:spPr>
          <a:xfrm rot="5400000">
            <a:off x="10954359" y="6730198"/>
            <a:ext cx="263056" cy="11884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5" name="Прямоугольник 644">
            <a:extLst>
              <a:ext uri="{FF2B5EF4-FFF2-40B4-BE49-F238E27FC236}">
                <a16:creationId xmlns:a16="http://schemas.microsoft.com/office/drawing/2014/main" id="{7B37F56A-E948-4527-A037-80458BB9A7B2}"/>
              </a:ext>
            </a:extLst>
          </p:cNvPr>
          <p:cNvSpPr/>
          <p:nvPr/>
        </p:nvSpPr>
        <p:spPr>
          <a:xfrm>
            <a:off x="10029607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</a:t>
            </a:r>
            <a:r>
              <a:rPr lang="ru-RU" sz="700" dirty="0" err="1"/>
              <a:t>закят</a:t>
            </a:r>
            <a:endParaRPr lang="ru-RU" sz="700" dirty="0"/>
          </a:p>
        </p:txBody>
      </p:sp>
      <p:sp>
        <p:nvSpPr>
          <p:cNvPr id="646" name="Прямоугольник 645">
            <a:extLst>
              <a:ext uri="{FF2B5EF4-FFF2-40B4-BE49-F238E27FC236}">
                <a16:creationId xmlns:a16="http://schemas.microsoft.com/office/drawing/2014/main" id="{71C433BE-2815-434C-9894-ED547310B728}"/>
              </a:ext>
            </a:extLst>
          </p:cNvPr>
          <p:cNvSpPr/>
          <p:nvPr/>
        </p:nvSpPr>
        <p:spPr>
          <a:xfrm>
            <a:off x="10028508" y="908309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религиозные движения</a:t>
            </a:r>
          </a:p>
        </p:txBody>
      </p:sp>
      <p:cxnSp>
        <p:nvCxnSpPr>
          <p:cNvPr id="647" name="Соединительная линия уступом 620">
            <a:extLst>
              <a:ext uri="{FF2B5EF4-FFF2-40B4-BE49-F238E27FC236}">
                <a16:creationId xmlns:a16="http://schemas.microsoft.com/office/drawing/2014/main" id="{CB4958D7-7B1D-4C5E-A8C9-2E07977098A4}"/>
              </a:ext>
            </a:extLst>
          </p:cNvPr>
          <p:cNvCxnSpPr>
            <a:cxnSpLocks/>
            <a:stCxn id="645" idx="2"/>
            <a:endCxn id="646" idx="0"/>
          </p:cNvCxnSpPr>
          <p:nvPr/>
        </p:nvCxnSpPr>
        <p:spPr>
          <a:xfrm rot="5400000">
            <a:off x="10355434" y="8945755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8" name="Прямоугольник 647">
            <a:extLst>
              <a:ext uri="{FF2B5EF4-FFF2-40B4-BE49-F238E27FC236}">
                <a16:creationId xmlns:a16="http://schemas.microsoft.com/office/drawing/2014/main" id="{D82C8962-4A55-40F2-92BE-18230CFEFB9E}"/>
              </a:ext>
            </a:extLst>
          </p:cNvPr>
          <p:cNvSpPr/>
          <p:nvPr/>
        </p:nvSpPr>
        <p:spPr>
          <a:xfrm>
            <a:off x="5865720" y="1068689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Снять кандалы с берберов</a:t>
            </a:r>
          </a:p>
        </p:txBody>
      </p:sp>
      <p:sp>
        <p:nvSpPr>
          <p:cNvPr id="650" name="Прямоугольник 649">
            <a:extLst>
              <a:ext uri="{FF2B5EF4-FFF2-40B4-BE49-F238E27FC236}">
                <a16:creationId xmlns:a16="http://schemas.microsoft.com/office/drawing/2014/main" id="{B9D1C4C9-A2D5-4A7D-990E-D8E0541A843E}"/>
              </a:ext>
            </a:extLst>
          </p:cNvPr>
          <p:cNvSpPr/>
          <p:nvPr/>
        </p:nvSpPr>
        <p:spPr>
          <a:xfrm>
            <a:off x="11216384" y="8269651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Присяга племён</a:t>
            </a:r>
          </a:p>
        </p:txBody>
      </p:sp>
      <p:sp>
        <p:nvSpPr>
          <p:cNvPr id="651" name="Прямоугольник 650">
            <a:extLst>
              <a:ext uri="{FF2B5EF4-FFF2-40B4-BE49-F238E27FC236}">
                <a16:creationId xmlns:a16="http://schemas.microsoft.com/office/drawing/2014/main" id="{ECEB2BDC-5C22-4C53-874C-0D93BC34C179}"/>
              </a:ext>
            </a:extLst>
          </p:cNvPr>
          <p:cNvSpPr/>
          <p:nvPr/>
        </p:nvSpPr>
        <p:spPr>
          <a:xfrm>
            <a:off x="11216385" y="9078900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Предоставить евреям укрытие и защиту</a:t>
            </a:r>
          </a:p>
        </p:txBody>
      </p:sp>
      <p:cxnSp>
        <p:nvCxnSpPr>
          <p:cNvPr id="652" name="Соединительная линия уступом 620">
            <a:extLst>
              <a:ext uri="{FF2B5EF4-FFF2-40B4-BE49-F238E27FC236}">
                <a16:creationId xmlns:a16="http://schemas.microsoft.com/office/drawing/2014/main" id="{6B19BAA7-B876-4FDF-8720-711CCAF6895F}"/>
              </a:ext>
            </a:extLst>
          </p:cNvPr>
          <p:cNvCxnSpPr>
            <a:cxnSpLocks/>
            <a:stCxn id="422" idx="2"/>
            <a:endCxn id="650" idx="0"/>
          </p:cNvCxnSpPr>
          <p:nvPr/>
        </p:nvCxnSpPr>
        <p:spPr>
          <a:xfrm rot="5400000">
            <a:off x="11539151" y="8129253"/>
            <a:ext cx="28079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Соединительная линия уступом 620">
            <a:extLst>
              <a:ext uri="{FF2B5EF4-FFF2-40B4-BE49-F238E27FC236}">
                <a16:creationId xmlns:a16="http://schemas.microsoft.com/office/drawing/2014/main" id="{AA676E65-2BF0-4B34-A2D0-5D1E66729705}"/>
              </a:ext>
            </a:extLst>
          </p:cNvPr>
          <p:cNvCxnSpPr>
            <a:cxnSpLocks/>
            <a:stCxn id="650" idx="2"/>
            <a:endCxn id="651" idx="0"/>
          </p:cNvCxnSpPr>
          <p:nvPr/>
        </p:nvCxnSpPr>
        <p:spPr>
          <a:xfrm rot="16200000" flipH="1">
            <a:off x="11544923" y="8944274"/>
            <a:ext cx="26924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4" name="Прямоугольник 653">
            <a:extLst>
              <a:ext uri="{FF2B5EF4-FFF2-40B4-BE49-F238E27FC236}">
                <a16:creationId xmlns:a16="http://schemas.microsoft.com/office/drawing/2014/main" id="{18C3F344-7D3E-437B-BFE4-9B6FC17E03FD}"/>
              </a:ext>
            </a:extLst>
          </p:cNvPr>
          <p:cNvSpPr/>
          <p:nvPr/>
        </p:nvSpPr>
        <p:spPr>
          <a:xfrm>
            <a:off x="7051714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Распространить свою власть на Магриб</a:t>
            </a:r>
          </a:p>
        </p:txBody>
      </p:sp>
      <p:sp>
        <p:nvSpPr>
          <p:cNvPr id="655" name="Прямоугольник 654">
            <a:extLst>
              <a:ext uri="{FF2B5EF4-FFF2-40B4-BE49-F238E27FC236}">
                <a16:creationId xmlns:a16="http://schemas.microsoft.com/office/drawing/2014/main" id="{60FF396B-0DD4-4BCC-B80F-1FD9B4AA67F3}"/>
              </a:ext>
            </a:extLst>
          </p:cNvPr>
          <p:cNvSpPr/>
          <p:nvPr/>
        </p:nvSpPr>
        <p:spPr>
          <a:xfrm>
            <a:off x="4687924" y="10693099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Прогнать колонизаторов с Ливийского плата</a:t>
            </a:r>
          </a:p>
        </p:txBody>
      </p:sp>
      <p:cxnSp>
        <p:nvCxnSpPr>
          <p:cNvPr id="656" name="Соединительная линия уступом 620">
            <a:extLst>
              <a:ext uri="{FF2B5EF4-FFF2-40B4-BE49-F238E27FC236}">
                <a16:creationId xmlns:a16="http://schemas.microsoft.com/office/drawing/2014/main" id="{9AE567B0-4A3A-4FF3-9DBD-A84E5CC1C1FF}"/>
              </a:ext>
            </a:extLst>
          </p:cNvPr>
          <p:cNvCxnSpPr>
            <a:cxnSpLocks/>
            <a:stCxn id="435" idx="2"/>
            <a:endCxn id="655" idx="0"/>
          </p:cNvCxnSpPr>
          <p:nvPr/>
        </p:nvCxnSpPr>
        <p:spPr>
          <a:xfrm rot="5400000">
            <a:off x="5608764" y="9970607"/>
            <a:ext cx="264816" cy="11801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Соединительная линия уступом 620">
            <a:extLst>
              <a:ext uri="{FF2B5EF4-FFF2-40B4-BE49-F238E27FC236}">
                <a16:creationId xmlns:a16="http://schemas.microsoft.com/office/drawing/2014/main" id="{A529821E-5D37-4BEC-98C4-B1362AD5926A}"/>
              </a:ext>
            </a:extLst>
          </p:cNvPr>
          <p:cNvCxnSpPr>
            <a:cxnSpLocks/>
            <a:stCxn id="435" idx="2"/>
            <a:endCxn id="648" idx="0"/>
          </p:cNvCxnSpPr>
          <p:nvPr/>
        </p:nvCxnSpPr>
        <p:spPr>
          <a:xfrm rot="5400000">
            <a:off x="6200766" y="10556401"/>
            <a:ext cx="258608" cy="23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8" name="Прямоугольник 657">
            <a:extLst>
              <a:ext uri="{FF2B5EF4-FFF2-40B4-BE49-F238E27FC236}">
                <a16:creationId xmlns:a16="http://schemas.microsoft.com/office/drawing/2014/main" id="{3CAB67B9-2BAC-4278-83A4-4C135EE9E7FE}"/>
              </a:ext>
            </a:extLst>
          </p:cNvPr>
          <p:cNvSpPr/>
          <p:nvPr/>
        </p:nvSpPr>
        <p:spPr>
          <a:xfrm>
            <a:off x="5278009" y="1149791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Аравийский полуостров</a:t>
            </a:r>
          </a:p>
        </p:txBody>
      </p:sp>
      <p:cxnSp>
        <p:nvCxnSpPr>
          <p:cNvPr id="659" name="Соединительная линия уступом 620">
            <a:extLst>
              <a:ext uri="{FF2B5EF4-FFF2-40B4-BE49-F238E27FC236}">
                <a16:creationId xmlns:a16="http://schemas.microsoft.com/office/drawing/2014/main" id="{80BCEB1D-113A-4DA9-BDFF-F4C5FEE9E390}"/>
              </a:ext>
            </a:extLst>
          </p:cNvPr>
          <p:cNvCxnSpPr>
            <a:cxnSpLocks/>
            <a:stCxn id="435" idx="2"/>
            <a:endCxn id="658" idx="0"/>
          </p:cNvCxnSpPr>
          <p:nvPr/>
        </p:nvCxnSpPr>
        <p:spPr>
          <a:xfrm rot="5400000">
            <a:off x="5501398" y="10668057"/>
            <a:ext cx="1069632" cy="590084"/>
          </a:xfrm>
          <a:prstGeom prst="bentConnector3">
            <a:avLst>
              <a:gd name="adj1" fmla="val 125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0" name="Прямоугольник 659">
            <a:extLst>
              <a:ext uri="{FF2B5EF4-FFF2-40B4-BE49-F238E27FC236}">
                <a16:creationId xmlns:a16="http://schemas.microsoft.com/office/drawing/2014/main" id="{4656699D-0F42-4F89-9AB6-5CB375631316}"/>
              </a:ext>
            </a:extLst>
          </p:cNvPr>
          <p:cNvSpPr/>
          <p:nvPr/>
        </p:nvSpPr>
        <p:spPr>
          <a:xfrm>
            <a:off x="5868901" y="1229496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Никаких мандатов в </a:t>
            </a:r>
            <a:r>
              <a:rPr lang="ru-RU" sz="700" dirty="0" err="1"/>
              <a:t>Сириийском</a:t>
            </a:r>
            <a:r>
              <a:rPr lang="ru-RU" sz="700" dirty="0"/>
              <a:t> регионе</a:t>
            </a:r>
          </a:p>
        </p:txBody>
      </p:sp>
      <p:cxnSp>
        <p:nvCxnSpPr>
          <p:cNvPr id="661" name="Соединительная линия уступом 620">
            <a:extLst>
              <a:ext uri="{FF2B5EF4-FFF2-40B4-BE49-F238E27FC236}">
                <a16:creationId xmlns:a16="http://schemas.microsoft.com/office/drawing/2014/main" id="{AFCC26D8-BC8C-4064-ACF4-66E1DE8CBB42}"/>
              </a:ext>
            </a:extLst>
          </p:cNvPr>
          <p:cNvCxnSpPr>
            <a:cxnSpLocks/>
            <a:stCxn id="658" idx="2"/>
            <a:endCxn id="660" idx="0"/>
          </p:cNvCxnSpPr>
          <p:nvPr/>
        </p:nvCxnSpPr>
        <p:spPr>
          <a:xfrm rot="16200000" flipH="1">
            <a:off x="5908093" y="11870994"/>
            <a:ext cx="257050" cy="5908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2" name="Прямоугольник 661">
            <a:extLst>
              <a:ext uri="{FF2B5EF4-FFF2-40B4-BE49-F238E27FC236}">
                <a16:creationId xmlns:a16="http://schemas.microsoft.com/office/drawing/2014/main" id="{1219FAEA-FC53-44D6-AC37-F9E43A549BD0}"/>
              </a:ext>
            </a:extLst>
          </p:cNvPr>
          <p:cNvSpPr/>
          <p:nvPr/>
        </p:nvSpPr>
        <p:spPr>
          <a:xfrm>
            <a:off x="8255525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Поход на Ливийское плато</a:t>
            </a:r>
          </a:p>
        </p:txBody>
      </p:sp>
      <p:sp>
        <p:nvSpPr>
          <p:cNvPr id="663" name="Прямоугольник 662">
            <a:extLst>
              <a:ext uri="{FF2B5EF4-FFF2-40B4-BE49-F238E27FC236}">
                <a16:creationId xmlns:a16="http://schemas.microsoft.com/office/drawing/2014/main" id="{C2F8030A-BF54-4D2A-A7C1-1359E169CA4E}"/>
              </a:ext>
            </a:extLst>
          </p:cNvPr>
          <p:cNvSpPr/>
          <p:nvPr/>
        </p:nvSpPr>
        <p:spPr>
          <a:xfrm>
            <a:off x="7652592" y="11493724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религиозные святыни Аравии</a:t>
            </a:r>
          </a:p>
        </p:txBody>
      </p:sp>
      <p:sp>
        <p:nvSpPr>
          <p:cNvPr id="664" name="Прямоугольник 663">
            <a:extLst>
              <a:ext uri="{FF2B5EF4-FFF2-40B4-BE49-F238E27FC236}">
                <a16:creationId xmlns:a16="http://schemas.microsoft.com/office/drawing/2014/main" id="{76793256-FEF2-42F0-A25D-EF1883BE28E0}"/>
              </a:ext>
            </a:extLst>
          </p:cNvPr>
          <p:cNvSpPr/>
          <p:nvPr/>
        </p:nvSpPr>
        <p:spPr>
          <a:xfrm>
            <a:off x="7051713" y="1229434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Захват дальних земель</a:t>
            </a:r>
          </a:p>
        </p:txBody>
      </p:sp>
      <p:sp>
        <p:nvSpPr>
          <p:cNvPr id="665" name="Прямоугольник 664">
            <a:extLst>
              <a:ext uri="{FF2B5EF4-FFF2-40B4-BE49-F238E27FC236}">
                <a16:creationId xmlns:a16="http://schemas.microsoft.com/office/drawing/2014/main" id="{88E696FF-E321-472E-92CA-77E983DEE5D4}"/>
              </a:ext>
            </a:extLst>
          </p:cNvPr>
          <p:cNvSpPr/>
          <p:nvPr/>
        </p:nvSpPr>
        <p:spPr>
          <a:xfrm>
            <a:off x="6460696" y="130913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Отец всех арабов</a:t>
            </a:r>
          </a:p>
        </p:txBody>
      </p:sp>
      <p:cxnSp>
        <p:nvCxnSpPr>
          <p:cNvPr id="666" name="Соединительная линия уступом 620">
            <a:extLst>
              <a:ext uri="{FF2B5EF4-FFF2-40B4-BE49-F238E27FC236}">
                <a16:creationId xmlns:a16="http://schemas.microsoft.com/office/drawing/2014/main" id="{D736B8FF-A872-48FA-AAEA-B10681769268}"/>
              </a:ext>
            </a:extLst>
          </p:cNvPr>
          <p:cNvCxnSpPr>
            <a:cxnSpLocks/>
            <a:stCxn id="655" idx="2"/>
            <a:endCxn id="660" idx="0"/>
          </p:cNvCxnSpPr>
          <p:nvPr/>
        </p:nvCxnSpPr>
        <p:spPr>
          <a:xfrm rot="16200000" flipH="1">
            <a:off x="5210642" y="11173543"/>
            <a:ext cx="1061866" cy="1180977"/>
          </a:xfrm>
          <a:prstGeom prst="bentConnector3">
            <a:avLst>
              <a:gd name="adj1" fmla="val 93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Соединительная линия уступом 620">
            <a:extLst>
              <a:ext uri="{FF2B5EF4-FFF2-40B4-BE49-F238E27FC236}">
                <a16:creationId xmlns:a16="http://schemas.microsoft.com/office/drawing/2014/main" id="{891731BE-0C06-4A6D-875D-C186699E09EC}"/>
              </a:ext>
            </a:extLst>
          </p:cNvPr>
          <p:cNvCxnSpPr>
            <a:cxnSpLocks/>
            <a:stCxn id="648" idx="2"/>
            <a:endCxn id="660" idx="0"/>
          </p:cNvCxnSpPr>
          <p:nvPr/>
        </p:nvCxnSpPr>
        <p:spPr>
          <a:xfrm rot="16200000" flipH="1">
            <a:off x="5796436" y="11759337"/>
            <a:ext cx="1068074" cy="31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Соединительная линия уступом 620">
            <a:extLst>
              <a:ext uri="{FF2B5EF4-FFF2-40B4-BE49-F238E27FC236}">
                <a16:creationId xmlns:a16="http://schemas.microsoft.com/office/drawing/2014/main" id="{A2DB622B-75CB-4ECD-822F-58B46441EC42}"/>
              </a:ext>
            </a:extLst>
          </p:cNvPr>
          <p:cNvCxnSpPr>
            <a:cxnSpLocks/>
            <a:stCxn id="385" idx="2"/>
            <a:endCxn id="662" idx="0"/>
          </p:cNvCxnSpPr>
          <p:nvPr/>
        </p:nvCxnSpPr>
        <p:spPr>
          <a:xfrm rot="16200000" flipH="1">
            <a:off x="7985168" y="9959579"/>
            <a:ext cx="264816" cy="1202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Соединительная линия уступом 620">
            <a:extLst>
              <a:ext uri="{FF2B5EF4-FFF2-40B4-BE49-F238E27FC236}">
                <a16:creationId xmlns:a16="http://schemas.microsoft.com/office/drawing/2014/main" id="{BC7070B2-A274-4CFB-9239-E5C1E89FB4DE}"/>
              </a:ext>
            </a:extLst>
          </p:cNvPr>
          <p:cNvCxnSpPr>
            <a:cxnSpLocks/>
            <a:stCxn id="385" idx="2"/>
            <a:endCxn id="654" idx="0"/>
          </p:cNvCxnSpPr>
          <p:nvPr/>
        </p:nvCxnSpPr>
        <p:spPr>
          <a:xfrm rot="5400000">
            <a:off x="7383263" y="10559898"/>
            <a:ext cx="264816" cy="15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Соединительная линия уступом 620">
            <a:extLst>
              <a:ext uri="{FF2B5EF4-FFF2-40B4-BE49-F238E27FC236}">
                <a16:creationId xmlns:a16="http://schemas.microsoft.com/office/drawing/2014/main" id="{9A4E2F1D-8712-4D2A-924B-A0C92EF6AEEC}"/>
              </a:ext>
            </a:extLst>
          </p:cNvPr>
          <p:cNvCxnSpPr>
            <a:cxnSpLocks/>
            <a:stCxn id="385" idx="2"/>
            <a:endCxn id="663" idx="0"/>
          </p:cNvCxnSpPr>
          <p:nvPr/>
        </p:nvCxnSpPr>
        <p:spPr>
          <a:xfrm rot="16200000" flipH="1">
            <a:off x="7283389" y="10661357"/>
            <a:ext cx="1065441" cy="599291"/>
          </a:xfrm>
          <a:prstGeom prst="bentConnector3">
            <a:avLst>
              <a:gd name="adj1" fmla="val 1200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Соединительная линия уступом 620">
            <a:extLst>
              <a:ext uri="{FF2B5EF4-FFF2-40B4-BE49-F238E27FC236}">
                <a16:creationId xmlns:a16="http://schemas.microsoft.com/office/drawing/2014/main" id="{AF048FC1-75E1-4A69-9262-337B413790DB}"/>
              </a:ext>
            </a:extLst>
          </p:cNvPr>
          <p:cNvCxnSpPr>
            <a:cxnSpLocks/>
            <a:stCxn id="654" idx="2"/>
            <a:endCxn id="664" idx="0"/>
          </p:cNvCxnSpPr>
          <p:nvPr/>
        </p:nvCxnSpPr>
        <p:spPr>
          <a:xfrm rot="5400000">
            <a:off x="6984252" y="11763724"/>
            <a:ext cx="106125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Соединительная линия уступом 620">
            <a:extLst>
              <a:ext uri="{FF2B5EF4-FFF2-40B4-BE49-F238E27FC236}">
                <a16:creationId xmlns:a16="http://schemas.microsoft.com/office/drawing/2014/main" id="{F00985B5-C9B1-4C58-871B-155E5500E864}"/>
              </a:ext>
            </a:extLst>
          </p:cNvPr>
          <p:cNvCxnSpPr>
            <a:cxnSpLocks/>
            <a:stCxn id="662" idx="2"/>
            <a:endCxn id="664" idx="0"/>
          </p:cNvCxnSpPr>
          <p:nvPr/>
        </p:nvCxnSpPr>
        <p:spPr>
          <a:xfrm rot="5400000">
            <a:off x="7586157" y="11161818"/>
            <a:ext cx="1061250" cy="1203812"/>
          </a:xfrm>
          <a:prstGeom prst="bentConnector3">
            <a:avLst>
              <a:gd name="adj1" fmla="val 871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Соединительная линия уступом 620">
            <a:extLst>
              <a:ext uri="{FF2B5EF4-FFF2-40B4-BE49-F238E27FC236}">
                <a16:creationId xmlns:a16="http://schemas.microsoft.com/office/drawing/2014/main" id="{54C45103-9610-4747-AF7B-92360349A296}"/>
              </a:ext>
            </a:extLst>
          </p:cNvPr>
          <p:cNvCxnSpPr>
            <a:cxnSpLocks/>
            <a:stCxn id="663" idx="2"/>
            <a:endCxn id="664" idx="0"/>
          </p:cNvCxnSpPr>
          <p:nvPr/>
        </p:nvCxnSpPr>
        <p:spPr>
          <a:xfrm rot="5400000">
            <a:off x="7685004" y="11863597"/>
            <a:ext cx="260625" cy="60087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Соединительная линия уступом 620">
            <a:extLst>
              <a:ext uri="{FF2B5EF4-FFF2-40B4-BE49-F238E27FC236}">
                <a16:creationId xmlns:a16="http://schemas.microsoft.com/office/drawing/2014/main" id="{DE2D8494-1503-4DF6-A629-C5B24D7D0A7A}"/>
              </a:ext>
            </a:extLst>
          </p:cNvPr>
          <p:cNvCxnSpPr>
            <a:cxnSpLocks/>
            <a:stCxn id="664" idx="2"/>
            <a:endCxn id="665" idx="0"/>
          </p:cNvCxnSpPr>
          <p:nvPr/>
        </p:nvCxnSpPr>
        <p:spPr>
          <a:xfrm rot="5400000">
            <a:off x="7090843" y="12667366"/>
            <a:ext cx="257050" cy="59101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Соединительная линия уступом 620">
            <a:extLst>
              <a:ext uri="{FF2B5EF4-FFF2-40B4-BE49-F238E27FC236}">
                <a16:creationId xmlns:a16="http://schemas.microsoft.com/office/drawing/2014/main" id="{2C209F84-093F-4DE0-AB5F-949879174C14}"/>
              </a:ext>
            </a:extLst>
          </p:cNvPr>
          <p:cNvCxnSpPr>
            <a:cxnSpLocks/>
            <a:stCxn id="660" idx="2"/>
            <a:endCxn id="665" idx="0"/>
          </p:cNvCxnSpPr>
          <p:nvPr/>
        </p:nvCxnSpPr>
        <p:spPr>
          <a:xfrm rot="16200000" flipH="1">
            <a:off x="6499744" y="12667284"/>
            <a:ext cx="256434" cy="5917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9" name="Прямоугольник 408">
            <a:extLst>
              <a:ext uri="{FF2B5EF4-FFF2-40B4-BE49-F238E27FC236}">
                <a16:creationId xmlns:a16="http://schemas.microsoft.com/office/drawing/2014/main" id="{F94A8CD5-CDDE-4607-989B-0C72CA0A2183}"/>
              </a:ext>
            </a:extLst>
          </p:cNvPr>
          <p:cNvSpPr/>
          <p:nvPr/>
        </p:nvSpPr>
        <p:spPr>
          <a:xfrm>
            <a:off x="3508161" y="827724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Железнодорожная петля Танжер - Фес</a:t>
            </a:r>
          </a:p>
        </p:txBody>
      </p:sp>
      <p:sp>
        <p:nvSpPr>
          <p:cNvPr id="417" name="Прямоугольник 416">
            <a:extLst>
              <a:ext uri="{FF2B5EF4-FFF2-40B4-BE49-F238E27FC236}">
                <a16:creationId xmlns:a16="http://schemas.microsoft.com/office/drawing/2014/main" id="{8D4076E3-5173-4E28-AAAB-8723F6E1B29D}"/>
              </a:ext>
            </a:extLst>
          </p:cNvPr>
          <p:cNvSpPr/>
          <p:nvPr/>
        </p:nvSpPr>
        <p:spPr>
          <a:xfrm>
            <a:off x="4086253" y="9073464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Военные госпитали эвакуации</a:t>
            </a:r>
          </a:p>
        </p:txBody>
      </p:sp>
      <p:sp>
        <p:nvSpPr>
          <p:cNvPr id="427" name="Прямоугольник 426">
            <a:extLst>
              <a:ext uri="{FF2B5EF4-FFF2-40B4-BE49-F238E27FC236}">
                <a16:creationId xmlns:a16="http://schemas.microsoft.com/office/drawing/2014/main" id="{3D111D3C-3C2E-4B44-9FB8-2691F7F68F40}"/>
              </a:ext>
            </a:extLst>
          </p:cNvPr>
          <p:cNvSpPr/>
          <p:nvPr/>
        </p:nvSpPr>
        <p:spPr>
          <a:xfrm>
            <a:off x="3508415" y="744885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США</a:t>
            </a:r>
          </a:p>
        </p:txBody>
      </p:sp>
      <p:cxnSp>
        <p:nvCxnSpPr>
          <p:cNvPr id="433" name="Соединительная линия уступом 620">
            <a:extLst>
              <a:ext uri="{FF2B5EF4-FFF2-40B4-BE49-F238E27FC236}">
                <a16:creationId xmlns:a16="http://schemas.microsoft.com/office/drawing/2014/main" id="{6EE2660D-766B-4A4B-8513-1F262155B5E7}"/>
              </a:ext>
            </a:extLst>
          </p:cNvPr>
          <p:cNvCxnSpPr>
            <a:cxnSpLocks/>
            <a:stCxn id="372" idx="2"/>
            <a:endCxn id="427" idx="0"/>
          </p:cNvCxnSpPr>
          <p:nvPr/>
        </p:nvCxnSpPr>
        <p:spPr>
          <a:xfrm rot="5400000">
            <a:off x="3851429" y="7328705"/>
            <a:ext cx="240301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Соединительная линия уступом 620">
            <a:extLst>
              <a:ext uri="{FF2B5EF4-FFF2-40B4-BE49-F238E27FC236}">
                <a16:creationId xmlns:a16="http://schemas.microsoft.com/office/drawing/2014/main" id="{2F6B1CB6-50E2-4B75-BFBB-E2C6E8B4DCE6}"/>
              </a:ext>
            </a:extLst>
          </p:cNvPr>
          <p:cNvCxnSpPr>
            <a:cxnSpLocks/>
            <a:stCxn id="427" idx="2"/>
            <a:endCxn id="409" idx="0"/>
          </p:cNvCxnSpPr>
          <p:nvPr/>
        </p:nvCxnSpPr>
        <p:spPr>
          <a:xfrm rot="5400000">
            <a:off x="3827258" y="8132922"/>
            <a:ext cx="288386" cy="25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Соединительная линия уступом 620">
            <a:extLst>
              <a:ext uri="{FF2B5EF4-FFF2-40B4-BE49-F238E27FC236}">
                <a16:creationId xmlns:a16="http://schemas.microsoft.com/office/drawing/2014/main" id="{593B12CD-5F29-4B60-BD55-0E6F2A16BF27}"/>
              </a:ext>
            </a:extLst>
          </p:cNvPr>
          <p:cNvCxnSpPr>
            <a:cxnSpLocks/>
            <a:stCxn id="427" idx="2"/>
            <a:endCxn id="417" idx="0"/>
          </p:cNvCxnSpPr>
          <p:nvPr/>
        </p:nvCxnSpPr>
        <p:spPr>
          <a:xfrm rot="16200000" flipH="1">
            <a:off x="3718193" y="8242241"/>
            <a:ext cx="1084608" cy="577838"/>
          </a:xfrm>
          <a:prstGeom prst="bentConnector3">
            <a:avLst>
              <a:gd name="adj1" fmla="val 129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Прямоугольник 441">
            <a:extLst>
              <a:ext uri="{FF2B5EF4-FFF2-40B4-BE49-F238E27FC236}">
                <a16:creationId xmlns:a16="http://schemas.microsoft.com/office/drawing/2014/main" id="{558E7069-282C-4D0D-A06F-74949CAC250A}"/>
              </a:ext>
            </a:extLst>
          </p:cNvPr>
          <p:cNvSpPr/>
          <p:nvPr/>
        </p:nvSpPr>
        <p:spPr>
          <a:xfrm>
            <a:off x="4675386" y="826996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Военно-морская авиабаза Порт-</a:t>
            </a:r>
            <a:r>
              <a:rPr lang="ru-RU" sz="700" dirty="0" err="1"/>
              <a:t>Лиоте</a:t>
            </a:r>
            <a:endParaRPr lang="ru-RU" sz="700" dirty="0"/>
          </a:p>
        </p:txBody>
      </p:sp>
      <p:cxnSp>
        <p:nvCxnSpPr>
          <p:cNvPr id="443" name="Соединительная линия уступом 620">
            <a:extLst>
              <a:ext uri="{FF2B5EF4-FFF2-40B4-BE49-F238E27FC236}">
                <a16:creationId xmlns:a16="http://schemas.microsoft.com/office/drawing/2014/main" id="{6DC2BB2F-54F8-4A05-ACB6-FC77D8E80346}"/>
              </a:ext>
            </a:extLst>
          </p:cNvPr>
          <p:cNvCxnSpPr>
            <a:cxnSpLocks/>
            <a:stCxn id="427" idx="2"/>
            <a:endCxn id="442" idx="0"/>
          </p:cNvCxnSpPr>
          <p:nvPr/>
        </p:nvCxnSpPr>
        <p:spPr>
          <a:xfrm rot="16200000" flipH="1">
            <a:off x="4414509" y="7545924"/>
            <a:ext cx="281109" cy="11669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Соединительная линия уступом 620">
            <a:extLst>
              <a:ext uri="{FF2B5EF4-FFF2-40B4-BE49-F238E27FC236}">
                <a16:creationId xmlns:a16="http://schemas.microsoft.com/office/drawing/2014/main" id="{413DC653-93E2-404F-B9A6-2F1EB8C5C198}"/>
              </a:ext>
            </a:extLst>
          </p:cNvPr>
          <p:cNvCxnSpPr>
            <a:cxnSpLocks/>
            <a:stCxn id="370" idx="2"/>
            <a:endCxn id="442" idx="0"/>
          </p:cNvCxnSpPr>
          <p:nvPr/>
        </p:nvCxnSpPr>
        <p:spPr>
          <a:xfrm rot="5400000">
            <a:off x="5292109" y="7828015"/>
            <a:ext cx="288390" cy="5955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7" name="Прямоугольник 446">
            <a:extLst>
              <a:ext uri="{FF2B5EF4-FFF2-40B4-BE49-F238E27FC236}">
                <a16:creationId xmlns:a16="http://schemas.microsoft.com/office/drawing/2014/main" id="{B0F75998-AA54-4F32-B805-812B3D0FE1D3}"/>
              </a:ext>
            </a:extLst>
          </p:cNvPr>
          <p:cNvSpPr/>
          <p:nvPr/>
        </p:nvSpPr>
        <p:spPr>
          <a:xfrm>
            <a:off x="17688637" y="58441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банков</a:t>
            </a:r>
          </a:p>
        </p:txBody>
      </p:sp>
      <p:sp>
        <p:nvSpPr>
          <p:cNvPr id="449" name="Прямоугольник 448">
            <a:extLst>
              <a:ext uri="{FF2B5EF4-FFF2-40B4-BE49-F238E27FC236}">
                <a16:creationId xmlns:a16="http://schemas.microsoft.com/office/drawing/2014/main" id="{5CE1941D-08BE-4787-8655-E09661F81408}"/>
              </a:ext>
            </a:extLst>
          </p:cNvPr>
          <p:cNvSpPr/>
          <p:nvPr/>
        </p:nvSpPr>
        <p:spPr>
          <a:xfrm>
            <a:off x="16506944" y="907761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Повышение уровня жизни населения</a:t>
            </a:r>
          </a:p>
        </p:txBody>
      </p:sp>
      <p:sp>
        <p:nvSpPr>
          <p:cNvPr id="452" name="Прямоугольник 451">
            <a:extLst>
              <a:ext uri="{FF2B5EF4-FFF2-40B4-BE49-F238E27FC236}">
                <a16:creationId xmlns:a16="http://schemas.microsoft.com/office/drawing/2014/main" id="{C1BA60D6-76AC-482A-A00A-454B8631DDB7}"/>
              </a:ext>
            </a:extLst>
          </p:cNvPr>
          <p:cNvSpPr/>
          <p:nvPr/>
        </p:nvSpPr>
        <p:spPr>
          <a:xfrm>
            <a:off x="14124393" y="83059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Марокканская молодёжная коммунистическая партия</a:t>
            </a:r>
          </a:p>
        </p:txBody>
      </p:sp>
      <p:sp>
        <p:nvSpPr>
          <p:cNvPr id="453" name="Прямоугольник 452">
            <a:extLst>
              <a:ext uri="{FF2B5EF4-FFF2-40B4-BE49-F238E27FC236}">
                <a16:creationId xmlns:a16="http://schemas.microsoft.com/office/drawing/2014/main" id="{E8ED2674-4FC5-4881-BA08-77010A80A3AA}"/>
              </a:ext>
            </a:extLst>
          </p:cNvPr>
          <p:cNvSpPr/>
          <p:nvPr/>
        </p:nvSpPr>
        <p:spPr>
          <a:xfrm>
            <a:off x="16491703" y="1159326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600" dirty="0"/>
              <a:t>Продвигать арабо-мусульманскую марокканскую национальную идентичность</a:t>
            </a:r>
            <a:br>
              <a:rPr lang="ru-RU" sz="100" dirty="0"/>
            </a:br>
            <a:r>
              <a:rPr lang="ru-RU" sz="100" dirty="0"/>
              <a:t>В ходе своего выступления Султан утверждал, что для победы над фашизмом необходимо «единство французского и марокканского народов, независимо от религии, которое является частным и личным».136 Действительно, Султан однажды заявил, что в Коране нет ничего, что препятствовало бы мусульманам участвовать в коммунистической или профсоюзной деятельности, потому что, в конце концов, «в 600 году Сиди Мухаммад не думал ни о Всеобщей конфедерации труда, ни о Коммунистической партии»)</a:t>
            </a:r>
            <a:endParaRPr lang="ru-RU" sz="600" dirty="0"/>
          </a:p>
        </p:txBody>
      </p:sp>
      <p:sp>
        <p:nvSpPr>
          <p:cNvPr id="454" name="Прямоугольник 453">
            <a:extLst>
              <a:ext uri="{FF2B5EF4-FFF2-40B4-BE49-F238E27FC236}">
                <a16:creationId xmlns:a16="http://schemas.microsoft.com/office/drawing/2014/main" id="{A16A72A1-4D21-4526-A383-B4ACAA398993}"/>
              </a:ext>
            </a:extLst>
          </p:cNvPr>
          <p:cNvSpPr/>
          <p:nvPr/>
        </p:nvSpPr>
        <p:spPr>
          <a:xfrm>
            <a:off x="16501863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Идеальное Марокко</a:t>
            </a:r>
            <a:br>
              <a:rPr lang="ru-RU" sz="700" dirty="0"/>
            </a:br>
            <a:r>
              <a:rPr lang="ru-RU" sz="300" dirty="0"/>
              <a:t>(Марокканские еврейские коммунисты боролись за идеализированное Марокко, которое так и не воплотилось в жизнь.)</a:t>
            </a:r>
            <a:endParaRPr lang="ru-RU" sz="700" dirty="0"/>
          </a:p>
        </p:txBody>
      </p: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A9E2206B-36B0-4366-A016-75A2CE7F86BD}"/>
              </a:ext>
            </a:extLst>
          </p:cNvPr>
          <p:cNvSpPr/>
          <p:nvPr/>
        </p:nvSpPr>
        <p:spPr>
          <a:xfrm>
            <a:off x="18883030" y="66399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Легализовать Антифашистский комитет</a:t>
            </a:r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400071D4-0AE7-4BD3-BDEC-D359A88C0B61}"/>
              </a:ext>
            </a:extLst>
          </p:cNvPr>
          <p:cNvSpPr/>
          <p:nvPr/>
        </p:nvSpPr>
        <p:spPr>
          <a:xfrm>
            <a:off x="1649372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</a:t>
            </a:r>
            <a:r>
              <a:rPr lang="ru-RU" sz="700" dirty="0" err="1"/>
              <a:t>нац</a:t>
            </a:r>
            <a:r>
              <a:rPr lang="ru-RU" sz="700" dirty="0"/>
              <a:t> меньшинств</a:t>
            </a:r>
          </a:p>
        </p:txBody>
      </p:sp>
      <p:sp>
        <p:nvSpPr>
          <p:cNvPr id="459" name="Прямоугольник 458">
            <a:extLst>
              <a:ext uri="{FF2B5EF4-FFF2-40B4-BE49-F238E27FC236}">
                <a16:creationId xmlns:a16="http://schemas.microsoft.com/office/drawing/2014/main" id="{09264916-28B5-459C-9A21-1DAA5E36DA13}"/>
              </a:ext>
            </a:extLst>
          </p:cNvPr>
          <p:cNvSpPr/>
          <p:nvPr/>
        </p:nvSpPr>
        <p:spPr>
          <a:xfrm>
            <a:off x="15899439" y="1243181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Предложить Израилю объединиться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EA75BDB-B6D7-432C-916F-4F73C1D348D0}"/>
              </a:ext>
            </a:extLst>
          </p:cNvPr>
          <p:cNvSpPr/>
          <p:nvPr/>
        </p:nvSpPr>
        <p:spPr>
          <a:xfrm>
            <a:off x="17087318" y="1243491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Святую землю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82D94EEE-15DE-4B9E-A9F6-F24B5C818A61}"/>
              </a:ext>
            </a:extLst>
          </p:cNvPr>
          <p:cNvSpPr/>
          <p:nvPr/>
        </p:nvSpPr>
        <p:spPr>
          <a:xfrm>
            <a:off x="1769371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Связи с мировыми сионистскими движениями</a:t>
            </a:r>
            <a:br>
              <a:rPr lang="ru-RU" sz="700" dirty="0"/>
            </a:br>
            <a:r>
              <a:rPr lang="ru-RU" sz="200" dirty="0"/>
              <a:t>(быстрый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происхождения.)</a:t>
            </a:r>
            <a:endParaRPr lang="ru-RU" sz="700" dirty="0"/>
          </a:p>
        </p:txBody>
      </p:sp>
      <p:sp>
        <p:nvSpPr>
          <p:cNvPr id="462" name="Прямоугольник 461">
            <a:extLst>
              <a:ext uri="{FF2B5EF4-FFF2-40B4-BE49-F238E27FC236}">
                <a16:creationId xmlns:a16="http://schemas.microsoft.com/office/drawing/2014/main" id="{074A91A3-FDD6-45FB-B9F8-A16E806C5E50}"/>
              </a:ext>
            </a:extLst>
          </p:cNvPr>
          <p:cNvSpPr/>
          <p:nvPr/>
        </p:nvSpPr>
        <p:spPr>
          <a:xfrm>
            <a:off x="1530931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Привлечь испанских беженцев</a:t>
            </a:r>
          </a:p>
        </p:txBody>
      </p:sp>
      <p:sp>
        <p:nvSpPr>
          <p:cNvPr id="467" name="Прямоугольник 466">
            <a:extLst>
              <a:ext uri="{FF2B5EF4-FFF2-40B4-BE49-F238E27FC236}">
                <a16:creationId xmlns:a16="http://schemas.microsoft.com/office/drawing/2014/main" id="{CB0A795A-6556-4388-9326-2B1D5C99B424}"/>
              </a:ext>
            </a:extLst>
          </p:cNvPr>
          <p:cNvSpPr/>
          <p:nvPr/>
        </p:nvSpPr>
        <p:spPr>
          <a:xfrm>
            <a:off x="16496783" y="99161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интернационализма</a:t>
            </a:r>
          </a:p>
        </p:txBody>
      </p:sp>
      <p:sp>
        <p:nvSpPr>
          <p:cNvPr id="469" name="Прямоугольник 468">
            <a:extLst>
              <a:ext uri="{FF2B5EF4-FFF2-40B4-BE49-F238E27FC236}">
                <a16:creationId xmlns:a16="http://schemas.microsoft.com/office/drawing/2014/main" id="{A0FE13A0-495E-411D-906E-F3A66E09A857}"/>
              </a:ext>
            </a:extLst>
          </p:cNvPr>
          <p:cNvSpPr/>
          <p:nvPr/>
        </p:nvSpPr>
        <p:spPr>
          <a:xfrm>
            <a:off x="17690014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Поддерживать всеобщие права человека</a:t>
            </a:r>
          </a:p>
        </p:txBody>
      </p:sp>
      <p:sp>
        <p:nvSpPr>
          <p:cNvPr id="470" name="Прямоугольник 469">
            <a:extLst>
              <a:ext uri="{FF2B5EF4-FFF2-40B4-BE49-F238E27FC236}">
                <a16:creationId xmlns:a16="http://schemas.microsoft.com/office/drawing/2014/main" id="{EE9C3761-85EE-4A6D-A59B-A63F7E66CDE1}"/>
              </a:ext>
            </a:extLst>
          </p:cNvPr>
          <p:cNvSpPr/>
          <p:nvPr/>
        </p:nvSpPr>
        <p:spPr>
          <a:xfrm>
            <a:off x="18270119" y="746652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Прекратить вопиющую эксплуатацию женщин</a:t>
            </a:r>
          </a:p>
        </p:txBody>
      </p:sp>
      <p:sp>
        <p:nvSpPr>
          <p:cNvPr id="472" name="Прямоугольник 471">
            <a:extLst>
              <a:ext uri="{FF2B5EF4-FFF2-40B4-BE49-F238E27FC236}">
                <a16:creationId xmlns:a16="http://schemas.microsoft.com/office/drawing/2014/main" id="{6E9F1647-F412-4B77-A2E3-7F643FCC3DBD}"/>
              </a:ext>
            </a:extLst>
          </p:cNvPr>
          <p:cNvSpPr/>
          <p:nvPr/>
        </p:nvSpPr>
        <p:spPr>
          <a:xfrm>
            <a:off x="14126730" y="662849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Коммунистические ассоциации</a:t>
            </a:r>
          </a:p>
        </p:txBody>
      </p:sp>
      <p:sp>
        <p:nvSpPr>
          <p:cNvPr id="474" name="Прямоугольник 473">
            <a:extLst>
              <a:ext uri="{FF2B5EF4-FFF2-40B4-BE49-F238E27FC236}">
                <a16:creationId xmlns:a16="http://schemas.microsoft.com/office/drawing/2014/main" id="{7CCBFDA2-886A-4C3B-A834-114B4FFE7251}"/>
              </a:ext>
            </a:extLst>
          </p:cNvPr>
          <p:cNvSpPr/>
          <p:nvPr/>
        </p:nvSpPr>
        <p:spPr>
          <a:xfrm>
            <a:off x="18880490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 женщин Марокко</a:t>
            </a:r>
          </a:p>
        </p:txBody>
      </p: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F3614565-66FF-43E4-A9C0-09A7111CF91B}"/>
              </a:ext>
            </a:extLst>
          </p:cNvPr>
          <p:cNvSpPr/>
          <p:nvPr/>
        </p:nvSpPr>
        <p:spPr>
          <a:xfrm>
            <a:off x="16501864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Программы повышения грамотности</a:t>
            </a:r>
          </a:p>
        </p:txBody>
      </p:sp>
      <p:sp>
        <p:nvSpPr>
          <p:cNvPr id="478" name="Прямоугольник 477">
            <a:extLst>
              <a:ext uri="{FF2B5EF4-FFF2-40B4-BE49-F238E27FC236}">
                <a16:creationId xmlns:a16="http://schemas.microsoft.com/office/drawing/2014/main" id="{87B8F8F9-1B80-41A2-B2AC-7511FE35B053}"/>
              </a:ext>
            </a:extLst>
          </p:cNvPr>
          <p:cNvSpPr/>
          <p:nvPr/>
        </p:nvSpPr>
        <p:spPr>
          <a:xfrm>
            <a:off x="18880490" y="584410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французских беженцев</a:t>
            </a:r>
          </a:p>
        </p:txBody>
      </p:sp>
      <p:cxnSp>
        <p:nvCxnSpPr>
          <p:cNvPr id="479" name="Соединительная линия уступом 620">
            <a:extLst>
              <a:ext uri="{FF2B5EF4-FFF2-40B4-BE49-F238E27FC236}">
                <a16:creationId xmlns:a16="http://schemas.microsoft.com/office/drawing/2014/main" id="{98560C68-CEA5-4F2F-B43B-A9BC34BD1102}"/>
              </a:ext>
            </a:extLst>
          </p:cNvPr>
          <p:cNvCxnSpPr>
            <a:cxnSpLocks/>
            <a:stCxn id="231" idx="2"/>
            <a:endCxn id="215" idx="0"/>
          </p:cNvCxnSpPr>
          <p:nvPr/>
        </p:nvCxnSpPr>
        <p:spPr>
          <a:xfrm rot="16200000" flipH="1">
            <a:off x="15052649" y="5117344"/>
            <a:ext cx="263529" cy="119371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Соединительная линия уступом 620">
            <a:extLst>
              <a:ext uri="{FF2B5EF4-FFF2-40B4-BE49-F238E27FC236}">
                <a16:creationId xmlns:a16="http://schemas.microsoft.com/office/drawing/2014/main" id="{7294AAD0-0FD1-43C8-B469-906C5EA921AB}"/>
              </a:ext>
            </a:extLst>
          </p:cNvPr>
          <p:cNvCxnSpPr>
            <a:cxnSpLocks/>
            <a:stCxn id="229" idx="2"/>
            <a:endCxn id="447" idx="0"/>
          </p:cNvCxnSpPr>
          <p:nvPr/>
        </p:nvCxnSpPr>
        <p:spPr>
          <a:xfrm rot="5400000">
            <a:off x="18621976" y="5114875"/>
            <a:ext cx="259061" cy="11994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Соединительная линия уступом 620">
            <a:extLst>
              <a:ext uri="{FF2B5EF4-FFF2-40B4-BE49-F238E27FC236}">
                <a16:creationId xmlns:a16="http://schemas.microsoft.com/office/drawing/2014/main" id="{69DFD40F-7A77-4675-8435-0E943B9818CF}"/>
              </a:ext>
            </a:extLst>
          </p:cNvPr>
          <p:cNvCxnSpPr>
            <a:cxnSpLocks/>
            <a:stCxn id="447" idx="2"/>
            <a:endCxn id="475" idx="0"/>
          </p:cNvCxnSpPr>
          <p:nvPr/>
        </p:nvCxnSpPr>
        <p:spPr>
          <a:xfrm rot="5400000">
            <a:off x="17430355" y="5918784"/>
            <a:ext cx="256118" cy="11867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Соединительная линия уступом 620">
            <a:extLst>
              <a:ext uri="{FF2B5EF4-FFF2-40B4-BE49-F238E27FC236}">
                <a16:creationId xmlns:a16="http://schemas.microsoft.com/office/drawing/2014/main" id="{E5D476AA-1A04-497F-A84C-8B24048ABCFD}"/>
              </a:ext>
            </a:extLst>
          </p:cNvPr>
          <p:cNvCxnSpPr>
            <a:cxnSpLocks/>
            <a:stCxn id="215" idx="2"/>
            <a:endCxn id="219" idx="0"/>
          </p:cNvCxnSpPr>
          <p:nvPr/>
        </p:nvCxnSpPr>
        <p:spPr>
          <a:xfrm rot="5400000">
            <a:off x="15658204" y="6509034"/>
            <a:ext cx="24613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Соединительная линия уступом 620">
            <a:extLst>
              <a:ext uri="{FF2B5EF4-FFF2-40B4-BE49-F238E27FC236}">
                <a16:creationId xmlns:a16="http://schemas.microsoft.com/office/drawing/2014/main" id="{A11EE601-D377-4053-9856-66E2957DD134}"/>
              </a:ext>
            </a:extLst>
          </p:cNvPr>
          <p:cNvCxnSpPr>
            <a:cxnSpLocks/>
            <a:stCxn id="215" idx="2"/>
            <a:endCxn id="472" idx="0"/>
          </p:cNvCxnSpPr>
          <p:nvPr/>
        </p:nvCxnSpPr>
        <p:spPr>
          <a:xfrm rot="5400000">
            <a:off x="15064317" y="5911543"/>
            <a:ext cx="242530" cy="11913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Соединительная линия уступом 620">
            <a:extLst>
              <a:ext uri="{FF2B5EF4-FFF2-40B4-BE49-F238E27FC236}">
                <a16:creationId xmlns:a16="http://schemas.microsoft.com/office/drawing/2014/main" id="{103F8ECF-F1D5-4944-9E9B-C99E3A1A44AC}"/>
              </a:ext>
            </a:extLst>
          </p:cNvPr>
          <p:cNvCxnSpPr>
            <a:cxnSpLocks/>
            <a:stCxn id="219" idx="2"/>
            <a:endCxn id="250" idx="0"/>
          </p:cNvCxnSpPr>
          <p:nvPr/>
        </p:nvCxnSpPr>
        <p:spPr>
          <a:xfrm rot="5400000">
            <a:off x="15326843" y="7019829"/>
            <a:ext cx="302155" cy="6067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Соединительная линия уступом 620">
            <a:extLst>
              <a:ext uri="{FF2B5EF4-FFF2-40B4-BE49-F238E27FC236}">
                <a16:creationId xmlns:a16="http://schemas.microsoft.com/office/drawing/2014/main" id="{D4B80950-8155-4084-8E34-082B98922699}"/>
              </a:ext>
            </a:extLst>
          </p:cNvPr>
          <p:cNvCxnSpPr>
            <a:cxnSpLocks/>
            <a:stCxn id="250" idx="2"/>
            <a:endCxn id="270" idx="0"/>
          </p:cNvCxnSpPr>
          <p:nvPr/>
        </p:nvCxnSpPr>
        <p:spPr>
          <a:xfrm rot="16200000" flipH="1">
            <a:off x="15325856" y="7862970"/>
            <a:ext cx="305760" cy="6083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Соединительная линия уступом 620">
            <a:extLst>
              <a:ext uri="{FF2B5EF4-FFF2-40B4-BE49-F238E27FC236}">
                <a16:creationId xmlns:a16="http://schemas.microsoft.com/office/drawing/2014/main" id="{A68C80CE-2CAB-4ADC-9C54-E26116F6EBC4}"/>
              </a:ext>
            </a:extLst>
          </p:cNvPr>
          <p:cNvCxnSpPr>
            <a:cxnSpLocks/>
            <a:stCxn id="475" idx="2"/>
            <a:endCxn id="257" idx="0"/>
          </p:cNvCxnSpPr>
          <p:nvPr/>
        </p:nvCxnSpPr>
        <p:spPr>
          <a:xfrm rot="5400000">
            <a:off x="16516801" y="7026031"/>
            <a:ext cx="294028" cy="6024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Соединительная линия уступом 620">
            <a:extLst>
              <a:ext uri="{FF2B5EF4-FFF2-40B4-BE49-F238E27FC236}">
                <a16:creationId xmlns:a16="http://schemas.microsoft.com/office/drawing/2014/main" id="{8193FEB3-3195-4F87-B110-408DF9F3DCEC}"/>
              </a:ext>
            </a:extLst>
          </p:cNvPr>
          <p:cNvCxnSpPr>
            <a:cxnSpLocks/>
            <a:stCxn id="475" idx="2"/>
            <a:endCxn id="253" idx="0"/>
          </p:cNvCxnSpPr>
          <p:nvPr/>
        </p:nvCxnSpPr>
        <p:spPr>
          <a:xfrm rot="5400000">
            <a:off x="16397005" y="7748251"/>
            <a:ext cx="113604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Соединительная линия уступом 620">
            <a:extLst>
              <a:ext uri="{FF2B5EF4-FFF2-40B4-BE49-F238E27FC236}">
                <a16:creationId xmlns:a16="http://schemas.microsoft.com/office/drawing/2014/main" id="{C3FA3928-BB9E-44E3-A6A9-027303C8B10F}"/>
              </a:ext>
            </a:extLst>
          </p:cNvPr>
          <p:cNvCxnSpPr>
            <a:cxnSpLocks/>
            <a:stCxn id="253" idx="2"/>
            <a:endCxn id="449" idx="0"/>
          </p:cNvCxnSpPr>
          <p:nvPr/>
        </p:nvCxnSpPr>
        <p:spPr>
          <a:xfrm rot="16200000" flipH="1">
            <a:off x="16856898" y="8964401"/>
            <a:ext cx="221336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Соединительная линия уступом 620">
            <a:extLst>
              <a:ext uri="{FF2B5EF4-FFF2-40B4-BE49-F238E27FC236}">
                <a16:creationId xmlns:a16="http://schemas.microsoft.com/office/drawing/2014/main" id="{1348DB09-1CBA-4AF4-9106-18AA30A8BD7F}"/>
              </a:ext>
            </a:extLst>
          </p:cNvPr>
          <p:cNvCxnSpPr>
            <a:cxnSpLocks/>
            <a:stCxn id="202" idx="2"/>
            <a:endCxn id="253" idx="0"/>
          </p:cNvCxnSpPr>
          <p:nvPr/>
        </p:nvCxnSpPr>
        <p:spPr>
          <a:xfrm rot="5400000">
            <a:off x="16994201" y="7151054"/>
            <a:ext cx="1136045" cy="1194394"/>
          </a:xfrm>
          <a:prstGeom prst="bentConnector3">
            <a:avLst>
              <a:gd name="adj1" fmla="val 1243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Соединительная линия уступом 620">
            <a:extLst>
              <a:ext uri="{FF2B5EF4-FFF2-40B4-BE49-F238E27FC236}">
                <a16:creationId xmlns:a16="http://schemas.microsoft.com/office/drawing/2014/main" id="{001F07AD-046C-491B-BF2B-7BC150C1E326}"/>
              </a:ext>
            </a:extLst>
          </p:cNvPr>
          <p:cNvCxnSpPr>
            <a:cxnSpLocks/>
            <a:stCxn id="202" idx="2"/>
            <a:endCxn id="220" idx="0"/>
          </p:cNvCxnSpPr>
          <p:nvPr/>
        </p:nvCxnSpPr>
        <p:spPr>
          <a:xfrm rot="5400000">
            <a:off x="17709808" y="7020903"/>
            <a:ext cx="290286" cy="60893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Соединительная линия уступом 620">
            <a:extLst>
              <a:ext uri="{FF2B5EF4-FFF2-40B4-BE49-F238E27FC236}">
                <a16:creationId xmlns:a16="http://schemas.microsoft.com/office/drawing/2014/main" id="{9D081202-8E8F-42EB-97F7-F4801E18AE3E}"/>
              </a:ext>
            </a:extLst>
          </p:cNvPr>
          <p:cNvCxnSpPr>
            <a:cxnSpLocks/>
            <a:stCxn id="202" idx="2"/>
            <a:endCxn id="470" idx="0"/>
          </p:cNvCxnSpPr>
          <p:nvPr/>
        </p:nvCxnSpPr>
        <p:spPr>
          <a:xfrm rot="16200000" flipH="1">
            <a:off x="18303203" y="7036446"/>
            <a:ext cx="286296" cy="5738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Соединительная линия уступом 620">
            <a:extLst>
              <a:ext uri="{FF2B5EF4-FFF2-40B4-BE49-F238E27FC236}">
                <a16:creationId xmlns:a16="http://schemas.microsoft.com/office/drawing/2014/main" id="{96D22CD3-8E70-48FE-BF72-B36B25D9BA07}"/>
              </a:ext>
            </a:extLst>
          </p:cNvPr>
          <p:cNvCxnSpPr>
            <a:cxnSpLocks/>
            <a:stCxn id="202" idx="2"/>
            <a:endCxn id="216" idx="0"/>
          </p:cNvCxnSpPr>
          <p:nvPr/>
        </p:nvCxnSpPr>
        <p:spPr>
          <a:xfrm rot="5400000">
            <a:off x="17588257" y="7748852"/>
            <a:ext cx="1139787" cy="25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Соединительная линия уступом 620">
            <a:extLst>
              <a:ext uri="{FF2B5EF4-FFF2-40B4-BE49-F238E27FC236}">
                <a16:creationId xmlns:a16="http://schemas.microsoft.com/office/drawing/2014/main" id="{520634DA-2FC9-48C7-AC46-1859AD0C2EF6}"/>
              </a:ext>
            </a:extLst>
          </p:cNvPr>
          <p:cNvCxnSpPr>
            <a:cxnSpLocks/>
            <a:stCxn id="216" idx="2"/>
            <a:endCxn id="449" idx="0"/>
          </p:cNvCxnSpPr>
          <p:nvPr/>
        </p:nvCxnSpPr>
        <p:spPr>
          <a:xfrm rot="5400000">
            <a:off x="17454697" y="8375427"/>
            <a:ext cx="217594" cy="11867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Соединительная линия уступом 620">
            <a:extLst>
              <a:ext uri="{FF2B5EF4-FFF2-40B4-BE49-F238E27FC236}">
                <a16:creationId xmlns:a16="http://schemas.microsoft.com/office/drawing/2014/main" id="{29361F29-95E6-4334-B5E4-E011ED5CB776}"/>
              </a:ext>
            </a:extLst>
          </p:cNvPr>
          <p:cNvCxnSpPr>
            <a:cxnSpLocks/>
            <a:stCxn id="270" idx="2"/>
            <a:endCxn id="449" idx="0"/>
          </p:cNvCxnSpPr>
          <p:nvPr/>
        </p:nvCxnSpPr>
        <p:spPr>
          <a:xfrm rot="16200000" flipH="1">
            <a:off x="16267709" y="8375211"/>
            <a:ext cx="217593" cy="11872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620">
            <a:extLst>
              <a:ext uri="{FF2B5EF4-FFF2-40B4-BE49-F238E27FC236}">
                <a16:creationId xmlns:a16="http://schemas.microsoft.com/office/drawing/2014/main" id="{E9C3D880-6F0F-46CA-A860-2FA56B8391C2}"/>
              </a:ext>
            </a:extLst>
          </p:cNvPr>
          <p:cNvCxnSpPr>
            <a:cxnSpLocks/>
            <a:stCxn id="470" idx="2"/>
            <a:endCxn id="474" idx="0"/>
          </p:cNvCxnSpPr>
          <p:nvPr/>
        </p:nvCxnSpPr>
        <p:spPr>
          <a:xfrm rot="16200000" flipH="1">
            <a:off x="18881722" y="7858084"/>
            <a:ext cx="313491" cy="6103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620">
            <a:extLst>
              <a:ext uri="{FF2B5EF4-FFF2-40B4-BE49-F238E27FC236}">
                <a16:creationId xmlns:a16="http://schemas.microsoft.com/office/drawing/2014/main" id="{13BF0CA5-FC10-4E83-8E36-B72C083DC2DE}"/>
              </a:ext>
            </a:extLst>
          </p:cNvPr>
          <p:cNvCxnSpPr>
            <a:cxnSpLocks/>
            <a:stCxn id="472" idx="2"/>
            <a:endCxn id="452" idx="0"/>
          </p:cNvCxnSpPr>
          <p:nvPr/>
        </p:nvCxnSpPr>
        <p:spPr>
          <a:xfrm rot="5400000">
            <a:off x="14020000" y="7736054"/>
            <a:ext cx="1137450" cy="23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620">
            <a:extLst>
              <a:ext uri="{FF2B5EF4-FFF2-40B4-BE49-F238E27FC236}">
                <a16:creationId xmlns:a16="http://schemas.microsoft.com/office/drawing/2014/main" id="{9AFE2E3D-7649-454E-9945-F7739EF8EDE4}"/>
              </a:ext>
            </a:extLst>
          </p:cNvPr>
          <p:cNvCxnSpPr>
            <a:cxnSpLocks/>
            <a:stCxn id="456" idx="2"/>
            <a:endCxn id="474" idx="0"/>
          </p:cNvCxnSpPr>
          <p:nvPr/>
        </p:nvCxnSpPr>
        <p:spPr>
          <a:xfrm rot="5400000">
            <a:off x="18774893" y="7748715"/>
            <a:ext cx="1140061" cy="25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Соединительная линия уступом 620">
            <a:extLst>
              <a:ext uri="{FF2B5EF4-FFF2-40B4-BE49-F238E27FC236}">
                <a16:creationId xmlns:a16="http://schemas.microsoft.com/office/drawing/2014/main" id="{10C0898C-B086-4CCF-8E4C-CD9650831642}"/>
              </a:ext>
            </a:extLst>
          </p:cNvPr>
          <p:cNvCxnSpPr>
            <a:cxnSpLocks/>
            <a:stCxn id="447" idx="2"/>
            <a:endCxn id="456" idx="0"/>
          </p:cNvCxnSpPr>
          <p:nvPr/>
        </p:nvCxnSpPr>
        <p:spPr>
          <a:xfrm rot="16200000" flipH="1">
            <a:off x="18621074" y="5914836"/>
            <a:ext cx="255844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" name="Прямоугольник 543">
            <a:extLst>
              <a:ext uri="{FF2B5EF4-FFF2-40B4-BE49-F238E27FC236}">
                <a16:creationId xmlns:a16="http://schemas.microsoft.com/office/drawing/2014/main" id="{2B23A7A3-C6CC-4FA1-83CD-C97089BD720A}"/>
              </a:ext>
            </a:extLst>
          </p:cNvPr>
          <p:cNvSpPr/>
          <p:nvPr/>
        </p:nvSpPr>
        <p:spPr>
          <a:xfrm>
            <a:off x="1531810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концепцию «</a:t>
            </a:r>
            <a:r>
              <a:rPr lang="ru-RU" sz="700" dirty="0" err="1"/>
              <a:t>Ахуват</a:t>
            </a:r>
            <a:r>
              <a:rPr lang="ru-RU" sz="700" dirty="0"/>
              <a:t> </a:t>
            </a:r>
            <a:r>
              <a:rPr lang="ru-RU" sz="700" dirty="0" err="1"/>
              <a:t>амим</a:t>
            </a:r>
            <a:r>
              <a:rPr lang="ru-RU" sz="700" dirty="0"/>
              <a:t>» </a:t>
            </a:r>
            <a:r>
              <a:rPr lang="ru-RU" sz="100" dirty="0"/>
              <a:t>(то ключевая идеологическая доктрина израильского коммунистического движения в XX веке. Она служила главным противовесом как сионистскому, так и арабскому национализму.🎯 Суть </a:t>
            </a:r>
            <a:r>
              <a:rPr lang="ru-RU" sz="100" dirty="0" err="1"/>
              <a:t>концепцииВ</a:t>
            </a:r>
            <a:r>
              <a:rPr lang="ru-RU" sz="100" dirty="0"/>
              <a:t> основе «</a:t>
            </a:r>
            <a:r>
              <a:rPr lang="ru-RU" sz="100" dirty="0" err="1"/>
              <a:t>Ахуват</a:t>
            </a:r>
            <a:r>
              <a:rPr lang="ru-RU" sz="100" dirty="0"/>
              <a:t> </a:t>
            </a:r>
            <a:r>
              <a:rPr lang="ru-RU" sz="100" dirty="0" err="1"/>
              <a:t>амим</a:t>
            </a:r>
            <a:r>
              <a:rPr lang="ru-RU" sz="100" dirty="0"/>
              <a:t>» лежит классический марксистский тезис: главное разделение между людьми — классовое, а не </a:t>
            </a:r>
            <a:r>
              <a:rPr lang="ru-RU" sz="100" dirty="0" err="1"/>
              <a:t>национальное.Движение</a:t>
            </a:r>
            <a:r>
              <a:rPr lang="ru-RU" sz="100" dirty="0"/>
              <a:t> утверждало, что у арабских и еврейских трудящихся один враг — крупный капитал и </a:t>
            </a:r>
            <a:r>
              <a:rPr lang="ru-RU" sz="100" dirty="0" err="1"/>
              <a:t>империализм.Концепция</a:t>
            </a:r>
            <a:r>
              <a:rPr lang="ru-RU" sz="100" dirty="0"/>
              <a:t> требовала полного отказа от шовинизма. Арабские коммунисты боролись с антисемитизмом и призывами «сбросить евреев в море», а еврейские коммунисты — с расизмом, дискриминацией арабов и идеей «трансфера» (выселения) коренного населения.)</a:t>
            </a:r>
            <a:endParaRPr lang="ru-RU" sz="700" dirty="0"/>
          </a:p>
        </p:txBody>
      </p:sp>
      <p:cxnSp>
        <p:nvCxnSpPr>
          <p:cNvPr id="548" name="Соединительная линия уступом 620">
            <a:extLst>
              <a:ext uri="{FF2B5EF4-FFF2-40B4-BE49-F238E27FC236}">
                <a16:creationId xmlns:a16="http://schemas.microsoft.com/office/drawing/2014/main" id="{245903BA-9B58-47BE-861F-CE2C572E03E8}"/>
              </a:ext>
            </a:extLst>
          </p:cNvPr>
          <p:cNvCxnSpPr>
            <a:cxnSpLocks/>
            <a:stCxn id="459" idx="2"/>
            <a:endCxn id="544" idx="0"/>
          </p:cNvCxnSpPr>
          <p:nvPr/>
        </p:nvCxnSpPr>
        <p:spPr>
          <a:xfrm rot="5400000">
            <a:off x="15922660" y="12830428"/>
            <a:ext cx="298552" cy="5813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Соединительная линия уступом 620">
            <a:extLst>
              <a:ext uri="{FF2B5EF4-FFF2-40B4-BE49-F238E27FC236}">
                <a16:creationId xmlns:a16="http://schemas.microsoft.com/office/drawing/2014/main" id="{AE0754C8-C7CD-49A7-A8A9-E1A6E1D41A5C}"/>
              </a:ext>
            </a:extLst>
          </p:cNvPr>
          <p:cNvCxnSpPr>
            <a:cxnSpLocks/>
            <a:stCxn id="460" idx="2"/>
            <a:endCxn id="544" idx="0"/>
          </p:cNvCxnSpPr>
          <p:nvPr/>
        </p:nvCxnSpPr>
        <p:spPr>
          <a:xfrm rot="5400000">
            <a:off x="16518148" y="12238036"/>
            <a:ext cx="295457" cy="17692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6" name="Соединительная линия уступом 620">
            <a:extLst>
              <a:ext uri="{FF2B5EF4-FFF2-40B4-BE49-F238E27FC236}">
                <a16:creationId xmlns:a16="http://schemas.microsoft.com/office/drawing/2014/main" id="{FCCAFA67-A758-429A-AE1A-9B3B06E0541D}"/>
              </a:ext>
            </a:extLst>
          </p:cNvPr>
          <p:cNvCxnSpPr>
            <a:cxnSpLocks/>
            <a:stCxn id="459" idx="2"/>
            <a:endCxn id="461" idx="0"/>
          </p:cNvCxnSpPr>
          <p:nvPr/>
        </p:nvCxnSpPr>
        <p:spPr>
          <a:xfrm rot="16200000" flipH="1">
            <a:off x="17110465" y="12223955"/>
            <a:ext cx="298552" cy="17942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Соединительная линия уступом 620">
            <a:extLst>
              <a:ext uri="{FF2B5EF4-FFF2-40B4-BE49-F238E27FC236}">
                <a16:creationId xmlns:a16="http://schemas.microsoft.com/office/drawing/2014/main" id="{43B8C75E-30B8-428B-9E75-E4E1DD5B817F}"/>
              </a:ext>
            </a:extLst>
          </p:cNvPr>
          <p:cNvCxnSpPr>
            <a:cxnSpLocks/>
            <a:stCxn id="460" idx="2"/>
            <a:endCxn id="461" idx="0"/>
          </p:cNvCxnSpPr>
          <p:nvPr/>
        </p:nvCxnSpPr>
        <p:spPr>
          <a:xfrm rot="16200000" flipH="1">
            <a:off x="17705952" y="12819441"/>
            <a:ext cx="295457" cy="60639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Соединительная линия уступом 620">
            <a:extLst>
              <a:ext uri="{FF2B5EF4-FFF2-40B4-BE49-F238E27FC236}">
                <a16:creationId xmlns:a16="http://schemas.microsoft.com/office/drawing/2014/main" id="{6AB63DF3-B448-4E13-9B39-655A22258632}"/>
              </a:ext>
            </a:extLst>
          </p:cNvPr>
          <p:cNvCxnSpPr>
            <a:cxnSpLocks/>
            <a:stCxn id="229" idx="2"/>
            <a:endCxn id="203" idx="0"/>
          </p:cNvCxnSpPr>
          <p:nvPr/>
        </p:nvCxnSpPr>
        <p:spPr>
          <a:xfrm rot="16200000" flipH="1">
            <a:off x="18908101" y="6028159"/>
            <a:ext cx="1952195" cy="1065975"/>
          </a:xfrm>
          <a:prstGeom prst="bentConnector3">
            <a:avLst>
              <a:gd name="adj1" fmla="val 680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Соединительная линия уступом 620">
            <a:extLst>
              <a:ext uri="{FF2B5EF4-FFF2-40B4-BE49-F238E27FC236}">
                <a16:creationId xmlns:a16="http://schemas.microsoft.com/office/drawing/2014/main" id="{E202C518-A64C-4973-B337-9DF8FEF64A7B}"/>
              </a:ext>
            </a:extLst>
          </p:cNvPr>
          <p:cNvCxnSpPr>
            <a:cxnSpLocks/>
            <a:stCxn id="467" idx="2"/>
            <a:endCxn id="462" idx="0"/>
          </p:cNvCxnSpPr>
          <p:nvPr/>
        </p:nvCxnSpPr>
        <p:spPr>
          <a:xfrm rot="5400000">
            <a:off x="16216938" y="10011706"/>
            <a:ext cx="298552" cy="11874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Соединительная линия уступом 620">
            <a:extLst>
              <a:ext uri="{FF2B5EF4-FFF2-40B4-BE49-F238E27FC236}">
                <a16:creationId xmlns:a16="http://schemas.microsoft.com/office/drawing/2014/main" id="{8358C2D3-F58C-4FBB-9CF4-0FAF330B2EC6}"/>
              </a:ext>
            </a:extLst>
          </p:cNvPr>
          <p:cNvCxnSpPr>
            <a:cxnSpLocks/>
            <a:stCxn id="467" idx="2"/>
            <a:endCxn id="469" idx="0"/>
          </p:cNvCxnSpPr>
          <p:nvPr/>
        </p:nvCxnSpPr>
        <p:spPr>
          <a:xfrm rot="16200000" flipH="1">
            <a:off x="17407285" y="10008822"/>
            <a:ext cx="298552" cy="11932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Соединительная линия уступом 620">
            <a:extLst>
              <a:ext uri="{FF2B5EF4-FFF2-40B4-BE49-F238E27FC236}">
                <a16:creationId xmlns:a16="http://schemas.microsoft.com/office/drawing/2014/main" id="{DB43D146-32E5-4B0D-A45C-B3BC81315958}"/>
              </a:ext>
            </a:extLst>
          </p:cNvPr>
          <p:cNvCxnSpPr>
            <a:cxnSpLocks/>
            <a:stCxn id="467" idx="2"/>
            <a:endCxn id="457" idx="0"/>
          </p:cNvCxnSpPr>
          <p:nvPr/>
        </p:nvCxnSpPr>
        <p:spPr>
          <a:xfrm rot="5400000">
            <a:off x="16809143" y="10603911"/>
            <a:ext cx="298552" cy="30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Соединительная линия уступом 620">
            <a:extLst>
              <a:ext uri="{FF2B5EF4-FFF2-40B4-BE49-F238E27FC236}">
                <a16:creationId xmlns:a16="http://schemas.microsoft.com/office/drawing/2014/main" id="{BA3B4AFA-5FE2-439F-8A1D-B01A400164E4}"/>
              </a:ext>
            </a:extLst>
          </p:cNvPr>
          <p:cNvCxnSpPr>
            <a:cxnSpLocks/>
            <a:stCxn id="457" idx="2"/>
            <a:endCxn id="453" idx="0"/>
          </p:cNvCxnSpPr>
          <p:nvPr/>
        </p:nvCxnSpPr>
        <p:spPr>
          <a:xfrm rot="5400000">
            <a:off x="16806603" y="11442978"/>
            <a:ext cx="298552" cy="20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Соединительная линия уступом 620">
            <a:extLst>
              <a:ext uri="{FF2B5EF4-FFF2-40B4-BE49-F238E27FC236}">
                <a16:creationId xmlns:a16="http://schemas.microsoft.com/office/drawing/2014/main" id="{AABB4E71-9FE1-4A20-9647-4E13D7300A28}"/>
              </a:ext>
            </a:extLst>
          </p:cNvPr>
          <p:cNvCxnSpPr>
            <a:cxnSpLocks/>
            <a:stCxn id="453" idx="2"/>
            <a:endCxn id="459" idx="0"/>
          </p:cNvCxnSpPr>
          <p:nvPr/>
        </p:nvCxnSpPr>
        <p:spPr>
          <a:xfrm rot="5400000">
            <a:off x="16509458" y="11986410"/>
            <a:ext cx="298552" cy="5922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Соединительная линия уступом 620">
            <a:extLst>
              <a:ext uri="{FF2B5EF4-FFF2-40B4-BE49-F238E27FC236}">
                <a16:creationId xmlns:a16="http://schemas.microsoft.com/office/drawing/2014/main" id="{67A4AAC9-1C72-4507-B30A-1C80434BB64E}"/>
              </a:ext>
            </a:extLst>
          </p:cNvPr>
          <p:cNvCxnSpPr>
            <a:cxnSpLocks/>
            <a:stCxn id="453" idx="2"/>
            <a:endCxn id="460" idx="0"/>
          </p:cNvCxnSpPr>
          <p:nvPr/>
        </p:nvCxnSpPr>
        <p:spPr>
          <a:xfrm rot="16200000" flipH="1">
            <a:off x="17101850" y="11986281"/>
            <a:ext cx="301647" cy="5956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Соединительная линия уступом 620">
            <a:extLst>
              <a:ext uri="{FF2B5EF4-FFF2-40B4-BE49-F238E27FC236}">
                <a16:creationId xmlns:a16="http://schemas.microsoft.com/office/drawing/2014/main" id="{53E3C412-DEA6-40C0-90E0-F7470B6BECD1}"/>
              </a:ext>
            </a:extLst>
          </p:cNvPr>
          <p:cNvCxnSpPr>
            <a:cxnSpLocks/>
            <a:stCxn id="229" idx="2"/>
            <a:endCxn id="478" idx="0"/>
          </p:cNvCxnSpPr>
          <p:nvPr/>
        </p:nvCxnSpPr>
        <p:spPr>
          <a:xfrm rot="5400000">
            <a:off x="19217903" y="5710800"/>
            <a:ext cx="259059" cy="75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Прямоугольник 604">
            <a:extLst>
              <a:ext uri="{FF2B5EF4-FFF2-40B4-BE49-F238E27FC236}">
                <a16:creationId xmlns:a16="http://schemas.microsoft.com/office/drawing/2014/main" id="{E337B5E4-6092-4A99-913F-23B110D867B2}"/>
              </a:ext>
            </a:extLst>
          </p:cNvPr>
          <p:cNvSpPr/>
          <p:nvPr/>
        </p:nvSpPr>
        <p:spPr>
          <a:xfrm>
            <a:off x="13561717" y="585407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Исключить французов из партии</a:t>
            </a:r>
          </a:p>
        </p:txBody>
      </p:sp>
      <p:cxnSp>
        <p:nvCxnSpPr>
          <p:cNvPr id="626" name="Соединительная линия уступом 620">
            <a:extLst>
              <a:ext uri="{FF2B5EF4-FFF2-40B4-BE49-F238E27FC236}">
                <a16:creationId xmlns:a16="http://schemas.microsoft.com/office/drawing/2014/main" id="{BDAA3EA9-B00C-4072-ACCE-CF6588B70FBD}"/>
              </a:ext>
            </a:extLst>
          </p:cNvPr>
          <p:cNvCxnSpPr>
            <a:cxnSpLocks/>
            <a:stCxn id="289" idx="2"/>
            <a:endCxn id="467" idx="0"/>
          </p:cNvCxnSpPr>
          <p:nvPr/>
        </p:nvCxnSpPr>
        <p:spPr>
          <a:xfrm rot="5400000">
            <a:off x="18839780" y="7741972"/>
            <a:ext cx="294357" cy="405402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Соединительная линия уступом 620">
            <a:extLst>
              <a:ext uri="{FF2B5EF4-FFF2-40B4-BE49-F238E27FC236}">
                <a16:creationId xmlns:a16="http://schemas.microsoft.com/office/drawing/2014/main" id="{1A9262D3-BC8A-42AD-A524-EA6E00F3D5C6}"/>
              </a:ext>
            </a:extLst>
          </p:cNvPr>
          <p:cNvCxnSpPr>
            <a:cxnSpLocks/>
            <a:stCxn id="459" idx="2"/>
            <a:endCxn id="454" idx="0"/>
          </p:cNvCxnSpPr>
          <p:nvPr/>
        </p:nvCxnSpPr>
        <p:spPr>
          <a:xfrm rot="16200000" flipH="1">
            <a:off x="16514538" y="12819882"/>
            <a:ext cx="298552" cy="60242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Соединительная линия уступом 620">
            <a:extLst>
              <a:ext uri="{FF2B5EF4-FFF2-40B4-BE49-F238E27FC236}">
                <a16:creationId xmlns:a16="http://schemas.microsoft.com/office/drawing/2014/main" id="{CB2E3E8A-AA7A-4B6A-B31E-041278D0202D}"/>
              </a:ext>
            </a:extLst>
          </p:cNvPr>
          <p:cNvCxnSpPr>
            <a:cxnSpLocks/>
            <a:stCxn id="460" idx="2"/>
            <a:endCxn id="454" idx="0"/>
          </p:cNvCxnSpPr>
          <p:nvPr/>
        </p:nvCxnSpPr>
        <p:spPr>
          <a:xfrm rot="5400000">
            <a:off x="17110026" y="12829914"/>
            <a:ext cx="295457" cy="58545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Прямая соединительная линия 634">
            <a:extLst>
              <a:ext uri="{FF2B5EF4-FFF2-40B4-BE49-F238E27FC236}">
                <a16:creationId xmlns:a16="http://schemas.microsoft.com/office/drawing/2014/main" id="{6BE52F0A-B2EE-4D5C-89C1-F14F989FF99E}"/>
              </a:ext>
            </a:extLst>
          </p:cNvPr>
          <p:cNvCxnSpPr>
            <a:cxnSpLocks/>
            <a:stCxn id="460" idx="1"/>
            <a:endCxn id="459" idx="3"/>
          </p:cNvCxnSpPr>
          <p:nvPr/>
        </p:nvCxnSpPr>
        <p:spPr>
          <a:xfrm flipH="1" flipV="1">
            <a:off x="16825764" y="12701818"/>
            <a:ext cx="261554" cy="30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Соединительная линия уступом 620">
            <a:extLst>
              <a:ext uri="{FF2B5EF4-FFF2-40B4-BE49-F238E27FC236}">
                <a16:creationId xmlns:a16="http://schemas.microsoft.com/office/drawing/2014/main" id="{BAEA8480-DD49-412D-99D7-E0097C2EE541}"/>
              </a:ext>
            </a:extLst>
          </p:cNvPr>
          <p:cNvCxnSpPr>
            <a:cxnSpLocks/>
            <a:stCxn id="231" idx="2"/>
            <a:endCxn id="605" idx="0"/>
          </p:cNvCxnSpPr>
          <p:nvPr/>
        </p:nvCxnSpPr>
        <p:spPr>
          <a:xfrm rot="5400000">
            <a:off x="14170399" y="5436920"/>
            <a:ext cx="271639" cy="56267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2" name="Прямоугольник 671">
            <a:extLst>
              <a:ext uri="{FF2B5EF4-FFF2-40B4-BE49-F238E27FC236}">
                <a16:creationId xmlns:a16="http://schemas.microsoft.com/office/drawing/2014/main" id="{CFE91351-277E-4E4C-8EAA-BE1186BEF4CF}"/>
              </a:ext>
            </a:extLst>
          </p:cNvPr>
          <p:cNvSpPr/>
          <p:nvPr/>
        </p:nvSpPr>
        <p:spPr>
          <a:xfrm>
            <a:off x="13558688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Полная национализация французского имущества</a:t>
            </a:r>
          </a:p>
        </p:txBody>
      </p:sp>
      <p:cxnSp>
        <p:nvCxnSpPr>
          <p:cNvPr id="673" name="Соединительная линия уступом 620">
            <a:extLst>
              <a:ext uri="{FF2B5EF4-FFF2-40B4-BE49-F238E27FC236}">
                <a16:creationId xmlns:a16="http://schemas.microsoft.com/office/drawing/2014/main" id="{B7632463-B8F9-4CE2-9D4D-A8817A8CA83B}"/>
              </a:ext>
            </a:extLst>
          </p:cNvPr>
          <p:cNvCxnSpPr>
            <a:cxnSpLocks/>
            <a:stCxn id="605" idx="2"/>
            <a:endCxn id="672" idx="0"/>
          </p:cNvCxnSpPr>
          <p:nvPr/>
        </p:nvCxnSpPr>
        <p:spPr>
          <a:xfrm rot="5400000">
            <a:off x="12679502" y="7736427"/>
            <a:ext cx="2687728" cy="302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7" name="Соединительная линия уступом 620">
            <a:extLst>
              <a:ext uri="{FF2B5EF4-FFF2-40B4-BE49-F238E27FC236}">
                <a16:creationId xmlns:a16="http://schemas.microsoft.com/office/drawing/2014/main" id="{B768D324-794D-4757-A700-B6ED49687AE3}"/>
              </a:ext>
            </a:extLst>
          </p:cNvPr>
          <p:cNvCxnSpPr>
            <a:cxnSpLocks/>
            <a:stCxn id="672" idx="2"/>
            <a:endCxn id="467" idx="0"/>
          </p:cNvCxnSpPr>
          <p:nvPr/>
        </p:nvCxnSpPr>
        <p:spPr>
          <a:xfrm rot="16200000" flipH="1">
            <a:off x="15343720" y="8299935"/>
            <a:ext cx="294357" cy="29380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8" name="Соединительная линия уступом 620">
            <a:extLst>
              <a:ext uri="{FF2B5EF4-FFF2-40B4-BE49-F238E27FC236}">
                <a16:creationId xmlns:a16="http://schemas.microsoft.com/office/drawing/2014/main" id="{107A50E5-4279-4F78-BB4D-D0EE1845AA2E}"/>
              </a:ext>
            </a:extLst>
          </p:cNvPr>
          <p:cNvCxnSpPr>
            <a:cxnSpLocks/>
            <a:stCxn id="336" idx="2"/>
            <a:endCxn id="358" idx="0"/>
          </p:cNvCxnSpPr>
          <p:nvPr/>
        </p:nvCxnSpPr>
        <p:spPr>
          <a:xfrm rot="16200000" flipH="1">
            <a:off x="11536074" y="4535400"/>
            <a:ext cx="272802" cy="236577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" name="Соединительная линия уступом 620">
            <a:extLst>
              <a:ext uri="{FF2B5EF4-FFF2-40B4-BE49-F238E27FC236}">
                <a16:creationId xmlns:a16="http://schemas.microsoft.com/office/drawing/2014/main" id="{0BE6AA82-FCC9-4929-AAB7-F0B54221683C}"/>
              </a:ext>
            </a:extLst>
          </p:cNvPr>
          <p:cNvCxnSpPr>
            <a:cxnSpLocks/>
            <a:stCxn id="231" idx="2"/>
            <a:endCxn id="358" idx="0"/>
          </p:cNvCxnSpPr>
          <p:nvPr/>
        </p:nvCxnSpPr>
        <p:spPr>
          <a:xfrm rot="5400000">
            <a:off x="13585334" y="4852465"/>
            <a:ext cx="272248" cy="17321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2" name="Прямоугольник 681">
            <a:extLst>
              <a:ext uri="{FF2B5EF4-FFF2-40B4-BE49-F238E27FC236}">
                <a16:creationId xmlns:a16="http://schemas.microsoft.com/office/drawing/2014/main" id="{47EC0B54-2B64-4C65-B4C0-70F9B959A7B0}"/>
              </a:ext>
            </a:extLst>
          </p:cNvPr>
          <p:cNvSpPr/>
          <p:nvPr/>
        </p:nvSpPr>
        <p:spPr>
          <a:xfrm>
            <a:off x="20550806" y="991616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Остаться союзником Франции</a:t>
            </a:r>
          </a:p>
        </p:txBody>
      </p:sp>
      <p:sp>
        <p:nvSpPr>
          <p:cNvPr id="684" name="Прямоугольник 683">
            <a:extLst>
              <a:ext uri="{FF2B5EF4-FFF2-40B4-BE49-F238E27FC236}">
                <a16:creationId xmlns:a16="http://schemas.microsoft.com/office/drawing/2014/main" id="{441B5A07-9519-45BC-9B4D-4EA0DD9C5CA5}"/>
              </a:ext>
            </a:extLst>
          </p:cNvPr>
          <p:cNvSpPr/>
          <p:nvPr/>
        </p:nvSpPr>
        <p:spPr>
          <a:xfrm>
            <a:off x="13558539" y="99203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Вступить в Коминтерн</a:t>
            </a:r>
          </a:p>
        </p:txBody>
      </p:sp>
      <p:cxnSp>
        <p:nvCxnSpPr>
          <p:cNvPr id="685" name="Соединительная линия уступом 620">
            <a:extLst>
              <a:ext uri="{FF2B5EF4-FFF2-40B4-BE49-F238E27FC236}">
                <a16:creationId xmlns:a16="http://schemas.microsoft.com/office/drawing/2014/main" id="{30DEDB27-1BFF-4A10-A5D0-5B8EB220E568}"/>
              </a:ext>
            </a:extLst>
          </p:cNvPr>
          <p:cNvCxnSpPr>
            <a:cxnSpLocks/>
            <a:stCxn id="672" idx="2"/>
            <a:endCxn id="684" idx="0"/>
          </p:cNvCxnSpPr>
          <p:nvPr/>
        </p:nvCxnSpPr>
        <p:spPr>
          <a:xfrm rot="5400000">
            <a:off x="13872503" y="9771005"/>
            <a:ext cx="298549" cy="14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Соединительная линия уступом 620">
            <a:extLst>
              <a:ext uri="{FF2B5EF4-FFF2-40B4-BE49-F238E27FC236}">
                <a16:creationId xmlns:a16="http://schemas.microsoft.com/office/drawing/2014/main" id="{AFB626DD-C424-4137-9D19-667C6B93FBFB}"/>
              </a:ext>
            </a:extLst>
          </p:cNvPr>
          <p:cNvCxnSpPr>
            <a:cxnSpLocks/>
            <a:stCxn id="289" idx="2"/>
            <a:endCxn id="682" idx="0"/>
          </p:cNvCxnSpPr>
          <p:nvPr/>
        </p:nvCxnSpPr>
        <p:spPr>
          <a:xfrm rot="5400000">
            <a:off x="20866791" y="9768983"/>
            <a:ext cx="294356" cy="12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Соединительная линия уступом 620">
            <a:extLst>
              <a:ext uri="{FF2B5EF4-FFF2-40B4-BE49-F238E27FC236}">
                <a16:creationId xmlns:a16="http://schemas.microsoft.com/office/drawing/2014/main" id="{C2E25588-1DBF-4AFC-8AD0-2B705FB8FBDC}"/>
              </a:ext>
            </a:extLst>
          </p:cNvPr>
          <p:cNvCxnSpPr>
            <a:cxnSpLocks/>
            <a:stCxn id="308" idx="2"/>
            <a:endCxn id="311" idx="0"/>
          </p:cNvCxnSpPr>
          <p:nvPr/>
        </p:nvCxnSpPr>
        <p:spPr>
          <a:xfrm rot="5400000">
            <a:off x="19238107" y="15726412"/>
            <a:ext cx="337947" cy="5707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Соединительная линия уступом 620">
            <a:extLst>
              <a:ext uri="{FF2B5EF4-FFF2-40B4-BE49-F238E27FC236}">
                <a16:creationId xmlns:a16="http://schemas.microsoft.com/office/drawing/2014/main" id="{E1F63AED-8F53-410D-97A5-29896073417B}"/>
              </a:ext>
            </a:extLst>
          </p:cNvPr>
          <p:cNvCxnSpPr>
            <a:cxnSpLocks/>
            <a:stCxn id="308" idx="2"/>
            <a:endCxn id="307" idx="0"/>
          </p:cNvCxnSpPr>
          <p:nvPr/>
        </p:nvCxnSpPr>
        <p:spPr>
          <a:xfrm rot="16200000" flipH="1">
            <a:off x="19831265" y="15703982"/>
            <a:ext cx="337947" cy="6155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Соединительная линия уступом 620">
            <a:extLst>
              <a:ext uri="{FF2B5EF4-FFF2-40B4-BE49-F238E27FC236}">
                <a16:creationId xmlns:a16="http://schemas.microsoft.com/office/drawing/2014/main" id="{52081357-7316-4DC8-82BA-0E8B295FB117}"/>
              </a:ext>
            </a:extLst>
          </p:cNvPr>
          <p:cNvCxnSpPr>
            <a:cxnSpLocks/>
            <a:stCxn id="303" idx="2"/>
            <a:endCxn id="302" idx="0"/>
          </p:cNvCxnSpPr>
          <p:nvPr/>
        </p:nvCxnSpPr>
        <p:spPr>
          <a:xfrm rot="5400000">
            <a:off x="16817409" y="15747925"/>
            <a:ext cx="318100" cy="5523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Соединительная линия уступом 620">
            <a:extLst>
              <a:ext uri="{FF2B5EF4-FFF2-40B4-BE49-F238E27FC236}">
                <a16:creationId xmlns:a16="http://schemas.microsoft.com/office/drawing/2014/main" id="{1FC3434E-63FB-4C17-9AAA-7F3F13F81A01}"/>
              </a:ext>
            </a:extLst>
          </p:cNvPr>
          <p:cNvCxnSpPr>
            <a:cxnSpLocks/>
            <a:stCxn id="303" idx="2"/>
            <a:endCxn id="301" idx="0"/>
          </p:cNvCxnSpPr>
          <p:nvPr/>
        </p:nvCxnSpPr>
        <p:spPr>
          <a:xfrm rot="16200000" flipH="1">
            <a:off x="17391727" y="15725916"/>
            <a:ext cx="311638" cy="5898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Прямоугольник 507">
            <a:extLst>
              <a:ext uri="{FF2B5EF4-FFF2-40B4-BE49-F238E27FC236}">
                <a16:creationId xmlns:a16="http://schemas.microsoft.com/office/drawing/2014/main" id="{46E197FE-2A45-4F0F-9B6C-9BF43DFB2083}"/>
              </a:ext>
            </a:extLst>
          </p:cNvPr>
          <p:cNvSpPr/>
          <p:nvPr/>
        </p:nvSpPr>
        <p:spPr>
          <a:xfrm>
            <a:off x="17379317" y="169704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Танжерский</a:t>
            </a:r>
            <a:r>
              <a:rPr lang="ru-RU" sz="700" dirty="0"/>
              <a:t> офшор и контрабанда</a:t>
            </a:r>
          </a:p>
        </p:txBody>
      </p:sp>
      <p:cxnSp>
        <p:nvCxnSpPr>
          <p:cNvPr id="509" name="Соединительная линия уступом 620">
            <a:extLst>
              <a:ext uri="{FF2B5EF4-FFF2-40B4-BE49-F238E27FC236}">
                <a16:creationId xmlns:a16="http://schemas.microsoft.com/office/drawing/2014/main" id="{B6557F02-1289-420C-B9C0-FD17946E8DBA}"/>
              </a:ext>
            </a:extLst>
          </p:cNvPr>
          <p:cNvCxnSpPr>
            <a:cxnSpLocks/>
            <a:stCxn id="301" idx="2"/>
            <a:endCxn id="508" idx="0"/>
          </p:cNvCxnSpPr>
          <p:nvPr/>
        </p:nvCxnSpPr>
        <p:spPr>
          <a:xfrm rot="16200000" flipH="1">
            <a:off x="17715576" y="16843570"/>
            <a:ext cx="25380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Соединительная линия уступом 620">
            <a:extLst>
              <a:ext uri="{FF2B5EF4-FFF2-40B4-BE49-F238E27FC236}">
                <a16:creationId xmlns:a16="http://schemas.microsoft.com/office/drawing/2014/main" id="{93DCDEC9-BCF1-404B-B8A7-351298345583}"/>
              </a:ext>
            </a:extLst>
          </p:cNvPr>
          <p:cNvCxnSpPr>
            <a:cxnSpLocks/>
            <a:stCxn id="302" idx="2"/>
            <a:endCxn id="508" idx="0"/>
          </p:cNvCxnSpPr>
          <p:nvPr/>
        </p:nvCxnSpPr>
        <p:spPr>
          <a:xfrm rot="16200000" flipH="1">
            <a:off x="17147720" y="16275714"/>
            <a:ext cx="247345" cy="114217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1" name="Прямоугольник 510">
            <a:extLst>
              <a:ext uri="{FF2B5EF4-FFF2-40B4-BE49-F238E27FC236}">
                <a16:creationId xmlns:a16="http://schemas.microsoft.com/office/drawing/2014/main" id="{29342093-D9E4-4C0B-AB04-1B4C6FB72429}"/>
              </a:ext>
            </a:extLst>
          </p:cNvPr>
          <p:cNvSpPr/>
          <p:nvPr/>
        </p:nvSpPr>
        <p:spPr>
          <a:xfrm>
            <a:off x="16235643" y="1697047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Танжерская</a:t>
            </a:r>
            <a:r>
              <a:rPr lang="ru-RU" sz="700" dirty="0"/>
              <a:t> судостроительная верфь</a:t>
            </a:r>
          </a:p>
        </p:txBody>
      </p:sp>
      <p:cxnSp>
        <p:nvCxnSpPr>
          <p:cNvPr id="512" name="Соединительная линия уступом 620">
            <a:extLst>
              <a:ext uri="{FF2B5EF4-FFF2-40B4-BE49-F238E27FC236}">
                <a16:creationId xmlns:a16="http://schemas.microsoft.com/office/drawing/2014/main" id="{8E9AF91D-7B78-4A46-8C41-9626DB43DAD7}"/>
              </a:ext>
            </a:extLst>
          </p:cNvPr>
          <p:cNvCxnSpPr>
            <a:cxnSpLocks/>
            <a:stCxn id="302" idx="2"/>
            <a:endCxn id="511" idx="0"/>
          </p:cNvCxnSpPr>
          <p:nvPr/>
        </p:nvCxnSpPr>
        <p:spPr>
          <a:xfrm rot="5400000">
            <a:off x="16575884" y="16846052"/>
            <a:ext cx="247343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Соединительная линия уступом 620">
            <a:extLst>
              <a:ext uri="{FF2B5EF4-FFF2-40B4-BE49-F238E27FC236}">
                <a16:creationId xmlns:a16="http://schemas.microsoft.com/office/drawing/2014/main" id="{A10160AE-185D-4BBF-8C85-3CFE3904D664}"/>
              </a:ext>
            </a:extLst>
          </p:cNvPr>
          <p:cNvCxnSpPr>
            <a:cxnSpLocks/>
            <a:stCxn id="161" idx="2"/>
            <a:endCxn id="160" idx="0"/>
          </p:cNvCxnSpPr>
          <p:nvPr/>
        </p:nvCxnSpPr>
        <p:spPr>
          <a:xfrm rot="5400000">
            <a:off x="6984922" y="15734426"/>
            <a:ext cx="261343" cy="6248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620">
            <a:extLst>
              <a:ext uri="{FF2B5EF4-FFF2-40B4-BE49-F238E27FC236}">
                <a16:creationId xmlns:a16="http://schemas.microsoft.com/office/drawing/2014/main" id="{4141F6BE-135E-42B6-8DA8-5C6264A94EF0}"/>
              </a:ext>
            </a:extLst>
          </p:cNvPr>
          <p:cNvCxnSpPr>
            <a:cxnSpLocks/>
            <a:stCxn id="159" idx="2"/>
            <a:endCxn id="164" idx="0"/>
          </p:cNvCxnSpPr>
          <p:nvPr/>
        </p:nvCxnSpPr>
        <p:spPr>
          <a:xfrm rot="16200000" flipH="1">
            <a:off x="7293845" y="17027563"/>
            <a:ext cx="260714" cy="12420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7" name="Соединительная линия уступом 620">
            <a:extLst>
              <a:ext uri="{FF2B5EF4-FFF2-40B4-BE49-F238E27FC236}">
                <a16:creationId xmlns:a16="http://schemas.microsoft.com/office/drawing/2014/main" id="{A356C9BA-845A-426A-A20D-4848C123BB5D}"/>
              </a:ext>
            </a:extLst>
          </p:cNvPr>
          <p:cNvCxnSpPr>
            <a:cxnSpLocks/>
            <a:stCxn id="264" idx="2"/>
            <a:endCxn id="374" idx="0"/>
          </p:cNvCxnSpPr>
          <p:nvPr/>
        </p:nvCxnSpPr>
        <p:spPr>
          <a:xfrm rot="5400000">
            <a:off x="5500308" y="4204011"/>
            <a:ext cx="1071739" cy="599022"/>
          </a:xfrm>
          <a:prstGeom prst="bentConnector3">
            <a:avLst>
              <a:gd name="adj1" fmla="val 1326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5" name="Прямоугольник 514">
            <a:extLst>
              <a:ext uri="{FF2B5EF4-FFF2-40B4-BE49-F238E27FC236}">
                <a16:creationId xmlns:a16="http://schemas.microsoft.com/office/drawing/2014/main" id="{6E79AED0-B7B4-4B26-8F6F-1B9F3FADC429}"/>
              </a:ext>
            </a:extLst>
          </p:cNvPr>
          <p:cNvSpPr/>
          <p:nvPr/>
        </p:nvSpPr>
        <p:spPr>
          <a:xfrm>
            <a:off x="5266684" y="907761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часть Алжира</a:t>
            </a:r>
          </a:p>
        </p:txBody>
      </p:sp>
      <p:cxnSp>
        <p:nvCxnSpPr>
          <p:cNvPr id="517" name="Соединительная линия уступом 620">
            <a:extLst>
              <a:ext uri="{FF2B5EF4-FFF2-40B4-BE49-F238E27FC236}">
                <a16:creationId xmlns:a16="http://schemas.microsoft.com/office/drawing/2014/main" id="{1AF2E4DF-76F0-4A1D-BCBB-B56C8D29AD8F}"/>
              </a:ext>
            </a:extLst>
          </p:cNvPr>
          <p:cNvCxnSpPr>
            <a:cxnSpLocks/>
            <a:stCxn id="382" idx="2"/>
            <a:endCxn id="515" idx="0"/>
          </p:cNvCxnSpPr>
          <p:nvPr/>
        </p:nvCxnSpPr>
        <p:spPr>
          <a:xfrm rot="5400000">
            <a:off x="5896506" y="8642859"/>
            <a:ext cx="268093" cy="60140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Соединительная линия уступом 620">
            <a:extLst>
              <a:ext uri="{FF2B5EF4-FFF2-40B4-BE49-F238E27FC236}">
                <a16:creationId xmlns:a16="http://schemas.microsoft.com/office/drawing/2014/main" id="{3D9A0A63-01EF-4F72-9F6F-5E911DB25ED6}"/>
              </a:ext>
            </a:extLst>
          </p:cNvPr>
          <p:cNvCxnSpPr>
            <a:cxnSpLocks/>
            <a:stCxn id="285" idx="2"/>
            <a:endCxn id="310" idx="0"/>
          </p:cNvCxnSpPr>
          <p:nvPr/>
        </p:nvCxnSpPr>
        <p:spPr>
          <a:xfrm rot="5400000">
            <a:off x="7697947" y="4592278"/>
            <a:ext cx="243016" cy="6085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Соединительная линия уступом 620">
            <a:extLst>
              <a:ext uri="{FF2B5EF4-FFF2-40B4-BE49-F238E27FC236}">
                <a16:creationId xmlns:a16="http://schemas.microsoft.com/office/drawing/2014/main" id="{CF280879-F9DA-45EA-935F-D2A3FAE4B7BE}"/>
              </a:ext>
            </a:extLst>
          </p:cNvPr>
          <p:cNvCxnSpPr>
            <a:cxnSpLocks/>
            <a:stCxn id="172" idx="2"/>
            <a:endCxn id="264" idx="0"/>
          </p:cNvCxnSpPr>
          <p:nvPr/>
        </p:nvCxnSpPr>
        <p:spPr>
          <a:xfrm rot="5400000">
            <a:off x="6093730" y="2589614"/>
            <a:ext cx="1079998" cy="59608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Соединительная линия уступом 620">
            <a:extLst>
              <a:ext uri="{FF2B5EF4-FFF2-40B4-BE49-F238E27FC236}">
                <a16:creationId xmlns:a16="http://schemas.microsoft.com/office/drawing/2014/main" id="{8EE97878-30E9-4D69-8407-1AA5DB433643}"/>
              </a:ext>
            </a:extLst>
          </p:cNvPr>
          <p:cNvCxnSpPr>
            <a:cxnSpLocks/>
            <a:stCxn id="172" idx="2"/>
            <a:endCxn id="259" idx="0"/>
          </p:cNvCxnSpPr>
          <p:nvPr/>
        </p:nvCxnSpPr>
        <p:spPr>
          <a:xfrm rot="16200000" flipH="1">
            <a:off x="6687380" y="2592043"/>
            <a:ext cx="1079998" cy="59122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Соединительная линия уступом 620">
            <a:extLst>
              <a:ext uri="{FF2B5EF4-FFF2-40B4-BE49-F238E27FC236}">
                <a16:creationId xmlns:a16="http://schemas.microsoft.com/office/drawing/2014/main" id="{2F1FC60A-FD35-4AEA-9A97-D8427F39E0C8}"/>
              </a:ext>
            </a:extLst>
          </p:cNvPr>
          <p:cNvCxnSpPr>
            <a:cxnSpLocks/>
            <a:stCxn id="69" idx="2"/>
            <a:endCxn id="438" idx="0"/>
          </p:cNvCxnSpPr>
          <p:nvPr/>
        </p:nvCxnSpPr>
        <p:spPr>
          <a:xfrm rot="5400000">
            <a:off x="20111275" y="17102191"/>
            <a:ext cx="275282" cy="11254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1928A585-78DB-4152-8382-87127146FBBB}"/>
              </a:ext>
            </a:extLst>
          </p:cNvPr>
          <p:cNvSpPr/>
          <p:nvPr/>
        </p:nvSpPr>
        <p:spPr>
          <a:xfrm>
            <a:off x="18285833" y="99225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Аннексировать Танжер</a:t>
            </a:r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649F8C28-D048-4EDB-A3A4-294B15A3C87F}"/>
              </a:ext>
            </a:extLst>
          </p:cNvPr>
          <p:cNvSpPr/>
          <p:nvPr/>
        </p:nvSpPr>
        <p:spPr>
          <a:xfrm>
            <a:off x="16499561" y="424139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Заявить о претензиях на бывшие территории</a:t>
            </a:r>
          </a:p>
        </p:txBody>
      </p:sp>
      <p:cxnSp>
        <p:nvCxnSpPr>
          <p:cNvPr id="502" name="Соединительная линия уступом 620">
            <a:extLst>
              <a:ext uri="{FF2B5EF4-FFF2-40B4-BE49-F238E27FC236}">
                <a16:creationId xmlns:a16="http://schemas.microsoft.com/office/drawing/2014/main" id="{F38D5ED2-F819-4BDE-AAB4-7D5A045218A0}"/>
              </a:ext>
            </a:extLst>
          </p:cNvPr>
          <p:cNvCxnSpPr>
            <a:cxnSpLocks/>
            <a:stCxn id="184" idx="2"/>
            <a:endCxn id="501" idx="0"/>
          </p:cNvCxnSpPr>
          <p:nvPr/>
        </p:nvCxnSpPr>
        <p:spPr>
          <a:xfrm rot="5400000">
            <a:off x="17420392" y="3509987"/>
            <a:ext cx="273740" cy="118907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0" name="Соединительная линия уступом 620">
            <a:extLst>
              <a:ext uri="{FF2B5EF4-FFF2-40B4-BE49-F238E27FC236}">
                <a16:creationId xmlns:a16="http://schemas.microsoft.com/office/drawing/2014/main" id="{E26421C7-9095-459B-AAF7-DC9A8E9F2A7D}"/>
              </a:ext>
            </a:extLst>
          </p:cNvPr>
          <p:cNvCxnSpPr>
            <a:cxnSpLocks/>
            <a:stCxn id="183" idx="2"/>
            <a:endCxn id="501" idx="0"/>
          </p:cNvCxnSpPr>
          <p:nvPr/>
        </p:nvCxnSpPr>
        <p:spPr>
          <a:xfrm rot="5400000">
            <a:off x="16825855" y="4104525"/>
            <a:ext cx="273740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1" name="Соединительная линия уступом 620">
            <a:extLst>
              <a:ext uri="{FF2B5EF4-FFF2-40B4-BE49-F238E27FC236}">
                <a16:creationId xmlns:a16="http://schemas.microsoft.com/office/drawing/2014/main" id="{96A584EB-0D31-408E-B540-1D97D896076F}"/>
              </a:ext>
            </a:extLst>
          </p:cNvPr>
          <p:cNvCxnSpPr>
            <a:cxnSpLocks/>
            <a:stCxn id="185" idx="2"/>
            <a:endCxn id="501" idx="0"/>
          </p:cNvCxnSpPr>
          <p:nvPr/>
        </p:nvCxnSpPr>
        <p:spPr>
          <a:xfrm rot="16200000" flipH="1">
            <a:off x="16231317" y="3509987"/>
            <a:ext cx="273741" cy="118907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5" name="Соединительная линия уступом 620">
            <a:extLst>
              <a:ext uri="{FF2B5EF4-FFF2-40B4-BE49-F238E27FC236}">
                <a16:creationId xmlns:a16="http://schemas.microsoft.com/office/drawing/2014/main" id="{C95797ED-9477-4446-B74B-869565F2769D}"/>
              </a:ext>
            </a:extLst>
          </p:cNvPr>
          <p:cNvCxnSpPr>
            <a:cxnSpLocks/>
            <a:stCxn id="289" idx="2"/>
            <a:endCxn id="463" idx="0"/>
          </p:cNvCxnSpPr>
          <p:nvPr/>
        </p:nvCxnSpPr>
        <p:spPr>
          <a:xfrm rot="5400000">
            <a:off x="19731130" y="8639672"/>
            <a:ext cx="300706" cy="226497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7" name="Соединительная линия уступом 620">
            <a:extLst>
              <a:ext uri="{FF2B5EF4-FFF2-40B4-BE49-F238E27FC236}">
                <a16:creationId xmlns:a16="http://schemas.microsoft.com/office/drawing/2014/main" id="{A61F8C33-8532-4666-A068-67A2AC769C9D}"/>
              </a:ext>
            </a:extLst>
          </p:cNvPr>
          <p:cNvCxnSpPr>
            <a:cxnSpLocks/>
            <a:stCxn id="672" idx="2"/>
            <a:endCxn id="463" idx="0"/>
          </p:cNvCxnSpPr>
          <p:nvPr/>
        </p:nvCxnSpPr>
        <p:spPr>
          <a:xfrm rot="16200000" flipH="1">
            <a:off x="16235070" y="7408585"/>
            <a:ext cx="300706" cy="47271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Соединительная линия уступом 620">
            <a:extLst>
              <a:ext uri="{FF2B5EF4-FFF2-40B4-BE49-F238E27FC236}">
                <a16:creationId xmlns:a16="http://schemas.microsoft.com/office/drawing/2014/main" id="{850CEAB0-C21E-434F-A849-1523750D7F53}"/>
              </a:ext>
            </a:extLst>
          </p:cNvPr>
          <p:cNvCxnSpPr>
            <a:cxnSpLocks/>
            <a:stCxn id="257" idx="2"/>
            <a:endCxn id="270" idx="0"/>
          </p:cNvCxnSpPr>
          <p:nvPr/>
        </p:nvCxnSpPr>
        <p:spPr>
          <a:xfrm rot="5400000">
            <a:off x="15919873" y="7877287"/>
            <a:ext cx="305760" cy="579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Соединительная линия уступом 620">
            <a:extLst>
              <a:ext uri="{FF2B5EF4-FFF2-40B4-BE49-F238E27FC236}">
                <a16:creationId xmlns:a16="http://schemas.microsoft.com/office/drawing/2014/main" id="{98090CA8-8804-4169-9EAB-2F6B87A7C768}"/>
              </a:ext>
            </a:extLst>
          </p:cNvPr>
          <p:cNvCxnSpPr>
            <a:cxnSpLocks/>
            <a:stCxn id="447" idx="2"/>
            <a:endCxn id="202" idx="0"/>
          </p:cNvCxnSpPr>
          <p:nvPr/>
        </p:nvCxnSpPr>
        <p:spPr>
          <a:xfrm rot="16200000" flipH="1">
            <a:off x="18027551" y="6508360"/>
            <a:ext cx="256118" cy="76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57457</TotalTime>
  <Words>1013</Words>
  <Application>Microsoft Office PowerPoint</Application>
  <PresentationFormat>Произвольный</PresentationFormat>
  <Paragraphs>185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Антон Алёшин</cp:lastModifiedBy>
  <cp:revision>2487</cp:revision>
  <dcterms:created xsi:type="dcterms:W3CDTF">2018-10-23T08:09:21Z</dcterms:created>
  <dcterms:modified xsi:type="dcterms:W3CDTF">2026-07-28T11:59:58Z</dcterms:modified>
</cp:coreProperties>
</file>