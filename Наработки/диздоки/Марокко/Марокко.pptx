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00" d="100"/>
          <a:sy n="100" d="100"/>
        </p:scale>
        <p:origin x="-552" y="-2726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24.06.2026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8326336" y="143820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7997228" y="14467692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9232773" y="14478743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8945478" y="160672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7079740" y="152599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9550830" y="1525996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8006065" y="15529963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9577693" y="15630912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8342147" y="15000719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7101223" y="15623153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2016813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16461249" y="1606483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16460601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1521821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7702446" y="160699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16480060" y="15001284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6785124" y="16743474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7702445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8029208" y="16746362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8943644" y="168850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8945477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9268818" y="16745202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9268817" y="17563014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7719257" y="15623609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8954803" y="15010770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832633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8049382" y="16540081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6813836" y="16529030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15542416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7702444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15846283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16477641" y="17254568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15856095" y="17247340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8025571" y="17562800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20190564" y="15623392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21406988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20809990" y="15003967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8943644" y="195252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15218216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8857855" y="18976337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1522202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15141966" y="17961470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21406987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21731187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20170232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9377802" y="18269697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7702443" y="19525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20084065" y="17151362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8237255" y="18973045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7702443" y="204587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20162308" y="204583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8589482" y="19641415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9819616" y="19652481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12143190" y="145548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13379087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12143191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 </a:t>
            </a:r>
            <a:r>
              <a:rPr lang="ru-RU" sz="100" dirty="0"/>
              <a:t>(Опасаясь влияния Торреса, верховный комиссар генерал </a:t>
            </a:r>
            <a:r>
              <a:rPr lang="ru-RU" sz="100" dirty="0" err="1"/>
              <a:t>Бейгбедер</a:t>
            </a:r>
            <a:r>
              <a:rPr lang="ru-RU" sz="100" dirty="0"/>
              <a:t> противопоставил ему другого националистического деятеля - Мекки </a:t>
            </a:r>
            <a:r>
              <a:rPr lang="ru-RU" sz="100" dirty="0" err="1"/>
              <a:t>Насыри</a:t>
            </a:r>
            <a:r>
              <a:rPr lang="ru-RU" sz="100" dirty="0"/>
              <a:t>. Последний снискал популярность </a:t>
            </a:r>
            <a:r>
              <a:rPr lang="ru-RU" sz="100" dirty="0" err="1"/>
              <a:t>реча¬ми</a:t>
            </a:r>
            <a:r>
              <a:rPr lang="ru-RU" sz="100" dirty="0"/>
              <a:t> в Большой мечети о национальных чаяниях марокканского народа. Верховный комиссар помог </a:t>
            </a:r>
            <a:r>
              <a:rPr lang="ru-RU" sz="100" dirty="0" err="1"/>
              <a:t>Насыри</a:t>
            </a:r>
            <a:r>
              <a:rPr lang="ru-RU" sz="100" dirty="0"/>
              <a:t> создать Партию </a:t>
            </a:r>
            <a:r>
              <a:rPr lang="ru-RU" sz="100" dirty="0" err="1"/>
              <a:t>ма¬рокканского</a:t>
            </a:r>
            <a:r>
              <a:rPr lang="ru-RU" sz="100" dirty="0"/>
              <a:t> единства (ПМЕ). Лидеры обеих партий представляли одни н те же социальные слои, выдвигали практически </a:t>
            </a:r>
            <a:r>
              <a:rPr lang="ru-RU" sz="100" dirty="0" err="1"/>
              <a:t>идентич¬ные</a:t>
            </a:r>
            <a:r>
              <a:rPr lang="ru-RU" sz="100" dirty="0"/>
              <a:t> требования. Но для арабского населения партия </a:t>
            </a:r>
            <a:r>
              <a:rPr lang="ru-RU" sz="100" dirty="0" err="1"/>
              <a:t>Насыри</a:t>
            </a:r>
            <a:r>
              <a:rPr lang="ru-RU" sz="100" dirty="0"/>
              <a:t> была более привлекательной вследствие ее приверженности </a:t>
            </a:r>
            <a:r>
              <a:rPr lang="ru-RU" sz="100" dirty="0" err="1"/>
              <a:t>ара¬бизму</a:t>
            </a:r>
            <a:r>
              <a:rPr lang="ru-RU" sz="100" dirty="0"/>
              <a:t>: ПМЕ выступала за то, чтобы арабский язык был объявлен единственным официальным языком мусульманского Марокко. Обе партии первоначально не ставили перед собой конкретных задач по изменению положения в испанской зоне.)</a:t>
            </a:r>
            <a:endParaRPr lang="ru-RU" sz="700" dirty="0"/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12752201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10904340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11513350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12122460" y="14948888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12741885" y="14959302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12159352" y="15789942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12778778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13396726" y="15791420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11539927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12159353" y="15180933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11830665" y="16506945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12144722" y="1705487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13376646" y="170548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12468155" y="16915143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5400000">
            <a:off x="13702065" y="16914690"/>
            <a:ext cx="277930" cy="24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14001855" y="1787280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62" idx="2"/>
            <a:endCxn id="113" idx="0"/>
          </p:cNvCxnSpPr>
          <p:nvPr/>
        </p:nvCxnSpPr>
        <p:spPr>
          <a:xfrm rot="16200000" flipH="1">
            <a:off x="13605705" y="17013490"/>
            <a:ext cx="1095859" cy="622768"/>
          </a:xfrm>
          <a:prstGeom prst="bentConnector3">
            <a:avLst>
              <a:gd name="adj1" fmla="val 1198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6534667" y="210472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6534666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5917446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7159506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6559170" y="2140873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7180199" y="2140492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8401565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8401566" y="2184739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7801230" y="20783891"/>
            <a:ext cx="260099" cy="18668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8734374" y="2251774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4675386" y="2184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5938141" y="2078770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4677814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5009408" y="2251653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7159506" y="1864451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6534665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6534665" y="2344881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5916669" y="178287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6534666" y="20246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7776725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7776726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5916670" y="186451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290725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290726" y="21042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290725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4681737" y="18649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7776724" y="21047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5625745" y="2091471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8109532" y="2011621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8109530" y="2091693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6867470" y="2011621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7488501" y="1949518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7488499" y="2029590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6867471" y="2091693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4046785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4973110" y="1971585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4046784" y="202469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4699281" y="1900023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321251" y="1901322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5001356" y="1949444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379386" y="2011641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5001561" y="1949424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5623531" y="2011621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241613" y="1850692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6558471" y="1900650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7800608" y="1900657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4514511" y="1998129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5136481" y="2060326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5135541" y="1936026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5757511" y="1998223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6867475" y="2331845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4046783" y="2103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5006508" y="2029001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5621932" y="1789167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6863344" y="1788518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900594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087897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121893" y="3808486"/>
            <a:ext cx="269998" cy="58833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7716431" y="3802284"/>
            <a:ext cx="269998" cy="6007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527356" y="3213948"/>
            <a:ext cx="269999" cy="17774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16200000" flipH="1">
            <a:off x="15933704" y="3807599"/>
            <a:ext cx="269999" cy="59010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528242" y="3803170"/>
            <a:ext cx="269998" cy="59896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7122780" y="3208633"/>
            <a:ext cx="269998" cy="17880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Согласовать новое правительство Марокко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cxnSp>
        <p:nvCxnSpPr>
          <p:cNvPr id="282" name="Соединительная линия уступом 620">
            <a:extLst>
              <a:ext uri="{FF2B5EF4-FFF2-40B4-BE49-F238E27FC236}">
                <a16:creationId xmlns:a16="http://schemas.microsoft.com/office/drawing/2014/main" id="{51EA453B-083C-4FEF-80CA-54AD8C1C3055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258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Соединительная линия уступом 620">
            <a:extLst>
              <a:ext uri="{FF2B5EF4-FFF2-40B4-BE49-F238E27FC236}">
                <a16:creationId xmlns:a16="http://schemas.microsoft.com/office/drawing/2014/main" id="{4C914DD9-8594-48D4-B2A0-6839CED41856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2097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6468606" y="50450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251905" y="504243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мехзену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рямоугольник 319">
            <a:extLst>
              <a:ext uri="{FF2B5EF4-FFF2-40B4-BE49-F238E27FC236}">
                <a16:creationId xmlns:a16="http://schemas.microsoft.com/office/drawing/2014/main" id="{CEEF7E01-23D9-406A-B51B-D4B10D6D4533}"/>
              </a:ext>
            </a:extLst>
          </p:cNvPr>
          <p:cNvSpPr/>
          <p:nvPr/>
        </p:nvSpPr>
        <p:spPr>
          <a:xfrm>
            <a:off x="7660083" y="5849528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Заключить пакт с Комитетом антифашистских </a:t>
            </a:r>
            <a:r>
              <a:rPr lang="ru-RU" sz="700" dirty="0" err="1"/>
              <a:t>милиций</a:t>
            </a:r>
            <a:r>
              <a:rPr lang="ru-RU" sz="100" dirty="0" err="1"/>
              <a:t>Каталонии</a:t>
            </a:r>
            <a:br>
              <a:rPr lang="ru-RU" sz="100" dirty="0"/>
            </a:br>
            <a:r>
              <a:rPr lang="ru-RU" sz="100" dirty="0"/>
              <a:t>(Секретный пакт с каталонскими анархистами против Франко (Август — Сентябрь 1936)Это один из самых захватывающих и малоизвестных сюжетов реальной </a:t>
            </a:r>
            <a:r>
              <a:rPr lang="ru-RU" sz="100" dirty="0" err="1"/>
              <a:t>истории:В</a:t>
            </a:r>
            <a:r>
              <a:rPr lang="ru-RU" sz="100" dirty="0"/>
              <a:t> июле 1936 года в Испанском Марокко вспыхнул фашистский мятеж генерала </a:t>
            </a:r>
            <a:r>
              <a:rPr lang="ru-RU" sz="100" dirty="0" err="1"/>
              <a:t>Франко.В</a:t>
            </a:r>
            <a:r>
              <a:rPr lang="ru-RU" sz="100" dirty="0"/>
              <a:t> августе в Марокко (в Фес) тайно прибыли французские и испанские левые активисты (включая Давида Руссе и внука Карла Маркса — Роберта-Жана Лонге), чтобы скоординировать действия.19 сентября 1936 года лидеры CAM (Мухаммед Хасан аль-</a:t>
            </a:r>
            <a:r>
              <a:rPr lang="ru-RU" sz="100" dirty="0" err="1"/>
              <a:t>Уаццани</a:t>
            </a:r>
            <a:r>
              <a:rPr lang="ru-RU" sz="100" dirty="0"/>
              <a:t> и Омар </a:t>
            </a:r>
            <a:r>
              <a:rPr lang="ru-RU" sz="100" dirty="0" err="1"/>
              <a:t>Абдельджалиль</a:t>
            </a:r>
            <a:r>
              <a:rPr lang="ru-RU" sz="100" dirty="0"/>
              <a:t>) подписали в Барселоне тайный пакт с Комитетом антифашистских милиций Каталонии (в лице знаменитого анархиста Хуана Гарсии Оливера). Каталонцы пообещали признать полную независимость Испанского Марокко, если CAM поднимет восстание в тылу у </a:t>
            </a:r>
            <a:r>
              <a:rPr lang="ru-RU" sz="100" dirty="0" err="1"/>
              <a:t>Франко.Итог</a:t>
            </a:r>
            <a:r>
              <a:rPr lang="ru-RU" sz="100" dirty="0"/>
              <a:t>: План сорвался, так как премьер-министр Испании Ларго Кабальеро и премьер Франции Леон Блюм испугались колониальных бунтов и наложили вето на соглашение. В октябре аль-</a:t>
            </a:r>
            <a:r>
              <a:rPr lang="ru-RU" sz="100" dirty="0" err="1"/>
              <a:t>Уаццани</a:t>
            </a:r>
            <a:r>
              <a:rPr lang="ru-RU" sz="100" dirty="0"/>
              <a:t> лично летал в Париж, но Леон Блюм отказался его принять.)</a:t>
            </a:r>
            <a:endParaRPr lang="ru-RU" sz="700" dirty="0"/>
          </a:p>
        </p:txBody>
      </p: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Прямоугольник 243">
            <a:extLst>
              <a:ext uri="{FF2B5EF4-FFF2-40B4-BE49-F238E27FC236}">
                <a16:creationId xmlns:a16="http://schemas.microsoft.com/office/drawing/2014/main" id="{68301316-F113-43E2-BE8C-A421E8E8F476}"/>
              </a:ext>
            </a:extLst>
          </p:cNvPr>
          <p:cNvSpPr/>
          <p:nvPr/>
        </p:nvSpPr>
        <p:spPr>
          <a:xfrm>
            <a:off x="10903549" y="18677512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муниципальных советов </a:t>
            </a:r>
            <a:r>
              <a:rPr lang="ru-RU" sz="300" dirty="0"/>
              <a:t>(позволяющих государству управлять своими внутренними делами)</a:t>
            </a:r>
            <a:endParaRPr lang="ru-RU" sz="700" dirty="0"/>
          </a:p>
        </p:txBody>
      </p:sp>
      <p:sp>
        <p:nvSpPr>
          <p:cNvPr id="247" name="Прямоугольник 246">
            <a:extLst>
              <a:ext uri="{FF2B5EF4-FFF2-40B4-BE49-F238E27FC236}">
                <a16:creationId xmlns:a16="http://schemas.microsoft.com/office/drawing/2014/main" id="{EFB476FA-A8C6-4F25-A4F9-0EE18F513C6F}"/>
              </a:ext>
            </a:extLst>
          </p:cNvPr>
          <p:cNvSpPr/>
          <p:nvPr/>
        </p:nvSpPr>
        <p:spPr>
          <a:xfrm>
            <a:off x="10903550" y="1786767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высшего совета</a:t>
            </a:r>
          </a:p>
          <a:p>
            <a:pPr algn="ctr"/>
            <a:r>
              <a:rPr lang="ru-RU" sz="200" dirty="0"/>
              <a:t>(члены которого будут избираться марокканцами)</a:t>
            </a:r>
          </a:p>
        </p:txBody>
      </p: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133713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движения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  <a:p>
            <a:pPr algn="ctr"/>
            <a:r>
              <a:rPr lang="ru-RU" sz="200" dirty="0"/>
              <a:t>(Движение «</a:t>
            </a:r>
            <a:r>
              <a:rPr lang="ru-RU" sz="200" dirty="0" err="1"/>
              <a:t>Фитьян</a:t>
            </a:r>
            <a:r>
              <a:rPr lang="ru-RU" sz="200" dirty="0"/>
              <a:t>» (араб. </a:t>
            </a:r>
            <a:r>
              <a:rPr lang="ar-AE" sz="200" dirty="0"/>
              <a:t>فتيان — «</a:t>
            </a:r>
            <a:r>
              <a:rPr lang="ru-RU" sz="200" dirty="0"/>
              <a:t>Юноши» или «Отроки») в контексте Испанского Марокко — это военизированная молодежная организация, созданная Партией национальных реформ </a:t>
            </a:r>
            <a:r>
              <a:rPr lang="ru-RU" sz="200" dirty="0" err="1"/>
              <a:t>Абд</a:t>
            </a:r>
            <a:r>
              <a:rPr lang="ru-RU" sz="200" dirty="0"/>
              <a:t> аль-</a:t>
            </a:r>
            <a:r>
              <a:rPr lang="ru-RU" sz="200" dirty="0" err="1"/>
              <a:t>Халика</a:t>
            </a:r>
            <a:r>
              <a:rPr lang="ru-RU" sz="200" dirty="0"/>
              <a:t> Торреса в конце 1930-х годов. На её создание и структуру оказали мощнейшее влияние европейские фашистские движения того времени, в особенности Испанская Фаланга)</a:t>
            </a:r>
            <a:endParaRPr lang="ru-RU" sz="700" dirty="0"/>
          </a:p>
        </p:txBody>
      </p:sp>
      <p:sp>
        <p:nvSpPr>
          <p:cNvPr id="299" name="Прямоугольник 298">
            <a:extLst>
              <a:ext uri="{FF2B5EF4-FFF2-40B4-BE49-F238E27FC236}">
                <a16:creationId xmlns:a16="http://schemas.microsoft.com/office/drawing/2014/main" id="{3DAE6CB6-1F84-4263-8B95-FD8B316CCCD2}"/>
              </a:ext>
            </a:extLst>
          </p:cNvPr>
          <p:cNvSpPr/>
          <p:nvPr/>
        </p:nvSpPr>
        <p:spPr>
          <a:xfrm>
            <a:off x="12750423" y="1950686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Панарабизм и ислам</a:t>
            </a:r>
          </a:p>
          <a:p>
            <a:pPr algn="ctr"/>
            <a:r>
              <a:rPr lang="ru-RU" sz="200" dirty="0"/>
              <a:t>Вместо католицизма и испанского империализма Фаланги, «</a:t>
            </a:r>
            <a:r>
              <a:rPr lang="ru-RU" sz="200" dirty="0" err="1"/>
              <a:t>Фитьян</a:t>
            </a:r>
            <a:r>
              <a:rPr lang="ru-RU" sz="200" dirty="0"/>
              <a:t>» воспитывали молодежь на ценностях арабского возрождения, защиты ислама и гордости за историю Марокко.</a:t>
            </a:r>
            <a:endParaRPr lang="ru-RU" sz="700" dirty="0"/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7122627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br>
              <a:rPr lang="ru-RU" sz="700" dirty="0"/>
            </a:br>
            <a:r>
              <a:rPr lang="ru-RU" sz="100" dirty="0"/>
              <a:t>»: Использование уникального статуса Танжера (который долгое время был финансовой и шпионской «серой зоной»). Эффект: Дает +1 шпиона в агентство и ускоряет создание шпионской сети в Европе на 25%.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5882391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  <a:br>
              <a:rPr lang="ru-RU" sz="700" dirty="0"/>
            </a:br>
            <a:r>
              <a:rPr lang="ru-RU" sz="100" dirty="0"/>
              <a:t>(Историко-игровое </a:t>
            </a:r>
            <a:r>
              <a:rPr lang="ru-RU" sz="100" dirty="0" err="1"/>
              <a:t>описание:«Танжер</a:t>
            </a:r>
            <a:r>
              <a:rPr lang="ru-RU" sz="100" dirty="0"/>
              <a:t> — это ворота из Атлантики в Средиземное море. Объявив город зоной свободной торговли (Порто-франко), мы отменим таможенные пошлины для иностранных судов. Это привлечет в город международные торговые компании, склады и сборочные мануфактуры, превратив Танжер в главный логистический </a:t>
            </a:r>
            <a:r>
              <a:rPr lang="ru-RU" sz="100" dirty="0" err="1"/>
              <a:t>хаб</a:t>
            </a:r>
            <a:r>
              <a:rPr lang="ru-RU" sz="100" dirty="0"/>
              <a:t> Северной Африки».⚙️ Игровые </a:t>
            </a:r>
            <a:r>
              <a:rPr lang="ru-RU" sz="100" dirty="0" err="1"/>
              <a:t>эффекты:Развитие</a:t>
            </a:r>
            <a:r>
              <a:rPr lang="ru-RU" sz="100" dirty="0"/>
              <a:t> региона (Танжер):Морская база (</a:t>
            </a:r>
            <a:r>
              <a:rPr lang="ru-RU" sz="100" dirty="0" err="1"/>
              <a:t>Naval</a:t>
            </a:r>
            <a:r>
              <a:rPr lang="ru-RU" sz="100" dirty="0"/>
              <a:t> </a:t>
            </a:r>
            <a:r>
              <a:rPr lang="ru-RU" sz="100" dirty="0" err="1"/>
              <a:t>Base</a:t>
            </a:r>
            <a:r>
              <a:rPr lang="ru-RU" sz="100" dirty="0"/>
              <a:t>): +2 </a:t>
            </a:r>
            <a:r>
              <a:rPr lang="ru-RU" sz="100" dirty="0" err="1"/>
              <a:t>уровня.Гражданская</a:t>
            </a:r>
            <a:r>
              <a:rPr lang="ru-RU" sz="100" dirty="0"/>
              <a:t> фабрика (</a:t>
            </a:r>
            <a:r>
              <a:rPr lang="ru-RU" sz="100" dirty="0" err="1"/>
              <a:t>Civilian</a:t>
            </a:r>
            <a:r>
              <a:rPr lang="ru-RU" sz="100" dirty="0"/>
              <a:t> </a:t>
            </a:r>
            <a:r>
              <a:rPr lang="ru-RU" sz="100" dirty="0" err="1"/>
              <a:t>Factory</a:t>
            </a:r>
            <a:r>
              <a:rPr lang="ru-RU" sz="100" dirty="0"/>
              <a:t>): +2 штуки (за счет притока иностранного капитала).Открывается +2 свободных слота для </a:t>
            </a:r>
            <a:r>
              <a:rPr lang="ru-RU" sz="100" dirty="0" err="1"/>
              <a:t>строительства.Экономические</a:t>
            </a:r>
            <a:r>
              <a:rPr lang="ru-RU" sz="100" dirty="0"/>
              <a:t> бонусы (Национальный дух «Ворота Средиземноморья»):Скорость строительства гражданских фабрик и инфраструктуры: +10%.Эффективность торговли (</a:t>
            </a:r>
            <a:r>
              <a:rPr lang="ru-RU" sz="100" dirty="0" err="1"/>
              <a:t>Trade</a:t>
            </a:r>
            <a:r>
              <a:rPr lang="ru-RU" sz="100" dirty="0"/>
              <a:t> </a:t>
            </a:r>
            <a:r>
              <a:rPr lang="ru-RU" sz="100" dirty="0" err="1"/>
              <a:t>Influence</a:t>
            </a:r>
            <a:r>
              <a:rPr lang="ru-RU" sz="100" dirty="0"/>
              <a:t> </a:t>
            </a:r>
            <a:r>
              <a:rPr lang="ru-RU" sz="100" dirty="0" err="1"/>
              <a:t>Factor</a:t>
            </a:r>
            <a:r>
              <a:rPr lang="ru-RU" sz="100" dirty="0"/>
              <a:t>): +15% (иностранные державы охотнее покупают ваши ресурсы).)</a:t>
            </a:r>
            <a:endParaRPr lang="ru-RU" sz="700" dirty="0"/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6488299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044338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  <a:br>
              <a:rPr lang="ru-RU" sz="700" dirty="0"/>
            </a:br>
            <a:r>
              <a:rPr lang="ru-RU" sz="100" dirty="0"/>
              <a:t>(«Южные провинции Мавритании, примыкающие к реке Сенегал, богаты лесами красного дерева (Акажу) и зарослями акаций, дающих ценнейший гуммиарабик. Наладив промышленный сбор смолы и заготовку древесины, мы обеспечим наши текстильные, химические и фармацевтические фабрики собственным сырьем, снизив зависимость от импорта». </a:t>
            </a:r>
            <a:r>
              <a:rPr lang="ru-RU" sz="100" dirty="0" err="1"/>
              <a:t>оявление</a:t>
            </a:r>
            <a:r>
              <a:rPr lang="ru-RU" sz="100" dirty="0"/>
              <a:t> </a:t>
            </a:r>
            <a:r>
              <a:rPr lang="ru-RU" sz="100" dirty="0" err="1"/>
              <a:t>ресурсов:В</a:t>
            </a:r>
            <a:r>
              <a:rPr lang="ru-RU" sz="100" dirty="0"/>
              <a:t> регионе Мавритания (или южный </a:t>
            </a:r>
            <a:r>
              <a:rPr lang="ru-RU" sz="100" dirty="0" err="1"/>
              <a:t>стейт</a:t>
            </a:r>
            <a:r>
              <a:rPr lang="ru-RU" sz="100" dirty="0"/>
              <a:t>, если регион разделен) добавляется:+10 Резины (</a:t>
            </a:r>
            <a:r>
              <a:rPr lang="ru-RU" sz="100" dirty="0" err="1"/>
              <a:t>Rubber</a:t>
            </a:r>
            <a:r>
              <a:rPr lang="ru-RU" sz="100" dirty="0"/>
              <a:t>) — в HoI4 резина отвечает за любые эластичные, химические смолы и изоляционные материалы. Это критически важно для производства грузовиков, самолетов и пехотного </a:t>
            </a:r>
            <a:r>
              <a:rPr lang="ru-RU" sz="100" dirty="0" err="1"/>
              <a:t>снаряжения.Экономические</a:t>
            </a:r>
            <a:r>
              <a:rPr lang="ru-RU" sz="100" dirty="0"/>
              <a:t> бонусы (Национальный дух):Страна получает постоянный или временный (на 365 дней) национальный дух «Мавританское </a:t>
            </a:r>
            <a:r>
              <a:rPr lang="ru-RU" sz="100" dirty="0" err="1"/>
              <a:t>сырье»:Эффективность</a:t>
            </a:r>
            <a:r>
              <a:rPr lang="ru-RU" sz="100" dirty="0"/>
              <a:t> производства (</a:t>
            </a:r>
            <a:r>
              <a:rPr lang="ru-RU" sz="100" dirty="0" err="1"/>
              <a:t>Production</a:t>
            </a:r>
            <a:r>
              <a:rPr lang="ru-RU" sz="100" dirty="0"/>
              <a:t> </a:t>
            </a:r>
            <a:r>
              <a:rPr lang="ru-RU" sz="100" dirty="0" err="1"/>
              <a:t>Efficiency</a:t>
            </a:r>
            <a:r>
              <a:rPr lang="ru-RU" sz="100" dirty="0"/>
              <a:t> </a:t>
            </a:r>
            <a:r>
              <a:rPr lang="ru-RU" sz="100" dirty="0" err="1"/>
              <a:t>Growth</a:t>
            </a:r>
            <a:r>
              <a:rPr lang="ru-RU" sz="100" dirty="0"/>
              <a:t>): +5%Скорость исследования промышленных технологий (</a:t>
            </a:r>
            <a:r>
              <a:rPr lang="ru-RU" sz="100" dirty="0" err="1"/>
              <a:t>Industry</a:t>
            </a:r>
            <a:r>
              <a:rPr lang="ru-RU" sz="100" dirty="0"/>
              <a:t> </a:t>
            </a:r>
            <a:r>
              <a:rPr lang="ru-RU" sz="100" dirty="0" err="1"/>
              <a:t>Research</a:t>
            </a:r>
            <a:r>
              <a:rPr lang="ru-RU" sz="100" dirty="0"/>
              <a:t> </a:t>
            </a:r>
            <a:r>
              <a:rPr lang="ru-RU" sz="100" dirty="0" err="1"/>
              <a:t>Speed</a:t>
            </a:r>
            <a:r>
              <a:rPr lang="ru-RU" sz="100" dirty="0"/>
              <a:t>): +10% (химическая отрасль).Развитие </a:t>
            </a:r>
            <a:r>
              <a:rPr lang="ru-RU" sz="100" dirty="0" err="1"/>
              <a:t>инфраструктуры:В</a:t>
            </a:r>
            <a:r>
              <a:rPr lang="ru-RU" sz="100" dirty="0"/>
              <a:t> южном регионе Мавритании бесплатно строится +1 уровень </a:t>
            </a:r>
            <a:r>
              <a:rPr lang="ru-RU" sz="100" dirty="0" err="1"/>
              <a:t>Инфраструктуры.Открывается</a:t>
            </a:r>
            <a:r>
              <a:rPr lang="ru-RU" sz="100" dirty="0"/>
              <a:t> +1 свободный слот для строительства фабрик в этом регионе.)</a:t>
            </a:r>
            <a:endParaRPr lang="ru-RU" sz="700" dirty="0"/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9785125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  <a:br>
              <a:rPr lang="ru-RU" sz="700" dirty="0"/>
            </a:br>
            <a:r>
              <a:rPr lang="ru-RU" sz="100" dirty="0"/>
              <a:t>(Умиротворение эмиров </a:t>
            </a:r>
            <a:r>
              <a:rPr lang="ru-RU" sz="100" dirty="0" err="1"/>
              <a:t>Трарзы</a:t>
            </a:r>
            <a:r>
              <a:rPr lang="ru-RU" sz="100" dirty="0"/>
              <a:t> и </a:t>
            </a:r>
            <a:r>
              <a:rPr lang="ru-RU" sz="100" dirty="0" err="1"/>
              <a:t>Адрара</a:t>
            </a:r>
            <a:r>
              <a:rPr lang="ru-RU" sz="100" dirty="0"/>
              <a:t>»: Договор с местной кочевой </a:t>
            </a:r>
            <a:r>
              <a:rPr lang="ru-RU" sz="100" dirty="0" err="1"/>
              <a:t>элитой.Эффект</a:t>
            </a:r>
            <a:r>
              <a:rPr lang="ru-RU" sz="100" dirty="0"/>
              <a:t>: Снижение подчинения (</a:t>
            </a:r>
            <a:r>
              <a:rPr lang="ru-RU" sz="100" dirty="0" err="1"/>
              <a:t>Resistance</a:t>
            </a:r>
            <a:r>
              <a:rPr lang="ru-RU" sz="100" dirty="0"/>
              <a:t>) на 20%, рост </a:t>
            </a:r>
            <a:r>
              <a:rPr lang="ru-RU" sz="100" dirty="0" err="1"/>
              <a:t>стабильности.«Суфийские</a:t>
            </a:r>
            <a:r>
              <a:rPr lang="ru-RU" sz="100" dirty="0"/>
              <a:t> братства на службе Султана»: Использование авторитета марокканских религиозных орденов (</a:t>
            </a:r>
            <a:r>
              <a:rPr lang="ru-RU" sz="100" dirty="0" err="1"/>
              <a:t>Тиджания</a:t>
            </a:r>
            <a:r>
              <a:rPr lang="ru-RU" sz="100" dirty="0"/>
              <a:t>).Эффект: Прирост политической власти (+0.5/день), ускорение роста подчинения </a:t>
            </a:r>
            <a:r>
              <a:rPr lang="ru-RU" sz="100" dirty="0" err="1"/>
              <a:t>населения.«Ликвидация</a:t>
            </a:r>
            <a:r>
              <a:rPr lang="ru-RU" sz="100" dirty="0"/>
              <a:t> французских колониальных границ»: Административная реформа и объявление Мавритании неотъемлемой южной </a:t>
            </a:r>
            <a:r>
              <a:rPr lang="ru-RU" sz="100" dirty="0" err="1"/>
              <a:t>провинцией.Эффект</a:t>
            </a:r>
            <a:r>
              <a:rPr lang="ru-RU" sz="100" dirty="0"/>
              <a:t>: Получение национальных корней (</a:t>
            </a:r>
            <a:r>
              <a:rPr lang="ru-RU" sz="100" dirty="0" err="1"/>
              <a:t>Cores</a:t>
            </a:r>
            <a:r>
              <a:rPr lang="ru-RU" sz="100" dirty="0"/>
              <a:t>) на регионы Мавритании.)</a:t>
            </a:r>
            <a:endParaRPr lang="ru-RU" sz="700" dirty="0"/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9229781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 err="1"/>
              <a:t>Транссахарская</a:t>
            </a:r>
            <a:r>
              <a:rPr lang="ru-RU" sz="800" dirty="0"/>
              <a:t> железная дорога: Фес — Нуакшот</a:t>
            </a:r>
            <a:endParaRPr lang="ru-RU" sz="7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8279449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0103428" y="13734020"/>
            <a:ext cx="1142110" cy="3863741"/>
          </a:xfrm>
          <a:prstGeom prst="bentConnector3">
            <a:avLst>
              <a:gd name="adj1" fmla="val 15101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7274792" y="14769125"/>
            <a:ext cx="1144490" cy="1791150"/>
          </a:xfrm>
          <a:prstGeom prst="bentConnector3">
            <a:avLst>
              <a:gd name="adj1" fmla="val 1517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8923205" y="14911862"/>
            <a:ext cx="1144490" cy="1505676"/>
          </a:xfrm>
          <a:prstGeom prst="bentConnector3">
            <a:avLst>
              <a:gd name="adj1" fmla="val 1517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095832" y="5827548"/>
            <a:ext cx="1078436" cy="593439"/>
          </a:xfrm>
          <a:prstGeom prst="bentConnector3">
            <a:avLst>
              <a:gd name="adj1" fmla="val 1231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6796412" y="5717090"/>
            <a:ext cx="267398" cy="331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8876519" y="5420987"/>
            <a:ext cx="267392" cy="5902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Соединительная линия уступом 620">
            <a:extLst>
              <a:ext uri="{FF2B5EF4-FFF2-40B4-BE49-F238E27FC236}">
                <a16:creationId xmlns:a16="http://schemas.microsoft.com/office/drawing/2014/main" id="{044D3774-F822-48CC-947E-EF6B5C279EAA}"/>
              </a:ext>
            </a:extLst>
          </p:cNvPr>
          <p:cNvCxnSpPr>
            <a:cxnSpLocks/>
            <a:stCxn id="316" idx="2"/>
            <a:endCxn id="320" idx="0"/>
          </p:cNvCxnSpPr>
          <p:nvPr/>
        </p:nvCxnSpPr>
        <p:spPr>
          <a:xfrm rot="5400000">
            <a:off x="8285612" y="5420072"/>
            <a:ext cx="267090" cy="59182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680983" y="5835834"/>
            <a:ext cx="1087097" cy="585525"/>
          </a:xfrm>
          <a:prstGeom prst="bentConnector3">
            <a:avLst>
              <a:gd name="adj1" fmla="val 1276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597440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мехзен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  <a:br>
              <a:rPr lang="ru-RU" sz="700" dirty="0"/>
            </a:br>
            <a:r>
              <a:rPr lang="ru-RU" sz="200" dirty="0"/>
              <a:t>В 1957 году он принял титул короля Марокко , чтобы символизировать единство страны, несмотря на разногласия между арабами и берберами . «Провозглашение Королевства»: Исторический шаг 1957 года. Мухаммед V меняет титул султана на короля, модернизируя образ монархии. Эффект: +15% к Стабильности, рост ежедневного прироста Политической власти (PP).</a:t>
            </a:r>
            <a:endParaRPr lang="ru-RU" sz="700" dirty="0"/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sp>
        <p:nvSpPr>
          <p:cNvPr id="388" name="Прямоугольник 387">
            <a:extLst>
              <a:ext uri="{FF2B5EF4-FFF2-40B4-BE49-F238E27FC236}">
                <a16:creationId xmlns:a16="http://schemas.microsoft.com/office/drawing/2014/main" id="{F8854DA0-0A68-4978-AB1E-49C2999C31BA}"/>
              </a:ext>
            </a:extLst>
          </p:cNvPr>
          <p:cNvSpPr/>
          <p:nvPr/>
        </p:nvSpPr>
        <p:spPr>
          <a:xfrm>
            <a:off x="10306580" y="1950633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Аль-Андалусские амбиции</a:t>
            </a:r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Прямоугольник 390">
            <a:extLst>
              <a:ext uri="{FF2B5EF4-FFF2-40B4-BE49-F238E27FC236}">
                <a16:creationId xmlns:a16="http://schemas.microsoft.com/office/drawing/2014/main" id="{F6324390-F8AE-4AB5-AD25-75C7A7634BC2}"/>
              </a:ext>
            </a:extLst>
          </p:cNvPr>
          <p:cNvSpPr/>
          <p:nvPr/>
        </p:nvSpPr>
        <p:spPr>
          <a:xfrm>
            <a:off x="10903549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Испании</a:t>
            </a:r>
          </a:p>
        </p:txBody>
      </p: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3" name="Прямоугольник 392">
            <a:extLst>
              <a:ext uri="{FF2B5EF4-FFF2-40B4-BE49-F238E27FC236}">
                <a16:creationId xmlns:a16="http://schemas.microsoft.com/office/drawing/2014/main" id="{05D0D326-25E7-4CF1-BC8E-9F64D542575B}"/>
              </a:ext>
            </a:extLst>
          </p:cNvPr>
          <p:cNvSpPr/>
          <p:nvPr/>
        </p:nvSpPr>
        <p:spPr>
          <a:xfrm>
            <a:off x="9713819" y="2030715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Португалии</a:t>
            </a:r>
          </a:p>
        </p:txBody>
      </p:sp>
      <p:sp>
        <p:nvSpPr>
          <p:cNvPr id="398" name="Прямоугольник 397">
            <a:extLst>
              <a:ext uri="{FF2B5EF4-FFF2-40B4-BE49-F238E27FC236}">
                <a16:creationId xmlns:a16="http://schemas.microsoft.com/office/drawing/2014/main" id="{28CEDD15-69A5-47C1-928C-D47DE891019A}"/>
              </a:ext>
            </a:extLst>
          </p:cNvPr>
          <p:cNvSpPr/>
          <p:nvPr/>
        </p:nvSpPr>
        <p:spPr>
          <a:xfrm>
            <a:off x="10306579" y="2110691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Оккупировать Гибралтар</a:t>
            </a:r>
          </a:p>
        </p:txBody>
      </p:sp>
      <p:sp>
        <p:nvSpPr>
          <p:cNvPr id="399" name="Прямоугольник 398">
            <a:extLst>
              <a:ext uri="{FF2B5EF4-FFF2-40B4-BE49-F238E27FC236}">
                <a16:creationId xmlns:a16="http://schemas.microsoft.com/office/drawing/2014/main" id="{2757126F-767B-49BC-8A20-3EF2F6BAD339}"/>
              </a:ext>
            </a:extLst>
          </p:cNvPr>
          <p:cNvSpPr/>
          <p:nvPr/>
        </p:nvSpPr>
        <p:spPr>
          <a:xfrm>
            <a:off x="10896689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Иберийские провинции под эмираты</a:t>
            </a:r>
          </a:p>
        </p:txBody>
      </p:sp>
      <p:sp>
        <p:nvSpPr>
          <p:cNvPr id="401" name="Прямоугольник 400">
            <a:extLst>
              <a:ext uri="{FF2B5EF4-FFF2-40B4-BE49-F238E27FC236}">
                <a16:creationId xmlns:a16="http://schemas.microsoft.com/office/drawing/2014/main" id="{98F1BED1-5D08-4C89-AA68-C9EEB86A12A3}"/>
              </a:ext>
            </a:extLst>
          </p:cNvPr>
          <p:cNvSpPr/>
          <p:nvPr/>
        </p:nvSpPr>
        <p:spPr>
          <a:xfrm>
            <a:off x="9713818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Продвижение ислама на Пиренейском полуострове</a:t>
            </a:r>
          </a:p>
        </p:txBody>
      </p:sp>
      <p:cxnSp>
        <p:nvCxnSpPr>
          <p:cNvPr id="402" name="Соединительная линия уступом 620">
            <a:extLst>
              <a:ext uri="{FF2B5EF4-FFF2-40B4-BE49-F238E27FC236}">
                <a16:creationId xmlns:a16="http://schemas.microsoft.com/office/drawing/2014/main" id="{2EF2ABD2-BA85-4697-AE78-CF7878ADA90D}"/>
              </a:ext>
            </a:extLst>
          </p:cNvPr>
          <p:cNvCxnSpPr>
            <a:cxnSpLocks/>
            <a:stCxn id="388" idx="2"/>
            <a:endCxn id="393" idx="0"/>
          </p:cNvCxnSpPr>
          <p:nvPr/>
        </p:nvCxnSpPr>
        <p:spPr>
          <a:xfrm rot="5400000">
            <a:off x="10342954" y="19880368"/>
            <a:ext cx="26081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Соединительная линия уступом 620">
            <a:extLst>
              <a:ext uri="{FF2B5EF4-FFF2-40B4-BE49-F238E27FC236}">
                <a16:creationId xmlns:a16="http://schemas.microsoft.com/office/drawing/2014/main" id="{CA823A6B-39CF-47ED-A88F-0C536E2E29A6}"/>
              </a:ext>
            </a:extLst>
          </p:cNvPr>
          <p:cNvCxnSpPr>
            <a:cxnSpLocks/>
            <a:stCxn id="388" idx="2"/>
            <a:endCxn id="391" idx="0"/>
          </p:cNvCxnSpPr>
          <p:nvPr/>
        </p:nvCxnSpPr>
        <p:spPr>
          <a:xfrm rot="16200000" flipH="1">
            <a:off x="10938083" y="19877998"/>
            <a:ext cx="260289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Соединительная линия уступом 620">
            <a:extLst>
              <a:ext uri="{FF2B5EF4-FFF2-40B4-BE49-F238E27FC236}">
                <a16:creationId xmlns:a16="http://schemas.microsoft.com/office/drawing/2014/main" id="{8C529540-B4D6-4BB9-92AD-DEE61AFB1831}"/>
              </a:ext>
            </a:extLst>
          </p:cNvPr>
          <p:cNvCxnSpPr>
            <a:cxnSpLocks/>
            <a:stCxn id="388" idx="2"/>
            <a:endCxn id="398" idx="0"/>
          </p:cNvCxnSpPr>
          <p:nvPr/>
        </p:nvCxnSpPr>
        <p:spPr>
          <a:xfrm rot="5400000">
            <a:off x="10239455" y="20576627"/>
            <a:ext cx="106057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Соединительная линия уступом 620">
            <a:extLst>
              <a:ext uri="{FF2B5EF4-FFF2-40B4-BE49-F238E27FC236}">
                <a16:creationId xmlns:a16="http://schemas.microsoft.com/office/drawing/2014/main" id="{C222986D-1E4F-4588-B963-F7419387B849}"/>
              </a:ext>
            </a:extLst>
          </p:cNvPr>
          <p:cNvCxnSpPr>
            <a:cxnSpLocks/>
            <a:stCxn id="398" idx="2"/>
            <a:endCxn id="401" idx="0"/>
          </p:cNvCxnSpPr>
          <p:nvPr/>
        </p:nvCxnSpPr>
        <p:spPr>
          <a:xfrm rot="5400000">
            <a:off x="10343483" y="21480415"/>
            <a:ext cx="259758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Соединительная линия уступом 620">
            <a:extLst>
              <a:ext uri="{FF2B5EF4-FFF2-40B4-BE49-F238E27FC236}">
                <a16:creationId xmlns:a16="http://schemas.microsoft.com/office/drawing/2014/main" id="{4C3C96C6-F2ED-4F21-9CE9-26F579EBDE06}"/>
              </a:ext>
            </a:extLst>
          </p:cNvPr>
          <p:cNvCxnSpPr>
            <a:cxnSpLocks/>
            <a:stCxn id="398" idx="2"/>
            <a:endCxn id="399" idx="0"/>
          </p:cNvCxnSpPr>
          <p:nvPr/>
        </p:nvCxnSpPr>
        <p:spPr>
          <a:xfrm rot="16200000" flipH="1">
            <a:off x="10934918" y="21481740"/>
            <a:ext cx="259758" cy="5901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16200000" flipH="1">
            <a:off x="10642718" y="4623999"/>
            <a:ext cx="266838" cy="56893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6" name="Соединительная линия уступом 620">
            <a:extLst>
              <a:ext uri="{FF2B5EF4-FFF2-40B4-BE49-F238E27FC236}">
                <a16:creationId xmlns:a16="http://schemas.microsoft.com/office/drawing/2014/main" id="{E4830A77-CFFB-4D97-BE75-3D5605CF1301}"/>
              </a:ext>
            </a:extLst>
          </p:cNvPr>
          <p:cNvCxnSpPr>
            <a:cxnSpLocks/>
            <a:stCxn id="336" idx="2"/>
            <a:endCxn id="320" idx="0"/>
          </p:cNvCxnSpPr>
          <p:nvPr/>
        </p:nvCxnSpPr>
        <p:spPr>
          <a:xfrm rot="5400000">
            <a:off x="9458103" y="4247028"/>
            <a:ext cx="267644" cy="293735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5400000">
            <a:off x="10645641" y="5429150"/>
            <a:ext cx="262228" cy="5676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1233662" y="5408825"/>
            <a:ext cx="275032" cy="6211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8876520" y="4613595"/>
            <a:ext cx="267392" cy="5902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  <a:p>
            <a:pPr algn="ctr"/>
            <a:r>
              <a:rPr lang="ru-RU" sz="200" dirty="0"/>
              <a:t>(прогрессивная социальная политика в отношении пожилых людей и безработных;)</a:t>
            </a:r>
            <a:endParaRPr lang="ru-RU" sz="700" dirty="0"/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7179895" y="2220532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6558865" y="2220913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  <a:br>
              <a:rPr lang="ru-RU" sz="700" dirty="0"/>
            </a:br>
            <a:r>
              <a:rPr lang="ru-RU" sz="200" dirty="0"/>
              <a:t>(и, возможно, наиболее радикальный шаг — призыв к земельной реформе и прекращению феодальных связей между поселенцами и местными земледельцами.)</a:t>
            </a:r>
            <a:endParaRPr lang="ru-RU" sz="700" dirty="0"/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 </a:t>
            </a:r>
            <a:r>
              <a:rPr lang="ru-RU" sz="200" dirty="0"/>
              <a:t>(В качестве предзнаменования будущего План требовал повсеместного использования арабского языка в общественном пространстве, включая железную дорогу, где «все билеты и квитанции, а также вывески в вагонах и на станциях должны быть напечатаны на арабском и французском языках».)</a:t>
            </a:r>
            <a:endParaRPr lang="ru-RU" sz="700" dirty="0"/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" name="Прямоугольник 409">
            <a:extLst>
              <a:ext uri="{FF2B5EF4-FFF2-40B4-BE49-F238E27FC236}">
                <a16:creationId xmlns:a16="http://schemas.microsoft.com/office/drawing/2014/main" id="{689FCD2C-74D8-4FA5-97DB-81ADE08D74B0}"/>
              </a:ext>
            </a:extLst>
          </p:cNvPr>
          <p:cNvSpPr/>
          <p:nvPr/>
        </p:nvSpPr>
        <p:spPr>
          <a:xfrm>
            <a:off x="10905838" y="170548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Переворот Торреса</a:t>
            </a:r>
          </a:p>
        </p:txBody>
      </p: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9660640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</a:t>
            </a:r>
            <a:r>
              <a:rPr lang="ru-RU" sz="700" dirty="0" err="1"/>
              <a:t>Фасси</a:t>
            </a:r>
            <a:r>
              <a:rPr lang="ru-RU" sz="700" dirty="0"/>
              <a:t> и потомками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10605204" y="16295544"/>
            <a:ext cx="280899" cy="1243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  <a:endCxn id="410" idx="0"/>
          </p:cNvCxnSpPr>
          <p:nvPr/>
        </p:nvCxnSpPr>
        <p:spPr>
          <a:xfrm rot="16200000" flipH="1">
            <a:off x="11229288" y="16915160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9C6ECDC0-C4A4-41DB-A001-F0751FF81343}"/>
              </a:ext>
            </a:extLst>
          </p:cNvPr>
          <p:cNvCxnSpPr>
            <a:cxnSpLocks/>
            <a:stCxn id="415" idx="2"/>
            <a:endCxn id="388" idx="0"/>
          </p:cNvCxnSpPr>
          <p:nvPr/>
        </p:nvCxnSpPr>
        <p:spPr>
          <a:xfrm rot="16200000" flipH="1">
            <a:off x="9492526" y="18229121"/>
            <a:ext cx="1908495" cy="645940"/>
          </a:xfrm>
          <a:prstGeom prst="bentConnector3">
            <a:avLst>
              <a:gd name="adj1" fmla="val 727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B2E45BDC-02B0-4EC0-A935-4E6F3506B92D}"/>
              </a:ext>
            </a:extLst>
          </p:cNvPr>
          <p:cNvCxnSpPr>
            <a:cxnSpLocks/>
            <a:stCxn id="410" idx="2"/>
            <a:endCxn id="438" idx="0"/>
          </p:cNvCxnSpPr>
          <p:nvPr/>
        </p:nvCxnSpPr>
        <p:spPr>
          <a:xfrm rot="16200000" flipH="1">
            <a:off x="11852407" y="17111468"/>
            <a:ext cx="277493" cy="12443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Соединительная линия уступом 620">
            <a:extLst>
              <a:ext uri="{FF2B5EF4-FFF2-40B4-BE49-F238E27FC236}">
                <a16:creationId xmlns:a16="http://schemas.microsoft.com/office/drawing/2014/main" id="{A388DD1F-4756-4F8F-9216-122006CB833A}"/>
              </a:ext>
            </a:extLst>
          </p:cNvPr>
          <p:cNvCxnSpPr>
            <a:cxnSpLocks/>
            <a:stCxn id="410" idx="2"/>
            <a:endCxn id="247" idx="0"/>
          </p:cNvCxnSpPr>
          <p:nvPr/>
        </p:nvCxnSpPr>
        <p:spPr>
          <a:xfrm rot="5400000">
            <a:off x="11231455" y="17730132"/>
            <a:ext cx="272804" cy="22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Соединительная линия уступом 620">
            <a:extLst>
              <a:ext uri="{FF2B5EF4-FFF2-40B4-BE49-F238E27FC236}">
                <a16:creationId xmlns:a16="http://schemas.microsoft.com/office/drawing/2014/main" id="{467A3C7A-10BB-4FE6-8683-12B1DB01A00A}"/>
              </a:ext>
            </a:extLst>
          </p:cNvPr>
          <p:cNvCxnSpPr>
            <a:cxnSpLocks/>
            <a:stCxn id="247" idx="2"/>
            <a:endCxn id="244" idx="0"/>
          </p:cNvCxnSpPr>
          <p:nvPr/>
        </p:nvCxnSpPr>
        <p:spPr>
          <a:xfrm rot="5400000">
            <a:off x="11231796" y="18542595"/>
            <a:ext cx="26983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Соединительная линия уступом 620">
            <a:extLst>
              <a:ext uri="{FF2B5EF4-FFF2-40B4-BE49-F238E27FC236}">
                <a16:creationId xmlns:a16="http://schemas.microsoft.com/office/drawing/2014/main" id="{2425C51C-549D-421C-BF11-B0F2EB50F05A}"/>
              </a:ext>
            </a:extLst>
          </p:cNvPr>
          <p:cNvCxnSpPr>
            <a:cxnSpLocks/>
            <a:stCxn id="244" idx="2"/>
            <a:endCxn id="388" idx="0"/>
          </p:cNvCxnSpPr>
          <p:nvPr/>
        </p:nvCxnSpPr>
        <p:spPr>
          <a:xfrm rot="5400000">
            <a:off x="10923815" y="19063441"/>
            <a:ext cx="288827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7" name="Прямоугольник 436">
            <a:extLst>
              <a:ext uri="{FF2B5EF4-FFF2-40B4-BE49-F238E27FC236}">
                <a16:creationId xmlns:a16="http://schemas.microsoft.com/office/drawing/2014/main" id="{6739033B-01BE-4768-81A4-8CA2BD9F8CE9}"/>
              </a:ext>
            </a:extLst>
          </p:cNvPr>
          <p:cNvSpPr/>
          <p:nvPr/>
        </p:nvSpPr>
        <p:spPr>
          <a:xfrm>
            <a:off x="9657560" y="1787842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с Германией</a:t>
            </a:r>
            <a:endParaRPr lang="ru-RU" sz="200" dirty="0"/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2150142" y="17872367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  <a:br>
              <a:rPr lang="ru-RU" sz="700" dirty="0"/>
            </a:br>
            <a:r>
              <a:rPr lang="ru-RU" sz="200" dirty="0"/>
              <a:t>(Контакты между националистами на севере и личностями, вовлеченными в орбиту довоенного Берлина, такими как муфтий Иерусалима Хадж Амин аль-</a:t>
            </a:r>
            <a:r>
              <a:rPr lang="ru-RU" sz="200" dirty="0" err="1"/>
              <a:t>Хусейни</a:t>
            </a:r>
            <a:r>
              <a:rPr lang="ru-RU" sz="200" dirty="0"/>
              <a:t>, </a:t>
            </a:r>
            <a:r>
              <a:rPr lang="ru-RU" sz="200" dirty="0" err="1"/>
              <a:t>Шакиб</a:t>
            </a:r>
            <a:r>
              <a:rPr lang="ru-RU" sz="200" dirty="0"/>
              <a:t> Арслан и Рашид, также имели место.¬)</a:t>
            </a:r>
            <a:endParaRPr lang="ru-RU" sz="700" dirty="0"/>
          </a:p>
        </p:txBody>
      </p:sp>
      <p:sp>
        <p:nvSpPr>
          <p:cNvPr id="439" name="Прямоугольник 438">
            <a:extLst>
              <a:ext uri="{FF2B5EF4-FFF2-40B4-BE49-F238E27FC236}">
                <a16:creationId xmlns:a16="http://schemas.microsoft.com/office/drawing/2014/main" id="{AFD50110-D9C3-4DE1-805E-DD1F4D0E74D7}"/>
              </a:ext>
            </a:extLst>
          </p:cNvPr>
          <p:cNvSpPr/>
          <p:nvPr/>
        </p:nvSpPr>
        <p:spPr>
          <a:xfrm>
            <a:off x="9660640" y="1869485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Изгнать марокканских евреев</a:t>
            </a:r>
            <a:endParaRPr lang="ru-RU" sz="200" dirty="0"/>
          </a:p>
        </p:txBody>
      </p:sp>
      <p:cxnSp>
        <p:nvCxnSpPr>
          <p:cNvPr id="440" name="Соединительная линия уступом 620">
            <a:extLst>
              <a:ext uri="{FF2B5EF4-FFF2-40B4-BE49-F238E27FC236}">
                <a16:creationId xmlns:a16="http://schemas.microsoft.com/office/drawing/2014/main" id="{0F9320D7-0E9A-4E2F-A90D-D650D187FDEF}"/>
              </a:ext>
            </a:extLst>
          </p:cNvPr>
          <p:cNvCxnSpPr>
            <a:cxnSpLocks/>
            <a:stCxn id="410" idx="2"/>
            <a:endCxn id="437" idx="0"/>
          </p:cNvCxnSpPr>
          <p:nvPr/>
        </p:nvCxnSpPr>
        <p:spPr>
          <a:xfrm rot="5400000">
            <a:off x="10603087" y="17112510"/>
            <a:ext cx="283550" cy="12482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Соединительная линия уступом 620">
            <a:extLst>
              <a:ext uri="{FF2B5EF4-FFF2-40B4-BE49-F238E27FC236}">
                <a16:creationId xmlns:a16="http://schemas.microsoft.com/office/drawing/2014/main" id="{289F03FB-A37E-407B-85A7-A531665E0698}"/>
              </a:ext>
            </a:extLst>
          </p:cNvPr>
          <p:cNvCxnSpPr>
            <a:cxnSpLocks/>
            <a:stCxn id="437" idx="2"/>
            <a:endCxn id="439" idx="0"/>
          </p:cNvCxnSpPr>
          <p:nvPr/>
        </p:nvCxnSpPr>
        <p:spPr>
          <a:xfrm rot="16200000" flipH="1">
            <a:off x="9984048" y="18555099"/>
            <a:ext cx="276431" cy="3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21501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  <a:br>
              <a:rPr lang="ru-RU" sz="700" dirty="0"/>
            </a:br>
            <a:r>
              <a:rPr lang="ru-RU" sz="300" dirty="0"/>
              <a:t>(Ливан и Рашид) (может </a:t>
            </a:r>
            <a:r>
              <a:rPr lang="ru-RU" sz="300" dirty="0" err="1"/>
              <a:t>гуи</a:t>
            </a:r>
            <a:r>
              <a:rPr lang="ru-RU" sz="300" dirty="0"/>
              <a:t> в виде карты Арабского Мира и портреты королей на странах)</a:t>
            </a:r>
            <a:endParaRPr lang="ru-RU" sz="700" dirty="0"/>
          </a:p>
        </p:txBody>
      </p:sp>
      <p:cxnSp>
        <p:nvCxnSpPr>
          <p:cNvPr id="446" name="Соединительная линия уступом 620">
            <a:extLst>
              <a:ext uri="{FF2B5EF4-FFF2-40B4-BE49-F238E27FC236}">
                <a16:creationId xmlns:a16="http://schemas.microsoft.com/office/drawing/2014/main" id="{BAF22A48-0445-4910-9615-07B9C95F33BF}"/>
              </a:ext>
            </a:extLst>
          </p:cNvPr>
          <p:cNvCxnSpPr>
            <a:cxnSpLocks/>
            <a:stCxn id="410" idx="2"/>
            <a:endCxn id="286" idx="0"/>
          </p:cNvCxnSpPr>
          <p:nvPr/>
        </p:nvCxnSpPr>
        <p:spPr>
          <a:xfrm rot="16200000" flipH="1">
            <a:off x="12060435" y="16903439"/>
            <a:ext cx="1082637" cy="2465505"/>
          </a:xfrm>
          <a:prstGeom prst="bentConnector3">
            <a:avLst>
              <a:gd name="adj1" fmla="val 1246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16200000" flipH="1">
            <a:off x="12480733" y="18544938"/>
            <a:ext cx="26514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Соединительная линия уступом 620">
            <a:extLst>
              <a:ext uri="{FF2B5EF4-FFF2-40B4-BE49-F238E27FC236}">
                <a16:creationId xmlns:a16="http://schemas.microsoft.com/office/drawing/2014/main" id="{2B98F768-D204-4604-B962-EA14A2C665C1}"/>
              </a:ext>
            </a:extLst>
          </p:cNvPr>
          <p:cNvCxnSpPr>
            <a:cxnSpLocks/>
            <a:stCxn id="244" idx="2"/>
            <a:endCxn id="299" idx="0"/>
          </p:cNvCxnSpPr>
          <p:nvPr/>
        </p:nvCxnSpPr>
        <p:spPr>
          <a:xfrm rot="16200000" flipH="1">
            <a:off x="12145471" y="18438753"/>
            <a:ext cx="289356" cy="184687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6FB6D578-DFA8-4CE8-937B-B828957F287F}"/>
              </a:ext>
            </a:extLst>
          </p:cNvPr>
          <p:cNvCxnSpPr>
            <a:cxnSpLocks/>
            <a:stCxn id="445" idx="2"/>
            <a:endCxn id="299" idx="0"/>
          </p:cNvCxnSpPr>
          <p:nvPr/>
        </p:nvCxnSpPr>
        <p:spPr>
          <a:xfrm rot="16200000" flipH="1">
            <a:off x="12768768" y="19062049"/>
            <a:ext cx="289357" cy="6002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650344BC-1870-4F0E-9E78-8868189D65F1}"/>
              </a:ext>
            </a:extLst>
          </p:cNvPr>
          <p:cNvSpPr/>
          <p:nvPr/>
        </p:nvSpPr>
        <p:spPr>
          <a:xfrm>
            <a:off x="12150142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Бея Туниса от французского гнёта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B4C6028A-B393-4A8F-AB7E-AA61247C9DC7}"/>
              </a:ext>
            </a:extLst>
          </p:cNvPr>
          <p:cNvSpPr/>
          <p:nvPr/>
        </p:nvSpPr>
        <p:spPr>
          <a:xfrm>
            <a:off x="11523765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Поделить Алжир между султаном и беем</a:t>
            </a:r>
          </a:p>
        </p:txBody>
      </p:sp>
      <p:cxnSp>
        <p:nvCxnSpPr>
          <p:cNvPr id="465" name="Соединительная линия уступом 620">
            <a:extLst>
              <a:ext uri="{FF2B5EF4-FFF2-40B4-BE49-F238E27FC236}">
                <a16:creationId xmlns:a16="http://schemas.microsoft.com/office/drawing/2014/main" id="{503A91C2-CF9E-4358-A873-96E06E5EDF6A}"/>
              </a:ext>
            </a:extLst>
          </p:cNvPr>
          <p:cNvCxnSpPr>
            <a:cxnSpLocks/>
            <a:stCxn id="299" idx="2"/>
            <a:endCxn id="463" idx="0"/>
          </p:cNvCxnSpPr>
          <p:nvPr/>
        </p:nvCxnSpPr>
        <p:spPr>
          <a:xfrm rot="5400000">
            <a:off x="12783566" y="19876608"/>
            <a:ext cx="259760" cy="600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Соединительная линия уступом 620">
            <a:extLst>
              <a:ext uri="{FF2B5EF4-FFF2-40B4-BE49-F238E27FC236}">
                <a16:creationId xmlns:a16="http://schemas.microsoft.com/office/drawing/2014/main" id="{B7A2BFAC-67D6-4305-95FF-2ED05C01E2FB}"/>
              </a:ext>
            </a:extLst>
          </p:cNvPr>
          <p:cNvCxnSpPr>
            <a:cxnSpLocks/>
            <a:stCxn id="463" idx="2"/>
            <a:endCxn id="464" idx="0"/>
          </p:cNvCxnSpPr>
          <p:nvPr/>
        </p:nvCxnSpPr>
        <p:spPr>
          <a:xfrm rot="5400000">
            <a:off x="12169974" y="20663583"/>
            <a:ext cx="260287" cy="62637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1" name="Прямоугольник 470">
            <a:extLst>
              <a:ext uri="{FF2B5EF4-FFF2-40B4-BE49-F238E27FC236}">
                <a16:creationId xmlns:a16="http://schemas.microsoft.com/office/drawing/2014/main" id="{9FA1C022-691C-4F3D-B4B5-1D247E928869}"/>
              </a:ext>
            </a:extLst>
          </p:cNvPr>
          <p:cNvSpPr/>
          <p:nvPr/>
        </p:nvSpPr>
        <p:spPr>
          <a:xfrm>
            <a:off x="12752200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королевство </a:t>
            </a:r>
            <a:r>
              <a:rPr lang="ru-RU" sz="700" dirty="0" err="1"/>
              <a:t>Сенуситов</a:t>
            </a:r>
            <a:endParaRPr lang="ru-RU" sz="700" dirty="0"/>
          </a:p>
        </p:txBody>
      </p:sp>
      <p:cxnSp>
        <p:nvCxnSpPr>
          <p:cNvPr id="473" name="Соединительная линия уступом 620">
            <a:extLst>
              <a:ext uri="{FF2B5EF4-FFF2-40B4-BE49-F238E27FC236}">
                <a16:creationId xmlns:a16="http://schemas.microsoft.com/office/drawing/2014/main" id="{E20EFA4A-145D-49CC-98D7-D6C9C8DB6250}"/>
              </a:ext>
            </a:extLst>
          </p:cNvPr>
          <p:cNvCxnSpPr>
            <a:cxnSpLocks/>
            <a:stCxn id="463" idx="2"/>
            <a:endCxn id="471" idx="0"/>
          </p:cNvCxnSpPr>
          <p:nvPr/>
        </p:nvCxnSpPr>
        <p:spPr>
          <a:xfrm rot="16200000" flipH="1">
            <a:off x="12784191" y="20675742"/>
            <a:ext cx="260287" cy="60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C4877405-2FC0-41D1-89B9-92A1CE16E115}"/>
              </a:ext>
            </a:extLst>
          </p:cNvPr>
          <p:cNvSpPr/>
          <p:nvPr/>
        </p:nvSpPr>
        <p:spPr>
          <a:xfrm>
            <a:off x="14000328" y="195004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Объединиться с королями арабов</a:t>
            </a:r>
          </a:p>
        </p:txBody>
      </p:sp>
      <p:cxnSp>
        <p:nvCxnSpPr>
          <p:cNvPr id="477" name="Соединительная линия уступом 620">
            <a:extLst>
              <a:ext uri="{FF2B5EF4-FFF2-40B4-BE49-F238E27FC236}">
                <a16:creationId xmlns:a16="http://schemas.microsoft.com/office/drawing/2014/main" id="{C65BA08B-A094-49AA-9B25-ADF84BAC3B08}"/>
              </a:ext>
            </a:extLst>
          </p:cNvPr>
          <p:cNvCxnSpPr>
            <a:cxnSpLocks/>
            <a:stCxn id="445" idx="2"/>
            <a:endCxn id="476" idx="0"/>
          </p:cNvCxnSpPr>
          <p:nvPr/>
        </p:nvCxnSpPr>
        <p:spPr>
          <a:xfrm rot="16200000" flipH="1">
            <a:off x="13396950" y="18433866"/>
            <a:ext cx="282897" cy="18501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0" name="Прямоугольник 479">
            <a:extLst>
              <a:ext uri="{FF2B5EF4-FFF2-40B4-BE49-F238E27FC236}">
                <a16:creationId xmlns:a16="http://schemas.microsoft.com/office/drawing/2014/main" id="{8C02F0DB-A2BB-4711-BC0F-339E3C4ED827}"/>
              </a:ext>
            </a:extLst>
          </p:cNvPr>
          <p:cNvSpPr/>
          <p:nvPr/>
        </p:nvSpPr>
        <p:spPr>
          <a:xfrm>
            <a:off x="13377867" y="2031111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Спасти святые земли</a:t>
            </a:r>
          </a:p>
        </p:txBody>
      </p:sp>
      <p:cxnSp>
        <p:nvCxnSpPr>
          <p:cNvPr id="481" name="Прямая соединительная линия 480">
            <a:extLst>
              <a:ext uri="{FF2B5EF4-FFF2-40B4-BE49-F238E27FC236}">
                <a16:creationId xmlns:a16="http://schemas.microsoft.com/office/drawing/2014/main" id="{33A58044-D3D1-45D5-881C-2597CEC56D5B}"/>
              </a:ext>
            </a:extLst>
          </p:cNvPr>
          <p:cNvCxnSpPr>
            <a:cxnSpLocks/>
            <a:stCxn id="299" idx="1"/>
            <a:endCxn id="388" idx="3"/>
          </p:cNvCxnSpPr>
          <p:nvPr/>
        </p:nvCxnSpPr>
        <p:spPr>
          <a:xfrm flipH="1" flipV="1">
            <a:off x="11232905" y="19776339"/>
            <a:ext cx="1517518" cy="529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Соединительная линия уступом 620">
            <a:extLst>
              <a:ext uri="{FF2B5EF4-FFF2-40B4-BE49-F238E27FC236}">
                <a16:creationId xmlns:a16="http://schemas.microsoft.com/office/drawing/2014/main" id="{D723A5DC-2D38-496C-831E-DD515F89FD92}"/>
              </a:ext>
            </a:extLst>
          </p:cNvPr>
          <p:cNvCxnSpPr>
            <a:cxnSpLocks/>
            <a:stCxn id="299" idx="2"/>
            <a:endCxn id="480" idx="0"/>
          </p:cNvCxnSpPr>
          <p:nvPr/>
        </p:nvCxnSpPr>
        <p:spPr>
          <a:xfrm rot="16200000" flipH="1">
            <a:off x="13395185" y="19865269"/>
            <a:ext cx="264246" cy="62744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5" name="Прямоугольник 494">
            <a:extLst>
              <a:ext uri="{FF2B5EF4-FFF2-40B4-BE49-F238E27FC236}">
                <a16:creationId xmlns:a16="http://schemas.microsoft.com/office/drawing/2014/main" id="{B4EBCBB4-0F46-419E-B5D5-FC26FA0BF919}"/>
              </a:ext>
            </a:extLst>
          </p:cNvPr>
          <p:cNvSpPr/>
          <p:nvPr/>
        </p:nvSpPr>
        <p:spPr>
          <a:xfrm>
            <a:off x="12752199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Сместить недостойного </a:t>
            </a:r>
            <a:r>
              <a:rPr lang="ru-RU" sz="700" dirty="0" err="1"/>
              <a:t>Фаррука</a:t>
            </a:r>
            <a:endParaRPr lang="ru-RU" sz="700" dirty="0"/>
          </a:p>
        </p:txBody>
      </p:sp>
      <p:cxnSp>
        <p:nvCxnSpPr>
          <p:cNvPr id="496" name="Соединительная линия уступом 620">
            <a:extLst>
              <a:ext uri="{FF2B5EF4-FFF2-40B4-BE49-F238E27FC236}">
                <a16:creationId xmlns:a16="http://schemas.microsoft.com/office/drawing/2014/main" id="{92205E9D-8331-41D1-B409-CFD0984BFFFA}"/>
              </a:ext>
            </a:extLst>
          </p:cNvPr>
          <p:cNvCxnSpPr>
            <a:cxnSpLocks/>
            <a:stCxn id="471" idx="2"/>
            <a:endCxn id="495" idx="0"/>
          </p:cNvCxnSpPr>
          <p:nvPr/>
        </p:nvCxnSpPr>
        <p:spPr>
          <a:xfrm rot="5400000">
            <a:off x="13085484" y="21776794"/>
            <a:ext cx="25975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9" name="Прямоугольник 498">
            <a:extLst>
              <a:ext uri="{FF2B5EF4-FFF2-40B4-BE49-F238E27FC236}">
                <a16:creationId xmlns:a16="http://schemas.microsoft.com/office/drawing/2014/main" id="{8248E5C5-861C-4B3A-AB08-BEA35760CFE6}"/>
              </a:ext>
            </a:extLst>
          </p:cNvPr>
          <p:cNvSpPr/>
          <p:nvPr/>
        </p:nvSpPr>
        <p:spPr>
          <a:xfrm>
            <a:off x="14000328" y="2190342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Мекку</a:t>
            </a: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557FAF48-D874-470D-BE40-9E02258506A6}"/>
              </a:ext>
            </a:extLst>
          </p:cNvPr>
          <p:cNvSpPr/>
          <p:nvPr/>
        </p:nvSpPr>
        <p:spPr>
          <a:xfrm>
            <a:off x="14000329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Совет королей</a:t>
            </a:r>
          </a:p>
        </p:txBody>
      </p:sp>
      <p:cxnSp>
        <p:nvCxnSpPr>
          <p:cNvPr id="502" name="Соединительная линия уступом 620">
            <a:extLst>
              <a:ext uri="{FF2B5EF4-FFF2-40B4-BE49-F238E27FC236}">
                <a16:creationId xmlns:a16="http://schemas.microsoft.com/office/drawing/2014/main" id="{46B695DF-0CE6-47C1-989E-ABB5C4051389}"/>
              </a:ext>
            </a:extLst>
          </p:cNvPr>
          <p:cNvCxnSpPr>
            <a:cxnSpLocks/>
            <a:stCxn id="480" idx="2"/>
            <a:endCxn id="501" idx="0"/>
          </p:cNvCxnSpPr>
          <p:nvPr/>
        </p:nvCxnSpPr>
        <p:spPr>
          <a:xfrm rot="16200000" flipH="1">
            <a:off x="14024361" y="20667783"/>
            <a:ext cx="255801" cy="6224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5" name="Соединительная линия уступом 620">
            <a:extLst>
              <a:ext uri="{FF2B5EF4-FFF2-40B4-BE49-F238E27FC236}">
                <a16:creationId xmlns:a16="http://schemas.microsoft.com/office/drawing/2014/main" id="{4FFBC942-3FB4-4F84-9677-3EAA1CEDCA48}"/>
              </a:ext>
            </a:extLst>
          </p:cNvPr>
          <p:cNvCxnSpPr>
            <a:cxnSpLocks/>
            <a:stCxn id="476" idx="2"/>
            <a:endCxn id="501" idx="0"/>
          </p:cNvCxnSpPr>
          <p:nvPr/>
        </p:nvCxnSpPr>
        <p:spPr>
          <a:xfrm rot="16200000" flipH="1">
            <a:off x="13930238" y="20573660"/>
            <a:ext cx="106650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38845350-9EFD-4225-BF8E-4B28D856BAB0}"/>
              </a:ext>
            </a:extLst>
          </p:cNvPr>
          <p:cNvSpPr/>
          <p:nvPr/>
        </p:nvSpPr>
        <p:spPr>
          <a:xfrm>
            <a:off x="10310813" y="227738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воссоздании Аль-</a:t>
            </a:r>
            <a:r>
              <a:rPr lang="ru-RU" sz="700" dirty="0" err="1"/>
              <a:t>Андулуса</a:t>
            </a:r>
            <a:endParaRPr lang="ru-RU" sz="700" dirty="0"/>
          </a:p>
        </p:txBody>
      </p:sp>
      <p:cxnSp>
        <p:nvCxnSpPr>
          <p:cNvPr id="525" name="Соединительная линия уступом 620">
            <a:extLst>
              <a:ext uri="{FF2B5EF4-FFF2-40B4-BE49-F238E27FC236}">
                <a16:creationId xmlns:a16="http://schemas.microsoft.com/office/drawing/2014/main" id="{828CC0F5-AA67-4601-B98A-88020B70EA82}"/>
              </a:ext>
            </a:extLst>
          </p:cNvPr>
          <p:cNvCxnSpPr>
            <a:cxnSpLocks/>
            <a:stCxn id="501" idx="2"/>
            <a:endCxn id="499" idx="0"/>
          </p:cNvCxnSpPr>
          <p:nvPr/>
        </p:nvCxnSpPr>
        <p:spPr>
          <a:xfrm rot="5400000">
            <a:off x="14335239" y="21775168"/>
            <a:ext cx="25650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Соединительная линия уступом 620">
            <a:extLst>
              <a:ext uri="{FF2B5EF4-FFF2-40B4-BE49-F238E27FC236}">
                <a16:creationId xmlns:a16="http://schemas.microsoft.com/office/drawing/2014/main" id="{BD31974B-8C00-4D1B-8404-16ABC0BD6776}"/>
              </a:ext>
            </a:extLst>
          </p:cNvPr>
          <p:cNvCxnSpPr>
            <a:cxnSpLocks/>
            <a:stCxn id="399" idx="2"/>
            <a:endCxn id="524" idx="0"/>
          </p:cNvCxnSpPr>
          <p:nvPr/>
        </p:nvCxnSpPr>
        <p:spPr>
          <a:xfrm rot="5400000">
            <a:off x="10903347" y="22317303"/>
            <a:ext cx="327134" cy="5858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Соединительная линия уступом 620">
            <a:extLst>
              <a:ext uri="{FF2B5EF4-FFF2-40B4-BE49-F238E27FC236}">
                <a16:creationId xmlns:a16="http://schemas.microsoft.com/office/drawing/2014/main" id="{062A1D1C-4E68-49B0-89B3-9869C6922BC4}"/>
              </a:ext>
            </a:extLst>
          </p:cNvPr>
          <p:cNvCxnSpPr>
            <a:cxnSpLocks/>
            <a:stCxn id="401" idx="2"/>
            <a:endCxn id="524" idx="0"/>
          </p:cNvCxnSpPr>
          <p:nvPr/>
        </p:nvCxnSpPr>
        <p:spPr>
          <a:xfrm rot="16200000" flipH="1">
            <a:off x="10311911" y="22311743"/>
            <a:ext cx="327134" cy="5969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5" name="Прямоугольник 534">
            <a:extLst>
              <a:ext uri="{FF2B5EF4-FFF2-40B4-BE49-F238E27FC236}">
                <a16:creationId xmlns:a16="http://schemas.microsoft.com/office/drawing/2014/main" id="{0EF51C39-5CDB-4991-B859-6F3CB100F62B}"/>
              </a:ext>
            </a:extLst>
          </p:cNvPr>
          <p:cNvSpPr/>
          <p:nvPr/>
        </p:nvSpPr>
        <p:spPr>
          <a:xfrm>
            <a:off x="13377867" y="227738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создании Федерации арабских королевств</a:t>
            </a:r>
          </a:p>
        </p:txBody>
      </p:sp>
      <p:cxnSp>
        <p:nvCxnSpPr>
          <p:cNvPr id="536" name="Соединительная линия уступом 620">
            <a:extLst>
              <a:ext uri="{FF2B5EF4-FFF2-40B4-BE49-F238E27FC236}">
                <a16:creationId xmlns:a16="http://schemas.microsoft.com/office/drawing/2014/main" id="{70499EFD-2CD6-4B5A-BCCE-FD0B9B26485B}"/>
              </a:ext>
            </a:extLst>
          </p:cNvPr>
          <p:cNvCxnSpPr>
            <a:cxnSpLocks/>
            <a:stCxn id="495" idx="2"/>
            <a:endCxn id="535" idx="0"/>
          </p:cNvCxnSpPr>
          <p:nvPr/>
        </p:nvCxnSpPr>
        <p:spPr>
          <a:xfrm rot="16200000" flipH="1">
            <a:off x="13364629" y="22297407"/>
            <a:ext cx="327134" cy="6256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Соединительная линия уступом 620">
            <a:extLst>
              <a:ext uri="{FF2B5EF4-FFF2-40B4-BE49-F238E27FC236}">
                <a16:creationId xmlns:a16="http://schemas.microsoft.com/office/drawing/2014/main" id="{035D5408-D287-4FEE-B46A-9DAE78A1D826}"/>
              </a:ext>
            </a:extLst>
          </p:cNvPr>
          <p:cNvCxnSpPr>
            <a:cxnSpLocks/>
            <a:stCxn id="499" idx="2"/>
            <a:endCxn id="535" idx="0"/>
          </p:cNvCxnSpPr>
          <p:nvPr/>
        </p:nvCxnSpPr>
        <p:spPr>
          <a:xfrm rot="5400000">
            <a:off x="13987068" y="22297384"/>
            <a:ext cx="330387" cy="6224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 </a:t>
            </a:r>
            <a:r>
              <a:rPr lang="ru-RU" sz="400" dirty="0"/>
              <a:t>(Конституционная демократия с ограничением власти монарха и разделением властей.)</a:t>
            </a:r>
            <a:endParaRPr lang="ru-RU" sz="800" dirty="0"/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  <a:p>
            <a:pPr algn="ctr"/>
            <a:r>
              <a:rPr lang="ru-RU" sz="200" dirty="0"/>
              <a:t>(Исламский традиционализм и </a:t>
            </a:r>
            <a:r>
              <a:rPr lang="ru-RU" sz="200" dirty="0" err="1"/>
              <a:t>салафитский</a:t>
            </a:r>
            <a:r>
              <a:rPr lang="ru-RU" sz="200" dirty="0"/>
              <a:t> реформизм. Ставка на религиозное обновление.)</a:t>
            </a:r>
            <a:endParaRPr lang="ru-RU" sz="700" dirty="0"/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Присяга Племен (</a:t>
            </a:r>
            <a:r>
              <a:rPr lang="ru-RU" sz="700" dirty="0" err="1"/>
              <a:t>Байа</a:t>
            </a:r>
            <a:r>
              <a:rPr lang="ru-RU" sz="700" dirty="0"/>
              <a:t>)</a:t>
            </a:r>
            <a:br>
              <a:rPr lang="ru-RU" sz="700" dirty="0"/>
            </a:br>
            <a:r>
              <a:rPr lang="ru-RU" sz="200" dirty="0"/>
              <a:t>Восстановление древнего ритуала, когда вожди всех племен лично клянутся в верности королю. Фокус снижает </a:t>
            </a:r>
            <a:r>
              <a:rPr lang="ru-RU" sz="200" dirty="0" err="1"/>
              <a:t>дебаффы</a:t>
            </a:r>
            <a:r>
              <a:rPr lang="ru-RU" sz="200" dirty="0"/>
              <a:t> от автономии регионов до нуля.</a:t>
            </a:r>
            <a:endParaRPr lang="ru-RU" sz="700" dirty="0"/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Мароккансая</a:t>
            </a:r>
            <a:r>
              <a:rPr lang="ru-RU" sz="700" dirty="0"/>
              <a:t>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821580" y="4820906"/>
            <a:ext cx="272802" cy="179475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9801643" y="14983756"/>
            <a:ext cx="337947" cy="55534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0408445" y="14932298"/>
            <a:ext cx="337947" cy="65826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6479535" y="14958474"/>
            <a:ext cx="337947" cy="6059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7099653" y="14944264"/>
            <a:ext cx="337947" cy="6343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6484428" y="1623111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  <a:br>
              <a:rPr lang="ru-RU" sz="700" dirty="0"/>
            </a:br>
            <a:r>
              <a:rPr lang="ru-RU" sz="100" dirty="0"/>
              <a:t>(Историко-игровое </a:t>
            </a:r>
            <a:r>
              <a:rPr lang="ru-RU" sz="100" dirty="0" err="1"/>
              <a:t>описание:«Пока</a:t>
            </a:r>
            <a:r>
              <a:rPr lang="ru-RU" sz="100" dirty="0"/>
              <a:t> в Европе разгорается Вторая мировая война, Танжер может стать тихой гаванью для бегущих капиталов. Ослабив банковский контроль и закрыв глаза на контрабандные рынки, мы превратим город в центр теневой торговли дефицитным сырьем, станками и валютой. Все это пойдет на нужды нашей марокканской промышленности».⚙️ Игровые </a:t>
            </a:r>
            <a:r>
              <a:rPr lang="ru-RU" sz="100" dirty="0" err="1"/>
              <a:t>эффекты:Прямой</a:t>
            </a:r>
            <a:r>
              <a:rPr lang="ru-RU" sz="100" dirty="0"/>
              <a:t> финансовый </a:t>
            </a:r>
            <a:r>
              <a:rPr lang="ru-RU" sz="100" dirty="0" err="1"/>
              <a:t>прирост:Прирост</a:t>
            </a:r>
            <a:r>
              <a:rPr lang="ru-RU" sz="100" dirty="0"/>
              <a:t> политической власти: +120 (символизирует взятки и налоги с банкиров).Прибыль гражданской промышленности (</a:t>
            </a:r>
            <a:r>
              <a:rPr lang="ru-RU" sz="100" dirty="0" err="1"/>
              <a:t>Consumer</a:t>
            </a:r>
            <a:r>
              <a:rPr lang="ru-RU" sz="100" dirty="0"/>
              <a:t> </a:t>
            </a:r>
            <a:r>
              <a:rPr lang="ru-RU" sz="100" dirty="0" err="1"/>
              <a:t>Goods</a:t>
            </a:r>
            <a:r>
              <a:rPr lang="ru-RU" sz="100" dirty="0"/>
              <a:t> </a:t>
            </a:r>
            <a:r>
              <a:rPr lang="ru-RU" sz="100" dirty="0" err="1"/>
              <a:t>Factories</a:t>
            </a:r>
            <a:r>
              <a:rPr lang="ru-RU" sz="100" dirty="0"/>
              <a:t>): −3% (снижение товаров народного потребления, так как экономика насыщается за счет контрабанды).)</a:t>
            </a:r>
            <a:endParaRPr lang="ru-RU" sz="700" dirty="0"/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5400000">
            <a:off x="7136336" y="15781658"/>
            <a:ext cx="260710" cy="6381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6516217" y="15799738"/>
            <a:ext cx="260710" cy="6020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5888253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16200000" flipH="1">
            <a:off x="5804764" y="16511192"/>
            <a:ext cx="1087442" cy="58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7179578" y="1900276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7488501" y="2029590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392749" y="4314066"/>
            <a:ext cx="270003" cy="1191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54397</TotalTime>
  <Words>1267</Words>
  <Application>Microsoft Office PowerPoint</Application>
  <PresentationFormat>Произвольный</PresentationFormat>
  <Paragraphs>211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2455</cp:revision>
  <dcterms:created xsi:type="dcterms:W3CDTF">2018-10-23T08:09:21Z</dcterms:created>
  <dcterms:modified xsi:type="dcterms:W3CDTF">2026-06-24T17:32:20Z</dcterms:modified>
</cp:coreProperties>
</file>