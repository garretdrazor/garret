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150" d="100"/>
          <a:sy n="150" d="100"/>
        </p:scale>
        <p:origin x="-10320" y="-1762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1789141" y="1448062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1460033" y="14566300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2695578" y="14577351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2408283" y="1616582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0542545" y="153585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3013635" y="15358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1468870" y="15628571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3040498" y="15729520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1804952" y="15099327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0564028" y="15721761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13630942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9924054" y="1616344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9923406" y="169813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8681022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1165251" y="1616856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</a:t>
            </a:r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9942865" y="15099892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0247929" y="16842082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1165250" y="169813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</a:t>
            </a:r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1492013" y="16844970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2406449" y="1698363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2408282" y="178014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</a:t>
            </a:r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2731623" y="16843810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2731622" y="17661622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1182062" y="15722217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2417608" y="15109378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1789141" y="186033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</a:t>
            </a:r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1512187" y="16638689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0276641" y="16627638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9005221" y="1684170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1165249" y="178014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9309088" y="177993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9940446" y="17353176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67" idx="2"/>
            <a:endCxn id="43" idx="0"/>
          </p:cNvCxnSpPr>
          <p:nvPr/>
        </p:nvCxnSpPr>
        <p:spPr>
          <a:xfrm rot="16200000" flipH="1">
            <a:off x="9318900" y="17345948"/>
            <a:ext cx="278635" cy="6280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1488376" y="17661408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13653369" y="15722000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14869793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14272795" y="15102575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2406449" y="1962389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8681021" y="169806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с равнин</a:t>
            </a:r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2320660" y="19074945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8684831" y="186033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</a:t>
            </a:r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8604771" y="18060078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14869792" y="169806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15193992" y="1684170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13633037" y="177993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2840607" y="18368305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1165248" y="1962389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13546870" y="17249970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1700060" y="19071653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1165248" y="2055734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13625113" y="2055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2052287" y="19740023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3282421" y="19751089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21587346" y="1530518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22823243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21587347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</a:t>
            </a: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22196357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20348496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20957506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21566616" y="15699236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22186041" y="15709650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21603508" y="16540290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22222934" y="16550706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22840882" y="16541768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20984083" y="16550706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21603509" y="15931281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21274821" y="17257293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21588878" y="1780522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22825284" y="1780522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21912311" y="17665491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16200000" flipH="1">
            <a:off x="23148461" y="17665237"/>
            <a:ext cx="277930" cy="20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22823715" y="185790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102" idx="2"/>
            <a:endCxn id="113" idx="0"/>
          </p:cNvCxnSpPr>
          <p:nvPr/>
        </p:nvCxnSpPr>
        <p:spPr>
          <a:xfrm rot="5400000">
            <a:off x="23170750" y="18461352"/>
            <a:ext cx="233826" cy="15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6340011" y="177789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6340010" y="193797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5722790" y="185790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6964850" y="185790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6364514" y="18140392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6985543" y="18136582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7593019" y="201871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7593020" y="1938643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6895939" y="18226186"/>
            <a:ext cx="1067479" cy="1253009"/>
          </a:xfrm>
          <a:prstGeom prst="bentConnector3">
            <a:avLst>
              <a:gd name="adj1" fmla="val 1056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7925828" y="20056786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4480730" y="185790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5743485" y="1751936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4483158" y="193797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4814752" y="19248191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6964850" y="153761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6340009" y="16177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6340009" y="2018047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5722013" y="1456036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6340010" y="169782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7582069" y="1697823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7582070" y="16177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5722014" y="153768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096069" y="161775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096070" y="17774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096069" y="1697823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4487081" y="1538123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  <a:p>
            <a:pPr algn="ctr"/>
            <a:r>
              <a:rPr lang="ru-RU" sz="100" dirty="0"/>
              <a:t>(После прихода к власти левых во Франции летом 1936 года по всему Марокко прокатилась волна рабочих протестов. Крупнейшие забастовки вспыхнули на фосфатных рудниках </a:t>
            </a:r>
            <a:r>
              <a:rPr lang="ru-RU" sz="100" dirty="0" err="1"/>
              <a:t>Хурибги</a:t>
            </a:r>
            <a:r>
              <a:rPr lang="ru-RU" sz="100" dirty="0"/>
              <a:t>. Французский генеральный 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был вынужден пойти на экономические уступки местному </a:t>
            </a:r>
            <a:r>
              <a:rPr lang="ru-RU" sz="100" dirty="0" err="1"/>
              <a:t>населению:Была</a:t>
            </a:r>
            <a:r>
              <a:rPr lang="ru-RU" sz="100" dirty="0"/>
              <a:t> законодательно увеличена минимальная заработная плата для марокканских </a:t>
            </a:r>
            <a:r>
              <a:rPr lang="ru-RU" sz="100" dirty="0" err="1"/>
              <a:t>рабочих.Была</a:t>
            </a:r>
            <a:r>
              <a:rPr lang="ru-RU" sz="100" dirty="0"/>
              <a:t> введена официальная 40-часовая рабочая неделя (для европейских специалистов) и сокращен рабочий день для местных шахтеров.)</a:t>
            </a:r>
            <a:endParaRPr lang="ru-RU" sz="600" dirty="0"/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7582068" y="177789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5431089" y="17646374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7914876" y="16847875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7914874" y="17648590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6672814" y="16847875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7293845" y="16226846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7293843" y="17027563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6672815" y="17648592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3852129" y="161775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4778454" y="16447517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3852128" y="169786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4504625" y="15731898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126595" y="15744880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4806700" y="16226109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4184730" y="16848079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4806905" y="16225904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5428875" y="16847874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046957" y="15238580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6363815" y="15738161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7605952" y="15738236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4319855" y="16712953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4941825" y="17334923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4940885" y="16091923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5562855" y="16713893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6672819" y="20050115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3852127" y="177690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4811852" y="17021670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5427276" y="14623330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6668688" y="14616849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племён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309318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помощь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686865" y="42435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  <a:br>
              <a:rPr lang="ru-RU" sz="700" dirty="0"/>
            </a:br>
            <a:r>
              <a:rPr lang="ru-RU" sz="200" dirty="0"/>
              <a:t>Ликвидатор феодализма (</a:t>
            </a:r>
            <a:r>
              <a:rPr lang="ru-RU" sz="200" dirty="0" err="1"/>
              <a:t>Liquidator</a:t>
            </a:r>
            <a:r>
              <a:rPr lang="ru-RU" sz="200" dirty="0"/>
              <a:t> </a:t>
            </a:r>
            <a:r>
              <a:rPr lang="ru-RU" sz="200" dirty="0" err="1"/>
              <a:t>of</a:t>
            </a:r>
            <a:r>
              <a:rPr lang="ru-RU" sz="200" dirty="0"/>
              <a:t> </a:t>
            </a:r>
            <a:r>
              <a:rPr lang="ru-RU" sz="200" dirty="0" err="1"/>
              <a:t>Feudalism</a:t>
            </a:r>
            <a:r>
              <a:rPr lang="ru-RU" sz="200" dirty="0"/>
              <a:t>)Активируется через фокус «Упразднить </a:t>
            </a:r>
            <a:r>
              <a:rPr lang="ru-RU" sz="200" dirty="0" err="1"/>
              <a:t>Махзен</a:t>
            </a:r>
            <a:r>
              <a:rPr lang="ru-RU" sz="200" dirty="0"/>
              <a:t> и Султанат».🛑 Популярность нейтральной (монархической) идеологии: -0.05 в день.🛠️ Скорость конверсии гражданских фабрик в военные заводы: +15%📉 Краткосрочный штраф к стабильности: -5.00% (из-за сопротивления роялистов). В конце 1950-х — начале 1990-х годов видные марокканские евреи отвергали определенные политические решения монархии и ее поворот к авторитаризму. Однако они не оспаривали легитимность самой монархии. Они боролись за идеализированное видение Марокко, в то время как большинство марокканских евреев покидали страну.¬</a:t>
            </a:r>
            <a:endParaRPr lang="ru-RU" sz="700" dirty="0"/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418423" y="3511956"/>
            <a:ext cx="275907" cy="118730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8012961" y="4104722"/>
            <a:ext cx="275907" cy="177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823885" y="2917419"/>
            <a:ext cx="275908" cy="23763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5400000">
            <a:off x="15638067" y="4102069"/>
            <a:ext cx="269999" cy="116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232604" y="3507532"/>
            <a:ext cx="269998" cy="119024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6827142" y="2912995"/>
            <a:ext cx="269998" cy="237931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Новое правительство Марокко согласовано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680148" y="343416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997924" y="3288147"/>
            <a:ext cx="291402" cy="6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679402" y="425581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5400000">
            <a:off x="5002113" y="4114613"/>
            <a:ext cx="281650" cy="7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7052016" y="501806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841975" y="504211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махзену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8863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20345159" y="1780257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Использовать движение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17379316" y="1617666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r>
              <a:rPr lang="ru-RU" sz="100" dirty="0"/>
              <a:t>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16237141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16789451" y="153250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9844869" y="161807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19229281" y="1530280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18658553" y="161807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Транссахарская</a:t>
            </a:r>
            <a:r>
              <a:rPr lang="ru-RU" sz="700" dirty="0"/>
              <a:t> железная дорога: Фес — Нуакшот</a:t>
            </a:r>
            <a:endParaRPr lang="ru-RU" sz="6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18013349" y="178025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9284815" y="15036881"/>
            <a:ext cx="1957392" cy="3573997"/>
          </a:xfrm>
          <a:prstGeom prst="bentConnector3">
            <a:avLst>
              <a:gd name="adj1" fmla="val 847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16895791" y="16221853"/>
            <a:ext cx="1937545" cy="1223898"/>
          </a:xfrm>
          <a:prstGeom prst="bentConnector3">
            <a:avLst>
              <a:gd name="adj1" fmla="val 805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18104592" y="16214723"/>
            <a:ext cx="1959772" cy="1215932"/>
          </a:xfrm>
          <a:prstGeom prst="bentConnector3">
            <a:avLst>
              <a:gd name="adj1" fmla="val 885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374044" y="5522349"/>
            <a:ext cx="1105423" cy="1176849"/>
          </a:xfrm>
          <a:prstGeom prst="bentConnector3">
            <a:avLst>
              <a:gd name="adj1" fmla="val 132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7074624" y="5411891"/>
            <a:ext cx="294385" cy="5867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9171394" y="5715862"/>
            <a:ext cx="267712" cy="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721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959194" y="6114046"/>
            <a:ext cx="1114084" cy="21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95326" y="7045272"/>
            <a:ext cx="255094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Национальная партия </a:t>
            </a:r>
            <a:r>
              <a:rPr lang="ru-RU" sz="700" dirty="0" err="1"/>
              <a:t>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681737" y="58601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4157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433802" y="4333674"/>
            <a:ext cx="246627" cy="11709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939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компартии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317825" y="4620550"/>
            <a:ext cx="243581" cy="5941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419422" y="5134680"/>
            <a:ext cx="277721" cy="117323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918771" y="6626287"/>
            <a:ext cx="1041416" cy="589159"/>
          </a:xfrm>
          <a:prstGeom prst="bentConnector3">
            <a:avLst>
              <a:gd name="adj1" fmla="val 115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5400000">
            <a:off x="5010976" y="6533121"/>
            <a:ext cx="266887" cy="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38914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4657" y="7028522"/>
            <a:ext cx="263056" cy="5917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2465" y="7023723"/>
            <a:ext cx="261831" cy="6026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026427" y="504188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махзен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694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Панарабские амбиции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Назначить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5400000">
            <a:off x="10357212" y="4907425"/>
            <a:ext cx="266838" cy="2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16200000" flipH="1">
            <a:off x="10360134" y="5711340"/>
            <a:ext cx="262228" cy="331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2117" y="5924900"/>
            <a:ext cx="268774" cy="11871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859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0948155" y="5123318"/>
            <a:ext cx="275032" cy="11921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5400000">
            <a:off x="11552943" y="6524076"/>
            <a:ext cx="255970" cy="165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5400000">
            <a:off x="11551841" y="7320594"/>
            <a:ext cx="255970" cy="5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9171715" y="4908470"/>
            <a:ext cx="267072" cy="2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6985239" y="18936986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6364209" y="18940796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</a:t>
            </a:r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2423" y="8135596"/>
            <a:ext cx="2793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19844868" y="185790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потомков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20033967" y="17801357"/>
            <a:ext cx="1051756" cy="503628"/>
          </a:xfrm>
          <a:prstGeom prst="bentConnector3">
            <a:avLst>
              <a:gd name="adj1" fmla="val 134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20673444" y="17665508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19223009" y="1780257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</a:p>
        </p:txBody>
      </p: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18656898" y="18579049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</a:p>
        </p:txBody>
      </p: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5400000">
            <a:off x="19284880" y="18177757"/>
            <a:ext cx="236474" cy="5661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</a:t>
            </a:r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16200000" flipH="1">
            <a:off x="10355433" y="8132179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4359" y="6730198"/>
            <a:ext cx="263056" cy="11884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960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5400000">
            <a:off x="10355434" y="8945755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5720" y="1068689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Присяга племён</a:t>
            </a:r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171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200766" y="10556401"/>
            <a:ext cx="258608" cy="23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8901" y="1229496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8093" y="11870994"/>
            <a:ext cx="257050" cy="5908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171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10642" y="11173543"/>
            <a:ext cx="1061866" cy="1180977"/>
          </a:xfrm>
          <a:prstGeom prst="bentConnector3">
            <a:avLst>
              <a:gd name="adj1" fmla="val 93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16200000" flipH="1">
            <a:off x="5796436" y="11759337"/>
            <a:ext cx="1068074" cy="31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5400000">
            <a:off x="7383263" y="10559898"/>
            <a:ext cx="264816" cy="15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8425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6157" y="11161818"/>
            <a:ext cx="1061250" cy="1203812"/>
          </a:xfrm>
          <a:prstGeom prst="bentConnector3">
            <a:avLst>
              <a:gd name="adj1" fmla="val 871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5004" y="11863597"/>
            <a:ext cx="260625" cy="60087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0843" y="12667366"/>
            <a:ext cx="257050" cy="59101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9744" y="12667284"/>
            <a:ext cx="256434" cy="5917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0816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5400000">
            <a:off x="3827258" y="8132922"/>
            <a:ext cx="288386" cy="2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292109" y="7828015"/>
            <a:ext cx="288390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Марокканская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  <a:br>
              <a:rPr lang="ru-RU" sz="100" dirty="0"/>
            </a:br>
            <a:r>
              <a:rPr lang="ru-RU" sz="100" dirty="0"/>
              <a:t>В ходе своего выступления Султан утверждал, что для победы над фашизмом необходимо «единство французского и марокканского народов, независимо от религии, которое является частным и личным».136 Действительно, Султан однажды заявил, что в Коране нет ничего, что препятствовало бы мусульманам участвовать в коммунистической или профсоюзной деятельности, потому что, в конце концов, «в 600 году Сиди Мухаммад не думал ни о Всеобщей конфедерации труда, ни о Коммунистической партии»)</a:t>
            </a:r>
            <a:endParaRPr lang="ru-RU" sz="600" dirty="0"/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  <a:br>
              <a:rPr lang="ru-RU" sz="700" dirty="0"/>
            </a:br>
            <a:r>
              <a:rPr lang="ru-RU" sz="300" dirty="0"/>
              <a:t>(Марокканские еврейские коммунисты боролись за идеализированное Марокко, которое так и не воплотилось в жизнь.)</a:t>
            </a:r>
            <a:endParaRPr lang="ru-RU" sz="700" dirty="0"/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  <a:br>
              <a:rPr lang="ru-RU" sz="700" dirty="0"/>
            </a:br>
            <a:r>
              <a:rPr lang="ru-RU" sz="100" dirty="0"/>
              <a:t>(В июне 1935 года в Марокко был создан официальный «Антифашистский комитет», члены которого уже предпринимали значительные действия. Будучи предшественником Марокканского народного фронта (официально основанного в марте 1936 года), Антифашистский комитет включал в себя многочисленные организации «</a:t>
            </a:r>
            <a:r>
              <a:rPr lang="ru-RU" sz="100" dirty="0" err="1"/>
              <a:t>Амикале</a:t>
            </a:r>
            <a:r>
              <a:rPr lang="ru-RU" sz="100" dirty="0"/>
              <a:t>» и профессиональные федерации, созданные европейцами до того, как было разрешено создание профсоюзов, Марокканскую федерацию Лиги за права человека, Федерацию борцов за мир, SFIO и Молодежную социалистическую организацию, Федерацию республиканских борцов, секции группы «Свободная мысль», группу «Друзья СССР» и другие левые организации, которые чиновники протектората назвали «экстремистскими». К комитету также присоединились видные деятели марокканских мусульманских националистических организаций, в том числе Хасан </a:t>
            </a:r>
            <a:r>
              <a:rPr lang="ru-RU" sz="100" dirty="0" err="1"/>
              <a:t>Уаззани</a:t>
            </a:r>
            <a:r>
              <a:rPr lang="ru-RU" sz="100" dirty="0"/>
              <a:t>, Мухаммад </a:t>
            </a:r>
            <a:r>
              <a:rPr lang="ru-RU" sz="100" dirty="0" err="1"/>
              <a:t>Холти</a:t>
            </a:r>
            <a:r>
              <a:rPr lang="ru-RU" sz="100" dirty="0"/>
              <a:t>, Омар бен </a:t>
            </a:r>
            <a:r>
              <a:rPr lang="ru-RU" sz="100" dirty="0" err="1"/>
              <a:t>Абдельджелил</a:t>
            </a:r>
            <a:r>
              <a:rPr lang="ru-RU" sz="100" dirty="0"/>
              <a:t>, Ахмед </a:t>
            </a:r>
            <a:r>
              <a:rPr lang="ru-RU" sz="100" dirty="0" err="1"/>
              <a:t>Балафредж</a:t>
            </a:r>
            <a:r>
              <a:rPr lang="ru-RU" sz="100" dirty="0"/>
              <a:t>, Мухаммад аль-</a:t>
            </a:r>
            <a:r>
              <a:rPr lang="ru-RU" sz="100" dirty="0" err="1"/>
              <a:t>Фасси</a:t>
            </a:r>
            <a:r>
              <a:rPr lang="ru-RU" sz="100" dirty="0"/>
              <a:t> и Ахмед </a:t>
            </a:r>
            <a:r>
              <a:rPr lang="ru-RU" sz="100" dirty="0" err="1"/>
              <a:t>Уаззани</a:t>
            </a:r>
            <a:r>
              <a:rPr lang="ru-RU" sz="100" dirty="0"/>
              <a:t>. Представитель ведомства подверг критике европейские правительства за их «слабость» и инертность перед лицом коммунистической и революционной активности в Северной Африке, жалуясь на то, что «все используется» в революционных целях, от антисемитизма до «очевидного неравенства между расами». Он предупредил, что такие тенденции, если их не остановить, приведут к «психическому заражению» и «ненависти» среди колониальных подданных Французской Северной Африки к Франции, их «защитнику». Несмотря на все попытки предотвратить левую </a:t>
            </a:r>
            <a:r>
              <a:rPr lang="ru-RU" sz="100" dirty="0" err="1"/>
              <a:t>марокканско</a:t>
            </a:r>
            <a:r>
              <a:rPr lang="ru-RU" sz="100" dirty="0"/>
              <a:t>-европейскую солидарность и мусульманско-еврейскую организацию, власти Французского протектората с растущей тревогой отмечали 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происхождения.111)</a:t>
            </a:r>
            <a:endParaRPr lang="ru-RU" sz="7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  <a:br>
              <a:rPr lang="ru-RU" sz="700" dirty="0"/>
            </a:br>
            <a:r>
              <a:rPr lang="ru-RU" sz="200" dirty="0"/>
              <a:t>(быстрый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происхождения.)</a:t>
            </a:r>
            <a:endParaRPr lang="ru-RU" sz="700" dirty="0"/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 </a:t>
            </a:r>
            <a:r>
              <a:rPr lang="ru-RU" sz="300" dirty="0"/>
              <a:t>(создав в 1945 году «Коммунистические ассоциации» (</a:t>
            </a:r>
            <a:r>
              <a:rPr lang="ru-RU" sz="300" dirty="0" err="1"/>
              <a:t>Amicales</a:t>
            </a:r>
            <a:r>
              <a:rPr lang="ru-RU" sz="300" dirty="0"/>
              <a:t> </a:t>
            </a:r>
            <a:r>
              <a:rPr lang="ru-RU" sz="300" dirty="0" err="1"/>
              <a:t>Communistes</a:t>
            </a:r>
            <a:r>
              <a:rPr lang="ru-RU" sz="300" dirty="0"/>
              <a:t>) с целью вербовки в сельской местности.)</a:t>
            </a:r>
            <a:endParaRPr lang="ru-RU" sz="700" dirty="0"/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Союзом женщин Марокко</a:t>
            </a:r>
            <a:br>
              <a:rPr lang="ru-RU" sz="700" dirty="0"/>
            </a:br>
            <a:r>
              <a:rPr lang="ru-RU" sz="200" dirty="0"/>
              <a:t>(во главе с мадам Фортуне Султан (женой Леона Султана), </a:t>
            </a:r>
            <a:r>
              <a:rPr lang="ru-RU" sz="200" dirty="0" err="1"/>
              <a:t>Люсетт</a:t>
            </a:r>
            <a:r>
              <a:rPr lang="ru-RU" sz="200" dirty="0"/>
              <a:t> </a:t>
            </a:r>
            <a:r>
              <a:rPr lang="ru-RU" sz="200" dirty="0" err="1"/>
              <a:t>Мазелла</a:t>
            </a:r>
            <a:r>
              <a:rPr lang="ru-RU" sz="200" dirty="0"/>
              <a:t> (женой Мишеля </a:t>
            </a:r>
            <a:r>
              <a:rPr lang="ru-RU" sz="200" dirty="0" err="1"/>
              <a:t>Мазеллы</a:t>
            </a:r>
            <a:r>
              <a:rPr lang="ru-RU" sz="200" dirty="0"/>
              <a:t>) и </a:t>
            </a:r>
            <a:r>
              <a:rPr lang="ru-RU" sz="200" dirty="0" err="1"/>
              <a:t>Фреей</a:t>
            </a:r>
            <a:r>
              <a:rPr lang="ru-RU" sz="200" dirty="0"/>
              <a:t> </a:t>
            </a:r>
            <a:r>
              <a:rPr lang="ru-RU" sz="200" dirty="0" err="1"/>
              <a:t>Айаш</a:t>
            </a:r>
            <a:r>
              <a:rPr lang="ru-RU" sz="200" dirty="0"/>
              <a:t> (женой </a:t>
            </a:r>
            <a:r>
              <a:rPr lang="ru-RU" sz="200" dirty="0" err="1"/>
              <a:t>Жермена</a:t>
            </a:r>
            <a:r>
              <a:rPr lang="ru-RU" sz="200" dirty="0"/>
              <a:t> </a:t>
            </a:r>
            <a:r>
              <a:rPr lang="ru-RU" sz="200" dirty="0" err="1"/>
              <a:t>Айаша</a:t>
            </a:r>
            <a:r>
              <a:rPr lang="ru-RU" sz="200" dirty="0"/>
              <a:t>, марокканской еврейкой из Сале) — работали с «</a:t>
            </a:r>
            <a:r>
              <a:rPr lang="ru-RU" sz="200" dirty="0" err="1"/>
              <a:t>Амикалес</a:t>
            </a:r>
            <a:r>
              <a:rPr lang="ru-RU" sz="200" dirty="0"/>
              <a:t>» над расширением вербовки как в городских, так и в сельских общинах.)</a:t>
            </a:r>
            <a:endParaRPr lang="ru-RU" sz="700" dirty="0"/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49424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  <a:br>
              <a:rPr lang="ru-RU" sz="700" dirty="0"/>
            </a:br>
            <a:r>
              <a:rPr lang="ru-RU" sz="100" dirty="0"/>
              <a:t>(Помимо не совсем эффективных программ повышения грамотности, проводимых МКМ, участие в деятельности МКМ само по себе представляло собой своего рода «школу», как писал Саймон Леви.&lt;</a:t>
            </a:r>
            <a:r>
              <a:rPr lang="ru-RU" sz="100" dirty="0" err="1"/>
              <a:t>sup</a:t>
            </a:r>
            <a:r>
              <a:rPr lang="ru-RU" sz="100" dirty="0"/>
              <a:t>&gt;167&lt;/</a:t>
            </a:r>
            <a:r>
              <a:rPr lang="ru-RU" sz="100" dirty="0" err="1"/>
              <a:t>sup</a:t>
            </a:r>
            <a:r>
              <a:rPr lang="ru-RU" sz="100" dirty="0"/>
              <a:t>&gt; Леви писал: «Для многих евреев [МКМ] была плавильным котлом солидарности в борьбе. Демократический призыв после войны привел в движение скрытые силы. Когда независимость стала конкретной целью, МКМ предложила четкие ответы для меньшинств и вовлекла их в трудовую и политическую деятельность».)</a:t>
            </a:r>
            <a:endParaRPr lang="ru-RU" sz="700" dirty="0"/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26545" y="5914974"/>
            <a:ext cx="256118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19" idx="2"/>
            <a:endCxn id="270" idx="0"/>
          </p:cNvCxnSpPr>
          <p:nvPr/>
        </p:nvCxnSpPr>
        <p:spPr>
          <a:xfrm rot="16200000" flipH="1">
            <a:off x="15208129" y="7745242"/>
            <a:ext cx="1147915" cy="16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2991" y="7029841"/>
            <a:ext cx="294028" cy="5948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16200000" flipH="1">
            <a:off x="16393194" y="7744441"/>
            <a:ext cx="1136045" cy="761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0391" y="7154864"/>
            <a:ext cx="1136045" cy="1186774"/>
          </a:xfrm>
          <a:prstGeom prst="bentConnector3">
            <a:avLst>
              <a:gd name="adj1" fmla="val 128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5998" y="7024713"/>
            <a:ext cx="290286" cy="601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299393" y="7032636"/>
            <a:ext cx="286296" cy="5814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16200000" flipH="1">
            <a:off x="17584447" y="7747582"/>
            <a:ext cx="1139787" cy="5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 </a:t>
            </a:r>
            <a:r>
              <a:rPr lang="ru-RU" sz="100" dirty="0"/>
              <a:t>(то ключевая идеологическая доктрина израильского коммунистического движения в XX веке. Она служила главным противовесом как сионистскому, так и арабскому национализму.🎯 Суть </a:t>
            </a:r>
            <a:r>
              <a:rPr lang="ru-RU" sz="100" dirty="0" err="1"/>
              <a:t>концепцииВ</a:t>
            </a:r>
            <a:r>
              <a:rPr lang="ru-RU" sz="100" dirty="0"/>
              <a:t> основе «</a:t>
            </a:r>
            <a:r>
              <a:rPr lang="ru-RU" sz="100" dirty="0" err="1"/>
              <a:t>Ахуват</a:t>
            </a:r>
            <a:r>
              <a:rPr lang="ru-RU" sz="100" dirty="0"/>
              <a:t> </a:t>
            </a:r>
            <a:r>
              <a:rPr lang="ru-RU" sz="100" dirty="0" err="1"/>
              <a:t>амим</a:t>
            </a:r>
            <a:r>
              <a:rPr lang="ru-RU" sz="100" dirty="0"/>
              <a:t>» лежит классический марксистский тезис: главное разделение между людьми — классовое, а не </a:t>
            </a:r>
            <a:r>
              <a:rPr lang="ru-RU" sz="100" dirty="0" err="1"/>
              <a:t>национальное.Движение</a:t>
            </a:r>
            <a:r>
              <a:rPr lang="ru-RU" sz="100" dirty="0"/>
              <a:t> утверждало, что у арабских и еврейских трудящихся один враг — крупный капитал и </a:t>
            </a:r>
            <a:r>
              <a:rPr lang="ru-RU" sz="100" dirty="0" err="1"/>
              <a:t>империализм.Концепция</a:t>
            </a:r>
            <a:r>
              <a:rPr lang="ru-RU" sz="100" dirty="0"/>
              <a:t> требовала полного отказа от шовинизма. Арабские коммунисты боролись с антисемитизмом и призывами «сбросить евреев в море», а еврейские коммунисты — с расизмом, дискриминацией арабов и идеей «трансфера» (выселения) коренного населения.)</a:t>
            </a:r>
            <a:endParaRPr lang="ru-RU" sz="700" dirty="0"/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536074" y="4535400"/>
            <a:ext cx="272802" cy="236577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19238107" y="15726412"/>
            <a:ext cx="337947" cy="5707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9831265" y="15703982"/>
            <a:ext cx="337947" cy="6155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16817409" y="15747925"/>
            <a:ext cx="318100" cy="5523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17391727" y="15725916"/>
            <a:ext cx="311638" cy="5898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17379317" y="169704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16200000" flipH="1">
            <a:off x="17715576" y="16843570"/>
            <a:ext cx="25380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17147720" y="16275714"/>
            <a:ext cx="247345" cy="114217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16235643" y="1697047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5400000">
            <a:off x="16575884" y="16846052"/>
            <a:ext cx="247343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6984922" y="15734426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7293845" y="17027563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A356C9BA-845A-426A-A20D-4848C123BB5D}"/>
              </a:ext>
            </a:extLst>
          </p:cNvPr>
          <p:cNvCxnSpPr>
            <a:cxnSpLocks/>
            <a:stCxn id="264" idx="2"/>
            <a:endCxn id="374" idx="0"/>
          </p:cNvCxnSpPr>
          <p:nvPr/>
        </p:nvCxnSpPr>
        <p:spPr>
          <a:xfrm rot="5400000">
            <a:off x="5500308" y="4204011"/>
            <a:ext cx="1071739" cy="599022"/>
          </a:xfrm>
          <a:prstGeom prst="bentConnector3">
            <a:avLst>
              <a:gd name="adj1" fmla="val 1326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5" name="Прямоугольник 514">
            <a:extLst>
              <a:ext uri="{FF2B5EF4-FFF2-40B4-BE49-F238E27FC236}">
                <a16:creationId xmlns:a16="http://schemas.microsoft.com/office/drawing/2014/main" id="{6E79AED0-B7B4-4B26-8F6F-1B9F3FADC429}"/>
              </a:ext>
            </a:extLst>
          </p:cNvPr>
          <p:cNvSpPr/>
          <p:nvPr/>
        </p:nvSpPr>
        <p:spPr>
          <a:xfrm>
            <a:off x="5266684" y="907761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часть Алжира</a:t>
            </a:r>
          </a:p>
        </p:txBody>
      </p:sp>
      <p:cxnSp>
        <p:nvCxnSpPr>
          <p:cNvPr id="517" name="Соединительная линия уступом 620">
            <a:extLst>
              <a:ext uri="{FF2B5EF4-FFF2-40B4-BE49-F238E27FC236}">
                <a16:creationId xmlns:a16="http://schemas.microsoft.com/office/drawing/2014/main" id="{1AF2E4DF-76F0-4A1D-BCBB-B56C8D29AD8F}"/>
              </a:ext>
            </a:extLst>
          </p:cNvPr>
          <p:cNvCxnSpPr>
            <a:cxnSpLocks/>
            <a:stCxn id="382" idx="2"/>
            <a:endCxn id="515" idx="0"/>
          </p:cNvCxnSpPr>
          <p:nvPr/>
        </p:nvCxnSpPr>
        <p:spPr>
          <a:xfrm rot="5400000">
            <a:off x="5896506" y="8642859"/>
            <a:ext cx="268093" cy="60140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Соединительная линия уступом 620">
            <a:extLst>
              <a:ext uri="{FF2B5EF4-FFF2-40B4-BE49-F238E27FC236}">
                <a16:creationId xmlns:a16="http://schemas.microsoft.com/office/drawing/2014/main" id="{3D9A0A63-01EF-4F72-9F6F-5E911DB25ED6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697947" y="4592278"/>
            <a:ext cx="243016" cy="6085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Соединительная линия уступом 620">
            <a:extLst>
              <a:ext uri="{FF2B5EF4-FFF2-40B4-BE49-F238E27FC236}">
                <a16:creationId xmlns:a16="http://schemas.microsoft.com/office/drawing/2014/main" id="{CF280879-F9DA-45EA-935F-D2A3FAE4B7BE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Соединительная линия уступом 620">
            <a:extLst>
              <a:ext uri="{FF2B5EF4-FFF2-40B4-BE49-F238E27FC236}">
                <a16:creationId xmlns:a16="http://schemas.microsoft.com/office/drawing/2014/main" id="{8EE97878-30E9-4D69-8407-1AA5DB433643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620">
            <a:extLst>
              <a:ext uri="{FF2B5EF4-FFF2-40B4-BE49-F238E27FC236}">
                <a16:creationId xmlns:a16="http://schemas.microsoft.com/office/drawing/2014/main" id="{2F1FC60A-FD35-4AEA-9A97-D8427F39E0C8}"/>
              </a:ext>
            </a:extLst>
          </p:cNvPr>
          <p:cNvCxnSpPr>
            <a:cxnSpLocks/>
            <a:stCxn id="69" idx="2"/>
            <a:endCxn id="438" idx="0"/>
          </p:cNvCxnSpPr>
          <p:nvPr/>
        </p:nvCxnSpPr>
        <p:spPr>
          <a:xfrm rot="5400000">
            <a:off x="20111275" y="17102191"/>
            <a:ext cx="275282" cy="11254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1928A585-78DB-4152-8382-87127146FBBB}"/>
              </a:ext>
            </a:extLst>
          </p:cNvPr>
          <p:cNvSpPr/>
          <p:nvPr/>
        </p:nvSpPr>
        <p:spPr>
          <a:xfrm>
            <a:off x="18285833" y="99225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Аннексировать Танжер</a:t>
            </a:r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649F8C28-D048-4EDB-A3A4-294B15A3C87F}"/>
              </a:ext>
            </a:extLst>
          </p:cNvPr>
          <p:cNvSpPr/>
          <p:nvPr/>
        </p:nvSpPr>
        <p:spPr>
          <a:xfrm>
            <a:off x="16499561" y="424139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Заявить о претензиях на бывшие территории</a:t>
            </a:r>
          </a:p>
        </p:txBody>
      </p:sp>
      <p:cxnSp>
        <p:nvCxnSpPr>
          <p:cNvPr id="502" name="Соединительная линия уступом 620">
            <a:extLst>
              <a:ext uri="{FF2B5EF4-FFF2-40B4-BE49-F238E27FC236}">
                <a16:creationId xmlns:a16="http://schemas.microsoft.com/office/drawing/2014/main" id="{F38D5ED2-F819-4BDE-AAB4-7D5A045218A0}"/>
              </a:ext>
            </a:extLst>
          </p:cNvPr>
          <p:cNvCxnSpPr>
            <a:cxnSpLocks/>
            <a:stCxn id="184" idx="2"/>
            <a:endCxn id="501" idx="0"/>
          </p:cNvCxnSpPr>
          <p:nvPr/>
        </p:nvCxnSpPr>
        <p:spPr>
          <a:xfrm rot="5400000">
            <a:off x="17420392" y="3509987"/>
            <a:ext cx="273740" cy="118907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0" name="Соединительная линия уступом 620">
            <a:extLst>
              <a:ext uri="{FF2B5EF4-FFF2-40B4-BE49-F238E27FC236}">
                <a16:creationId xmlns:a16="http://schemas.microsoft.com/office/drawing/2014/main" id="{E26421C7-9095-459B-AAF7-DC9A8E9F2A7D}"/>
              </a:ext>
            </a:extLst>
          </p:cNvPr>
          <p:cNvCxnSpPr>
            <a:cxnSpLocks/>
            <a:stCxn id="183" idx="2"/>
            <a:endCxn id="501" idx="0"/>
          </p:cNvCxnSpPr>
          <p:nvPr/>
        </p:nvCxnSpPr>
        <p:spPr>
          <a:xfrm rot="5400000">
            <a:off x="16825855" y="4104525"/>
            <a:ext cx="273740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1" name="Соединительная линия уступом 620">
            <a:extLst>
              <a:ext uri="{FF2B5EF4-FFF2-40B4-BE49-F238E27FC236}">
                <a16:creationId xmlns:a16="http://schemas.microsoft.com/office/drawing/2014/main" id="{96A584EB-0D31-408E-B540-1D97D896076F}"/>
              </a:ext>
            </a:extLst>
          </p:cNvPr>
          <p:cNvCxnSpPr>
            <a:cxnSpLocks/>
            <a:stCxn id="185" idx="2"/>
            <a:endCxn id="501" idx="0"/>
          </p:cNvCxnSpPr>
          <p:nvPr/>
        </p:nvCxnSpPr>
        <p:spPr>
          <a:xfrm rot="16200000" flipH="1">
            <a:off x="16231317" y="3509987"/>
            <a:ext cx="273741" cy="118907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5" name="Соединительная линия уступом 620">
            <a:extLst>
              <a:ext uri="{FF2B5EF4-FFF2-40B4-BE49-F238E27FC236}">
                <a16:creationId xmlns:a16="http://schemas.microsoft.com/office/drawing/2014/main" id="{C95797ED-9477-4446-B74B-869565F2769D}"/>
              </a:ext>
            </a:extLst>
          </p:cNvPr>
          <p:cNvCxnSpPr>
            <a:cxnSpLocks/>
            <a:stCxn id="289" idx="2"/>
            <a:endCxn id="463" idx="0"/>
          </p:cNvCxnSpPr>
          <p:nvPr/>
        </p:nvCxnSpPr>
        <p:spPr>
          <a:xfrm rot="5400000">
            <a:off x="19731130" y="8639672"/>
            <a:ext cx="300706" cy="226497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7" name="Соединительная линия уступом 620">
            <a:extLst>
              <a:ext uri="{FF2B5EF4-FFF2-40B4-BE49-F238E27FC236}">
                <a16:creationId xmlns:a16="http://schemas.microsoft.com/office/drawing/2014/main" id="{A61F8C33-8532-4666-A068-67A2AC769C9D}"/>
              </a:ext>
            </a:extLst>
          </p:cNvPr>
          <p:cNvCxnSpPr>
            <a:cxnSpLocks/>
            <a:stCxn id="672" idx="2"/>
            <a:endCxn id="463" idx="0"/>
          </p:cNvCxnSpPr>
          <p:nvPr/>
        </p:nvCxnSpPr>
        <p:spPr>
          <a:xfrm rot="16200000" flipH="1">
            <a:off x="16235070" y="7408585"/>
            <a:ext cx="300706" cy="47271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56637</TotalTime>
  <Words>905</Words>
  <Application>Microsoft Office PowerPoint</Application>
  <PresentationFormat>Произвольный</PresentationFormat>
  <Paragraphs>185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2482</cp:revision>
  <dcterms:created xsi:type="dcterms:W3CDTF">2018-10-23T08:09:21Z</dcterms:created>
  <dcterms:modified xsi:type="dcterms:W3CDTF">2026-07-09T17:04:13Z</dcterms:modified>
</cp:coreProperties>
</file>