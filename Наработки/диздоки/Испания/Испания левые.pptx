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59" r:id="rId2"/>
  </p:sldIdLst>
  <p:sldSz cx="51206400" cy="36018788"/>
  <p:notesSz cx="6858000" cy="9144000"/>
  <p:defaultTextStyle>
    <a:defPPr>
      <a:defRPr lang="ru-RU"/>
    </a:defPPr>
    <a:lvl1pPr marL="0" algn="l" defTabSz="1532289" rtl="0" eaLnBrk="1" latinLnBrk="0" hangingPunct="1">
      <a:defRPr sz="3000" kern="1200">
        <a:solidFill>
          <a:schemeClr val="tx1"/>
        </a:solidFill>
        <a:latin typeface="+mn-lt"/>
        <a:ea typeface="+mn-ea"/>
        <a:cs typeface="+mn-cs"/>
      </a:defRPr>
    </a:lvl1pPr>
    <a:lvl2pPr marL="766144" algn="l" defTabSz="1532289" rtl="0" eaLnBrk="1" latinLnBrk="0" hangingPunct="1">
      <a:defRPr sz="3000" kern="1200">
        <a:solidFill>
          <a:schemeClr val="tx1"/>
        </a:solidFill>
        <a:latin typeface="+mn-lt"/>
        <a:ea typeface="+mn-ea"/>
        <a:cs typeface="+mn-cs"/>
      </a:defRPr>
    </a:lvl2pPr>
    <a:lvl3pPr marL="1532289" algn="l" defTabSz="1532289" rtl="0" eaLnBrk="1" latinLnBrk="0" hangingPunct="1">
      <a:defRPr sz="3000" kern="1200">
        <a:solidFill>
          <a:schemeClr val="tx1"/>
        </a:solidFill>
        <a:latin typeface="+mn-lt"/>
        <a:ea typeface="+mn-ea"/>
        <a:cs typeface="+mn-cs"/>
      </a:defRPr>
    </a:lvl3pPr>
    <a:lvl4pPr marL="2298433" algn="l" defTabSz="1532289" rtl="0" eaLnBrk="1" latinLnBrk="0" hangingPunct="1">
      <a:defRPr sz="3000" kern="1200">
        <a:solidFill>
          <a:schemeClr val="tx1"/>
        </a:solidFill>
        <a:latin typeface="+mn-lt"/>
        <a:ea typeface="+mn-ea"/>
        <a:cs typeface="+mn-cs"/>
      </a:defRPr>
    </a:lvl4pPr>
    <a:lvl5pPr marL="3064578" algn="l" defTabSz="1532289" rtl="0" eaLnBrk="1" latinLnBrk="0" hangingPunct="1">
      <a:defRPr sz="3000" kern="1200">
        <a:solidFill>
          <a:schemeClr val="tx1"/>
        </a:solidFill>
        <a:latin typeface="+mn-lt"/>
        <a:ea typeface="+mn-ea"/>
        <a:cs typeface="+mn-cs"/>
      </a:defRPr>
    </a:lvl5pPr>
    <a:lvl6pPr marL="3830722" algn="l" defTabSz="1532289" rtl="0" eaLnBrk="1" latinLnBrk="0" hangingPunct="1">
      <a:defRPr sz="3000" kern="1200">
        <a:solidFill>
          <a:schemeClr val="tx1"/>
        </a:solidFill>
        <a:latin typeface="+mn-lt"/>
        <a:ea typeface="+mn-ea"/>
        <a:cs typeface="+mn-cs"/>
      </a:defRPr>
    </a:lvl6pPr>
    <a:lvl7pPr marL="4596867" algn="l" defTabSz="1532289" rtl="0" eaLnBrk="1" latinLnBrk="0" hangingPunct="1">
      <a:defRPr sz="3000" kern="1200">
        <a:solidFill>
          <a:schemeClr val="tx1"/>
        </a:solidFill>
        <a:latin typeface="+mn-lt"/>
        <a:ea typeface="+mn-ea"/>
        <a:cs typeface="+mn-cs"/>
      </a:defRPr>
    </a:lvl7pPr>
    <a:lvl8pPr marL="5363011" algn="l" defTabSz="1532289" rtl="0" eaLnBrk="1" latinLnBrk="0" hangingPunct="1">
      <a:defRPr sz="3000" kern="1200">
        <a:solidFill>
          <a:schemeClr val="tx1"/>
        </a:solidFill>
        <a:latin typeface="+mn-lt"/>
        <a:ea typeface="+mn-ea"/>
        <a:cs typeface="+mn-cs"/>
      </a:defRPr>
    </a:lvl8pPr>
    <a:lvl9pPr marL="6129155" algn="l" defTabSz="1532289" rtl="0" eaLnBrk="1" latinLnBrk="0" hangingPunct="1">
      <a:defRPr sz="3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44">
          <p15:clr>
            <a:srgbClr val="A4A3A4"/>
          </p15:clr>
        </p15:guide>
        <p15:guide id="2" pos="1612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13F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5" autoAdjust="0"/>
    <p:restoredTop sz="99497" autoAdjust="0"/>
  </p:normalViewPr>
  <p:slideViewPr>
    <p:cSldViewPr snapToGrid="0">
      <p:cViewPr>
        <p:scale>
          <a:sx n="33" d="100"/>
          <a:sy n="33" d="100"/>
        </p:scale>
        <p:origin x="-1128" y="24"/>
      </p:cViewPr>
      <p:guideLst>
        <p:guide orient="horz" pos="11344"/>
        <p:guide pos="1612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3D7F9-E251-484C-A6FF-FA958879DF69}" type="datetimeFigureOut">
              <a:rPr lang="ru-RU" smtClean="0"/>
              <a:pPr/>
              <a:t>05.05.2026</a:t>
            </a:fld>
            <a:endParaRPr lang="ru-RU"/>
          </a:p>
        </p:txBody>
      </p:sp>
      <p:sp>
        <p:nvSpPr>
          <p:cNvPr id="4" name="Образ слайда 3"/>
          <p:cNvSpPr>
            <a:spLocks noGrp="1" noRot="1" noChangeAspect="1"/>
          </p:cNvSpPr>
          <p:nvPr>
            <p:ph type="sldImg" idx="2"/>
          </p:nvPr>
        </p:nvSpPr>
        <p:spPr>
          <a:xfrm>
            <a:off x="1236663" y="1143000"/>
            <a:ext cx="4384675"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6EE9E-3817-4644-8752-DBAA6FA3C802}" type="slidenum">
              <a:rPr lang="ru-RU" smtClean="0"/>
              <a:pPr/>
              <a:t>‹#›</a:t>
            </a:fld>
            <a:endParaRPr lang="ru-RU"/>
          </a:p>
        </p:txBody>
      </p:sp>
    </p:spTree>
    <p:extLst>
      <p:ext uri="{BB962C8B-B14F-4D97-AF65-F5344CB8AC3E}">
        <p14:creationId xmlns:p14="http://schemas.microsoft.com/office/powerpoint/2010/main" val="1928360652"/>
      </p:ext>
    </p:extLst>
  </p:cSld>
  <p:clrMap bg1="lt1" tx1="dk1" bg2="lt2" tx2="dk2" accent1="accent1" accent2="accent2" accent3="accent3" accent4="accent4" accent5="accent5" accent6="accent6" hlink="hlink" folHlink="folHlink"/>
  <p:notesStyle>
    <a:lvl1pPr marL="0" algn="l" defTabSz="1247333" rtl="0" eaLnBrk="1" latinLnBrk="0" hangingPunct="1">
      <a:defRPr sz="1600" kern="1200">
        <a:solidFill>
          <a:schemeClr val="tx1"/>
        </a:solidFill>
        <a:latin typeface="+mn-lt"/>
        <a:ea typeface="+mn-ea"/>
        <a:cs typeface="+mn-cs"/>
      </a:defRPr>
    </a:lvl1pPr>
    <a:lvl2pPr marL="623667" algn="l" defTabSz="1247333" rtl="0" eaLnBrk="1" latinLnBrk="0" hangingPunct="1">
      <a:defRPr sz="1600" kern="1200">
        <a:solidFill>
          <a:schemeClr val="tx1"/>
        </a:solidFill>
        <a:latin typeface="+mn-lt"/>
        <a:ea typeface="+mn-ea"/>
        <a:cs typeface="+mn-cs"/>
      </a:defRPr>
    </a:lvl2pPr>
    <a:lvl3pPr marL="1247333" algn="l" defTabSz="1247333" rtl="0" eaLnBrk="1" latinLnBrk="0" hangingPunct="1">
      <a:defRPr sz="1600" kern="1200">
        <a:solidFill>
          <a:schemeClr val="tx1"/>
        </a:solidFill>
        <a:latin typeface="+mn-lt"/>
        <a:ea typeface="+mn-ea"/>
        <a:cs typeface="+mn-cs"/>
      </a:defRPr>
    </a:lvl3pPr>
    <a:lvl4pPr marL="1871000" algn="l" defTabSz="1247333" rtl="0" eaLnBrk="1" latinLnBrk="0" hangingPunct="1">
      <a:defRPr sz="1600" kern="1200">
        <a:solidFill>
          <a:schemeClr val="tx1"/>
        </a:solidFill>
        <a:latin typeface="+mn-lt"/>
        <a:ea typeface="+mn-ea"/>
        <a:cs typeface="+mn-cs"/>
      </a:defRPr>
    </a:lvl4pPr>
    <a:lvl5pPr marL="2494666" algn="l" defTabSz="1247333" rtl="0" eaLnBrk="1" latinLnBrk="0" hangingPunct="1">
      <a:defRPr sz="1600" kern="1200">
        <a:solidFill>
          <a:schemeClr val="tx1"/>
        </a:solidFill>
        <a:latin typeface="+mn-lt"/>
        <a:ea typeface="+mn-ea"/>
        <a:cs typeface="+mn-cs"/>
      </a:defRPr>
    </a:lvl5pPr>
    <a:lvl6pPr marL="3118333" algn="l" defTabSz="1247333" rtl="0" eaLnBrk="1" latinLnBrk="0" hangingPunct="1">
      <a:defRPr sz="1600" kern="1200">
        <a:solidFill>
          <a:schemeClr val="tx1"/>
        </a:solidFill>
        <a:latin typeface="+mn-lt"/>
        <a:ea typeface="+mn-ea"/>
        <a:cs typeface="+mn-cs"/>
      </a:defRPr>
    </a:lvl6pPr>
    <a:lvl7pPr marL="3741999" algn="l" defTabSz="1247333" rtl="0" eaLnBrk="1" latinLnBrk="0" hangingPunct="1">
      <a:defRPr sz="1600" kern="1200">
        <a:solidFill>
          <a:schemeClr val="tx1"/>
        </a:solidFill>
        <a:latin typeface="+mn-lt"/>
        <a:ea typeface="+mn-ea"/>
        <a:cs typeface="+mn-cs"/>
      </a:defRPr>
    </a:lvl7pPr>
    <a:lvl8pPr marL="4365666" algn="l" defTabSz="1247333" rtl="0" eaLnBrk="1" latinLnBrk="0" hangingPunct="1">
      <a:defRPr sz="1600" kern="1200">
        <a:solidFill>
          <a:schemeClr val="tx1"/>
        </a:solidFill>
        <a:latin typeface="+mn-lt"/>
        <a:ea typeface="+mn-ea"/>
        <a:cs typeface="+mn-cs"/>
      </a:defRPr>
    </a:lvl8pPr>
    <a:lvl9pPr marL="4989332" algn="l" defTabSz="124733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236663" y="1143000"/>
            <a:ext cx="4384675"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B86EE9E-3817-4644-8752-DBAA6FA3C802}" type="slidenum">
              <a:rPr lang="ru-RU" smtClean="0"/>
              <a:pPr/>
              <a:t>1</a:t>
            </a:fld>
            <a:endParaRPr lang="ru-RU"/>
          </a:p>
        </p:txBody>
      </p:sp>
    </p:spTree>
    <p:extLst>
      <p:ext uri="{BB962C8B-B14F-4D97-AF65-F5344CB8AC3E}">
        <p14:creationId xmlns:p14="http://schemas.microsoft.com/office/powerpoint/2010/main" val="239776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400801" y="5894744"/>
            <a:ext cx="38404800" cy="12539874"/>
          </a:xfrm>
        </p:spPr>
        <p:txBody>
          <a:bodyPr anchor="b"/>
          <a:lstStyle>
            <a:lvl1pPr algn="ctr">
              <a:defRPr sz="24700"/>
            </a:lvl1pPr>
          </a:lstStyle>
          <a:p>
            <a:r>
              <a:rPr lang="ru-RU"/>
              <a:t>Образец заголовка</a:t>
            </a:r>
            <a:endParaRPr lang="en-US" dirty="0"/>
          </a:p>
        </p:txBody>
      </p:sp>
      <p:sp>
        <p:nvSpPr>
          <p:cNvPr id="3" name="Subtitle 2"/>
          <p:cNvSpPr>
            <a:spLocks noGrp="1"/>
          </p:cNvSpPr>
          <p:nvPr>
            <p:ph type="subTitle" idx="1"/>
          </p:nvPr>
        </p:nvSpPr>
        <p:spPr>
          <a:xfrm>
            <a:off x="6400801" y="18918204"/>
            <a:ext cx="38404800" cy="8696200"/>
          </a:xfrm>
        </p:spPr>
        <p:txBody>
          <a:bodyPr/>
          <a:lstStyle>
            <a:lvl1pPr marL="0" indent="0" algn="ctr">
              <a:buNone/>
              <a:defRPr sz="9900"/>
            </a:lvl1pPr>
            <a:lvl2pPr marL="1878359" indent="0" algn="ctr">
              <a:buNone/>
              <a:defRPr sz="8200"/>
            </a:lvl2pPr>
            <a:lvl3pPr marL="3756718" indent="0" algn="ctr">
              <a:buNone/>
              <a:defRPr sz="7400"/>
            </a:lvl3pPr>
            <a:lvl4pPr marL="5635077" indent="0" algn="ctr">
              <a:buNone/>
              <a:defRPr sz="6600"/>
            </a:lvl4pPr>
            <a:lvl5pPr marL="7513436" indent="0" algn="ctr">
              <a:buNone/>
              <a:defRPr sz="6600"/>
            </a:lvl5pPr>
            <a:lvl6pPr marL="9391794" indent="0" algn="ctr">
              <a:buNone/>
              <a:defRPr sz="6600"/>
            </a:lvl6pPr>
            <a:lvl7pPr marL="11270153" indent="0" algn="ctr">
              <a:buNone/>
              <a:defRPr sz="6600"/>
            </a:lvl7pPr>
            <a:lvl8pPr marL="13148512" indent="0" algn="ctr">
              <a:buNone/>
              <a:defRPr sz="6600"/>
            </a:lvl8pPr>
            <a:lvl9pPr marL="15026871" indent="0" algn="ctr">
              <a:buNone/>
              <a:defRPr sz="6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20185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81355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3493774" y="8979693"/>
            <a:ext cx="44165519" cy="14982813"/>
          </a:xfrm>
        </p:spPr>
        <p:txBody>
          <a:bodyPr anchor="b"/>
          <a:lstStyle>
            <a:lvl1pPr>
              <a:defRPr sz="24700"/>
            </a:lvl1pPr>
          </a:lstStyle>
          <a:p>
            <a:r>
              <a:rPr lang="ru-RU"/>
              <a:t>Образец заголовка</a:t>
            </a:r>
            <a:endParaRPr lang="en-US" dirty="0"/>
          </a:p>
        </p:txBody>
      </p:sp>
      <p:sp>
        <p:nvSpPr>
          <p:cNvPr id="3" name="Text Placeholder 2"/>
          <p:cNvSpPr>
            <a:spLocks noGrp="1"/>
          </p:cNvSpPr>
          <p:nvPr>
            <p:ph type="body" idx="1"/>
          </p:nvPr>
        </p:nvSpPr>
        <p:spPr>
          <a:xfrm>
            <a:off x="3493774" y="24104247"/>
            <a:ext cx="44165519" cy="7879108"/>
          </a:xfrm>
        </p:spPr>
        <p:txBody>
          <a:bodyPr/>
          <a:lstStyle>
            <a:lvl1pPr marL="0" indent="0">
              <a:buNone/>
              <a:defRPr sz="9900">
                <a:solidFill>
                  <a:schemeClr val="tx1">
                    <a:tint val="75000"/>
                  </a:schemeClr>
                </a:solidFill>
              </a:defRPr>
            </a:lvl1pPr>
            <a:lvl2pPr marL="1878359" indent="0">
              <a:buNone/>
              <a:defRPr sz="8200">
                <a:solidFill>
                  <a:schemeClr val="tx1">
                    <a:tint val="75000"/>
                  </a:schemeClr>
                </a:solidFill>
              </a:defRPr>
            </a:lvl2pPr>
            <a:lvl3pPr marL="3756718" indent="0">
              <a:buNone/>
              <a:defRPr sz="7400">
                <a:solidFill>
                  <a:schemeClr val="tx1">
                    <a:tint val="75000"/>
                  </a:schemeClr>
                </a:solidFill>
              </a:defRPr>
            </a:lvl3pPr>
            <a:lvl4pPr marL="5635077" indent="0">
              <a:buNone/>
              <a:defRPr sz="6600">
                <a:solidFill>
                  <a:schemeClr val="tx1">
                    <a:tint val="75000"/>
                  </a:schemeClr>
                </a:solidFill>
              </a:defRPr>
            </a:lvl4pPr>
            <a:lvl5pPr marL="7513436" indent="0">
              <a:buNone/>
              <a:defRPr sz="6600">
                <a:solidFill>
                  <a:schemeClr val="tx1">
                    <a:tint val="75000"/>
                  </a:schemeClr>
                </a:solidFill>
              </a:defRPr>
            </a:lvl5pPr>
            <a:lvl6pPr marL="9391794" indent="0">
              <a:buNone/>
              <a:defRPr sz="6600">
                <a:solidFill>
                  <a:schemeClr val="tx1">
                    <a:tint val="75000"/>
                  </a:schemeClr>
                </a:solidFill>
              </a:defRPr>
            </a:lvl6pPr>
            <a:lvl7pPr marL="11270153" indent="0">
              <a:buNone/>
              <a:defRPr sz="6600">
                <a:solidFill>
                  <a:schemeClr val="tx1">
                    <a:tint val="75000"/>
                  </a:schemeClr>
                </a:solidFill>
              </a:defRPr>
            </a:lvl7pPr>
            <a:lvl8pPr marL="13148512" indent="0">
              <a:buNone/>
              <a:defRPr sz="6600">
                <a:solidFill>
                  <a:schemeClr val="tx1">
                    <a:tint val="75000"/>
                  </a:schemeClr>
                </a:solidFill>
              </a:defRPr>
            </a:lvl8pPr>
            <a:lvl9pPr marL="15026871" indent="0">
              <a:buNone/>
              <a:defRPr sz="6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1724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3520442"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25923241"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63546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3527113" y="1917674"/>
            <a:ext cx="44165519" cy="696196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3527112" y="8829610"/>
            <a:ext cx="21662706"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4" name="Content Placeholder 3"/>
          <p:cNvSpPr>
            <a:spLocks noGrp="1"/>
          </p:cNvSpPr>
          <p:nvPr>
            <p:ph sz="half" idx="2"/>
          </p:nvPr>
        </p:nvSpPr>
        <p:spPr>
          <a:xfrm>
            <a:off x="3527112" y="13156863"/>
            <a:ext cx="21662706"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25923240" y="8829610"/>
            <a:ext cx="21769390"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6" name="Content Placeholder 5"/>
          <p:cNvSpPr>
            <a:spLocks noGrp="1"/>
          </p:cNvSpPr>
          <p:nvPr>
            <p:ph sz="quarter" idx="4"/>
          </p:nvPr>
        </p:nvSpPr>
        <p:spPr>
          <a:xfrm>
            <a:off x="25923240" y="13156863"/>
            <a:ext cx="21769390"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99556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2748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29108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Content Placeholder 2"/>
          <p:cNvSpPr>
            <a:spLocks noGrp="1"/>
          </p:cNvSpPr>
          <p:nvPr>
            <p:ph idx="1"/>
          </p:nvPr>
        </p:nvSpPr>
        <p:spPr>
          <a:xfrm>
            <a:off x="21769390" y="5186042"/>
            <a:ext cx="25923240" cy="25596684"/>
          </a:xfrm>
        </p:spPr>
        <p:txBody>
          <a:bodyPr/>
          <a:lstStyle>
            <a:lvl1pPr>
              <a:defRPr sz="13100"/>
            </a:lvl1pPr>
            <a:lvl2pPr>
              <a:defRPr sz="11500"/>
            </a:lvl2pPr>
            <a:lvl3pPr>
              <a:defRPr sz="9900"/>
            </a:lvl3pPr>
            <a:lvl4pPr>
              <a:defRPr sz="8200"/>
            </a:lvl4pPr>
            <a:lvl5pPr>
              <a:defRPr sz="8200"/>
            </a:lvl5pPr>
            <a:lvl6pPr>
              <a:defRPr sz="8200"/>
            </a:lvl6pPr>
            <a:lvl7pPr>
              <a:defRPr sz="8200"/>
            </a:lvl7pPr>
            <a:lvl8pPr>
              <a:defRPr sz="8200"/>
            </a:lvl8pPr>
            <a:lvl9pPr>
              <a:defRPr sz="8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36945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1769390" y="5186042"/>
            <a:ext cx="25923240" cy="25596684"/>
          </a:xfrm>
        </p:spPr>
        <p:txBody>
          <a:bodyPr anchor="t"/>
          <a:lstStyle>
            <a:lvl1pPr marL="0" indent="0">
              <a:buNone/>
              <a:defRPr sz="13100"/>
            </a:lvl1pPr>
            <a:lvl2pPr marL="1878359" indent="0">
              <a:buNone/>
              <a:defRPr sz="11500"/>
            </a:lvl2pPr>
            <a:lvl3pPr marL="3756718" indent="0">
              <a:buNone/>
              <a:defRPr sz="9900"/>
            </a:lvl3pPr>
            <a:lvl4pPr marL="5635077" indent="0">
              <a:buNone/>
              <a:defRPr sz="8200"/>
            </a:lvl4pPr>
            <a:lvl5pPr marL="7513436" indent="0">
              <a:buNone/>
              <a:defRPr sz="8200"/>
            </a:lvl5pPr>
            <a:lvl6pPr marL="9391794" indent="0">
              <a:buNone/>
              <a:defRPr sz="8200"/>
            </a:lvl6pPr>
            <a:lvl7pPr marL="11270153" indent="0">
              <a:buNone/>
              <a:defRPr sz="8200"/>
            </a:lvl7pPr>
            <a:lvl8pPr marL="13148512" indent="0">
              <a:buNone/>
              <a:defRPr sz="8200"/>
            </a:lvl8pPr>
            <a:lvl9pPr marL="15026871" indent="0">
              <a:buNone/>
              <a:defRPr sz="8200"/>
            </a:lvl9pPr>
          </a:lstStyle>
          <a:p>
            <a:r>
              <a:rPr lang="ru-RU"/>
              <a:t>Вставка рисунка</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74207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58719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0" y="1917668"/>
            <a:ext cx="11041380" cy="3052425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3520443" y="1917668"/>
            <a:ext cx="32484061" cy="3052425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05.05.2026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72949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4" y="1917674"/>
            <a:ext cx="44165519" cy="6961967"/>
          </a:xfrm>
          <a:prstGeom prst="rect">
            <a:avLst/>
          </a:prstGeom>
        </p:spPr>
        <p:txBody>
          <a:bodyPr vert="horz" lIns="124733" tIns="62367" rIns="124733" bIns="62367"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3520444" y="9588334"/>
            <a:ext cx="44165519" cy="22853590"/>
          </a:xfrm>
          <a:prstGeom prst="rect">
            <a:avLst/>
          </a:prstGeom>
        </p:spPr>
        <p:txBody>
          <a:bodyPr vert="horz" lIns="124733" tIns="62367" rIns="124733" bIns="62367"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3520442" y="33384083"/>
            <a:ext cx="11521440" cy="1917666"/>
          </a:xfrm>
          <a:prstGeom prst="rect">
            <a:avLst/>
          </a:prstGeom>
        </p:spPr>
        <p:txBody>
          <a:bodyPr vert="horz" lIns="124733" tIns="62367" rIns="124733" bIns="62367" rtlCol="0" anchor="ctr"/>
          <a:lstStyle>
            <a:lvl1pPr algn="l">
              <a:defRPr sz="4900">
                <a:solidFill>
                  <a:schemeClr val="tx1">
                    <a:tint val="75000"/>
                  </a:schemeClr>
                </a:solidFill>
              </a:defRPr>
            </a:lvl1pPr>
          </a:lstStyle>
          <a:p>
            <a:fld id="{85A5DE44-605B-4D3B-B2B7-94543DF81A36}" type="datetimeFigureOut">
              <a:rPr lang="ru-RU" smtClean="0"/>
              <a:pPr/>
              <a:t>05.05.2026</a:t>
            </a:fld>
            <a:endParaRPr lang="ru-RU"/>
          </a:p>
        </p:txBody>
      </p:sp>
      <p:sp>
        <p:nvSpPr>
          <p:cNvPr id="5" name="Footer Placeholder 4"/>
          <p:cNvSpPr>
            <a:spLocks noGrp="1"/>
          </p:cNvSpPr>
          <p:nvPr>
            <p:ph type="ftr" sz="quarter" idx="3"/>
          </p:nvPr>
        </p:nvSpPr>
        <p:spPr>
          <a:xfrm>
            <a:off x="16962125" y="33384083"/>
            <a:ext cx="17282159" cy="1917666"/>
          </a:xfrm>
          <a:prstGeom prst="rect">
            <a:avLst/>
          </a:prstGeom>
        </p:spPr>
        <p:txBody>
          <a:bodyPr vert="horz" lIns="124733" tIns="62367" rIns="124733" bIns="62367" rtlCol="0" anchor="ctr"/>
          <a:lstStyle>
            <a:lvl1pPr algn="ctr">
              <a:defRPr sz="4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36164520" y="33384083"/>
            <a:ext cx="11521440" cy="1917666"/>
          </a:xfrm>
          <a:prstGeom prst="rect">
            <a:avLst/>
          </a:prstGeom>
        </p:spPr>
        <p:txBody>
          <a:bodyPr vert="horz" lIns="124733" tIns="62367" rIns="124733" bIns="62367" rtlCol="0" anchor="ctr"/>
          <a:lstStyle>
            <a:lvl1pPr algn="r">
              <a:defRPr sz="4900">
                <a:solidFill>
                  <a:schemeClr val="tx1">
                    <a:tint val="75000"/>
                  </a:schemeClr>
                </a:solidFill>
              </a:defRPr>
            </a:lvl1pPr>
          </a:lstStyle>
          <a:p>
            <a:fld id="{84F3E878-C7D4-455C-B7B2-78E3A4BD70DA}" type="slidenum">
              <a:rPr lang="ru-RU" smtClean="0"/>
              <a:pPr/>
              <a:t>‹#›</a:t>
            </a:fld>
            <a:endParaRPr lang="ru-RU"/>
          </a:p>
        </p:txBody>
      </p:sp>
    </p:spTree>
    <p:extLst>
      <p:ext uri="{BB962C8B-B14F-4D97-AF65-F5344CB8AC3E}">
        <p14:creationId xmlns:p14="http://schemas.microsoft.com/office/powerpoint/2010/main" val="17441055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3756718" rtl="0" eaLnBrk="1" latinLnBrk="0" hangingPunct="1">
        <a:lnSpc>
          <a:spcPct val="90000"/>
        </a:lnSpc>
        <a:spcBef>
          <a:spcPct val="0"/>
        </a:spcBef>
        <a:buNone/>
        <a:defRPr sz="18100" kern="1200">
          <a:solidFill>
            <a:schemeClr val="tx1"/>
          </a:solidFill>
          <a:latin typeface="+mj-lt"/>
          <a:ea typeface="+mj-ea"/>
          <a:cs typeface="+mj-cs"/>
        </a:defRPr>
      </a:lvl1pPr>
    </p:titleStyle>
    <p:bodyStyle>
      <a:lvl1pPr marL="939179" indent="-939179" algn="l" defTabSz="3756718" rtl="0" eaLnBrk="1" latinLnBrk="0" hangingPunct="1">
        <a:lnSpc>
          <a:spcPct val="90000"/>
        </a:lnSpc>
        <a:spcBef>
          <a:spcPts val="4109"/>
        </a:spcBef>
        <a:buFont typeface="Arial" panose="020B0604020202020204" pitchFamily="34" charset="0"/>
        <a:buChar char="•"/>
        <a:defRPr sz="11500" kern="1200">
          <a:solidFill>
            <a:schemeClr val="tx1"/>
          </a:solidFill>
          <a:latin typeface="+mn-lt"/>
          <a:ea typeface="+mn-ea"/>
          <a:cs typeface="+mn-cs"/>
        </a:defRPr>
      </a:lvl1pPr>
      <a:lvl2pPr marL="2817538" indent="-939179" algn="l" defTabSz="3756718" rtl="0" eaLnBrk="1" latinLnBrk="0" hangingPunct="1">
        <a:lnSpc>
          <a:spcPct val="90000"/>
        </a:lnSpc>
        <a:spcBef>
          <a:spcPts val="2054"/>
        </a:spcBef>
        <a:buFont typeface="Arial" panose="020B0604020202020204" pitchFamily="34" charset="0"/>
        <a:buChar char="•"/>
        <a:defRPr sz="9900" kern="1200">
          <a:solidFill>
            <a:schemeClr val="tx1"/>
          </a:solidFill>
          <a:latin typeface="+mn-lt"/>
          <a:ea typeface="+mn-ea"/>
          <a:cs typeface="+mn-cs"/>
        </a:defRPr>
      </a:lvl2pPr>
      <a:lvl3pPr marL="4695897" indent="-939179" algn="l" defTabSz="3756718" rtl="0" eaLnBrk="1" latinLnBrk="0" hangingPunct="1">
        <a:lnSpc>
          <a:spcPct val="90000"/>
        </a:lnSpc>
        <a:spcBef>
          <a:spcPts val="2054"/>
        </a:spcBef>
        <a:buFont typeface="Arial" panose="020B0604020202020204" pitchFamily="34" charset="0"/>
        <a:buChar char="•"/>
        <a:defRPr sz="8200" kern="1200">
          <a:solidFill>
            <a:schemeClr val="tx1"/>
          </a:solidFill>
          <a:latin typeface="+mn-lt"/>
          <a:ea typeface="+mn-ea"/>
          <a:cs typeface="+mn-cs"/>
        </a:defRPr>
      </a:lvl3pPr>
      <a:lvl4pPr marL="6574255"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4pPr>
      <a:lvl5pPr marL="8452614"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5pPr>
      <a:lvl6pPr marL="10330973"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6pPr>
      <a:lvl7pPr marL="12209332"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7pPr>
      <a:lvl8pPr marL="14087691"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8pPr>
      <a:lvl9pPr marL="15966050"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9pPr>
    </p:bodyStyle>
    <p:otherStyle>
      <a:defPPr>
        <a:defRPr lang="en-US"/>
      </a:defPPr>
      <a:lvl1pPr marL="0" algn="l" defTabSz="3756718" rtl="0" eaLnBrk="1" latinLnBrk="0" hangingPunct="1">
        <a:defRPr sz="7400" kern="1200">
          <a:solidFill>
            <a:schemeClr val="tx1"/>
          </a:solidFill>
          <a:latin typeface="+mn-lt"/>
          <a:ea typeface="+mn-ea"/>
          <a:cs typeface="+mn-cs"/>
        </a:defRPr>
      </a:lvl1pPr>
      <a:lvl2pPr marL="1878359" algn="l" defTabSz="3756718" rtl="0" eaLnBrk="1" latinLnBrk="0" hangingPunct="1">
        <a:defRPr sz="7400" kern="1200">
          <a:solidFill>
            <a:schemeClr val="tx1"/>
          </a:solidFill>
          <a:latin typeface="+mn-lt"/>
          <a:ea typeface="+mn-ea"/>
          <a:cs typeface="+mn-cs"/>
        </a:defRPr>
      </a:lvl2pPr>
      <a:lvl3pPr marL="3756718" algn="l" defTabSz="3756718" rtl="0" eaLnBrk="1" latinLnBrk="0" hangingPunct="1">
        <a:defRPr sz="7400" kern="1200">
          <a:solidFill>
            <a:schemeClr val="tx1"/>
          </a:solidFill>
          <a:latin typeface="+mn-lt"/>
          <a:ea typeface="+mn-ea"/>
          <a:cs typeface="+mn-cs"/>
        </a:defRPr>
      </a:lvl3pPr>
      <a:lvl4pPr marL="5635077" algn="l" defTabSz="3756718" rtl="0" eaLnBrk="1" latinLnBrk="0" hangingPunct="1">
        <a:defRPr sz="7400" kern="1200">
          <a:solidFill>
            <a:schemeClr val="tx1"/>
          </a:solidFill>
          <a:latin typeface="+mn-lt"/>
          <a:ea typeface="+mn-ea"/>
          <a:cs typeface="+mn-cs"/>
        </a:defRPr>
      </a:lvl4pPr>
      <a:lvl5pPr marL="7513436" algn="l" defTabSz="3756718" rtl="0" eaLnBrk="1" latinLnBrk="0" hangingPunct="1">
        <a:defRPr sz="7400" kern="1200">
          <a:solidFill>
            <a:schemeClr val="tx1"/>
          </a:solidFill>
          <a:latin typeface="+mn-lt"/>
          <a:ea typeface="+mn-ea"/>
          <a:cs typeface="+mn-cs"/>
        </a:defRPr>
      </a:lvl5pPr>
      <a:lvl6pPr marL="9391794" algn="l" defTabSz="3756718" rtl="0" eaLnBrk="1" latinLnBrk="0" hangingPunct="1">
        <a:defRPr sz="7400" kern="1200">
          <a:solidFill>
            <a:schemeClr val="tx1"/>
          </a:solidFill>
          <a:latin typeface="+mn-lt"/>
          <a:ea typeface="+mn-ea"/>
          <a:cs typeface="+mn-cs"/>
        </a:defRPr>
      </a:lvl6pPr>
      <a:lvl7pPr marL="11270153" algn="l" defTabSz="3756718" rtl="0" eaLnBrk="1" latinLnBrk="0" hangingPunct="1">
        <a:defRPr sz="7400" kern="1200">
          <a:solidFill>
            <a:schemeClr val="tx1"/>
          </a:solidFill>
          <a:latin typeface="+mn-lt"/>
          <a:ea typeface="+mn-ea"/>
          <a:cs typeface="+mn-cs"/>
        </a:defRPr>
      </a:lvl7pPr>
      <a:lvl8pPr marL="13148512" algn="l" defTabSz="3756718" rtl="0" eaLnBrk="1" latinLnBrk="0" hangingPunct="1">
        <a:defRPr sz="7400" kern="1200">
          <a:solidFill>
            <a:schemeClr val="tx1"/>
          </a:solidFill>
          <a:latin typeface="+mn-lt"/>
          <a:ea typeface="+mn-ea"/>
          <a:cs typeface="+mn-cs"/>
        </a:defRPr>
      </a:lvl8pPr>
      <a:lvl9pPr marL="15026871" algn="l" defTabSz="3756718"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Прямоугольник 614"/>
          <p:cNvSpPr/>
          <p:nvPr/>
        </p:nvSpPr>
        <p:spPr>
          <a:xfrm>
            <a:off x="555905" y="229384"/>
            <a:ext cx="971265" cy="675564"/>
          </a:xfrm>
          <a:prstGeom prst="rect">
            <a:avLst/>
          </a:prstGeom>
          <a:ln w="28575"/>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3600" b="1" dirty="0"/>
              <a:t>294</a:t>
            </a:r>
          </a:p>
        </p:txBody>
      </p:sp>
      <p:cxnSp>
        <p:nvCxnSpPr>
          <p:cNvPr id="614" name="Соединительная линия уступом 613"/>
          <p:cNvCxnSpPr>
            <a:stCxn id="801" idx="2"/>
            <a:endCxn id="828" idx="0"/>
          </p:cNvCxnSpPr>
          <p:nvPr/>
        </p:nvCxnSpPr>
        <p:spPr>
          <a:xfrm rot="16200000" flipH="1">
            <a:off x="31992006" y="3994783"/>
            <a:ext cx="291874" cy="102073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01" name="Прямоугольник 800"/>
          <p:cNvSpPr/>
          <p:nvPr/>
        </p:nvSpPr>
        <p:spPr>
          <a:xfrm>
            <a:off x="31164413" y="381921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Победа Народного фронта</a:t>
            </a:r>
          </a:p>
        </p:txBody>
      </p:sp>
      <p:sp>
        <p:nvSpPr>
          <p:cNvPr id="828" name="Прямоугольник 827"/>
          <p:cNvSpPr/>
          <p:nvPr/>
        </p:nvSpPr>
        <p:spPr>
          <a:xfrm>
            <a:off x="32185148" y="465108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Жёсткая цензура прессы</a:t>
            </a:r>
            <a:endParaRPr lang="ru-RU" sz="500" dirty="0"/>
          </a:p>
        </p:txBody>
      </p:sp>
      <p:sp>
        <p:nvSpPr>
          <p:cNvPr id="829" name="Прямоугольник 828"/>
          <p:cNvSpPr/>
          <p:nvPr/>
        </p:nvSpPr>
        <p:spPr>
          <a:xfrm>
            <a:off x="22701370" y="4636649"/>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Амнистия политзаключённых</a:t>
            </a:r>
            <a:endParaRPr lang="ru-RU" sz="500" dirty="0"/>
          </a:p>
        </p:txBody>
      </p:sp>
      <p:cxnSp>
        <p:nvCxnSpPr>
          <p:cNvPr id="831" name="Соединительная линия уступом 830"/>
          <p:cNvCxnSpPr>
            <a:stCxn id="801" idx="2"/>
            <a:endCxn id="829" idx="0"/>
          </p:cNvCxnSpPr>
          <p:nvPr/>
        </p:nvCxnSpPr>
        <p:spPr>
          <a:xfrm rot="5400000">
            <a:off x="27257338" y="266410"/>
            <a:ext cx="277435" cy="846304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36" name="Прямоугольник 835"/>
          <p:cNvSpPr/>
          <p:nvPr/>
        </p:nvSpPr>
        <p:spPr>
          <a:xfrm>
            <a:off x="17021865" y="4636649"/>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Запустить работу института аграрной реформы </a:t>
            </a:r>
            <a:r>
              <a:rPr lang="ru-RU" sz="200" dirty="0"/>
              <a:t>(От 50 до 75 тысяч крестьян (главным образом в Эстремадуре) еще до конца марта под </a:t>
            </a:r>
            <a:r>
              <a:rPr lang="ru-RU" sz="200" dirty="0" err="1"/>
              <a:t>покро</a:t>
            </a:r>
            <a:r>
              <a:rPr lang="ru-RU" sz="200" dirty="0"/>
              <a:t>- </a:t>
            </a:r>
            <a:r>
              <a:rPr lang="ru-RU" sz="200" dirty="0" err="1"/>
              <a:t>вительством</a:t>
            </a:r>
            <a:r>
              <a:rPr lang="ru-RU" sz="200" dirty="0"/>
              <a:t> института обзавелись своими участками земли.)</a:t>
            </a:r>
          </a:p>
        </p:txBody>
      </p:sp>
      <p:cxnSp>
        <p:nvCxnSpPr>
          <p:cNvPr id="837" name="Соединительная линия уступом 836"/>
          <p:cNvCxnSpPr>
            <a:stCxn id="801" idx="2"/>
            <a:endCxn id="836" idx="0"/>
          </p:cNvCxnSpPr>
          <p:nvPr/>
        </p:nvCxnSpPr>
        <p:spPr>
          <a:xfrm rot="5400000">
            <a:off x="24417585" y="-2573343"/>
            <a:ext cx="277435" cy="1414254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838" name="Прямоугольник 837"/>
          <p:cNvSpPr/>
          <p:nvPr/>
        </p:nvSpPr>
        <p:spPr>
          <a:xfrm>
            <a:off x="30003346" y="4644182"/>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Введение чрезвычайного положение</a:t>
            </a:r>
          </a:p>
        </p:txBody>
      </p:sp>
      <p:cxnSp>
        <p:nvCxnSpPr>
          <p:cNvPr id="839" name="Соединительная линия уступом 838"/>
          <p:cNvCxnSpPr>
            <a:stCxn id="801" idx="2"/>
            <a:endCxn id="838" idx="0"/>
          </p:cNvCxnSpPr>
          <p:nvPr/>
        </p:nvCxnSpPr>
        <p:spPr>
          <a:xfrm rot="5400000">
            <a:off x="30904559" y="3921165"/>
            <a:ext cx="284968" cy="116106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8" name="Прямоугольник 47"/>
          <p:cNvSpPr/>
          <p:nvPr/>
        </p:nvSpPr>
        <p:spPr>
          <a:xfrm>
            <a:off x="22701369" y="5437852"/>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Провести выборы в Каталонии (автономия для Каталонии)</a:t>
            </a:r>
          </a:p>
        </p:txBody>
      </p:sp>
      <p:sp>
        <p:nvSpPr>
          <p:cNvPr id="49" name="Прямоугольник 48"/>
          <p:cNvSpPr/>
          <p:nvPr/>
        </p:nvSpPr>
        <p:spPr>
          <a:xfrm>
            <a:off x="21025799" y="544392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Возместить убытки Астурийским рабочим </a:t>
            </a:r>
            <a:r>
              <a:rPr lang="ru-RU" sz="100" dirty="0"/>
              <a:t>(еще до конца марта под </a:t>
            </a:r>
            <a:r>
              <a:rPr lang="ru-RU" sz="100" dirty="0" err="1"/>
              <a:t>покро</a:t>
            </a:r>
            <a:r>
              <a:rPr lang="ru-RU" sz="100" dirty="0"/>
              <a:t>- </a:t>
            </a:r>
            <a:r>
              <a:rPr lang="ru-RU" sz="100" dirty="0" err="1"/>
              <a:t>вительством</a:t>
            </a:r>
            <a:r>
              <a:rPr lang="ru-RU" sz="100" dirty="0"/>
              <a:t> института обзавелись своими участками земли. Были представлены на </a:t>
            </a:r>
            <a:r>
              <a:rPr lang="ru-RU" sz="100" dirty="0" err="1"/>
              <a:t>рассмот</a:t>
            </a:r>
            <a:r>
              <a:rPr lang="ru-RU" sz="100" dirty="0"/>
              <a:t>- </a:t>
            </a:r>
            <a:r>
              <a:rPr lang="ru-RU" sz="100" dirty="0" err="1"/>
              <a:t>рение</a:t>
            </a:r>
            <a:r>
              <a:rPr lang="ru-RU" sz="100" dirty="0"/>
              <a:t> и другие меры, связанные с указом об амнистии. Среди них, в частности, предписание хозяевам принять обратно на работу тех, кого они выгнали после стачек 1934 года, а также компенсировать им потерянную зарплату. Вместе с этим хозяевам предоставлялся выбор: взять ли человека на прежнее место или выплатить ему компенсацию. Эта непростая ситуация </a:t>
            </a:r>
            <a:r>
              <a:rPr lang="ru-RU" sz="100" dirty="0" err="1"/>
              <a:t>гово</a:t>
            </a:r>
            <a:r>
              <a:rPr lang="ru-RU" sz="100" dirty="0"/>
              <a:t>- </a:t>
            </a:r>
            <a:r>
              <a:rPr lang="ru-RU" sz="100" dirty="0" err="1"/>
              <a:t>рила</a:t>
            </a:r>
            <a:r>
              <a:rPr lang="ru-RU" sz="100" dirty="0"/>
              <a:t> об отношении нового правительства к испанской индустрии. В результате всех этих мер стоимость песеты упала, ведущие финансисты стали переводить свои средства из страны и уезжать сами.)</a:t>
            </a:r>
          </a:p>
        </p:txBody>
      </p:sp>
      <p:cxnSp>
        <p:nvCxnSpPr>
          <p:cNvPr id="50" name="Соединительная линия уступом 49"/>
          <p:cNvCxnSpPr>
            <a:stCxn id="829" idx="2"/>
            <a:endCxn id="49" idx="0"/>
          </p:cNvCxnSpPr>
          <p:nvPr/>
        </p:nvCxnSpPr>
        <p:spPr>
          <a:xfrm rot="5400000">
            <a:off x="22193109" y="4472503"/>
            <a:ext cx="267278" cy="167557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3" name="Соединительная линия уступом 52"/>
          <p:cNvCxnSpPr>
            <a:stCxn id="829" idx="2"/>
            <a:endCxn id="48" idx="0"/>
          </p:cNvCxnSpPr>
          <p:nvPr/>
        </p:nvCxnSpPr>
        <p:spPr>
          <a:xfrm rot="5400000">
            <a:off x="23033932" y="5307250"/>
            <a:ext cx="261203"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6" name="Прямоугольник 55"/>
          <p:cNvSpPr/>
          <p:nvPr/>
        </p:nvSpPr>
        <p:spPr>
          <a:xfrm>
            <a:off x="31156490" y="5454349"/>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Выборы нового президента </a:t>
            </a:r>
            <a:r>
              <a:rPr lang="ru-RU" sz="100" dirty="0"/>
              <a:t>(10 мая 1936 года </a:t>
            </a:r>
            <a:r>
              <a:rPr lang="ru-RU" sz="100" dirty="0" err="1"/>
              <a:t>Мануэль</a:t>
            </a:r>
            <a:r>
              <a:rPr lang="ru-RU" sz="100" dirty="0"/>
              <a:t> </a:t>
            </a:r>
            <a:r>
              <a:rPr lang="ru-RU" sz="100" dirty="0" err="1"/>
              <a:t>Асанья</a:t>
            </a:r>
            <a:r>
              <a:rPr lang="ru-RU" sz="100" dirty="0"/>
              <a:t> был избран президентом Испанской республики </a:t>
            </a:r>
            <a:r>
              <a:rPr lang="ru-RU" sz="100" dirty="0" err="1"/>
              <a:t>вме</a:t>
            </a:r>
            <a:r>
              <a:rPr lang="ru-RU" sz="100" dirty="0"/>
              <a:t>- сто </a:t>
            </a:r>
            <a:r>
              <a:rPr lang="ru-RU" sz="100" dirty="0" err="1"/>
              <a:t>Алькалы</a:t>
            </a:r>
            <a:r>
              <a:rPr lang="ru-RU" sz="100" dirty="0"/>
              <a:t> </a:t>
            </a:r>
            <a:r>
              <a:rPr lang="ru-RU" sz="100" dirty="0" err="1"/>
              <a:t>Саморы</a:t>
            </a:r>
            <a:r>
              <a:rPr lang="ru-RU" sz="100" dirty="0"/>
              <a:t>. В коллегии выборщиков, собравшихся во дворце </a:t>
            </a:r>
            <a:r>
              <a:rPr lang="ru-RU" sz="100" dirty="0" err="1"/>
              <a:t>Ретиро</a:t>
            </a:r>
            <a:r>
              <a:rPr lang="ru-RU" sz="100" dirty="0"/>
              <a:t>, за него про- голосовало 238 человек и лишь пять – против. Избрание прошло тихо и спокойно, если не считать драки в коридоре между </a:t>
            </a:r>
            <a:r>
              <a:rPr lang="ru-RU" sz="100" dirty="0" err="1"/>
              <a:t>Аракистайном</a:t>
            </a:r>
            <a:r>
              <a:rPr lang="ru-RU" sz="100" dirty="0"/>
              <a:t>, все еще поддерживавшим Ларго Кабальеро, и </a:t>
            </a:r>
            <a:r>
              <a:rPr lang="ru-RU" sz="100" dirty="0" err="1"/>
              <a:t>Хулианом</a:t>
            </a:r>
            <a:r>
              <a:rPr lang="ru-RU" sz="100" dirty="0"/>
              <a:t> </a:t>
            </a:r>
            <a:r>
              <a:rPr lang="ru-RU" sz="100" dirty="0" err="1"/>
              <a:t>Сугасагойтиа</a:t>
            </a:r>
            <a:r>
              <a:rPr lang="ru-RU" sz="100" dirty="0"/>
              <a:t>, издателем газеты </a:t>
            </a:r>
            <a:r>
              <a:rPr lang="ru-RU" sz="100" dirty="0" err="1"/>
              <a:t>Прието</a:t>
            </a:r>
            <a:r>
              <a:rPr lang="ru-RU" sz="100" dirty="0"/>
              <a:t> «Эль </a:t>
            </a:r>
            <a:r>
              <a:rPr lang="ru-RU" sz="100" dirty="0" err="1"/>
              <a:t>Сосьялиста</a:t>
            </a:r>
            <a:r>
              <a:rPr lang="ru-RU" sz="100" dirty="0"/>
              <a:t>». CEDA и другие правые партии не выдвигали своего кандидата и воздержались при голосовании. Через несколько дней премьер-министром стал </a:t>
            </a:r>
            <a:r>
              <a:rPr lang="ru-RU" sz="100" dirty="0" err="1"/>
              <a:t>Касарес</a:t>
            </a:r>
            <a:r>
              <a:rPr lang="ru-RU" sz="100" dirty="0"/>
              <a:t> </a:t>
            </a:r>
            <a:r>
              <a:rPr lang="ru-RU" sz="100" dirty="0" err="1"/>
              <a:t>Кирога</a:t>
            </a:r>
            <a:r>
              <a:rPr lang="ru-RU" sz="100" dirty="0"/>
              <a:t>, возглавив почти такой же, как при </a:t>
            </a:r>
            <a:r>
              <a:rPr lang="ru-RU" sz="100" dirty="0" err="1"/>
              <a:t>Асанье</a:t>
            </a:r>
            <a:r>
              <a:rPr lang="ru-RU" sz="100" dirty="0"/>
              <a:t>, </a:t>
            </a:r>
            <a:r>
              <a:rPr lang="ru-RU" sz="100" dirty="0" err="1"/>
              <a:t>каби</a:t>
            </a:r>
            <a:r>
              <a:rPr lang="ru-RU" sz="100" dirty="0"/>
              <a:t>- нет. Отношение </a:t>
            </a:r>
            <a:r>
              <a:rPr lang="ru-RU" sz="100" dirty="0" err="1"/>
              <a:t>Асаньи</a:t>
            </a:r>
            <a:r>
              <a:rPr lang="ru-RU" sz="100" dirty="0"/>
              <a:t> к своему избранию удивило многих его сторонников, поскольку было странным, что он согласился оставить пост главы правительства в такой момент, когда рядом не было ни одного государственного деятеля подобного масштаба. Все же стало ясно, что он с удовольствием воспользовался возможностью сменить тревожный хаос кортесов на уединен- </a:t>
            </a:r>
            <a:r>
              <a:rPr lang="ru-RU" sz="100" dirty="0" err="1"/>
              <a:t>ное</a:t>
            </a:r>
            <a:r>
              <a:rPr lang="ru-RU" sz="100" dirty="0"/>
              <a:t> величие Национального дворца. Скорее всего, </a:t>
            </a:r>
            <a:r>
              <a:rPr lang="ru-RU" sz="100" dirty="0" err="1"/>
              <a:t>Асанья</a:t>
            </a:r>
            <a:r>
              <a:rPr lang="ru-RU" sz="100" dirty="0"/>
              <a:t> убедил себя, что, став главой </a:t>
            </a:r>
            <a:r>
              <a:rPr lang="ru-RU" sz="100" dirty="0" err="1"/>
              <a:t>госу</a:t>
            </a:r>
            <a:r>
              <a:rPr lang="ru-RU" sz="100" dirty="0"/>
              <a:t>- </a:t>
            </a:r>
            <a:r>
              <a:rPr lang="ru-RU" sz="100" dirty="0" err="1"/>
              <a:t>дарства</a:t>
            </a:r>
            <a:r>
              <a:rPr lang="ru-RU" sz="100" dirty="0"/>
              <a:t>, он тем самым успокоит средний класс, опасающийся революции. Но устранить эти страхи было не так легко. Женщина-депутат от социалистов, эмигрировавшая из Германии, Маргарита </a:t>
            </a:r>
            <a:r>
              <a:rPr lang="ru-RU" sz="100" dirty="0" err="1"/>
              <a:t>Нелькен</a:t>
            </a:r>
            <a:r>
              <a:rPr lang="ru-RU" sz="100" dirty="0"/>
              <a:t>, объявила: «Мы хотим революции, но не такой, как русская, которая может служить нам лишь моделью, ибо мы должны разжечь огромное пламя, отсветы которого будут видны по всему миру, и от потоков крови покраснеют моря». 24 мая Ларго Кабальеро </a:t>
            </a:r>
            <a:r>
              <a:rPr lang="ru-RU" sz="100" dirty="0" err="1"/>
              <a:t>произ</a:t>
            </a:r>
            <a:r>
              <a:rPr lang="ru-RU" sz="100" dirty="0"/>
              <a:t>- нес в Кадисе большую речь. «Когда Народный фронт расколется, – заявил он, – что неизбежно последует, станет очевидным триумф пролетариата. Затем мы установим диктатуру пролета- </a:t>
            </a:r>
            <a:r>
              <a:rPr lang="ru-RU" sz="100" dirty="0" err="1"/>
              <a:t>риата</a:t>
            </a:r>
            <a:r>
              <a:rPr lang="ru-RU" sz="100" dirty="0"/>
              <a:t>, что означает репрессии в адрес капиталистов и буржуазных классов!» В то время уже составлялись заговоры и обдумывались планы их претворения в жизнь. Несмотря на тот факт, что установление коммунистического режима в Испании противоречило сдержанной внешней политике Сталина того времени, Коммунистическая партия Испании, возбужденная </a:t>
            </a:r>
            <a:r>
              <a:rPr lang="ru-RU" sz="100" dirty="0" err="1"/>
              <a:t>присо</a:t>
            </a:r>
            <a:r>
              <a:rPr lang="ru-RU" sz="100" dirty="0"/>
              <a:t>- единением «Социалистической молодежи», продолжала кормить Ларго откровенной лестью, заставляя его делать все более и более экстремистские заявления17. Тем временем в Сарагосе состоялся ежегодный конгресс CNT. Раздоры с FAI успешно разрешились. Конгресс </a:t>
            </a:r>
            <a:r>
              <a:rPr lang="ru-RU" sz="100" dirty="0" err="1"/>
              <a:t>потребо</a:t>
            </a:r>
            <a:r>
              <a:rPr lang="ru-RU" sz="100" dirty="0"/>
              <a:t>- вал продолжения предупредительных забастовок, усиления борьбы против UGT и «</a:t>
            </a:r>
            <a:r>
              <a:rPr lang="ru-RU" sz="100" dirty="0" err="1"/>
              <a:t>буржуаз</a:t>
            </a:r>
            <a:r>
              <a:rPr lang="ru-RU" sz="100" dirty="0"/>
              <a:t>- </a:t>
            </a:r>
            <a:r>
              <a:rPr lang="ru-RU" sz="100" dirty="0" err="1"/>
              <a:t>ного</a:t>
            </a:r>
            <a:r>
              <a:rPr lang="ru-RU" sz="100" dirty="0"/>
              <a:t>» правительства, 36-часовой рабочей недели, месячного оплачиваемого отпуска, повыше- </a:t>
            </a:r>
            <a:r>
              <a:rPr lang="ru-RU" sz="100" dirty="0" err="1"/>
              <a:t>ния</a:t>
            </a:r>
            <a:r>
              <a:rPr lang="ru-RU" sz="100" dirty="0"/>
              <a:t> зарплаты18 и, наконец, «</a:t>
            </a:r>
            <a:r>
              <a:rPr lang="ru-RU" sz="100" dirty="0" err="1"/>
              <a:t>либертарианского</a:t>
            </a:r>
            <a:r>
              <a:rPr lang="ru-RU" sz="100" dirty="0"/>
              <a:t> коммунизма».)</a:t>
            </a:r>
          </a:p>
        </p:txBody>
      </p:sp>
      <p:cxnSp>
        <p:nvCxnSpPr>
          <p:cNvPr id="57" name="Соединительная линия уступом 56"/>
          <p:cNvCxnSpPr>
            <a:stCxn id="828" idx="2"/>
            <a:endCxn id="135" idx="0"/>
          </p:cNvCxnSpPr>
          <p:nvPr/>
        </p:nvCxnSpPr>
        <p:spPr>
          <a:xfrm rot="16200000" flipH="1">
            <a:off x="32662108" y="5177290"/>
            <a:ext cx="1072320" cy="1099915"/>
          </a:xfrm>
          <a:prstGeom prst="bentConnector3">
            <a:avLst>
              <a:gd name="adj1" fmla="val 10132"/>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60" name="Соединительная линия уступом 59"/>
          <p:cNvCxnSpPr>
            <a:stCxn id="838" idx="2"/>
            <a:endCxn id="63" idx="0"/>
          </p:cNvCxnSpPr>
          <p:nvPr/>
        </p:nvCxnSpPr>
        <p:spPr>
          <a:xfrm rot="5400000">
            <a:off x="29664658" y="5461557"/>
            <a:ext cx="1079226" cy="524477"/>
          </a:xfrm>
          <a:prstGeom prst="bentConnector3">
            <a:avLst>
              <a:gd name="adj1" fmla="val 9837"/>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3" name="Прямоугольник 62"/>
          <p:cNvSpPr/>
          <p:nvPr/>
        </p:nvSpPr>
        <p:spPr>
          <a:xfrm>
            <a:off x="29478869" y="626340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Премьер-министр Ларго </a:t>
            </a:r>
            <a:r>
              <a:rPr lang="ru-RU" sz="400" dirty="0"/>
              <a:t>(исторически сентябрь 1936, если он займёт пост раньше, то начнётся вторая </a:t>
            </a:r>
            <a:r>
              <a:rPr lang="ru-RU" sz="400" dirty="0" err="1"/>
              <a:t>Санхурада</a:t>
            </a:r>
            <a:r>
              <a:rPr lang="ru-RU" sz="400" dirty="0"/>
              <a:t>)</a:t>
            </a:r>
            <a:endParaRPr lang="ru-RU" sz="200" dirty="0"/>
          </a:p>
        </p:txBody>
      </p:sp>
      <p:cxnSp>
        <p:nvCxnSpPr>
          <p:cNvPr id="33" name="Соединительная линия уступом 32"/>
          <p:cNvCxnSpPr>
            <a:stCxn id="836" idx="2"/>
            <a:endCxn id="49" idx="0"/>
          </p:cNvCxnSpPr>
          <p:nvPr/>
        </p:nvCxnSpPr>
        <p:spPr>
          <a:xfrm rot="16200000" flipH="1">
            <a:off x="19353356" y="3308321"/>
            <a:ext cx="267278" cy="400393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7" name="Прямоугольник 36"/>
          <p:cNvSpPr/>
          <p:nvPr/>
        </p:nvSpPr>
        <p:spPr>
          <a:xfrm>
            <a:off x="22130616" y="625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Разработать устройство федеративной республики </a:t>
            </a:r>
            <a:r>
              <a:rPr lang="ru-RU" sz="400" dirty="0"/>
              <a:t>(решения на вмешательство в выборы республик)</a:t>
            </a:r>
          </a:p>
        </p:txBody>
      </p:sp>
      <p:sp>
        <p:nvSpPr>
          <p:cNvPr id="38" name="Прямоугольник 37"/>
          <p:cNvSpPr/>
          <p:nvPr/>
        </p:nvSpPr>
        <p:spPr>
          <a:xfrm>
            <a:off x="23287021" y="625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Политика централизации Республики</a:t>
            </a:r>
          </a:p>
        </p:txBody>
      </p:sp>
      <p:cxnSp>
        <p:nvCxnSpPr>
          <p:cNvPr id="39" name="Прямая соединительная линия 38"/>
          <p:cNvCxnSpPr>
            <a:stCxn id="37" idx="3"/>
            <a:endCxn id="38" idx="1"/>
          </p:cNvCxnSpPr>
          <p:nvPr/>
        </p:nvCxnSpPr>
        <p:spPr>
          <a:xfrm>
            <a:off x="23056941" y="6529267"/>
            <a:ext cx="2300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Соединительная линия уступом 44"/>
          <p:cNvCxnSpPr>
            <a:stCxn id="48" idx="2"/>
            <a:endCxn id="37" idx="0"/>
          </p:cNvCxnSpPr>
          <p:nvPr/>
        </p:nvCxnSpPr>
        <p:spPr>
          <a:xfrm rot="5400000">
            <a:off x="22738449" y="5833183"/>
            <a:ext cx="281415" cy="57075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 name="Соединительная линия уступом 50"/>
          <p:cNvCxnSpPr>
            <a:stCxn id="48" idx="2"/>
            <a:endCxn id="38" idx="0"/>
          </p:cNvCxnSpPr>
          <p:nvPr/>
        </p:nvCxnSpPr>
        <p:spPr>
          <a:xfrm rot="16200000" flipH="1">
            <a:off x="23316651" y="5825733"/>
            <a:ext cx="281415" cy="58565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2" name="Прямоугольник 51"/>
          <p:cNvSpPr/>
          <p:nvPr/>
        </p:nvSpPr>
        <p:spPr>
          <a:xfrm>
            <a:off x="22130615" y="706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Особый статут </a:t>
            </a:r>
            <a:r>
              <a:rPr lang="ru-RU" sz="700" dirty="0" err="1"/>
              <a:t>Басконии</a:t>
            </a:r>
            <a:r>
              <a:rPr lang="ru-RU" sz="700" dirty="0"/>
              <a:t> (автономия для </a:t>
            </a:r>
            <a:r>
              <a:rPr lang="ru-RU" sz="700" dirty="0" err="1"/>
              <a:t>Басконии</a:t>
            </a:r>
            <a:r>
              <a:rPr lang="ru-RU" sz="700" dirty="0"/>
              <a:t>)</a:t>
            </a:r>
          </a:p>
        </p:txBody>
      </p:sp>
      <p:cxnSp>
        <p:nvCxnSpPr>
          <p:cNvPr id="54" name="Соединительная линия уступом 53"/>
          <p:cNvCxnSpPr>
            <a:stCxn id="37" idx="2"/>
            <a:endCxn id="52" idx="0"/>
          </p:cNvCxnSpPr>
          <p:nvPr/>
        </p:nvCxnSpPr>
        <p:spPr>
          <a:xfrm rot="5400000">
            <a:off x="22458779" y="6934267"/>
            <a:ext cx="27000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9" name="Прямоугольник 58"/>
          <p:cNvSpPr/>
          <p:nvPr/>
        </p:nvSpPr>
        <p:spPr>
          <a:xfrm>
            <a:off x="22130614" y="787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сталелитейной промышленности </a:t>
            </a:r>
            <a:r>
              <a:rPr lang="ru-RU" sz="700" dirty="0" err="1"/>
              <a:t>Басконии</a:t>
            </a:r>
            <a:endParaRPr lang="ru-RU" sz="700" dirty="0"/>
          </a:p>
        </p:txBody>
      </p:sp>
      <p:cxnSp>
        <p:nvCxnSpPr>
          <p:cNvPr id="61" name="Соединительная линия уступом 60"/>
          <p:cNvCxnSpPr>
            <a:stCxn id="52" idx="2"/>
            <a:endCxn id="59" idx="0"/>
          </p:cNvCxnSpPr>
          <p:nvPr/>
        </p:nvCxnSpPr>
        <p:spPr>
          <a:xfrm rot="5400000">
            <a:off x="22458778" y="7744267"/>
            <a:ext cx="27000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4" name="Прямоугольник 63"/>
          <p:cNvSpPr/>
          <p:nvPr/>
        </p:nvSpPr>
        <p:spPr>
          <a:xfrm>
            <a:off x="22708819" y="868926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Взаимное сотрудничество во флоте</a:t>
            </a:r>
          </a:p>
        </p:txBody>
      </p:sp>
      <p:cxnSp>
        <p:nvCxnSpPr>
          <p:cNvPr id="65" name="Соединительная линия уступом 64"/>
          <p:cNvCxnSpPr>
            <a:stCxn id="59" idx="2"/>
            <a:endCxn id="64" idx="0"/>
          </p:cNvCxnSpPr>
          <p:nvPr/>
        </p:nvCxnSpPr>
        <p:spPr>
          <a:xfrm rot="16200000" flipH="1">
            <a:off x="22747879" y="8265164"/>
            <a:ext cx="270001" cy="57820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7" name="Прямоугольник 66"/>
          <p:cNvSpPr/>
          <p:nvPr/>
        </p:nvSpPr>
        <p:spPr>
          <a:xfrm>
            <a:off x="21025798" y="706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Отдать долг Астурийским рабочим (автономия для Астурии)</a:t>
            </a:r>
          </a:p>
        </p:txBody>
      </p:sp>
      <p:cxnSp>
        <p:nvCxnSpPr>
          <p:cNvPr id="68" name="Соединительная линия уступом 67"/>
          <p:cNvCxnSpPr>
            <a:stCxn id="37" idx="2"/>
            <a:endCxn id="67" idx="0"/>
          </p:cNvCxnSpPr>
          <p:nvPr/>
        </p:nvCxnSpPr>
        <p:spPr>
          <a:xfrm rot="5400000">
            <a:off x="21906370" y="6381858"/>
            <a:ext cx="270000" cy="110481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1" name="Прямоугольник 70"/>
          <p:cNvSpPr/>
          <p:nvPr/>
        </p:nvSpPr>
        <p:spPr>
          <a:xfrm>
            <a:off x="21025797" y="788039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Горнодобывающее дело в Астурии </a:t>
            </a:r>
            <a:r>
              <a:rPr lang="ru-RU" sz="400" dirty="0"/>
              <a:t>(983 - </a:t>
            </a:r>
            <a:r>
              <a:rPr lang="en-US" sz="400" dirty="0"/>
              <a:t>+</a:t>
            </a:r>
            <a:r>
              <a:rPr lang="ru-RU" sz="400" dirty="0"/>
              <a:t>5 стали, </a:t>
            </a:r>
            <a:r>
              <a:rPr lang="en-US" sz="400" dirty="0"/>
              <a:t>+</a:t>
            </a:r>
            <a:r>
              <a:rPr lang="ru-RU" sz="400" dirty="0"/>
              <a:t>1 слот для строительства, </a:t>
            </a:r>
            <a:r>
              <a:rPr lang="en-US" sz="400" dirty="0"/>
              <a:t>+</a:t>
            </a:r>
            <a:r>
              <a:rPr lang="ru-RU" sz="400" dirty="0"/>
              <a:t>1 фабрика)</a:t>
            </a:r>
          </a:p>
        </p:txBody>
      </p:sp>
      <p:sp>
        <p:nvSpPr>
          <p:cNvPr id="73" name="Прямоугольник 72"/>
          <p:cNvSpPr/>
          <p:nvPr/>
        </p:nvSpPr>
        <p:spPr>
          <a:xfrm>
            <a:off x="21577110" y="869144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Определить статус Марокко</a:t>
            </a:r>
          </a:p>
        </p:txBody>
      </p:sp>
      <p:sp>
        <p:nvSpPr>
          <p:cNvPr id="74" name="Прямоугольник 73"/>
          <p:cNvSpPr/>
          <p:nvPr/>
        </p:nvSpPr>
        <p:spPr>
          <a:xfrm>
            <a:off x="19315741" y="868931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Каталонии фишки</a:t>
            </a:r>
          </a:p>
        </p:txBody>
      </p:sp>
      <p:cxnSp>
        <p:nvCxnSpPr>
          <p:cNvPr id="75" name="Соединительная линия уступом 74"/>
          <p:cNvCxnSpPr>
            <a:cxnSpLocks/>
            <a:stCxn id="37" idx="2"/>
            <a:endCxn id="74" idx="0"/>
          </p:cNvCxnSpPr>
          <p:nvPr/>
        </p:nvCxnSpPr>
        <p:spPr>
          <a:xfrm rot="5400000">
            <a:off x="20241317" y="6336855"/>
            <a:ext cx="1890050" cy="2814875"/>
          </a:xfrm>
          <a:prstGeom prst="bentConnector3">
            <a:avLst>
              <a:gd name="adj1" fmla="val 6915"/>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2" name="Соединительная линия уступом 81"/>
          <p:cNvCxnSpPr>
            <a:stCxn id="67" idx="2"/>
            <a:endCxn id="71" idx="0"/>
          </p:cNvCxnSpPr>
          <p:nvPr/>
        </p:nvCxnSpPr>
        <p:spPr>
          <a:xfrm rot="5400000">
            <a:off x="21353398" y="7744830"/>
            <a:ext cx="27112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3" name="Прямоугольник 92"/>
          <p:cNvSpPr/>
          <p:nvPr/>
        </p:nvSpPr>
        <p:spPr>
          <a:xfrm>
            <a:off x="15889747" y="625012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кооперативов (наше, но эффект под вопросом) </a:t>
            </a:r>
            <a:r>
              <a:rPr lang="ru-RU" sz="100" dirty="0"/>
              <a:t>(В промышленности, несмотря на трудный компромисс в тех концернах, которые продолжали номинально находиться в частном владении4 , рост производства увеличился на 30– 50 процентов, особенно в тех отраслях (например, в текстильной), которые работали непосредственно на войну)</a:t>
            </a:r>
          </a:p>
        </p:txBody>
      </p:sp>
      <p:sp>
        <p:nvSpPr>
          <p:cNvPr id="94" name="Прямоугольник 93"/>
          <p:cNvSpPr/>
          <p:nvPr/>
        </p:nvSpPr>
        <p:spPr>
          <a:xfrm>
            <a:off x="17590179" y="543518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Раздача помещичьих земель (наше но эффект сменить) </a:t>
            </a:r>
            <a:r>
              <a:rPr lang="ru-RU" sz="200" dirty="0"/>
              <a:t>(В мае 1937 года Институту аграрной реформы было </a:t>
            </a:r>
            <a:r>
              <a:rPr lang="ru-RU" sz="200" dirty="0" err="1"/>
              <a:t>переданооколо</a:t>
            </a:r>
            <a:r>
              <a:rPr lang="ru-RU" sz="200" dirty="0"/>
              <a:t> 4 миллионов гектаров (15 процентов всех земель). Были обеспечены кредит в 80 миллионов песет, снабжение семенным зерном и удобрениями.)</a:t>
            </a:r>
            <a:endParaRPr lang="ru-RU" sz="100" dirty="0"/>
          </a:p>
        </p:txBody>
      </p:sp>
      <p:sp>
        <p:nvSpPr>
          <p:cNvPr id="95" name="Прямоугольник 94"/>
          <p:cNvSpPr/>
          <p:nvPr/>
        </p:nvSpPr>
        <p:spPr>
          <a:xfrm>
            <a:off x="16433804" y="543395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Проведение стачек (пока наше, но нужно сменить всё)</a:t>
            </a:r>
            <a:endParaRPr lang="ru-RU" sz="500" dirty="0"/>
          </a:p>
        </p:txBody>
      </p:sp>
      <p:cxnSp>
        <p:nvCxnSpPr>
          <p:cNvPr id="96" name="Соединительная линия уступом 95"/>
          <p:cNvCxnSpPr>
            <a:stCxn id="836" idx="2"/>
            <a:endCxn id="94" idx="0"/>
          </p:cNvCxnSpPr>
          <p:nvPr/>
        </p:nvCxnSpPr>
        <p:spPr>
          <a:xfrm rot="16200000" flipH="1">
            <a:off x="17639916" y="5021761"/>
            <a:ext cx="258539" cy="56831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9" name="Соединительная линия уступом 98"/>
          <p:cNvCxnSpPr>
            <a:stCxn id="836" idx="2"/>
            <a:endCxn id="95" idx="0"/>
          </p:cNvCxnSpPr>
          <p:nvPr/>
        </p:nvCxnSpPr>
        <p:spPr>
          <a:xfrm rot="5400000">
            <a:off x="17062346" y="5011271"/>
            <a:ext cx="257304" cy="5880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3" name="Прямоугольник 102"/>
          <p:cNvSpPr/>
          <p:nvPr/>
        </p:nvSpPr>
        <p:spPr>
          <a:xfrm>
            <a:off x="18099657" y="625012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Распределение земли (наше, но эффект сменить) </a:t>
            </a:r>
            <a:r>
              <a:rPr lang="ru-RU" sz="200" dirty="0"/>
              <a:t>(Почти </a:t>
            </a:r>
            <a:r>
              <a:rPr lang="ru-RU" sz="200" dirty="0" err="1"/>
              <a:t>повсеместнов</a:t>
            </a:r>
            <a:r>
              <a:rPr lang="ru-RU" sz="200" dirty="0"/>
              <a:t> республиканской Испании к началу 1937 года крестьяне были или собственниками своей земли, или работали в коллективных хозяйствах. Арендаторы и безземельные батраки, зависевшие от прихотей лендлордов, практически исчезли)</a:t>
            </a:r>
            <a:endParaRPr lang="ru-RU" sz="100" dirty="0"/>
          </a:p>
        </p:txBody>
      </p:sp>
      <p:cxnSp>
        <p:nvCxnSpPr>
          <p:cNvPr id="105" name="Соединительная линия уступом 104"/>
          <p:cNvCxnSpPr>
            <a:stCxn id="49" idx="2"/>
            <a:endCxn id="67" idx="0"/>
          </p:cNvCxnSpPr>
          <p:nvPr/>
        </p:nvCxnSpPr>
        <p:spPr>
          <a:xfrm rot="5400000">
            <a:off x="20946292" y="6526597"/>
            <a:ext cx="108534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8" name="Прямоугольник 107"/>
          <p:cNvSpPr/>
          <p:nvPr/>
        </p:nvSpPr>
        <p:spPr>
          <a:xfrm>
            <a:off x="15889748" y="707561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Национализация предприятий (наше)</a:t>
            </a:r>
            <a:endParaRPr lang="ru-RU" sz="500" dirty="0"/>
          </a:p>
        </p:txBody>
      </p:sp>
      <p:cxnSp>
        <p:nvCxnSpPr>
          <p:cNvPr id="109" name="Соединительная линия уступом 108"/>
          <p:cNvCxnSpPr>
            <a:stCxn id="94" idx="2"/>
            <a:endCxn id="103" idx="0"/>
          </p:cNvCxnSpPr>
          <p:nvPr/>
        </p:nvCxnSpPr>
        <p:spPr>
          <a:xfrm rot="16200000" flipH="1">
            <a:off x="18170614" y="5857916"/>
            <a:ext cx="274935" cy="50947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5" name="Соединительная линия уступом 114"/>
          <p:cNvCxnSpPr>
            <a:stCxn id="95" idx="2"/>
            <a:endCxn id="93" idx="0"/>
          </p:cNvCxnSpPr>
          <p:nvPr/>
        </p:nvCxnSpPr>
        <p:spPr>
          <a:xfrm rot="5400000">
            <a:off x="16486854" y="5840010"/>
            <a:ext cx="276170" cy="54405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1" name="Соединительная линия уступом 120"/>
          <p:cNvCxnSpPr>
            <a:stCxn id="37" idx="2"/>
            <a:endCxn id="73" idx="0"/>
          </p:cNvCxnSpPr>
          <p:nvPr/>
        </p:nvCxnSpPr>
        <p:spPr>
          <a:xfrm rot="5400000">
            <a:off x="21370938" y="7468602"/>
            <a:ext cx="1892176" cy="553506"/>
          </a:xfrm>
          <a:prstGeom prst="bentConnector3">
            <a:avLst>
              <a:gd name="adj1" fmla="val 6964"/>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5" name="Прямоугольник 124"/>
          <p:cNvSpPr/>
          <p:nvPr/>
        </p:nvSpPr>
        <p:spPr>
          <a:xfrm>
            <a:off x="24370213" y="464473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Разрыв конкордата с Ватиканом </a:t>
            </a:r>
            <a:r>
              <a:rPr lang="ru-RU" sz="600" dirty="0"/>
              <a:t>(наше)</a:t>
            </a:r>
            <a:endParaRPr lang="ru-RU" sz="400" dirty="0"/>
          </a:p>
        </p:txBody>
      </p:sp>
      <p:cxnSp>
        <p:nvCxnSpPr>
          <p:cNvPr id="126" name="Соединительная линия уступом 125"/>
          <p:cNvCxnSpPr>
            <a:stCxn id="801" idx="2"/>
            <a:endCxn id="125" idx="0"/>
          </p:cNvCxnSpPr>
          <p:nvPr/>
        </p:nvCxnSpPr>
        <p:spPr>
          <a:xfrm rot="5400000">
            <a:off x="28087714" y="1104876"/>
            <a:ext cx="285524" cy="679420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29" name="Прямоугольник 128"/>
          <p:cNvSpPr/>
          <p:nvPr/>
        </p:nvSpPr>
        <p:spPr>
          <a:xfrm>
            <a:off x="23829987" y="543785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Секуляризация церковных земель </a:t>
            </a:r>
            <a:r>
              <a:rPr lang="ru-RU" sz="600" dirty="0"/>
              <a:t>(наше)</a:t>
            </a:r>
            <a:endParaRPr lang="ru-RU" sz="400" dirty="0"/>
          </a:p>
        </p:txBody>
      </p:sp>
      <p:sp>
        <p:nvSpPr>
          <p:cNvPr id="136" name="Прямоугольник 135"/>
          <p:cNvSpPr/>
          <p:nvPr/>
        </p:nvSpPr>
        <p:spPr>
          <a:xfrm>
            <a:off x="19867890" y="706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Статус Галисии (автономия для Галисии)</a:t>
            </a:r>
          </a:p>
        </p:txBody>
      </p:sp>
      <p:sp>
        <p:nvSpPr>
          <p:cNvPr id="137" name="Прямоугольник 136"/>
          <p:cNvSpPr/>
          <p:nvPr/>
        </p:nvSpPr>
        <p:spPr>
          <a:xfrm>
            <a:off x="19867889" y="788039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endParaRPr lang="ru-RU" sz="700" dirty="0"/>
          </a:p>
        </p:txBody>
      </p:sp>
      <p:cxnSp>
        <p:nvCxnSpPr>
          <p:cNvPr id="139" name="Соединительная линия уступом 138"/>
          <p:cNvCxnSpPr>
            <a:stCxn id="136" idx="2"/>
            <a:endCxn id="137" idx="0"/>
          </p:cNvCxnSpPr>
          <p:nvPr/>
        </p:nvCxnSpPr>
        <p:spPr>
          <a:xfrm rot="5400000">
            <a:off x="20195490" y="7744830"/>
            <a:ext cx="27112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1" name="Соединительная линия уступом 140"/>
          <p:cNvCxnSpPr>
            <a:stCxn id="37" idx="2"/>
            <a:endCxn id="136" idx="0"/>
          </p:cNvCxnSpPr>
          <p:nvPr/>
        </p:nvCxnSpPr>
        <p:spPr>
          <a:xfrm rot="5400000">
            <a:off x="21327416" y="5802904"/>
            <a:ext cx="270000" cy="226272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44" name="Прямоугольник 143"/>
          <p:cNvSpPr/>
          <p:nvPr/>
        </p:nvSpPr>
        <p:spPr>
          <a:xfrm>
            <a:off x="20449156" y="869144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Статус Арагона (автономия для Арагона)</a:t>
            </a:r>
          </a:p>
        </p:txBody>
      </p:sp>
      <p:sp>
        <p:nvSpPr>
          <p:cNvPr id="145" name="Прямоугольник 144"/>
          <p:cNvSpPr/>
          <p:nvPr/>
        </p:nvSpPr>
        <p:spPr>
          <a:xfrm>
            <a:off x="20449155" y="9502569"/>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Индустриализация Арагона</a:t>
            </a:r>
          </a:p>
        </p:txBody>
      </p:sp>
      <p:cxnSp>
        <p:nvCxnSpPr>
          <p:cNvPr id="147" name="Соединительная линия уступом 146"/>
          <p:cNvCxnSpPr>
            <a:stCxn id="144" idx="2"/>
            <a:endCxn id="145" idx="0"/>
          </p:cNvCxnSpPr>
          <p:nvPr/>
        </p:nvCxnSpPr>
        <p:spPr>
          <a:xfrm rot="5400000">
            <a:off x="20776756" y="9367006"/>
            <a:ext cx="27112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9" name="Соединительная линия уступом 148"/>
          <p:cNvCxnSpPr>
            <a:stCxn id="37" idx="2"/>
            <a:endCxn id="144" idx="0"/>
          </p:cNvCxnSpPr>
          <p:nvPr/>
        </p:nvCxnSpPr>
        <p:spPr>
          <a:xfrm rot="5400000">
            <a:off x="20806961" y="6904625"/>
            <a:ext cx="1892176" cy="1681460"/>
          </a:xfrm>
          <a:prstGeom prst="bentConnector3">
            <a:avLst>
              <a:gd name="adj1" fmla="val 7204"/>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9" name="Прямоугольник 88"/>
          <p:cNvSpPr/>
          <p:nvPr/>
        </p:nvSpPr>
        <p:spPr>
          <a:xfrm>
            <a:off x="19735378" y="248595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200" dirty="0"/>
              <a:t>Так что с течением времени Советский Союз отвечал на требования оказать помощь Испании лишь посылкой продовольствия и </a:t>
            </a:r>
            <a:r>
              <a:rPr lang="ru-RU" sz="200" dirty="0" err="1"/>
              <a:t>сырья.Кроме</a:t>
            </a:r>
            <a:r>
              <a:rPr lang="ru-RU" sz="200" dirty="0"/>
              <a:t> того, советские рабочие вносили «пожертвования» от своей зарплаты в помощь </a:t>
            </a:r>
            <a:r>
              <a:rPr lang="ru-RU" sz="200" dirty="0" err="1"/>
              <a:t>испан</a:t>
            </a:r>
            <a:r>
              <a:rPr lang="ru-RU" sz="200" dirty="0"/>
              <a:t>- </a:t>
            </a:r>
            <a:r>
              <a:rPr lang="ru-RU" sz="200" dirty="0" err="1"/>
              <a:t>цам</a:t>
            </a:r>
            <a:r>
              <a:rPr lang="ru-RU" sz="200" dirty="0"/>
              <a:t>. В то же время представители </a:t>
            </a:r>
            <a:r>
              <a:rPr lang="ru-RU" sz="200" dirty="0" err="1"/>
              <a:t>Комнитерна</a:t>
            </a:r>
            <a:r>
              <a:rPr lang="ru-RU" sz="200" dirty="0"/>
              <a:t> в Испании получили подкрепление. Пользуясь псевдонимами Альфред о и </a:t>
            </a:r>
            <a:r>
              <a:rPr lang="ru-RU" sz="200" dirty="0" err="1"/>
              <a:t>Эрколи</a:t>
            </a:r>
            <a:r>
              <a:rPr lang="ru-RU" sz="200" dirty="0"/>
              <a:t>, в Испанию прибыл умный лидер Итальянской </a:t>
            </a:r>
            <a:r>
              <a:rPr lang="ru-RU" sz="200" dirty="0" err="1"/>
              <a:t>коммуни</a:t>
            </a:r>
            <a:r>
              <a:rPr lang="ru-RU" sz="200" dirty="0"/>
              <a:t>- </a:t>
            </a:r>
            <a:r>
              <a:rPr lang="ru-RU" sz="200" dirty="0" err="1"/>
              <a:t>стической</a:t>
            </a:r>
            <a:r>
              <a:rPr lang="ru-RU" sz="200" dirty="0"/>
              <a:t> партии в изгнании </a:t>
            </a:r>
            <a:r>
              <a:rPr lang="ru-RU" sz="200" dirty="0" err="1"/>
              <a:t>Пальмиро</a:t>
            </a:r>
            <a:r>
              <a:rPr lang="ru-RU" sz="200" dirty="0"/>
              <a:t> Тольятти, которому предстояло руководить тактикой Испанской коммунистической партии6. Какое-то время ему сопутствовал французский ком- </a:t>
            </a:r>
            <a:r>
              <a:rPr lang="ru-RU" sz="200" dirty="0" err="1"/>
              <a:t>мунист</a:t>
            </a:r>
            <a:r>
              <a:rPr lang="ru-RU" sz="200" dirty="0"/>
              <a:t> Жак </a:t>
            </a:r>
            <a:r>
              <a:rPr lang="ru-RU" sz="200" dirty="0" err="1"/>
              <a:t>Дюкло</a:t>
            </a:r>
            <a:r>
              <a:rPr lang="ru-RU" sz="200" dirty="0"/>
              <a:t>. Прибыл в Испанию военным советником милиции испанских </a:t>
            </a:r>
            <a:r>
              <a:rPr lang="ru-RU" sz="200" dirty="0" err="1"/>
              <a:t>коммуни</a:t>
            </a:r>
            <a:r>
              <a:rPr lang="ru-RU" sz="200" dirty="0"/>
              <a:t>- </a:t>
            </a:r>
            <a:r>
              <a:rPr lang="ru-RU" sz="200" dirty="0" err="1"/>
              <a:t>стов</a:t>
            </a:r>
            <a:r>
              <a:rPr lang="ru-RU" sz="200" dirty="0"/>
              <a:t> (под псевдонимом Карлос </a:t>
            </a:r>
            <a:r>
              <a:rPr lang="ru-RU" sz="200" dirty="0" err="1"/>
              <a:t>Контрерас</a:t>
            </a:r>
            <a:r>
              <a:rPr lang="ru-RU" sz="200" dirty="0"/>
              <a:t>) и </a:t>
            </a:r>
            <a:r>
              <a:rPr lang="ru-RU" sz="200" dirty="0" err="1"/>
              <a:t>Витторио</a:t>
            </a:r>
            <a:r>
              <a:rPr lang="ru-RU" sz="200" dirty="0"/>
              <a:t> Видали, другой итальянский комму- </a:t>
            </a:r>
            <a:r>
              <a:rPr lang="ru-RU" sz="200" dirty="0" err="1"/>
              <a:t>нист</a:t>
            </a:r>
            <a:r>
              <a:rPr lang="ru-RU" sz="200" dirty="0"/>
              <a:t>, который много лет вел революционную деятельность в Соединенных Штатах.</a:t>
            </a:r>
          </a:p>
        </p:txBody>
      </p:sp>
      <p:sp>
        <p:nvSpPr>
          <p:cNvPr id="91" name="Прямоугольник 90"/>
          <p:cNvSpPr/>
          <p:nvPr/>
        </p:nvSpPr>
        <p:spPr>
          <a:xfrm>
            <a:off x="20917172" y="248595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300" dirty="0"/>
              <a:t>Степанов с </a:t>
            </a:r>
            <a:r>
              <a:rPr lang="ru-RU" sz="300" dirty="0" err="1"/>
              <a:t>Кодовильей</a:t>
            </a:r>
            <a:r>
              <a:rPr lang="ru-RU" sz="300" dirty="0"/>
              <a:t>, еще два представителя Коминтерна, также провели в </a:t>
            </a:r>
            <a:r>
              <a:rPr lang="ru-RU" sz="300" dirty="0" err="1"/>
              <a:t>Испа</a:t>
            </a:r>
            <a:r>
              <a:rPr lang="ru-RU" sz="300" dirty="0"/>
              <a:t>- </a:t>
            </a:r>
            <a:r>
              <a:rPr lang="ru-RU" sz="300" dirty="0" err="1"/>
              <a:t>нии</a:t>
            </a:r>
            <a:r>
              <a:rPr lang="ru-RU" sz="300" dirty="0"/>
              <a:t> какое-то время. Таким образом, Сталин был весьма основательно представлен в Испании.</a:t>
            </a:r>
          </a:p>
          <a:p>
            <a:pPr algn="ctr"/>
            <a:r>
              <a:rPr lang="ru-RU" sz="300" dirty="0"/>
              <a:t>И Испанской коммунистической партией, по сути, руководили не Хосе </a:t>
            </a:r>
            <a:r>
              <a:rPr lang="ru-RU" sz="300" dirty="0" err="1"/>
              <a:t>Диас</a:t>
            </a:r>
            <a:r>
              <a:rPr lang="ru-RU" sz="300" dirty="0"/>
              <a:t> или </a:t>
            </a:r>
            <a:r>
              <a:rPr lang="ru-RU" sz="300" dirty="0" err="1"/>
              <a:t>Пассиона</a:t>
            </a:r>
            <a:r>
              <a:rPr lang="ru-RU" sz="300" dirty="0"/>
              <a:t>- </a:t>
            </a:r>
            <a:r>
              <a:rPr lang="ru-RU" sz="300" dirty="0" err="1"/>
              <a:t>рия</a:t>
            </a:r>
            <a:r>
              <a:rPr lang="ru-RU" sz="300" dirty="0"/>
              <a:t>, а гораздо более искусный политический тактик Тольятти7.</a:t>
            </a:r>
          </a:p>
        </p:txBody>
      </p:sp>
      <p:sp>
        <p:nvSpPr>
          <p:cNvPr id="92" name="Прямоугольник 91"/>
          <p:cNvSpPr/>
          <p:nvPr/>
        </p:nvSpPr>
        <p:spPr>
          <a:xfrm>
            <a:off x="34413633" y="787379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пятый батальон </a:t>
            </a:r>
            <a:r>
              <a:rPr lang="ru-RU" sz="100" dirty="0"/>
              <a:t>(Тем не менее, среди республиканских частей в </a:t>
            </a:r>
            <a:r>
              <a:rPr lang="ru-RU" sz="100" dirty="0" err="1"/>
              <a:t>Сьеррассамой</a:t>
            </a:r>
            <a:r>
              <a:rPr lang="ru-RU" sz="100" dirty="0"/>
              <a:t> знаменитой был Пятый полк, созданный коммунистической партией. Он получил </a:t>
            </a:r>
            <a:r>
              <a:rPr lang="ru-RU" sz="100" dirty="0" err="1"/>
              <a:t>такоеназвание</a:t>
            </a:r>
            <a:r>
              <a:rPr lang="ru-RU" sz="100" dirty="0"/>
              <a:t> потому, что обычно в Мадриде стояли четыре полка. Коммунисты с самого </a:t>
            </a:r>
            <a:r>
              <a:rPr lang="ru-RU" sz="100" dirty="0" err="1"/>
              <a:t>началасоздали</a:t>
            </a:r>
            <a:r>
              <a:rPr lang="ru-RU" sz="100" dirty="0"/>
              <a:t> четкую военную организацию полка, противопоставив ее разболтанному революционному энтузиазму </a:t>
            </a:r>
            <a:r>
              <a:rPr lang="ru-RU" sz="100" dirty="0" err="1"/>
              <a:t>милиции.Основу</a:t>
            </a:r>
            <a:r>
              <a:rPr lang="ru-RU" sz="100" dirty="0"/>
              <a:t> Пятого полка составляла социалистическая и коммунистическая молодежь, </a:t>
            </a:r>
            <a:r>
              <a:rPr lang="ru-RU" sz="100" dirty="0" err="1"/>
              <a:t>нои</a:t>
            </a:r>
            <a:r>
              <a:rPr lang="ru-RU" sz="100" dirty="0"/>
              <a:t> остальные присоединялись к нему, откликнувшись на призывы </a:t>
            </a:r>
            <a:r>
              <a:rPr lang="ru-RU" sz="100" dirty="0" err="1"/>
              <a:t>Пассионарии</a:t>
            </a:r>
            <a:r>
              <a:rPr lang="ru-RU" sz="100" dirty="0"/>
              <a:t>) Духовной силой полка был итальянский коммунист Видали (Карлос </a:t>
            </a:r>
            <a:r>
              <a:rPr lang="ru-RU" sz="100" dirty="0" err="1"/>
              <a:t>Контрерас</a:t>
            </a:r>
            <a:r>
              <a:rPr lang="ru-RU" sz="100" dirty="0"/>
              <a:t>).Безжалостный в той же мере, как и решительный и энергичный, он пользовался </a:t>
            </a:r>
            <a:r>
              <a:rPr lang="ru-RU" sz="100" dirty="0" err="1"/>
              <a:t>репутациейчеловека</a:t>
            </a:r>
            <a:r>
              <a:rPr lang="ru-RU" sz="100" dirty="0"/>
              <a:t>, который лично расстреливал трусов, и в то же время включил в состав Пятого </a:t>
            </a:r>
            <a:r>
              <a:rPr lang="ru-RU" sz="100" dirty="0" err="1"/>
              <a:t>полкамадридский</a:t>
            </a:r>
            <a:r>
              <a:rPr lang="ru-RU" sz="100" dirty="0"/>
              <a:t> муниципальный оркестр, под маршевые мелодии которого полк чеканил шаг.</a:t>
            </a:r>
          </a:p>
        </p:txBody>
      </p:sp>
      <p:sp>
        <p:nvSpPr>
          <p:cNvPr id="97" name="Прямоугольник 96"/>
          <p:cNvSpPr/>
          <p:nvPr/>
        </p:nvSpPr>
        <p:spPr>
          <a:xfrm>
            <a:off x="31156489" y="4651220"/>
            <a:ext cx="926325" cy="540000"/>
          </a:xfrm>
          <a:prstGeom prst="rect">
            <a:avLst/>
          </a:prstGeom>
          <a:gradFill>
            <a:gsLst>
              <a:gs pos="0">
                <a:schemeClr val="accent1"/>
              </a:gs>
              <a:gs pos="100000">
                <a:srgbClr val="FF0000"/>
              </a:gs>
            </a:gsLst>
            <a:lin ang="5400000" scaled="1"/>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Социалистическая и коммунистическая молодёжь 1 апреля 1936 года</a:t>
            </a:r>
          </a:p>
          <a:p>
            <a:pPr algn="ctr"/>
            <a:r>
              <a:rPr lang="ru-RU" sz="100" dirty="0"/>
              <a:t>(В 1935 году Коммунистический интернационал молодежи поддерживает идею объединения молодежных рабочих организаций во всем мире (социалистов и коммунистов). В мае 1936 года был подписан объединительный пакт между Федерацией социалистической молодёжи и Союзом коммунистической молодёжи . С приходом победы Народного фронта создаются Объединенная социалистическая молодежь)</a:t>
            </a:r>
            <a:endParaRPr lang="ru-RU" sz="700" dirty="0"/>
          </a:p>
        </p:txBody>
      </p:sp>
      <p:sp>
        <p:nvSpPr>
          <p:cNvPr id="100" name="Прямоугольник 99"/>
          <p:cNvSpPr/>
          <p:nvPr/>
        </p:nvSpPr>
        <p:spPr>
          <a:xfrm>
            <a:off x="25924513" y="463826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Привлечь горожан к защите и строительству баррикад </a:t>
            </a:r>
            <a:r>
              <a:rPr lang="ru-RU" sz="100" dirty="0"/>
              <a:t>(</a:t>
            </a:r>
            <a:r>
              <a:rPr lang="ru-RU" sz="100" dirty="0" err="1"/>
              <a:t>Одновременнос</a:t>
            </a:r>
            <a:r>
              <a:rPr lang="ru-RU" sz="100" dirty="0"/>
              <a:t> его началом радио Мадрида отдало приказ строить баррикады. Массы рабочих </a:t>
            </a:r>
            <a:r>
              <a:rPr lang="ru-RU" sz="100" dirty="0" err="1"/>
              <a:t>двинулисьна</a:t>
            </a:r>
            <a:r>
              <a:rPr lang="ru-RU" sz="100" dirty="0"/>
              <a:t> передовую линию. Многие были без оружия, готовые брать ружья погибших. Из </a:t>
            </a:r>
            <a:r>
              <a:rPr lang="ru-RU" sz="100" dirty="0" err="1"/>
              <a:t>уличныхгромкоговорителей</a:t>
            </a:r>
            <a:r>
              <a:rPr lang="ru-RU" sz="100" dirty="0"/>
              <a:t> непрестанно доносился голос </a:t>
            </a:r>
            <a:r>
              <a:rPr lang="ru-RU" sz="100" dirty="0" err="1"/>
              <a:t>Пассионарии</a:t>
            </a:r>
            <a:r>
              <a:rPr lang="ru-RU" sz="100" dirty="0"/>
              <a:t>, побуждавший женщин кипятить масло и выливать его на головы тех, кто попытается ворваться в их дома. Женщины, </a:t>
            </a:r>
            <a:r>
              <a:rPr lang="ru-RU" sz="100" dirty="0" err="1"/>
              <a:t>каки</a:t>
            </a:r>
            <a:r>
              <a:rPr lang="ru-RU" sz="100" dirty="0"/>
              <a:t> в первые дни войны, играли большую роль; на демонстрациях они требовали, чтобы </a:t>
            </a:r>
            <a:r>
              <a:rPr lang="ru-RU" sz="100" dirty="0" err="1"/>
              <a:t>всехмужчин</a:t>
            </a:r>
            <a:r>
              <a:rPr lang="ru-RU" sz="100" dirty="0"/>
              <a:t> отправляли на фронт.)</a:t>
            </a:r>
          </a:p>
        </p:txBody>
      </p:sp>
      <p:cxnSp>
        <p:nvCxnSpPr>
          <p:cNvPr id="102" name="Соединительная линия уступом 101"/>
          <p:cNvCxnSpPr>
            <a:stCxn id="801" idx="2"/>
            <a:endCxn id="100" idx="0"/>
          </p:cNvCxnSpPr>
          <p:nvPr/>
        </p:nvCxnSpPr>
        <p:spPr>
          <a:xfrm rot="5400000">
            <a:off x="28868101" y="1878789"/>
            <a:ext cx="279050" cy="52399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4" name="Прямоугольник 103"/>
          <p:cNvSpPr/>
          <p:nvPr/>
        </p:nvSpPr>
        <p:spPr>
          <a:xfrm>
            <a:off x="27098523" y="463930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Переместить золотой запас (ваниль)</a:t>
            </a:r>
            <a:endParaRPr lang="ru-RU" sz="500" dirty="0"/>
          </a:p>
        </p:txBody>
      </p:sp>
      <p:cxnSp>
        <p:nvCxnSpPr>
          <p:cNvPr id="106" name="Соединительная линия уступом 105"/>
          <p:cNvCxnSpPr>
            <a:stCxn id="801" idx="2"/>
            <a:endCxn id="104" idx="0"/>
          </p:cNvCxnSpPr>
          <p:nvPr/>
        </p:nvCxnSpPr>
        <p:spPr>
          <a:xfrm rot="5400000">
            <a:off x="29454586" y="2466314"/>
            <a:ext cx="280091" cy="406589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0" name="Прямоугольник 109"/>
          <p:cNvSpPr/>
          <p:nvPr/>
        </p:nvSpPr>
        <p:spPr>
          <a:xfrm>
            <a:off x="25917444" y="543137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Поставки советского снаряжения (ваниль)</a:t>
            </a:r>
            <a:endParaRPr lang="ru-RU" sz="500" dirty="0"/>
          </a:p>
        </p:txBody>
      </p:sp>
      <p:sp>
        <p:nvSpPr>
          <p:cNvPr id="111" name="Прямоугольник 110"/>
          <p:cNvSpPr/>
          <p:nvPr/>
        </p:nvSpPr>
        <p:spPr>
          <a:xfrm>
            <a:off x="28282303" y="543137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Советские военные советники (ваниль)</a:t>
            </a:r>
            <a:endParaRPr lang="ru-RU" sz="500" dirty="0"/>
          </a:p>
        </p:txBody>
      </p:sp>
      <p:cxnSp>
        <p:nvCxnSpPr>
          <p:cNvPr id="113" name="Соединительная линия уступом 112"/>
          <p:cNvCxnSpPr>
            <a:stCxn id="104" idx="2"/>
            <a:endCxn id="110" idx="0"/>
          </p:cNvCxnSpPr>
          <p:nvPr/>
        </p:nvCxnSpPr>
        <p:spPr>
          <a:xfrm rot="5400000">
            <a:off x="26845111" y="4714802"/>
            <a:ext cx="252072" cy="11810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4" name="Соединительная линия уступом 113"/>
          <p:cNvCxnSpPr>
            <a:stCxn id="104" idx="2"/>
            <a:endCxn id="111" idx="0"/>
          </p:cNvCxnSpPr>
          <p:nvPr/>
        </p:nvCxnSpPr>
        <p:spPr>
          <a:xfrm rot="16200000" flipH="1">
            <a:off x="28027540" y="4713451"/>
            <a:ext cx="252072" cy="118378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9" name="Прямоугольник 118"/>
          <p:cNvSpPr/>
          <p:nvPr/>
        </p:nvSpPr>
        <p:spPr>
          <a:xfrm>
            <a:off x="27101224" y="543413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помощь советов </a:t>
            </a:r>
            <a:r>
              <a:rPr lang="ru-RU" sz="500" dirty="0"/>
              <a:t>(фокусы по сторонам теперь перед ним и обязательны) (ваниль)</a:t>
            </a:r>
            <a:endParaRPr lang="ru-RU" sz="300" dirty="0"/>
          </a:p>
        </p:txBody>
      </p:sp>
      <p:sp>
        <p:nvSpPr>
          <p:cNvPr id="120" name="Прямоугольник 119"/>
          <p:cNvSpPr/>
          <p:nvPr/>
        </p:nvSpPr>
        <p:spPr>
          <a:xfrm>
            <a:off x="26507984" y="625012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Промышленная помощь от СССР (ваниль)</a:t>
            </a:r>
            <a:endParaRPr lang="ru-RU" sz="500" dirty="0"/>
          </a:p>
        </p:txBody>
      </p:sp>
      <p:cxnSp>
        <p:nvCxnSpPr>
          <p:cNvPr id="122" name="Прямая со стрелкой 121"/>
          <p:cNvCxnSpPr>
            <a:stCxn id="104" idx="2"/>
            <a:endCxn id="119" idx="0"/>
          </p:cNvCxnSpPr>
          <p:nvPr/>
        </p:nvCxnSpPr>
        <p:spPr>
          <a:xfrm>
            <a:off x="27561686" y="5179305"/>
            <a:ext cx="2701" cy="25483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31" name="Прямоугольник 130"/>
          <p:cNvSpPr/>
          <p:nvPr/>
        </p:nvSpPr>
        <p:spPr>
          <a:xfrm>
            <a:off x="27690413" y="625161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Советские технологические достижения (ваниль)</a:t>
            </a:r>
            <a:endParaRPr lang="ru-RU" sz="500" dirty="0"/>
          </a:p>
        </p:txBody>
      </p:sp>
      <p:cxnSp>
        <p:nvCxnSpPr>
          <p:cNvPr id="134" name="Соединительная линия уступом 133"/>
          <p:cNvCxnSpPr>
            <a:stCxn id="119" idx="2"/>
            <a:endCxn id="120" idx="0"/>
          </p:cNvCxnSpPr>
          <p:nvPr/>
        </p:nvCxnSpPr>
        <p:spPr>
          <a:xfrm rot="5400000">
            <a:off x="27129775" y="5815510"/>
            <a:ext cx="275985" cy="5932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2" name="Соединительная линия уступом 141"/>
          <p:cNvCxnSpPr>
            <a:stCxn id="119" idx="2"/>
            <a:endCxn id="131" idx="0"/>
          </p:cNvCxnSpPr>
          <p:nvPr/>
        </p:nvCxnSpPr>
        <p:spPr>
          <a:xfrm rot="16200000" flipH="1">
            <a:off x="27720242" y="5818282"/>
            <a:ext cx="277479" cy="58918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43" name="Прямоугольник 142"/>
          <p:cNvSpPr/>
          <p:nvPr/>
        </p:nvSpPr>
        <p:spPr>
          <a:xfrm>
            <a:off x="24922518" y="543558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Присвоить церковные богатства </a:t>
            </a:r>
            <a:r>
              <a:rPr lang="ru-RU" sz="600" dirty="0"/>
              <a:t>(ваниль)</a:t>
            </a:r>
            <a:endParaRPr lang="ru-RU" sz="400" dirty="0"/>
          </a:p>
        </p:txBody>
      </p:sp>
      <p:cxnSp>
        <p:nvCxnSpPr>
          <p:cNvPr id="150" name="Соединительная линия уступом 149"/>
          <p:cNvCxnSpPr>
            <a:stCxn id="125" idx="2"/>
            <a:endCxn id="129" idx="0"/>
          </p:cNvCxnSpPr>
          <p:nvPr/>
        </p:nvCxnSpPr>
        <p:spPr>
          <a:xfrm rot="5400000">
            <a:off x="24436707" y="5041181"/>
            <a:ext cx="253113" cy="54022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1" name="Соединительная линия уступом 150"/>
          <p:cNvCxnSpPr>
            <a:stCxn id="125" idx="2"/>
            <a:endCxn id="143" idx="0"/>
          </p:cNvCxnSpPr>
          <p:nvPr/>
        </p:nvCxnSpPr>
        <p:spPr>
          <a:xfrm rot="16200000" flipH="1">
            <a:off x="24984103" y="5034010"/>
            <a:ext cx="250850" cy="55230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6" name="Прямоугольник 115"/>
          <p:cNvSpPr/>
          <p:nvPr/>
        </p:nvSpPr>
        <p:spPr>
          <a:xfrm>
            <a:off x="15319934" y="542992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Увеличить бюджет на образование </a:t>
            </a:r>
            <a:r>
              <a:rPr lang="ru-RU" sz="100" dirty="0"/>
              <a:t>(еще никогда раньше образованию не уделялось столько внимания. В 1937 году на него было потрачено 143 миллиона песет, по сравнению с 3 миллионами в 1936 году. Конечно, эта сумма не так велика, как может показаться, поскольку республиканская песета подверглась инфляции. Тем не менее реальные траты на образование выросли в пять раз. Количество новых школ, открытых в 1937 году, достигло тысячи. Если в Испании 1931 года было 37 000 учителей, то в республиканской Испании 1937 года их стало 60 000. В 1937 году действовало 2000 военных школ, в которых учили читать неграмотных милиционеров)</a:t>
            </a:r>
          </a:p>
        </p:txBody>
      </p:sp>
      <p:cxnSp>
        <p:nvCxnSpPr>
          <p:cNvPr id="117" name="Соединительная линия уступом 116"/>
          <p:cNvCxnSpPr>
            <a:stCxn id="836" idx="2"/>
            <a:endCxn id="116" idx="0"/>
          </p:cNvCxnSpPr>
          <p:nvPr/>
        </p:nvCxnSpPr>
        <p:spPr>
          <a:xfrm rot="5400000">
            <a:off x="16507427" y="4452320"/>
            <a:ext cx="253272" cy="170193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3" name="Прямоугольник 122"/>
          <p:cNvSpPr/>
          <p:nvPr/>
        </p:nvSpPr>
        <p:spPr>
          <a:xfrm>
            <a:off x="17021866" y="625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Увеличить уровень здравоохранения </a:t>
            </a:r>
            <a:r>
              <a:rPr lang="ru-RU" sz="100" dirty="0"/>
              <a:t>(В здравоохранении, несмотря на нехватку врачей и потребности военной медицины, количество мест для туберкулезных больных стало на тысячу больше, чем в 1936 году. В 1937 году прошли повсеместные прививки от оспы, дифтерии и тифа, а к концу года центров помощи детям стало больше, чем перед войной во всей Испании. Самоотверженная деятельность иностранных медиков-добровольцев сказывалась по всей республике, устанавливая новые стандарты гигиены и заботы о здоровье. Эти успехи, достигнутые в военной обстановке, было нелегко игнорировать.)</a:t>
            </a:r>
          </a:p>
        </p:txBody>
      </p:sp>
      <p:cxnSp>
        <p:nvCxnSpPr>
          <p:cNvPr id="127" name="Соединительная линия уступом 126"/>
          <p:cNvCxnSpPr>
            <a:stCxn id="836" idx="2"/>
            <a:endCxn id="123" idx="0"/>
          </p:cNvCxnSpPr>
          <p:nvPr/>
        </p:nvCxnSpPr>
        <p:spPr>
          <a:xfrm rot="16200000" flipH="1">
            <a:off x="16943719" y="5717957"/>
            <a:ext cx="1082618"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8" name="Прямоугольник 117"/>
          <p:cNvSpPr/>
          <p:nvPr/>
        </p:nvSpPr>
        <p:spPr>
          <a:xfrm>
            <a:off x="33291001" y="705316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a:t>
            </a:r>
            <a:r>
              <a:rPr lang="en-US" sz="700" dirty="0"/>
              <a:t>SIM </a:t>
            </a:r>
            <a:r>
              <a:rPr lang="ru-RU" sz="100" dirty="0"/>
              <a:t>(Появилась и новая организация SIM (тайная полиция и военная разведка). Ее с самого начала возглавляли коммунисты. Формально она Х.  Томас.  «Гражданская война в Испании. 1931-1939» 321 должна была выявлять шпионов. Но SIM не собиралась ограничиваться только этими задачами. С самого начала своей деятельности она взяла на вооружение все самые жуткие пытки НКВД. Камеры были такими маленькими, что заключенные с трудом в них умещались, еле удерживаясь на кирпичах, стоящих на ребре. Мощный электрический свет слепил, звуки глушили, на пленников лили ледяную воду, их жгли раскаленным железом, избивали дубинками. Вне всяких сомнений, SIM несет прямую ответственность за гибель многих призывников в республиканской армии, которые не столько проявляли трусость или плохо воевали, сколько не хотели подчиняться приказам командиров-коммунистов. Первый начальник этой службы, пианист </a:t>
            </a:r>
            <a:r>
              <a:rPr lang="ru-RU" sz="100" dirty="0" err="1"/>
              <a:t>Дуран</a:t>
            </a:r>
            <a:r>
              <a:rPr lang="ru-RU" sz="100" dirty="0"/>
              <a:t>, стал организатором омерзительного плана. Он позволил распространиться в Мадриде слухам, что из некоего дома в предместье </a:t>
            </a:r>
            <a:r>
              <a:rPr lang="ru-RU" sz="100" dirty="0" err="1"/>
              <a:t>Усера</a:t>
            </a:r>
            <a:r>
              <a:rPr lang="ru-RU" sz="100" dirty="0"/>
              <a:t> прорыт туннель, по которому можно выйти к передовой линии националистов. Немало сторонников националистов, включая и тех, кто укрывался в иностранных посольствах, попались на эти слухи и жестоко поплатились за легковерие. Когда они появлялись у входа в туннель, имея с собой лишь кое-какие ценные вещи, их встречал выстрел в упор. В конце войны в «туннеле смерти» было опознано 67 тел)  Во время этого военного кризиса SIM в Барселоне продолжал заниматься своими делами. Официально военная разведка должна была ловить шпионов, но теперь она с той же страстью выявляла «пораженцев». Сюда входили также спекулянты, грабители и те, кто прятал запасы продуктов. Трибуналы на скорую руку выносили приговоры по этим «преступлениям». SIM взял на себя обязанность с мстительной торопливостью приводить приговоры в исполнение. Были расстреляны сорок человек, прежде чем вмешательство правительства положило этому конец. Специальные тюрьмы SIM в Барселоне, особенно в монастыре Сан Хуана, стали местами изощренных пыток, которые могло придумать только больное воображение Эдгара </a:t>
            </a:r>
            <a:r>
              <a:rPr lang="ru-RU" sz="100" dirty="0" err="1"/>
              <a:t>Аллана</a:t>
            </a:r>
            <a:r>
              <a:rPr lang="ru-RU" sz="100" dirty="0"/>
              <a:t> По. Пребывание в круглых темных комнатах с единственной лампочкой наверху вызывало головокружение. Некоторые камеры были такими маленькими, что в них нельзя было даже сидеть. </a:t>
            </a:r>
          </a:p>
        </p:txBody>
      </p:sp>
      <p:cxnSp>
        <p:nvCxnSpPr>
          <p:cNvPr id="124" name="Соединительная линия уступом 123"/>
          <p:cNvCxnSpPr>
            <a:cxnSpLocks/>
            <a:stCxn id="164" idx="2"/>
            <a:endCxn id="162" idx="0"/>
          </p:cNvCxnSpPr>
          <p:nvPr/>
        </p:nvCxnSpPr>
        <p:spPr>
          <a:xfrm rot="5400000">
            <a:off x="28596053" y="9307421"/>
            <a:ext cx="260266" cy="251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30" name="Прямоугольник 129">
            <a:extLst>
              <a:ext uri="{FF2B5EF4-FFF2-40B4-BE49-F238E27FC236}">
                <a16:creationId xmlns:a16="http://schemas.microsoft.com/office/drawing/2014/main" id="{32EFE5A9-491B-46C7-9CCC-EC70745CA00A}"/>
              </a:ext>
            </a:extLst>
          </p:cNvPr>
          <p:cNvSpPr/>
          <p:nvPr/>
        </p:nvSpPr>
        <p:spPr>
          <a:xfrm>
            <a:off x="11333471" y="382705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Сокрушить надежды вождя</a:t>
            </a:r>
          </a:p>
        </p:txBody>
      </p:sp>
      <p:cxnSp>
        <p:nvCxnSpPr>
          <p:cNvPr id="133" name="Прямая соединительная линия 132">
            <a:extLst>
              <a:ext uri="{FF2B5EF4-FFF2-40B4-BE49-F238E27FC236}">
                <a16:creationId xmlns:a16="http://schemas.microsoft.com/office/drawing/2014/main" id="{B210A86C-E791-474B-AD43-67AC3A2D8E92}"/>
              </a:ext>
            </a:extLst>
          </p:cNvPr>
          <p:cNvCxnSpPr>
            <a:cxnSpLocks/>
            <a:stCxn id="130" idx="3"/>
            <a:endCxn id="801" idx="1"/>
          </p:cNvCxnSpPr>
          <p:nvPr/>
        </p:nvCxnSpPr>
        <p:spPr>
          <a:xfrm flipV="1">
            <a:off x="12259796" y="4089214"/>
            <a:ext cx="18904617" cy="783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7" name="Прямоугольник 106">
            <a:extLst>
              <a:ext uri="{FF2B5EF4-FFF2-40B4-BE49-F238E27FC236}">
                <a16:creationId xmlns:a16="http://schemas.microsoft.com/office/drawing/2014/main" id="{B2FF6737-5293-4F39-BB5E-A666306D5E15}"/>
              </a:ext>
            </a:extLst>
          </p:cNvPr>
          <p:cNvSpPr/>
          <p:nvPr/>
        </p:nvSpPr>
        <p:spPr>
          <a:xfrm>
            <a:off x="11478829" y="6233241"/>
            <a:ext cx="926325" cy="540000"/>
          </a:xfrm>
          <a:prstGeom prst="rect">
            <a:avLst/>
          </a:prstGeom>
          <a:solidFill>
            <a:srgbClr val="FFC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Иберийская коммунистическая молодёжь </a:t>
            </a:r>
            <a:r>
              <a:rPr lang="ru-RU" sz="500" dirty="0"/>
              <a:t>(</a:t>
            </a:r>
            <a:r>
              <a:rPr lang="en-US" sz="500" dirty="0"/>
              <a:t>Germinal Vidal</a:t>
            </a:r>
            <a:r>
              <a:rPr lang="ru-RU" sz="500" dirty="0"/>
              <a:t> как советник, только против СЕДА)</a:t>
            </a:r>
            <a:endParaRPr lang="ru-RU" sz="700" dirty="0"/>
          </a:p>
        </p:txBody>
      </p:sp>
      <p:sp>
        <p:nvSpPr>
          <p:cNvPr id="112" name="Прямоугольник 111">
            <a:extLst>
              <a:ext uri="{FF2B5EF4-FFF2-40B4-BE49-F238E27FC236}">
                <a16:creationId xmlns:a16="http://schemas.microsoft.com/office/drawing/2014/main" id="{2B34BD92-035E-496F-BA59-E167AF97AB50}"/>
              </a:ext>
            </a:extLst>
          </p:cNvPr>
          <p:cNvSpPr/>
          <p:nvPr/>
        </p:nvSpPr>
        <p:spPr>
          <a:xfrm>
            <a:off x="11478828" y="7069267"/>
            <a:ext cx="926325" cy="540000"/>
          </a:xfrm>
          <a:prstGeom prst="rect">
            <a:avLst/>
          </a:prstGeom>
          <a:solidFill>
            <a:srgbClr val="FFC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Революционный молодёжный фронт </a:t>
            </a:r>
            <a:r>
              <a:rPr lang="ru-RU" sz="300" dirty="0"/>
              <a:t>(сформировал Революционный молодежный фронт вместе с </a:t>
            </a:r>
            <a:r>
              <a:rPr lang="ru-RU" sz="300" dirty="0" err="1"/>
              <a:t>Либертарианской</a:t>
            </a:r>
            <a:r>
              <a:rPr lang="ru-RU" sz="300" dirty="0"/>
              <a:t> молодежью)</a:t>
            </a:r>
            <a:endParaRPr lang="ru-RU" sz="700" dirty="0"/>
          </a:p>
        </p:txBody>
      </p:sp>
      <p:sp>
        <p:nvSpPr>
          <p:cNvPr id="135" name="Прямоугольник 134">
            <a:extLst>
              <a:ext uri="{FF2B5EF4-FFF2-40B4-BE49-F238E27FC236}">
                <a16:creationId xmlns:a16="http://schemas.microsoft.com/office/drawing/2014/main" id="{3F73D485-85C1-4021-BF3A-F98C9D79AF9E}"/>
              </a:ext>
            </a:extLst>
          </p:cNvPr>
          <p:cNvSpPr/>
          <p:nvPr/>
        </p:nvSpPr>
        <p:spPr>
          <a:xfrm>
            <a:off x="33285063" y="626340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Ввести коммунистов в правительство</a:t>
            </a:r>
            <a:endParaRPr lang="ru-RU" sz="500" dirty="0"/>
          </a:p>
        </p:txBody>
      </p:sp>
      <p:cxnSp>
        <p:nvCxnSpPr>
          <p:cNvPr id="153" name="Прямая соединительная линия 152">
            <a:extLst>
              <a:ext uri="{FF2B5EF4-FFF2-40B4-BE49-F238E27FC236}">
                <a16:creationId xmlns:a16="http://schemas.microsoft.com/office/drawing/2014/main" id="{44D5A13D-ED90-4D47-9D98-6095F6E2D8DD}"/>
              </a:ext>
            </a:extLst>
          </p:cNvPr>
          <p:cNvCxnSpPr>
            <a:cxnSpLocks/>
            <a:stCxn id="63" idx="3"/>
            <a:endCxn id="135" idx="1"/>
          </p:cNvCxnSpPr>
          <p:nvPr/>
        </p:nvCxnSpPr>
        <p:spPr>
          <a:xfrm>
            <a:off x="30405194" y="6533408"/>
            <a:ext cx="28798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54" name="Прямоугольник 153">
            <a:extLst>
              <a:ext uri="{FF2B5EF4-FFF2-40B4-BE49-F238E27FC236}">
                <a16:creationId xmlns:a16="http://schemas.microsoft.com/office/drawing/2014/main" id="{1DE535CF-D5C4-47EA-8554-CD69456F19F1}"/>
              </a:ext>
            </a:extLst>
          </p:cNvPr>
          <p:cNvSpPr/>
          <p:nvPr/>
        </p:nvSpPr>
        <p:spPr>
          <a:xfrm>
            <a:off x="29446576" y="863854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Обобществление средств производства</a:t>
            </a:r>
          </a:p>
          <a:p>
            <a:pPr algn="ctr"/>
            <a:r>
              <a:rPr lang="ru-RU" sz="100" dirty="0"/>
              <a:t>(Следуя марксистскому философскому и политическому течению , он стремился к захвату политической власти пролетарским классом и обобществлению средств производства для установления диктатуры пролетариата)</a:t>
            </a:r>
            <a:endParaRPr lang="ru-RU" sz="700" dirty="0"/>
          </a:p>
        </p:txBody>
      </p:sp>
      <p:sp>
        <p:nvSpPr>
          <p:cNvPr id="155" name="Прямоугольник 154">
            <a:extLst>
              <a:ext uri="{FF2B5EF4-FFF2-40B4-BE49-F238E27FC236}">
                <a16:creationId xmlns:a16="http://schemas.microsoft.com/office/drawing/2014/main" id="{AE63F9D4-E3FE-49AD-A901-494855E870B6}"/>
              </a:ext>
            </a:extLst>
          </p:cNvPr>
          <p:cNvSpPr/>
          <p:nvPr/>
        </p:nvSpPr>
        <p:spPr>
          <a:xfrm>
            <a:off x="29446574" y="944021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Установление диктатуры пролетариата</a:t>
            </a:r>
          </a:p>
          <a:p>
            <a:pPr algn="ctr"/>
            <a:r>
              <a:rPr lang="ru-RU" sz="100" dirty="0"/>
              <a:t>(Следуя марксистскому философскому и политическому течению , он стремился к захвату политической власти пролетарским классом и обобществлению средств производства для установления диктатуры пролетариата)</a:t>
            </a:r>
            <a:endParaRPr lang="ru-RU" sz="700" dirty="0"/>
          </a:p>
        </p:txBody>
      </p:sp>
      <p:sp>
        <p:nvSpPr>
          <p:cNvPr id="156" name="Прямоугольник 155">
            <a:extLst>
              <a:ext uri="{FF2B5EF4-FFF2-40B4-BE49-F238E27FC236}">
                <a16:creationId xmlns:a16="http://schemas.microsoft.com/office/drawing/2014/main" id="{6EDC6DCB-25E6-4101-87E3-6FE8795BB9DC}"/>
              </a:ext>
            </a:extLst>
          </p:cNvPr>
          <p:cNvSpPr/>
          <p:nvPr/>
        </p:nvSpPr>
        <p:spPr>
          <a:xfrm>
            <a:off x="29454135" y="1022581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Построить социалистические общество</a:t>
            </a:r>
          </a:p>
          <a:p>
            <a:pPr algn="ctr"/>
            <a:r>
              <a:rPr lang="ru-RU" sz="400" dirty="0"/>
              <a:t>(исторически сентябрь 1936, если он займёт пост раньше, то начнётся вторая </a:t>
            </a:r>
            <a:r>
              <a:rPr lang="ru-RU" sz="400" dirty="0" err="1"/>
              <a:t>Санхурада</a:t>
            </a:r>
            <a:r>
              <a:rPr lang="ru-RU" sz="400" dirty="0"/>
              <a:t>)</a:t>
            </a:r>
            <a:endParaRPr lang="ru-RU" sz="200" dirty="0"/>
          </a:p>
        </p:txBody>
      </p:sp>
      <p:cxnSp>
        <p:nvCxnSpPr>
          <p:cNvPr id="157" name="Соединительная линия уступом 59">
            <a:extLst>
              <a:ext uri="{FF2B5EF4-FFF2-40B4-BE49-F238E27FC236}">
                <a16:creationId xmlns:a16="http://schemas.microsoft.com/office/drawing/2014/main" id="{ED19BEBE-D154-4028-B840-BC4A19EBF25A}"/>
              </a:ext>
            </a:extLst>
          </p:cNvPr>
          <p:cNvCxnSpPr>
            <a:cxnSpLocks/>
            <a:stCxn id="56" idx="2"/>
            <a:endCxn id="63" idx="0"/>
          </p:cNvCxnSpPr>
          <p:nvPr/>
        </p:nvCxnSpPr>
        <p:spPr>
          <a:xfrm rot="5400000">
            <a:off x="30646314" y="5290068"/>
            <a:ext cx="269059" cy="167762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8" name="Соединительная линия уступом 59">
            <a:extLst>
              <a:ext uri="{FF2B5EF4-FFF2-40B4-BE49-F238E27FC236}">
                <a16:creationId xmlns:a16="http://schemas.microsoft.com/office/drawing/2014/main" id="{7066AE11-5134-458C-89E0-082A59BB1B0F}"/>
              </a:ext>
            </a:extLst>
          </p:cNvPr>
          <p:cNvCxnSpPr>
            <a:cxnSpLocks/>
            <a:stCxn id="56" idx="2"/>
            <a:endCxn id="135" idx="0"/>
          </p:cNvCxnSpPr>
          <p:nvPr/>
        </p:nvCxnSpPr>
        <p:spPr>
          <a:xfrm rot="16200000" flipH="1">
            <a:off x="32549410" y="5064591"/>
            <a:ext cx="269059" cy="212857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9" name="Прямоугольник 158">
            <a:extLst>
              <a:ext uri="{FF2B5EF4-FFF2-40B4-BE49-F238E27FC236}">
                <a16:creationId xmlns:a16="http://schemas.microsoft.com/office/drawing/2014/main" id="{691AD626-DD8A-4A61-A88C-B3EB5598250C}"/>
              </a:ext>
            </a:extLst>
          </p:cNvPr>
          <p:cNvSpPr/>
          <p:nvPr/>
        </p:nvSpPr>
        <p:spPr>
          <a:xfrm>
            <a:off x="30003347" y="7874808"/>
            <a:ext cx="926325" cy="540000"/>
          </a:xfrm>
          <a:prstGeom prst="rect">
            <a:avLst/>
          </a:prstGeom>
          <a:gradFill>
            <a:gsLst>
              <a:gs pos="0">
                <a:schemeClr val="accent1">
                  <a:tint val="66000"/>
                  <a:satMod val="160000"/>
                </a:schemeClr>
              </a:gs>
              <a:gs pos="100000">
                <a:srgbClr val="FF0000"/>
              </a:gs>
            </a:gsLst>
            <a:lin ang="5400000" scaled="0"/>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Запретить ПОУМ (Правительство </a:t>
            </a:r>
            <a:r>
              <a:rPr lang="ru-RU" sz="700" dirty="0" err="1"/>
              <a:t>Прието</a:t>
            </a:r>
            <a:r>
              <a:rPr lang="ru-RU" sz="700" dirty="0"/>
              <a:t> и </a:t>
            </a:r>
            <a:r>
              <a:rPr lang="ru-RU" sz="700" dirty="0" err="1"/>
              <a:t>Негрина</a:t>
            </a:r>
            <a:r>
              <a:rPr lang="ru-RU" sz="700" dirty="0"/>
              <a:t>)</a:t>
            </a:r>
          </a:p>
        </p:txBody>
      </p:sp>
      <p:sp>
        <p:nvSpPr>
          <p:cNvPr id="160" name="Прямоугольник 159">
            <a:extLst>
              <a:ext uri="{FF2B5EF4-FFF2-40B4-BE49-F238E27FC236}">
                <a16:creationId xmlns:a16="http://schemas.microsoft.com/office/drawing/2014/main" id="{2A50D594-2C2E-4BDC-8F6D-0BE0FE128D99}"/>
              </a:ext>
            </a:extLst>
          </p:cNvPr>
          <p:cNvSpPr/>
          <p:nvPr/>
        </p:nvSpPr>
        <p:spPr>
          <a:xfrm>
            <a:off x="28898529" y="787831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Противостоять просоветской политике </a:t>
            </a:r>
            <a:r>
              <a:rPr lang="ru-RU" sz="400" dirty="0"/>
              <a:t>(</a:t>
            </a:r>
            <a:r>
              <a:rPr lang="en-US" sz="400" dirty="0"/>
              <a:t>Luis </a:t>
            </a:r>
            <a:r>
              <a:rPr lang="en-US" sz="400" dirty="0" err="1"/>
              <a:t>Araquistáin</a:t>
            </a:r>
            <a:r>
              <a:rPr lang="ru-RU" sz="400" dirty="0"/>
              <a:t> как советник, </a:t>
            </a:r>
            <a:r>
              <a:rPr lang="ru-RU" sz="400" dirty="0" err="1"/>
              <a:t>влиняние</a:t>
            </a:r>
            <a:r>
              <a:rPr lang="ru-RU" sz="400" dirty="0"/>
              <a:t> </a:t>
            </a:r>
            <a:r>
              <a:rPr lang="ru-RU" sz="400" dirty="0" err="1"/>
              <a:t>коминтерна</a:t>
            </a:r>
            <a:r>
              <a:rPr lang="ru-RU" sz="400" dirty="0"/>
              <a:t> должно быть убрано)</a:t>
            </a:r>
          </a:p>
        </p:txBody>
      </p:sp>
      <p:cxnSp>
        <p:nvCxnSpPr>
          <p:cNvPr id="161" name="Прямая соединительная линия 160">
            <a:extLst>
              <a:ext uri="{FF2B5EF4-FFF2-40B4-BE49-F238E27FC236}">
                <a16:creationId xmlns:a16="http://schemas.microsoft.com/office/drawing/2014/main" id="{BF4D2C3F-BCB4-485D-98D8-A6C1B37BA272}"/>
              </a:ext>
            </a:extLst>
          </p:cNvPr>
          <p:cNvCxnSpPr>
            <a:cxnSpLocks/>
            <a:stCxn id="160" idx="3"/>
            <a:endCxn id="159" idx="1"/>
          </p:cNvCxnSpPr>
          <p:nvPr/>
        </p:nvCxnSpPr>
        <p:spPr>
          <a:xfrm flipV="1">
            <a:off x="29824854" y="8144808"/>
            <a:ext cx="178493" cy="350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62" name="Прямоугольник 161">
            <a:extLst>
              <a:ext uri="{FF2B5EF4-FFF2-40B4-BE49-F238E27FC236}">
                <a16:creationId xmlns:a16="http://schemas.microsoft.com/office/drawing/2014/main" id="{0F278698-6314-41F4-905C-AAC488F37EAD}"/>
              </a:ext>
            </a:extLst>
          </p:cNvPr>
          <p:cNvSpPr/>
          <p:nvPr/>
        </p:nvSpPr>
        <p:spPr>
          <a:xfrm>
            <a:off x="28261766" y="943881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Устранить волюнтаризм и свободу ополченцев</a:t>
            </a:r>
          </a:p>
          <a:p>
            <a:pPr algn="ctr"/>
            <a:r>
              <a:rPr lang="ru-RU" sz="100" dirty="0"/>
              <a:t>(Его большая забота, помимо хода конкурса, состоит в том, чтобы попытаться поддерживать дисциплину </a:t>
            </a:r>
            <a:r>
              <a:rPr lang="ru-RU" sz="100" dirty="0" err="1"/>
              <a:t>ввновь</a:t>
            </a:r>
            <a:r>
              <a:rPr lang="ru-RU" sz="100" dirty="0"/>
              <a:t> организованной армии и поддерживать власть центрального правительства в республиканской зоне любой ценой, полагая, что без дисциплинированных и военизированных войск Республика не сможет победить повстанцев .)</a:t>
            </a:r>
            <a:endParaRPr lang="ru-RU" sz="600" dirty="0"/>
          </a:p>
        </p:txBody>
      </p:sp>
      <p:cxnSp>
        <p:nvCxnSpPr>
          <p:cNvPr id="163" name="Соединительная линия уступом 59">
            <a:extLst>
              <a:ext uri="{FF2B5EF4-FFF2-40B4-BE49-F238E27FC236}">
                <a16:creationId xmlns:a16="http://schemas.microsoft.com/office/drawing/2014/main" id="{41E480A3-A812-4731-BA0E-CEBFE1B527FF}"/>
              </a:ext>
            </a:extLst>
          </p:cNvPr>
          <p:cNvCxnSpPr>
            <a:cxnSpLocks/>
            <a:stCxn id="160" idx="2"/>
            <a:endCxn id="164" idx="0"/>
          </p:cNvCxnSpPr>
          <p:nvPr/>
        </p:nvCxnSpPr>
        <p:spPr>
          <a:xfrm rot="5400000">
            <a:off x="28934451" y="8211304"/>
            <a:ext cx="220234" cy="6342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64" name="Прямоугольник 163">
            <a:extLst>
              <a:ext uri="{FF2B5EF4-FFF2-40B4-BE49-F238E27FC236}">
                <a16:creationId xmlns:a16="http://schemas.microsoft.com/office/drawing/2014/main" id="{817CA413-A4A0-4A2F-9F7B-77FC6A4148F5}"/>
              </a:ext>
            </a:extLst>
          </p:cNvPr>
          <p:cNvSpPr/>
          <p:nvPr/>
        </p:nvSpPr>
        <p:spPr>
          <a:xfrm>
            <a:off x="28264280" y="863854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Отстранить </a:t>
            </a:r>
            <a:r>
              <a:rPr lang="ru-RU" sz="700" dirty="0" err="1"/>
              <a:t>Прието</a:t>
            </a:r>
            <a:r>
              <a:rPr lang="ru-RU" sz="700" dirty="0"/>
              <a:t> </a:t>
            </a:r>
            <a:r>
              <a:rPr lang="ru-RU" sz="200" dirty="0"/>
              <a:t>(Точно так же недовольство возникло в республиканской зоне из-за перехода Малаги в руки </a:t>
            </a:r>
            <a:r>
              <a:rPr lang="ru-RU" sz="200" dirty="0" err="1"/>
              <a:t>франкистов</a:t>
            </a:r>
            <a:r>
              <a:rPr lang="ru-RU" sz="200" dirty="0"/>
              <a:t> (февраль 1937 г.) и успехов национального наступления в Бискайе (апрель 1937 г.), неудач, использованных противниками Ларго: PCE и крыло PSOE, верный своему сопернику </a:t>
            </a:r>
            <a:r>
              <a:rPr lang="ru-RU" sz="200" dirty="0" err="1"/>
              <a:t>Индалесио</a:t>
            </a:r>
            <a:r>
              <a:rPr lang="ru-RU" sz="200" dirty="0"/>
              <a:t> </a:t>
            </a:r>
            <a:r>
              <a:rPr lang="ru-RU" sz="200" dirty="0" err="1"/>
              <a:t>Прието</a:t>
            </a:r>
            <a:r>
              <a:rPr lang="ru-RU" sz="200" dirty="0"/>
              <a:t>)</a:t>
            </a:r>
            <a:endParaRPr lang="ru-RU" sz="700" dirty="0"/>
          </a:p>
        </p:txBody>
      </p:sp>
      <p:sp>
        <p:nvSpPr>
          <p:cNvPr id="165" name="Прямоугольник 164">
            <a:extLst>
              <a:ext uri="{FF2B5EF4-FFF2-40B4-BE49-F238E27FC236}">
                <a16:creationId xmlns:a16="http://schemas.microsoft.com/office/drawing/2014/main" id="{FF2ECD0E-F830-493C-924F-6B0B2E2E822E}"/>
              </a:ext>
            </a:extLst>
          </p:cNvPr>
          <p:cNvSpPr/>
          <p:nvPr/>
        </p:nvSpPr>
        <p:spPr>
          <a:xfrm>
            <a:off x="28898528" y="706062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«Правительство победы» (наше) </a:t>
            </a:r>
            <a:r>
              <a:rPr lang="ru-RU" sz="100" dirty="0"/>
              <a:t>(</a:t>
            </a:r>
            <a:r>
              <a:rPr lang="ru-RU" sz="100" dirty="0" err="1"/>
              <a:t>Эрнан-дес</a:t>
            </a:r>
            <a:r>
              <a:rPr lang="ru-RU" sz="100" dirty="0"/>
              <a:t>, редактор «</a:t>
            </a:r>
            <a:r>
              <a:rPr lang="ru-RU" sz="100" dirty="0" err="1"/>
              <a:t>Мундо</a:t>
            </a:r>
            <a:r>
              <a:rPr lang="ru-RU" sz="100" dirty="0"/>
              <a:t> </a:t>
            </a:r>
            <a:r>
              <a:rPr lang="ru-RU" sz="100" dirty="0" err="1"/>
              <a:t>обреро</a:t>
            </a:r>
            <a:r>
              <a:rPr lang="ru-RU" sz="100" dirty="0"/>
              <a:t>», стал министром образования, а </a:t>
            </a:r>
            <a:r>
              <a:rPr lang="ru-RU" sz="100" dirty="0" err="1"/>
              <a:t>Урибе</a:t>
            </a:r>
            <a:r>
              <a:rPr lang="ru-RU" sz="100" dirty="0"/>
              <a:t>, теоретик марксизма, – министром сельского хозяйства. В состав кабинета вошли шестеро социалистов, включая </a:t>
            </a:r>
            <a:r>
              <a:rPr lang="ru-RU" sz="100" dirty="0" err="1"/>
              <a:t>Прието</a:t>
            </a:r>
            <a:r>
              <a:rPr lang="ru-RU" sz="100" dirty="0"/>
              <a:t> как министра военно-морских сил и авиации и </a:t>
            </a:r>
            <a:r>
              <a:rPr lang="ru-RU" sz="100" dirty="0" err="1"/>
              <a:t>Альвареса</a:t>
            </a:r>
            <a:r>
              <a:rPr lang="ru-RU" sz="100" dirty="0"/>
              <a:t> </a:t>
            </a:r>
            <a:r>
              <a:rPr lang="ru-RU" sz="100" dirty="0" err="1"/>
              <a:t>дель</a:t>
            </a:r>
            <a:r>
              <a:rPr lang="ru-RU" sz="100" dirty="0"/>
              <a:t> </a:t>
            </a:r>
            <a:r>
              <a:rPr lang="ru-RU" sz="100" dirty="0" err="1"/>
              <a:t>Вайо</a:t>
            </a:r>
            <a:r>
              <a:rPr lang="ru-RU" sz="100" dirty="0"/>
              <a:t>, который стал министром иностранных дел. Хуан </a:t>
            </a:r>
            <a:r>
              <a:rPr lang="ru-RU" sz="100" dirty="0" err="1"/>
              <a:t>Негрин</a:t>
            </a:r>
            <a:r>
              <a:rPr lang="ru-RU" sz="100" dirty="0"/>
              <a:t>, социалист, не имевший тесных политических контактов, получил пост министра финансов. Он был профессором физиологии в Мадридском университете и пользовался уважением у администрации вуза. Удовлетворили и настойчивое желание </a:t>
            </a:r>
            <a:r>
              <a:rPr lang="ru-RU" sz="100" dirty="0" err="1"/>
              <a:t>Аракистайна</a:t>
            </a:r>
            <a:r>
              <a:rPr lang="ru-RU" sz="100" dirty="0"/>
              <a:t> – он был назначен послом в Париже3. Кабинет дополнили и двумя членами Республиканской левой (включая </a:t>
            </a:r>
            <a:r>
              <a:rPr lang="ru-RU" sz="100" dirty="0" err="1"/>
              <a:t>Хираля</a:t>
            </a:r>
            <a:r>
              <a:rPr lang="ru-RU" sz="100" dirty="0"/>
              <a:t>, который получил пост министра без портфеля) и по одному члену от Объединенной республиканской партии и «</a:t>
            </a:r>
            <a:r>
              <a:rPr lang="ru-RU" sz="100" dirty="0" err="1"/>
              <a:t>Эскерры</a:t>
            </a:r>
            <a:r>
              <a:rPr lang="ru-RU" sz="100" dirty="0"/>
              <a:t>». Ларго Кабальеро взял на себя обязанности военного министра, заменив </a:t>
            </a:r>
            <a:r>
              <a:rPr lang="ru-RU" sz="100" dirty="0" err="1"/>
              <a:t>Эрнандеса</a:t>
            </a:r>
            <a:r>
              <a:rPr lang="ru-RU" sz="100" dirty="0"/>
              <a:t> </a:t>
            </a:r>
            <a:r>
              <a:rPr lang="ru-RU" sz="100" dirty="0" err="1"/>
              <a:t>Сарабиа</a:t>
            </a:r>
            <a:r>
              <a:rPr lang="ru-RU" sz="100" dirty="0"/>
              <a:t>, который окончательно выбился из сил после месяца стратегических импровизаций. Кабальеро поддерживал профессиональный штаб во главе с майором Эстрадой. Полковник </a:t>
            </a:r>
            <a:r>
              <a:rPr lang="ru-RU" sz="100" dirty="0" err="1"/>
              <a:t>Родриго</a:t>
            </a:r>
            <a:r>
              <a:rPr lang="ru-RU" sz="100" dirty="0"/>
              <a:t> </a:t>
            </a:r>
            <a:r>
              <a:rPr lang="ru-RU" sz="100" dirty="0" err="1"/>
              <a:t>Хиль</a:t>
            </a:r>
            <a:r>
              <a:rPr lang="ru-RU" sz="100" dirty="0"/>
              <a:t>, артиллерийский офицер старой школы, стал заместителем военного министра. «Правительство Победы», как его окрестили, имело странный характер не только из-за участия коммунистов, но и потому, что </a:t>
            </a:r>
            <a:r>
              <a:rPr lang="ru-RU" sz="100" dirty="0" err="1"/>
              <a:t>Эрнандес</a:t>
            </a:r>
            <a:r>
              <a:rPr lang="ru-RU" sz="100" dirty="0"/>
              <a:t>, новый министр образования, девятнадцать лет назад был осужден за покушение на убийство нынешнего нового министра военно-морских сил и авиации </a:t>
            </a:r>
            <a:r>
              <a:rPr lang="ru-RU" sz="100" dirty="0" err="1"/>
              <a:t>Индалесио</a:t>
            </a:r>
            <a:r>
              <a:rPr lang="ru-RU" sz="100" dirty="0"/>
              <a:t> </a:t>
            </a:r>
            <a:r>
              <a:rPr lang="ru-RU" sz="100" dirty="0" err="1"/>
              <a:t>Прието</a:t>
            </a:r>
            <a:r>
              <a:rPr lang="ru-RU" sz="100" dirty="0"/>
              <a:t>.)</a:t>
            </a:r>
          </a:p>
        </p:txBody>
      </p:sp>
      <p:sp>
        <p:nvSpPr>
          <p:cNvPr id="166" name="Прямоугольник 165">
            <a:extLst>
              <a:ext uri="{FF2B5EF4-FFF2-40B4-BE49-F238E27FC236}">
                <a16:creationId xmlns:a16="http://schemas.microsoft.com/office/drawing/2014/main" id="{1237210D-3F71-4FFB-898E-68BAEFE6FDDA}"/>
              </a:ext>
            </a:extLst>
          </p:cNvPr>
          <p:cNvSpPr/>
          <p:nvPr/>
        </p:nvSpPr>
        <p:spPr>
          <a:xfrm>
            <a:off x="30003348" y="706062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Не «Народный», но «Рабочий фронт» (наше)</a:t>
            </a:r>
          </a:p>
        </p:txBody>
      </p:sp>
      <p:cxnSp>
        <p:nvCxnSpPr>
          <p:cNvPr id="167" name="Соединительная линия уступом 59">
            <a:extLst>
              <a:ext uri="{FF2B5EF4-FFF2-40B4-BE49-F238E27FC236}">
                <a16:creationId xmlns:a16="http://schemas.microsoft.com/office/drawing/2014/main" id="{8BF20860-5267-4C89-9A69-5F2FF8043CE3}"/>
              </a:ext>
            </a:extLst>
          </p:cNvPr>
          <p:cNvCxnSpPr>
            <a:cxnSpLocks/>
            <a:stCxn id="63" idx="2"/>
            <a:endCxn id="165" idx="0"/>
          </p:cNvCxnSpPr>
          <p:nvPr/>
        </p:nvCxnSpPr>
        <p:spPr>
          <a:xfrm rot="5400000">
            <a:off x="29523254" y="6641846"/>
            <a:ext cx="257216" cy="58034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8" name="Соединительная линия уступом 59">
            <a:extLst>
              <a:ext uri="{FF2B5EF4-FFF2-40B4-BE49-F238E27FC236}">
                <a16:creationId xmlns:a16="http://schemas.microsoft.com/office/drawing/2014/main" id="{8BB7AA36-FD11-40F3-952A-FDE960A6929F}"/>
              </a:ext>
            </a:extLst>
          </p:cNvPr>
          <p:cNvCxnSpPr>
            <a:cxnSpLocks/>
            <a:stCxn id="63" idx="2"/>
            <a:endCxn id="166" idx="0"/>
          </p:cNvCxnSpPr>
          <p:nvPr/>
        </p:nvCxnSpPr>
        <p:spPr>
          <a:xfrm rot="16200000" flipH="1">
            <a:off x="30075663" y="6669776"/>
            <a:ext cx="257216" cy="52447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9" name="Соединительная линия уступом 60">
            <a:extLst>
              <a:ext uri="{FF2B5EF4-FFF2-40B4-BE49-F238E27FC236}">
                <a16:creationId xmlns:a16="http://schemas.microsoft.com/office/drawing/2014/main" id="{504572F0-7FA5-4F81-9D4B-C3FB5F7E24A6}"/>
              </a:ext>
            </a:extLst>
          </p:cNvPr>
          <p:cNvCxnSpPr>
            <a:cxnSpLocks/>
            <a:stCxn id="165" idx="2"/>
            <a:endCxn id="160" idx="0"/>
          </p:cNvCxnSpPr>
          <p:nvPr/>
        </p:nvCxnSpPr>
        <p:spPr>
          <a:xfrm rot="16200000" flipH="1">
            <a:off x="29222848" y="7739466"/>
            <a:ext cx="277687"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1" name="Соединительная линия уступом 123">
            <a:extLst>
              <a:ext uri="{FF2B5EF4-FFF2-40B4-BE49-F238E27FC236}">
                <a16:creationId xmlns:a16="http://schemas.microsoft.com/office/drawing/2014/main" id="{0DD383AF-7358-4D05-9F30-B6B41AF854DB}"/>
              </a:ext>
            </a:extLst>
          </p:cNvPr>
          <p:cNvCxnSpPr>
            <a:cxnSpLocks/>
            <a:stCxn id="154" idx="2"/>
            <a:endCxn id="155" idx="0"/>
          </p:cNvCxnSpPr>
          <p:nvPr/>
        </p:nvCxnSpPr>
        <p:spPr>
          <a:xfrm rot="5400000">
            <a:off x="29778904" y="9309378"/>
            <a:ext cx="261668" cy="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3" name="Соединительная линия уступом 123">
            <a:extLst>
              <a:ext uri="{FF2B5EF4-FFF2-40B4-BE49-F238E27FC236}">
                <a16:creationId xmlns:a16="http://schemas.microsoft.com/office/drawing/2014/main" id="{08826EB2-04D8-4B9D-A85C-F5AB140406B1}"/>
              </a:ext>
            </a:extLst>
          </p:cNvPr>
          <p:cNvCxnSpPr>
            <a:cxnSpLocks/>
            <a:stCxn id="155" idx="2"/>
            <a:endCxn id="156" idx="0"/>
          </p:cNvCxnSpPr>
          <p:nvPr/>
        </p:nvCxnSpPr>
        <p:spPr>
          <a:xfrm rot="16200000" flipH="1">
            <a:off x="29790715" y="10099234"/>
            <a:ext cx="245605" cy="75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7" name="Соединительная линия уступом 59">
            <a:extLst>
              <a:ext uri="{FF2B5EF4-FFF2-40B4-BE49-F238E27FC236}">
                <a16:creationId xmlns:a16="http://schemas.microsoft.com/office/drawing/2014/main" id="{76206442-5802-4ECC-89FF-725CB9831F7E}"/>
              </a:ext>
            </a:extLst>
          </p:cNvPr>
          <p:cNvCxnSpPr>
            <a:cxnSpLocks/>
            <a:stCxn id="165" idx="2"/>
            <a:endCxn id="159" idx="0"/>
          </p:cNvCxnSpPr>
          <p:nvPr/>
        </p:nvCxnSpPr>
        <p:spPr>
          <a:xfrm rot="16200000" flipH="1">
            <a:off x="29777008" y="7185306"/>
            <a:ext cx="274184" cy="110481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80" name="Прямоугольник 179">
            <a:extLst>
              <a:ext uri="{FF2B5EF4-FFF2-40B4-BE49-F238E27FC236}">
                <a16:creationId xmlns:a16="http://schemas.microsoft.com/office/drawing/2014/main" id="{7DAEAC1F-B20B-46CD-B818-99851DE5EF87}"/>
              </a:ext>
            </a:extLst>
          </p:cNvPr>
          <p:cNvSpPr/>
          <p:nvPr/>
        </p:nvSpPr>
        <p:spPr>
          <a:xfrm>
            <a:off x="30628871" y="863854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Испания – колыбель партизан (наше)</a:t>
            </a:r>
          </a:p>
        </p:txBody>
      </p:sp>
      <p:cxnSp>
        <p:nvCxnSpPr>
          <p:cNvPr id="181" name="Соединительная линия уступом 59">
            <a:extLst>
              <a:ext uri="{FF2B5EF4-FFF2-40B4-BE49-F238E27FC236}">
                <a16:creationId xmlns:a16="http://schemas.microsoft.com/office/drawing/2014/main" id="{146CBA15-0EC9-4B49-9151-897C0373358B}"/>
              </a:ext>
            </a:extLst>
          </p:cNvPr>
          <p:cNvCxnSpPr>
            <a:cxnSpLocks/>
            <a:stCxn id="159" idx="2"/>
            <a:endCxn id="180" idx="0"/>
          </p:cNvCxnSpPr>
          <p:nvPr/>
        </p:nvCxnSpPr>
        <p:spPr>
          <a:xfrm rot="16200000" flipH="1">
            <a:off x="30667404" y="8213914"/>
            <a:ext cx="223737" cy="62552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4" name="Соединительная линия уступом 59">
            <a:extLst>
              <a:ext uri="{FF2B5EF4-FFF2-40B4-BE49-F238E27FC236}">
                <a16:creationId xmlns:a16="http://schemas.microsoft.com/office/drawing/2014/main" id="{C84E4D7F-D864-4DC0-BB2F-86D444193691}"/>
              </a:ext>
            </a:extLst>
          </p:cNvPr>
          <p:cNvCxnSpPr>
            <a:cxnSpLocks/>
            <a:stCxn id="159" idx="2"/>
            <a:endCxn id="154" idx="0"/>
          </p:cNvCxnSpPr>
          <p:nvPr/>
        </p:nvCxnSpPr>
        <p:spPr>
          <a:xfrm rot="5400000">
            <a:off x="30076257" y="8248291"/>
            <a:ext cx="223737" cy="55677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87" name="Соединительная линия уступом 59">
            <a:extLst>
              <a:ext uri="{FF2B5EF4-FFF2-40B4-BE49-F238E27FC236}">
                <a16:creationId xmlns:a16="http://schemas.microsoft.com/office/drawing/2014/main" id="{047E7F83-180D-4C03-BC66-692FB1C56DBF}"/>
              </a:ext>
            </a:extLst>
          </p:cNvPr>
          <p:cNvCxnSpPr>
            <a:cxnSpLocks/>
            <a:stCxn id="160" idx="2"/>
            <a:endCxn id="154" idx="0"/>
          </p:cNvCxnSpPr>
          <p:nvPr/>
        </p:nvCxnSpPr>
        <p:spPr>
          <a:xfrm rot="16200000" flipH="1">
            <a:off x="29525598" y="8254404"/>
            <a:ext cx="220234" cy="54804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00" name="Прямоугольник 199">
            <a:extLst>
              <a:ext uri="{FF2B5EF4-FFF2-40B4-BE49-F238E27FC236}">
                <a16:creationId xmlns:a16="http://schemas.microsoft.com/office/drawing/2014/main" id="{E605C39C-68E5-47BE-BB9B-455D1E372FDC}"/>
              </a:ext>
            </a:extLst>
          </p:cNvPr>
          <p:cNvSpPr/>
          <p:nvPr/>
        </p:nvSpPr>
        <p:spPr>
          <a:xfrm>
            <a:off x="27687746" y="705598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Будущее республики (наше)</a:t>
            </a:r>
          </a:p>
        </p:txBody>
      </p:sp>
      <p:sp>
        <p:nvSpPr>
          <p:cNvPr id="201" name="Прямоугольник 200">
            <a:extLst>
              <a:ext uri="{FF2B5EF4-FFF2-40B4-BE49-F238E27FC236}">
                <a16:creationId xmlns:a16="http://schemas.microsoft.com/office/drawing/2014/main" id="{7F4404B0-4AD2-46F4-AED9-158653BD1476}"/>
              </a:ext>
            </a:extLst>
          </p:cNvPr>
          <p:cNvSpPr/>
          <p:nvPr/>
        </p:nvSpPr>
        <p:spPr>
          <a:xfrm>
            <a:off x="27687745" y="787379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Национализация тяжёлой промышленности (наше)</a:t>
            </a:r>
          </a:p>
        </p:txBody>
      </p:sp>
      <p:cxnSp>
        <p:nvCxnSpPr>
          <p:cNvPr id="202" name="Соединительная линия уступом 123">
            <a:extLst>
              <a:ext uri="{FF2B5EF4-FFF2-40B4-BE49-F238E27FC236}">
                <a16:creationId xmlns:a16="http://schemas.microsoft.com/office/drawing/2014/main" id="{95E12289-D5C4-4A71-B46E-2AB617265BCE}"/>
              </a:ext>
            </a:extLst>
          </p:cNvPr>
          <p:cNvCxnSpPr>
            <a:cxnSpLocks/>
            <a:stCxn id="200" idx="2"/>
            <a:endCxn id="201" idx="0"/>
          </p:cNvCxnSpPr>
          <p:nvPr/>
        </p:nvCxnSpPr>
        <p:spPr>
          <a:xfrm rot="5400000">
            <a:off x="28012002" y="7734887"/>
            <a:ext cx="277815"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5" name="Соединительная линия уступом 123">
            <a:extLst>
              <a:ext uri="{FF2B5EF4-FFF2-40B4-BE49-F238E27FC236}">
                <a16:creationId xmlns:a16="http://schemas.microsoft.com/office/drawing/2014/main" id="{57A7C273-2588-4AC4-A707-30CFC6E5A3DB}"/>
              </a:ext>
            </a:extLst>
          </p:cNvPr>
          <p:cNvCxnSpPr>
            <a:cxnSpLocks/>
            <a:stCxn id="63" idx="2"/>
            <a:endCxn id="200" idx="0"/>
          </p:cNvCxnSpPr>
          <p:nvPr/>
        </p:nvCxnSpPr>
        <p:spPr>
          <a:xfrm rot="5400000">
            <a:off x="28920185" y="6034133"/>
            <a:ext cx="252572" cy="17911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08" name="Прямоугольник 207">
            <a:extLst>
              <a:ext uri="{FF2B5EF4-FFF2-40B4-BE49-F238E27FC236}">
                <a16:creationId xmlns:a16="http://schemas.microsoft.com/office/drawing/2014/main" id="{3A936EB0-2B9C-480D-9F08-95DEDCB36930}"/>
              </a:ext>
            </a:extLst>
          </p:cNvPr>
          <p:cNvSpPr/>
          <p:nvPr/>
        </p:nvSpPr>
        <p:spPr>
          <a:xfrm>
            <a:off x="30628868" y="943954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Заручиться поддержкой международных держав </a:t>
            </a:r>
            <a:r>
              <a:rPr lang="ru-RU" sz="200" dirty="0"/>
              <a:t>(Цели </a:t>
            </a:r>
            <a:r>
              <a:rPr lang="ru-RU" sz="200" dirty="0" err="1"/>
              <a:t>Негрина</a:t>
            </a:r>
            <a:r>
              <a:rPr lang="ru-RU" sz="200" dirty="0"/>
              <a:t> заключались в том, чтобы продолжить восстановление государства и создание армии, а также заручиться поддержкой международных держав.)</a:t>
            </a:r>
            <a:endParaRPr lang="ru-RU" sz="700" dirty="0"/>
          </a:p>
        </p:txBody>
      </p:sp>
      <p:cxnSp>
        <p:nvCxnSpPr>
          <p:cNvPr id="209" name="Соединительная линия уступом 123">
            <a:extLst>
              <a:ext uri="{FF2B5EF4-FFF2-40B4-BE49-F238E27FC236}">
                <a16:creationId xmlns:a16="http://schemas.microsoft.com/office/drawing/2014/main" id="{14ADE0B2-43D1-4891-AD9B-AD5F899987C4}"/>
              </a:ext>
            </a:extLst>
          </p:cNvPr>
          <p:cNvCxnSpPr>
            <a:cxnSpLocks/>
            <a:stCxn id="180" idx="2"/>
            <a:endCxn id="208" idx="0"/>
          </p:cNvCxnSpPr>
          <p:nvPr/>
        </p:nvCxnSpPr>
        <p:spPr>
          <a:xfrm rot="5400000">
            <a:off x="30961534" y="9309043"/>
            <a:ext cx="260999" cy="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3" name="Соединительная линия уступом 613">
            <a:extLst>
              <a:ext uri="{FF2B5EF4-FFF2-40B4-BE49-F238E27FC236}">
                <a16:creationId xmlns:a16="http://schemas.microsoft.com/office/drawing/2014/main" id="{1344A1AC-A5D1-48D7-874F-0EA6B3953523}"/>
              </a:ext>
            </a:extLst>
          </p:cNvPr>
          <p:cNvCxnSpPr>
            <a:cxnSpLocks/>
            <a:stCxn id="801" idx="2"/>
            <a:endCxn id="97" idx="0"/>
          </p:cNvCxnSpPr>
          <p:nvPr/>
        </p:nvCxnSpPr>
        <p:spPr>
          <a:xfrm rot="5400000">
            <a:off x="31477611" y="4501255"/>
            <a:ext cx="292006" cy="792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26" name="Прямоугольник 225">
            <a:extLst>
              <a:ext uri="{FF2B5EF4-FFF2-40B4-BE49-F238E27FC236}">
                <a16:creationId xmlns:a16="http://schemas.microsoft.com/office/drawing/2014/main" id="{F8D1DA47-C504-41CD-B91F-0C23B929D953}"/>
              </a:ext>
            </a:extLst>
          </p:cNvPr>
          <p:cNvSpPr/>
          <p:nvPr/>
        </p:nvSpPr>
        <p:spPr>
          <a:xfrm>
            <a:off x="34413634" y="705316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Вооружить рабочее ополчение (наше)</a:t>
            </a:r>
            <a:endParaRPr lang="ru-RU" sz="500" dirty="0"/>
          </a:p>
        </p:txBody>
      </p:sp>
      <p:cxnSp>
        <p:nvCxnSpPr>
          <p:cNvPr id="227" name="Соединительная линия уступом 123">
            <a:extLst>
              <a:ext uri="{FF2B5EF4-FFF2-40B4-BE49-F238E27FC236}">
                <a16:creationId xmlns:a16="http://schemas.microsoft.com/office/drawing/2014/main" id="{C9CBB17B-538D-4A64-A825-8B7B2B897D5D}"/>
              </a:ext>
            </a:extLst>
          </p:cNvPr>
          <p:cNvCxnSpPr>
            <a:cxnSpLocks/>
            <a:stCxn id="97" idx="2"/>
            <a:endCxn id="63" idx="0"/>
          </p:cNvCxnSpPr>
          <p:nvPr/>
        </p:nvCxnSpPr>
        <p:spPr>
          <a:xfrm rot="5400000">
            <a:off x="30244748" y="4888504"/>
            <a:ext cx="1072188" cy="1677620"/>
          </a:xfrm>
          <a:prstGeom prst="bentConnector3">
            <a:avLst>
              <a:gd name="adj1" fmla="val 9573"/>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30" name="Прямоугольник 229">
            <a:extLst>
              <a:ext uri="{FF2B5EF4-FFF2-40B4-BE49-F238E27FC236}">
                <a16:creationId xmlns:a16="http://schemas.microsoft.com/office/drawing/2014/main" id="{600D8C74-F74F-4295-8359-52067A77D9AA}"/>
              </a:ext>
            </a:extLst>
          </p:cNvPr>
          <p:cNvSpPr/>
          <p:nvPr/>
        </p:nvSpPr>
        <p:spPr>
          <a:xfrm>
            <a:off x="28298265" y="463826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Помощь от Мексики (???)</a:t>
            </a:r>
            <a:endParaRPr lang="ru-RU" sz="500" dirty="0"/>
          </a:p>
        </p:txBody>
      </p:sp>
      <p:cxnSp>
        <p:nvCxnSpPr>
          <p:cNvPr id="231" name="Соединительная линия уступом 105">
            <a:extLst>
              <a:ext uri="{FF2B5EF4-FFF2-40B4-BE49-F238E27FC236}">
                <a16:creationId xmlns:a16="http://schemas.microsoft.com/office/drawing/2014/main" id="{2527D34A-E27A-449A-93E5-C76A76CC4512}"/>
              </a:ext>
            </a:extLst>
          </p:cNvPr>
          <p:cNvCxnSpPr>
            <a:cxnSpLocks/>
            <a:stCxn id="801" idx="2"/>
            <a:endCxn id="230" idx="0"/>
          </p:cNvCxnSpPr>
          <p:nvPr/>
        </p:nvCxnSpPr>
        <p:spPr>
          <a:xfrm rot="5400000">
            <a:off x="30054977" y="3065665"/>
            <a:ext cx="279050" cy="286614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2" name="Соединительная линия уступом 836">
            <a:extLst>
              <a:ext uri="{FF2B5EF4-FFF2-40B4-BE49-F238E27FC236}">
                <a16:creationId xmlns:a16="http://schemas.microsoft.com/office/drawing/2014/main" id="{6F719142-1860-4581-9B41-8AADCCCE4BB0}"/>
              </a:ext>
            </a:extLst>
          </p:cNvPr>
          <p:cNvCxnSpPr>
            <a:cxnSpLocks/>
            <a:stCxn id="130" idx="2"/>
            <a:endCxn id="836" idx="0"/>
          </p:cNvCxnSpPr>
          <p:nvPr/>
        </p:nvCxnSpPr>
        <p:spPr>
          <a:xfrm rot="16200000" flipH="1">
            <a:off x="14506032" y="1657653"/>
            <a:ext cx="269598" cy="568839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70" name="Соединительная линия уступом 836">
            <a:extLst>
              <a:ext uri="{FF2B5EF4-FFF2-40B4-BE49-F238E27FC236}">
                <a16:creationId xmlns:a16="http://schemas.microsoft.com/office/drawing/2014/main" id="{EA3FC01F-F5CA-4FAE-8CEF-830AB1AAFB40}"/>
              </a:ext>
            </a:extLst>
          </p:cNvPr>
          <p:cNvCxnSpPr>
            <a:cxnSpLocks/>
            <a:stCxn id="130" idx="2"/>
            <a:endCxn id="829" idx="0"/>
          </p:cNvCxnSpPr>
          <p:nvPr/>
        </p:nvCxnSpPr>
        <p:spPr>
          <a:xfrm rot="16200000" flipH="1">
            <a:off x="17345784" y="-1182100"/>
            <a:ext cx="269598" cy="11367899"/>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72" name="Соединительная линия уступом 836">
            <a:extLst>
              <a:ext uri="{FF2B5EF4-FFF2-40B4-BE49-F238E27FC236}">
                <a16:creationId xmlns:a16="http://schemas.microsoft.com/office/drawing/2014/main" id="{6B629A61-C117-4B2E-9AEF-4EAF601A5B2F}"/>
              </a:ext>
            </a:extLst>
          </p:cNvPr>
          <p:cNvCxnSpPr>
            <a:cxnSpLocks/>
            <a:stCxn id="130" idx="2"/>
            <a:endCxn id="125" idx="0"/>
          </p:cNvCxnSpPr>
          <p:nvPr/>
        </p:nvCxnSpPr>
        <p:spPr>
          <a:xfrm rot="16200000" flipH="1">
            <a:off x="18176162" y="-2012477"/>
            <a:ext cx="277687" cy="1303674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74" name="Прямоугольник 173">
            <a:extLst>
              <a:ext uri="{FF2B5EF4-FFF2-40B4-BE49-F238E27FC236}">
                <a16:creationId xmlns:a16="http://schemas.microsoft.com/office/drawing/2014/main" id="{957C12DC-D98B-4948-99D2-CFC7B8CFF4DE}"/>
              </a:ext>
            </a:extLst>
          </p:cNvPr>
          <p:cNvSpPr/>
          <p:nvPr/>
        </p:nvSpPr>
        <p:spPr>
          <a:xfrm>
            <a:off x="23287021" y="706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местных комитетов управления</a:t>
            </a:r>
          </a:p>
        </p:txBody>
      </p:sp>
      <p:sp>
        <p:nvSpPr>
          <p:cNvPr id="175" name="Прямоугольник 174">
            <a:extLst>
              <a:ext uri="{FF2B5EF4-FFF2-40B4-BE49-F238E27FC236}">
                <a16:creationId xmlns:a16="http://schemas.microsoft.com/office/drawing/2014/main" id="{012D2E35-685E-4576-BCB6-C08D33426D27}"/>
              </a:ext>
            </a:extLst>
          </p:cNvPr>
          <p:cNvSpPr/>
          <p:nvPr/>
        </p:nvSpPr>
        <p:spPr>
          <a:xfrm>
            <a:off x="24373998" y="706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Марокко – часть республики!</a:t>
            </a:r>
          </a:p>
        </p:txBody>
      </p:sp>
      <p:sp>
        <p:nvSpPr>
          <p:cNvPr id="176" name="Прямоугольник 175">
            <a:extLst>
              <a:ext uri="{FF2B5EF4-FFF2-40B4-BE49-F238E27FC236}">
                <a16:creationId xmlns:a16="http://schemas.microsoft.com/office/drawing/2014/main" id="{05CD8A58-5676-43E8-BBE2-DC9229365C21}"/>
              </a:ext>
            </a:extLst>
          </p:cNvPr>
          <p:cNvSpPr/>
          <p:nvPr/>
        </p:nvSpPr>
        <p:spPr>
          <a:xfrm>
            <a:off x="24373998" y="787480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Ограничить в правах президента Каталонии</a:t>
            </a:r>
          </a:p>
        </p:txBody>
      </p:sp>
      <p:sp>
        <p:nvSpPr>
          <p:cNvPr id="178" name="Прямоугольник 177">
            <a:extLst>
              <a:ext uri="{FF2B5EF4-FFF2-40B4-BE49-F238E27FC236}">
                <a16:creationId xmlns:a16="http://schemas.microsoft.com/office/drawing/2014/main" id="{E01090B5-7811-4C8D-B542-DC3489C9632C}"/>
              </a:ext>
            </a:extLst>
          </p:cNvPr>
          <p:cNvSpPr/>
          <p:nvPr/>
        </p:nvSpPr>
        <p:spPr>
          <a:xfrm>
            <a:off x="23287217" y="7873796"/>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Разработать новое устройство республики</a:t>
            </a:r>
          </a:p>
        </p:txBody>
      </p:sp>
      <p:sp>
        <p:nvSpPr>
          <p:cNvPr id="182" name="Прямоугольник 181">
            <a:extLst>
              <a:ext uri="{FF2B5EF4-FFF2-40B4-BE49-F238E27FC236}">
                <a16:creationId xmlns:a16="http://schemas.microsoft.com/office/drawing/2014/main" id="{206D4D82-F261-452F-8D95-439FE5E0314A}"/>
              </a:ext>
            </a:extLst>
          </p:cNvPr>
          <p:cNvSpPr/>
          <p:nvPr/>
        </p:nvSpPr>
        <p:spPr>
          <a:xfrm>
            <a:off x="23829986" y="8689267"/>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Вновь объединить Испанию !</a:t>
            </a:r>
          </a:p>
        </p:txBody>
      </p:sp>
      <p:cxnSp>
        <p:nvCxnSpPr>
          <p:cNvPr id="183" name="Соединительная линия уступом 148">
            <a:extLst>
              <a:ext uri="{FF2B5EF4-FFF2-40B4-BE49-F238E27FC236}">
                <a16:creationId xmlns:a16="http://schemas.microsoft.com/office/drawing/2014/main" id="{74F58D4E-63E8-4F3B-AADA-F89E80EB0D7E}"/>
              </a:ext>
            </a:extLst>
          </p:cNvPr>
          <p:cNvCxnSpPr>
            <a:cxnSpLocks/>
            <a:stCxn id="38" idx="2"/>
            <a:endCxn id="175" idx="0"/>
          </p:cNvCxnSpPr>
          <p:nvPr/>
        </p:nvCxnSpPr>
        <p:spPr>
          <a:xfrm rot="16200000" flipH="1">
            <a:off x="24158672" y="6390778"/>
            <a:ext cx="270000" cy="108697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5" name="Соединительная линия уступом 53">
            <a:extLst>
              <a:ext uri="{FF2B5EF4-FFF2-40B4-BE49-F238E27FC236}">
                <a16:creationId xmlns:a16="http://schemas.microsoft.com/office/drawing/2014/main" id="{B661D22E-E444-4030-8910-C32F43264B7E}"/>
              </a:ext>
            </a:extLst>
          </p:cNvPr>
          <p:cNvCxnSpPr>
            <a:cxnSpLocks/>
            <a:stCxn id="38" idx="2"/>
            <a:endCxn id="174" idx="0"/>
          </p:cNvCxnSpPr>
          <p:nvPr/>
        </p:nvCxnSpPr>
        <p:spPr>
          <a:xfrm rot="5400000">
            <a:off x="23615184" y="6934267"/>
            <a:ext cx="270000" cy="127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6" name="Соединительная линия уступом 148">
            <a:extLst>
              <a:ext uri="{FF2B5EF4-FFF2-40B4-BE49-F238E27FC236}">
                <a16:creationId xmlns:a16="http://schemas.microsoft.com/office/drawing/2014/main" id="{D9F54EA9-8E35-4F97-9346-ECC1DCF56114}"/>
              </a:ext>
            </a:extLst>
          </p:cNvPr>
          <p:cNvCxnSpPr>
            <a:cxnSpLocks/>
            <a:stCxn id="174" idx="2"/>
            <a:endCxn id="178" idx="0"/>
          </p:cNvCxnSpPr>
          <p:nvPr/>
        </p:nvCxnSpPr>
        <p:spPr>
          <a:xfrm rot="16200000" flipH="1">
            <a:off x="23618018" y="7741433"/>
            <a:ext cx="264529" cy="19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8" name="Соединительная линия уступом 148">
            <a:extLst>
              <a:ext uri="{FF2B5EF4-FFF2-40B4-BE49-F238E27FC236}">
                <a16:creationId xmlns:a16="http://schemas.microsoft.com/office/drawing/2014/main" id="{46D280CB-FB83-4BF5-8B3A-DD7BD44AD1E7}"/>
              </a:ext>
            </a:extLst>
          </p:cNvPr>
          <p:cNvCxnSpPr>
            <a:cxnSpLocks/>
            <a:stCxn id="174" idx="2"/>
            <a:endCxn id="176" idx="0"/>
          </p:cNvCxnSpPr>
          <p:nvPr/>
        </p:nvCxnSpPr>
        <p:spPr>
          <a:xfrm rot="16200000" flipH="1">
            <a:off x="24160902" y="7198548"/>
            <a:ext cx="265541" cy="108697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9" name="Соединительная линия уступом 148">
            <a:extLst>
              <a:ext uri="{FF2B5EF4-FFF2-40B4-BE49-F238E27FC236}">
                <a16:creationId xmlns:a16="http://schemas.microsoft.com/office/drawing/2014/main" id="{1C6858C7-8A93-4CF4-A3B3-6AB28CD215CB}"/>
              </a:ext>
            </a:extLst>
          </p:cNvPr>
          <p:cNvCxnSpPr>
            <a:cxnSpLocks/>
            <a:stCxn id="178" idx="2"/>
            <a:endCxn id="182" idx="0"/>
          </p:cNvCxnSpPr>
          <p:nvPr/>
        </p:nvCxnSpPr>
        <p:spPr>
          <a:xfrm rot="16200000" flipH="1">
            <a:off x="23884029" y="8280146"/>
            <a:ext cx="275471" cy="5427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0" name="Соединительная линия уступом 148">
            <a:extLst>
              <a:ext uri="{FF2B5EF4-FFF2-40B4-BE49-F238E27FC236}">
                <a16:creationId xmlns:a16="http://schemas.microsoft.com/office/drawing/2014/main" id="{CE2B2ACF-3CBE-48FA-AC43-7AD4B70A3FA6}"/>
              </a:ext>
            </a:extLst>
          </p:cNvPr>
          <p:cNvCxnSpPr>
            <a:cxnSpLocks/>
            <a:stCxn id="176" idx="2"/>
            <a:endCxn id="182" idx="0"/>
          </p:cNvCxnSpPr>
          <p:nvPr/>
        </p:nvCxnSpPr>
        <p:spPr>
          <a:xfrm rot="5400000">
            <a:off x="24427926" y="8280031"/>
            <a:ext cx="274459" cy="54401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48" name="Прямоугольник 147">
            <a:extLst>
              <a:ext uri="{FF2B5EF4-FFF2-40B4-BE49-F238E27FC236}">
                <a16:creationId xmlns:a16="http://schemas.microsoft.com/office/drawing/2014/main" id="{04A3ABFC-37BA-432F-AC1A-F77E6E1C51AC}"/>
              </a:ext>
            </a:extLst>
          </p:cNvPr>
          <p:cNvSpPr/>
          <p:nvPr/>
        </p:nvSpPr>
        <p:spPr>
          <a:xfrm>
            <a:off x="30579919" y="11139513"/>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План </a:t>
            </a:r>
            <a:r>
              <a:rPr lang="en-US" sz="700" dirty="0"/>
              <a:t>L </a:t>
            </a:r>
            <a:r>
              <a:rPr lang="ru-RU" sz="200" dirty="0"/>
              <a:t>(</a:t>
            </a:r>
            <a:r>
              <a:rPr lang="en-US" sz="200" dirty="0"/>
              <a:t>Jaime de </a:t>
            </a:r>
            <a:r>
              <a:rPr lang="en-US" sz="200" dirty="0" err="1"/>
              <a:t>Morais</a:t>
            </a:r>
            <a:r>
              <a:rPr lang="ru-RU" sz="200" dirty="0"/>
              <a:t> Во время Гражданской войны в Испании он был в Барселоне в качестве репортера газеты UNIR , органа </a:t>
            </a:r>
            <a:r>
              <a:rPr lang="ru-RU" sz="200" dirty="0" err="1"/>
              <a:t>Frente</a:t>
            </a:r>
            <a:r>
              <a:rPr lang="ru-RU" sz="200" dirty="0"/>
              <a:t> </a:t>
            </a:r>
            <a:r>
              <a:rPr lang="ru-RU" sz="200" dirty="0" err="1"/>
              <a:t>de</a:t>
            </a:r>
            <a:r>
              <a:rPr lang="ru-RU" sz="200" dirty="0"/>
              <a:t> </a:t>
            </a:r>
            <a:r>
              <a:rPr lang="ru-RU" sz="200" dirty="0" err="1"/>
              <a:t>Portugals</a:t>
            </a:r>
            <a:r>
              <a:rPr lang="ru-RU" sz="200" dirty="0"/>
              <a:t> </a:t>
            </a:r>
            <a:r>
              <a:rPr lang="ru-RU" sz="200" dirty="0" err="1"/>
              <a:t>Exilados</a:t>
            </a:r>
            <a:r>
              <a:rPr lang="ru-RU" sz="200" dirty="0"/>
              <a:t> . В этот период был составлен так называемый План L (1938 г.) с целью вторжения в Португалию по суше и по морю при поддержке испанских республиканцев. План провалился с поражением республиканцев.)</a:t>
            </a:r>
            <a:endParaRPr lang="ru-RU" sz="700" dirty="0"/>
          </a:p>
        </p:txBody>
      </p:sp>
      <p:cxnSp>
        <p:nvCxnSpPr>
          <p:cNvPr id="179" name="Соединительная линия уступом 178"/>
          <p:cNvCxnSpPr>
            <a:stCxn id="838" idx="2"/>
            <a:endCxn id="135" idx="0"/>
          </p:cNvCxnSpPr>
          <p:nvPr/>
        </p:nvCxnSpPr>
        <p:spPr>
          <a:xfrm rot="16200000" flipH="1">
            <a:off x="31567754" y="4082936"/>
            <a:ext cx="1079226" cy="3281717"/>
          </a:xfrm>
          <a:prstGeom prst="bentConnector3">
            <a:avLst>
              <a:gd name="adj1" fmla="val 983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1" name="Соединительная линия уступом 123">
            <a:extLst>
              <a:ext uri="{FF2B5EF4-FFF2-40B4-BE49-F238E27FC236}">
                <a16:creationId xmlns:a16="http://schemas.microsoft.com/office/drawing/2014/main" id="{C9CBB17B-538D-4A64-A825-8B7B2B897D5D}"/>
              </a:ext>
            </a:extLst>
          </p:cNvPr>
          <p:cNvCxnSpPr>
            <a:cxnSpLocks/>
            <a:stCxn id="97" idx="2"/>
            <a:endCxn id="135" idx="0"/>
          </p:cNvCxnSpPr>
          <p:nvPr/>
        </p:nvCxnSpPr>
        <p:spPr>
          <a:xfrm rot="16200000" flipH="1">
            <a:off x="32147845" y="4663027"/>
            <a:ext cx="1072188" cy="2128574"/>
          </a:xfrm>
          <a:prstGeom prst="bentConnector3">
            <a:avLst>
              <a:gd name="adj1" fmla="val 902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2" name="Соединительная линия уступом 191"/>
          <p:cNvCxnSpPr>
            <a:stCxn id="828" idx="2"/>
            <a:endCxn id="63" idx="0"/>
          </p:cNvCxnSpPr>
          <p:nvPr/>
        </p:nvCxnSpPr>
        <p:spPr>
          <a:xfrm rot="5400000">
            <a:off x="30759012" y="4374109"/>
            <a:ext cx="1072320" cy="2706279"/>
          </a:xfrm>
          <a:prstGeom prst="bentConnector3">
            <a:avLst>
              <a:gd name="adj1" fmla="val 9578"/>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93" name="Прямоугольник 192"/>
          <p:cNvSpPr/>
          <p:nvPr/>
        </p:nvSpPr>
        <p:spPr>
          <a:xfrm>
            <a:off x="14765044" y="623324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Университет Наварры (1952)</a:t>
            </a:r>
            <a:endParaRPr lang="ru-RU" sz="500" dirty="0"/>
          </a:p>
        </p:txBody>
      </p:sp>
      <p:sp>
        <p:nvSpPr>
          <p:cNvPr id="194" name="Прямоугольник 193">
            <a:extLst>
              <a:ext uri="{FF2B5EF4-FFF2-40B4-BE49-F238E27FC236}">
                <a16:creationId xmlns:a16="http://schemas.microsoft.com/office/drawing/2014/main" id="{F8D1DA47-C504-41CD-B91F-0C23B929D953}"/>
              </a:ext>
            </a:extLst>
          </p:cNvPr>
          <p:cNvSpPr/>
          <p:nvPr/>
        </p:nvSpPr>
        <p:spPr>
          <a:xfrm>
            <a:off x="33285064" y="787379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Объединение партий </a:t>
            </a:r>
            <a:r>
              <a:rPr lang="ru-RU" sz="100" dirty="0"/>
              <a:t>Что же до социалистов, то UGT (членство в котором выросло до двух миллионов) теперь установил тесное сотрудничество с коммунистами. Всю зиму коммунисты добивались объединения социалистической и коммунистической партий в соответствии с той моделью, которая существовала в Каталонии и в молодежном движении. Оба крыла социалистической партии, и Ларго Кабальеро и </a:t>
            </a:r>
            <a:r>
              <a:rPr lang="ru-RU" sz="100" dirty="0" err="1"/>
              <a:t>Прието</a:t>
            </a:r>
            <a:r>
              <a:rPr lang="ru-RU" sz="100" dirty="0"/>
              <a:t> настороженно относились к этим </a:t>
            </a:r>
            <a:r>
              <a:rPr lang="ru-RU" sz="100" dirty="0" err="1"/>
              <a:t>подходам.К</a:t>
            </a:r>
            <a:r>
              <a:rPr lang="ru-RU" sz="100" dirty="0"/>
              <a:t> весне 1937 года правительство Ларго Кабальеро стало повсеместно искать возможности замедлить революционный процесс. Политические комитеты, которые стремительно появились во всех селениях, в июле были заменены муниципальными советами. Национализацию иностранных фирм прекратили, а остальных отложили. Кроме того, правительство всеми силами старалось положить конец коллективному управлению предприятиями. Оно стремилось поставить промышленность, национализированную или находящуюся в частном владении, под контроль государства. Поэтому предприятиям, где господствовали анархисты, была затруднена выдача кредитов. Некоторые фабрики, куда перестал поступать хлопок, даже остановились.</a:t>
            </a:r>
          </a:p>
        </p:txBody>
      </p:sp>
      <p:sp>
        <p:nvSpPr>
          <p:cNvPr id="195" name="Прямоугольник 194"/>
          <p:cNvSpPr/>
          <p:nvPr/>
        </p:nvSpPr>
        <p:spPr>
          <a:xfrm>
            <a:off x="15319932" y="787379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Военные школы для милиционеров (1937) </a:t>
            </a:r>
            <a:r>
              <a:rPr lang="ru-RU" sz="200" dirty="0"/>
              <a:t>(В 1937 году действовало 2000 военных школ, в которых учили читать неграмотных милиционеров)</a:t>
            </a:r>
            <a:endParaRPr lang="ru-RU" sz="100" dirty="0"/>
          </a:p>
        </p:txBody>
      </p:sp>
      <p:sp>
        <p:nvSpPr>
          <p:cNvPr id="196" name="Прямоугольник 195">
            <a:extLst>
              <a:ext uri="{FF2B5EF4-FFF2-40B4-BE49-F238E27FC236}">
                <a16:creationId xmlns:a16="http://schemas.microsoft.com/office/drawing/2014/main" id="{F8D1DA47-C504-41CD-B91F-0C23B929D953}"/>
              </a:ext>
            </a:extLst>
          </p:cNvPr>
          <p:cNvSpPr/>
          <p:nvPr/>
        </p:nvSpPr>
        <p:spPr>
          <a:xfrm>
            <a:off x="32185147" y="7053164"/>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Отстранение Ларго </a:t>
            </a:r>
            <a:r>
              <a:rPr lang="ru-RU" sz="100" dirty="0"/>
              <a:t>(Вскоре состоялось удивительное собрание руководства Испанской коммунистической партии, на котором присутствовали Марти, Тольятти, </a:t>
            </a:r>
            <a:r>
              <a:rPr lang="ru-RU" sz="100" dirty="0" err="1"/>
              <a:t>Кодовилья</a:t>
            </a:r>
            <a:r>
              <a:rPr lang="ru-RU" sz="100" dirty="0"/>
              <a:t>, Степанов, </a:t>
            </a:r>
            <a:r>
              <a:rPr lang="ru-RU" sz="100" dirty="0" err="1"/>
              <a:t>Герё</a:t>
            </a:r>
            <a:r>
              <a:rPr lang="ru-RU" sz="100" dirty="0"/>
              <a:t>, советский посол </a:t>
            </a:r>
            <a:r>
              <a:rPr lang="ru-RU" sz="100" dirty="0" err="1"/>
              <a:t>Гайкин</a:t>
            </a:r>
            <a:r>
              <a:rPr lang="ru-RU" sz="100" dirty="0"/>
              <a:t> и сам Орлов. Тольятти откровенно заявил, что хотел бы смещения Ларго Кабальеро с поста премьера. </a:t>
            </a:r>
            <a:r>
              <a:rPr lang="ru-RU" sz="100" dirty="0" err="1"/>
              <a:t>Диас</a:t>
            </a:r>
            <a:r>
              <a:rPr lang="ru-RU" sz="100" dirty="0"/>
              <a:t> и </a:t>
            </a:r>
            <a:r>
              <a:rPr lang="ru-RU" sz="100" dirty="0" err="1"/>
              <a:t>Эрнандес</a:t>
            </a:r>
            <a:r>
              <a:rPr lang="ru-RU" sz="100" dirty="0"/>
              <a:t> возразили. </a:t>
            </a:r>
            <a:r>
              <a:rPr lang="ru-RU" sz="100" dirty="0" err="1"/>
              <a:t>Диас</a:t>
            </a:r>
            <a:r>
              <a:rPr lang="ru-RU" sz="100" dirty="0"/>
              <a:t> добавил, что испанские коммунисты не всегда должны следовать указаниям Москвы. Страх или амбиции заставили остальных испанцев промолчать. Степанов сказал, что не Москва, а сама «история» осудила премьер-министра за его отступничество и поражения. Марти согласился с ним. </a:t>
            </a:r>
            <a:r>
              <a:rPr lang="ru-RU" sz="100" dirty="0" err="1"/>
              <a:t>Диас</a:t>
            </a:r>
            <a:r>
              <a:rPr lang="ru-RU" sz="100" dirty="0"/>
              <a:t> назвал Марти бюрократом, а тот проворчал, что всегда был революционером. «Как и все мы», – сказал </a:t>
            </a:r>
            <a:r>
              <a:rPr lang="ru-RU" sz="100" dirty="0" err="1"/>
              <a:t>Диас</a:t>
            </a:r>
            <a:r>
              <a:rPr lang="ru-RU" sz="100" dirty="0"/>
              <a:t>. «Остается только в этом убедиться», – ответил Марти. </a:t>
            </a:r>
            <a:r>
              <a:rPr lang="ru-RU" sz="100" dirty="0" err="1"/>
              <a:t>Диас</a:t>
            </a:r>
            <a:r>
              <a:rPr lang="ru-RU" sz="100" dirty="0"/>
              <a:t> напомнил Марти, что тот – всего лишь гость на встрече Испанской коммунистической партии. «Если наши решения вам не нравятся,  – решительно сказал </a:t>
            </a:r>
            <a:r>
              <a:rPr lang="ru-RU" sz="100" dirty="0" err="1"/>
              <a:t>Диас</a:t>
            </a:r>
            <a:r>
              <a:rPr lang="ru-RU" sz="100" dirty="0"/>
              <a:t>,  – то вот дверь». Раздался взрыв возмущения. Все повскакали. «Товарищи! Товарищи!» – вопила </a:t>
            </a:r>
            <a:r>
              <a:rPr lang="ru-RU" sz="100" dirty="0" err="1"/>
              <a:t>Пассионария</a:t>
            </a:r>
            <a:r>
              <a:rPr lang="ru-RU" sz="100" dirty="0"/>
              <a:t>. </a:t>
            </a:r>
            <a:r>
              <a:rPr lang="ru-RU" sz="100" dirty="0" err="1"/>
              <a:t>Герё</a:t>
            </a:r>
            <a:r>
              <a:rPr lang="ru-RU" sz="100" dirty="0"/>
              <a:t> сидел, изумленно открыв рот. Орлов был совершенно невозмутим, а Тольятти смотрел на все серьезно. </a:t>
            </a:r>
            <a:r>
              <a:rPr lang="ru-RU" sz="100" dirty="0" err="1"/>
              <a:t>Кодо-вилья</a:t>
            </a:r>
            <a:r>
              <a:rPr lang="ru-RU" sz="100" dirty="0"/>
              <a:t> пытался успокоить Марти. Такие сцены были неслыханным явлением на встречах коммунистов, особенно когда на них присутствовали ответственные лица Коминтерна. Наконец </a:t>
            </a:r>
            <a:r>
              <a:rPr lang="ru-RU" sz="100" dirty="0" err="1"/>
              <a:t>Диас</a:t>
            </a:r>
            <a:r>
              <a:rPr lang="ru-RU" sz="100" dirty="0"/>
              <a:t> согласился принять предложение Тольятти, если за него проголосует большинство. Нет необходимости уточнять, что </a:t>
            </a:r>
            <a:r>
              <a:rPr lang="ru-RU" sz="100" dirty="0" err="1"/>
              <a:t>Диас</a:t>
            </a:r>
            <a:r>
              <a:rPr lang="ru-RU" sz="100" dirty="0"/>
              <a:t> и </a:t>
            </a:r>
            <a:r>
              <a:rPr lang="ru-RU" sz="100" dirty="0" err="1"/>
              <a:t>Эрнандес</a:t>
            </a:r>
            <a:r>
              <a:rPr lang="ru-RU" sz="100" dirty="0"/>
              <a:t> оказались единственными, кто голосовал против. Кампания по снятию Ларго Кабальеро, по мнению Тольятти, должна начаться с митинга в Валенсии. Он предложил, чтобы основную речь там произнес </a:t>
            </a:r>
            <a:r>
              <a:rPr lang="ru-RU" sz="100" dirty="0" err="1"/>
              <a:t>Эрнандес</a:t>
            </a:r>
            <a:r>
              <a:rPr lang="ru-RU" sz="100" dirty="0"/>
              <a:t>. Наилучшие шансы, сказал он, стать следующим премьер-министром у Хуана </a:t>
            </a:r>
            <a:r>
              <a:rPr lang="ru-RU" sz="100" dirty="0" err="1"/>
              <a:t>Негрина</a:t>
            </a:r>
            <a:r>
              <a:rPr lang="ru-RU" sz="100" dirty="0"/>
              <a:t>, министра финансов, не столь явного </a:t>
            </a:r>
            <a:r>
              <a:rPr lang="ru-RU" sz="100" dirty="0" err="1"/>
              <a:t>прокоммуниста</a:t>
            </a:r>
            <a:r>
              <a:rPr lang="ru-RU" sz="100" dirty="0"/>
              <a:t>, как </a:t>
            </a:r>
            <a:r>
              <a:rPr lang="ru-RU" sz="100" dirty="0" err="1"/>
              <a:t>Альварес</a:t>
            </a:r>
            <a:r>
              <a:rPr lang="ru-RU" sz="100" dirty="0"/>
              <a:t> </a:t>
            </a:r>
            <a:r>
              <a:rPr lang="ru-RU" sz="100" dirty="0" err="1"/>
              <a:t>дель</a:t>
            </a:r>
            <a:r>
              <a:rPr lang="ru-RU" sz="100" dirty="0"/>
              <a:t> </a:t>
            </a:r>
            <a:r>
              <a:rPr lang="ru-RU" sz="100" dirty="0" err="1"/>
              <a:t>Вайо</a:t>
            </a:r>
            <a:r>
              <a:rPr lang="ru-RU" sz="100" dirty="0"/>
              <a:t>, и не такого антикоммуниста, как </a:t>
            </a:r>
            <a:r>
              <a:rPr lang="ru-RU" sz="100" dirty="0" err="1"/>
              <a:t>Прието</a:t>
            </a:r>
            <a:r>
              <a:rPr lang="ru-RU" sz="100" dirty="0"/>
              <a:t>)</a:t>
            </a:r>
          </a:p>
        </p:txBody>
      </p:sp>
      <p:sp>
        <p:nvSpPr>
          <p:cNvPr id="198" name="Прямоугольник 197">
            <a:extLst>
              <a:ext uri="{FF2B5EF4-FFF2-40B4-BE49-F238E27FC236}">
                <a16:creationId xmlns:a16="http://schemas.microsoft.com/office/drawing/2014/main" id="{3F73D485-85C1-4021-BF3A-F98C9D79AF9E}"/>
              </a:ext>
            </a:extLst>
          </p:cNvPr>
          <p:cNvSpPr/>
          <p:nvPr/>
        </p:nvSpPr>
        <p:spPr>
          <a:xfrm>
            <a:off x="31156491" y="7060625"/>
            <a:ext cx="926325" cy="540000"/>
          </a:xfrm>
          <a:prstGeom prst="rect">
            <a:avLst/>
          </a:prstGeom>
          <a:gradFill>
            <a:gsLst>
              <a:gs pos="0">
                <a:schemeClr val="accent1">
                  <a:tint val="66000"/>
                  <a:satMod val="160000"/>
                </a:schemeClr>
              </a:gs>
              <a:gs pos="100000">
                <a:srgbClr val="FF0000"/>
              </a:gs>
            </a:gsLst>
            <a:lin ang="5400000" scaled="0"/>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Сотрудничество с советским НКВД</a:t>
            </a:r>
            <a:endParaRPr lang="ru-RU" sz="500" dirty="0"/>
          </a:p>
        </p:txBody>
      </p:sp>
      <p:cxnSp>
        <p:nvCxnSpPr>
          <p:cNvPr id="199" name="Соединительная линия уступом 59">
            <a:extLst>
              <a:ext uri="{FF2B5EF4-FFF2-40B4-BE49-F238E27FC236}">
                <a16:creationId xmlns:a16="http://schemas.microsoft.com/office/drawing/2014/main" id="{76206442-5802-4ECC-89FF-725CB9831F7E}"/>
              </a:ext>
            </a:extLst>
          </p:cNvPr>
          <p:cNvCxnSpPr>
            <a:cxnSpLocks/>
            <a:stCxn id="63" idx="2"/>
            <a:endCxn id="198" idx="0"/>
          </p:cNvCxnSpPr>
          <p:nvPr/>
        </p:nvCxnSpPr>
        <p:spPr>
          <a:xfrm rot="16200000" flipH="1">
            <a:off x="30652235" y="6093205"/>
            <a:ext cx="257217" cy="167762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3" name="Соединительная линия уступом 59">
            <a:extLst>
              <a:ext uri="{FF2B5EF4-FFF2-40B4-BE49-F238E27FC236}">
                <a16:creationId xmlns:a16="http://schemas.microsoft.com/office/drawing/2014/main" id="{76206442-5802-4ECC-89FF-725CB9831F7E}"/>
              </a:ext>
            </a:extLst>
          </p:cNvPr>
          <p:cNvCxnSpPr>
            <a:cxnSpLocks/>
            <a:stCxn id="135" idx="2"/>
            <a:endCxn id="198" idx="0"/>
          </p:cNvCxnSpPr>
          <p:nvPr/>
        </p:nvCxnSpPr>
        <p:spPr>
          <a:xfrm rot="5400000">
            <a:off x="32555332" y="5867730"/>
            <a:ext cx="257217" cy="212857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4" name="Соединительная линия уступом 59">
            <a:extLst>
              <a:ext uri="{FF2B5EF4-FFF2-40B4-BE49-F238E27FC236}">
                <a16:creationId xmlns:a16="http://schemas.microsoft.com/office/drawing/2014/main" id="{41E480A3-A812-4731-BA0E-CEBFE1B527FF}"/>
              </a:ext>
            </a:extLst>
          </p:cNvPr>
          <p:cNvCxnSpPr>
            <a:cxnSpLocks/>
            <a:stCxn id="198" idx="2"/>
            <a:endCxn id="159" idx="0"/>
          </p:cNvCxnSpPr>
          <p:nvPr/>
        </p:nvCxnSpPr>
        <p:spPr>
          <a:xfrm rot="5400000">
            <a:off x="30905991" y="7161144"/>
            <a:ext cx="274183" cy="115314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6" name="Соединительная линия уступом 59">
            <a:extLst>
              <a:ext uri="{FF2B5EF4-FFF2-40B4-BE49-F238E27FC236}">
                <a16:creationId xmlns:a16="http://schemas.microsoft.com/office/drawing/2014/main" id="{41E480A3-A812-4731-BA0E-CEBFE1B527FF}"/>
              </a:ext>
            </a:extLst>
          </p:cNvPr>
          <p:cNvCxnSpPr>
            <a:cxnSpLocks/>
            <a:stCxn id="196" idx="2"/>
            <a:endCxn id="194" idx="0"/>
          </p:cNvCxnSpPr>
          <p:nvPr/>
        </p:nvCxnSpPr>
        <p:spPr>
          <a:xfrm rot="16200000" flipH="1">
            <a:off x="33057953" y="7183520"/>
            <a:ext cx="280631" cy="109991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10" name="Прямоугольник 209">
            <a:extLst>
              <a:ext uri="{FF2B5EF4-FFF2-40B4-BE49-F238E27FC236}">
                <a16:creationId xmlns:a16="http://schemas.microsoft.com/office/drawing/2014/main" id="{3F73D485-85C1-4021-BF3A-F98C9D79AF9E}"/>
              </a:ext>
            </a:extLst>
          </p:cNvPr>
          <p:cNvSpPr/>
          <p:nvPr/>
        </p:nvSpPr>
        <p:spPr>
          <a:xfrm>
            <a:off x="31156488" y="7873794"/>
            <a:ext cx="926325" cy="540000"/>
          </a:xfrm>
          <a:prstGeom prst="rect">
            <a:avLst/>
          </a:prstGeom>
          <a:gradFill>
            <a:gsLst>
              <a:gs pos="0">
                <a:schemeClr val="accent1">
                  <a:tint val="66000"/>
                  <a:satMod val="160000"/>
                </a:schemeClr>
              </a:gs>
              <a:gs pos="100000">
                <a:srgbClr val="FF0000"/>
              </a:gs>
            </a:gsLst>
            <a:lin ang="5400000" scaled="0"/>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Борьба с влиянием Коминтерна</a:t>
            </a:r>
            <a:endParaRPr lang="ru-RU" sz="500" dirty="0"/>
          </a:p>
        </p:txBody>
      </p:sp>
      <p:cxnSp>
        <p:nvCxnSpPr>
          <p:cNvPr id="211" name="Соединительная линия уступом 59">
            <a:extLst>
              <a:ext uri="{FF2B5EF4-FFF2-40B4-BE49-F238E27FC236}">
                <a16:creationId xmlns:a16="http://schemas.microsoft.com/office/drawing/2014/main" id="{41E480A3-A812-4731-BA0E-CEBFE1B527FF}"/>
              </a:ext>
            </a:extLst>
          </p:cNvPr>
          <p:cNvCxnSpPr>
            <a:cxnSpLocks/>
            <a:stCxn id="135" idx="2"/>
            <a:endCxn id="196" idx="0"/>
          </p:cNvCxnSpPr>
          <p:nvPr/>
        </p:nvCxnSpPr>
        <p:spPr>
          <a:xfrm rot="5400000">
            <a:off x="33073390" y="6378328"/>
            <a:ext cx="249756" cy="109991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2" name="Соединительная линия уступом 59">
            <a:extLst>
              <a:ext uri="{FF2B5EF4-FFF2-40B4-BE49-F238E27FC236}">
                <a16:creationId xmlns:a16="http://schemas.microsoft.com/office/drawing/2014/main" id="{41E480A3-A812-4731-BA0E-CEBFE1B527FF}"/>
              </a:ext>
            </a:extLst>
          </p:cNvPr>
          <p:cNvCxnSpPr>
            <a:cxnSpLocks/>
            <a:stCxn id="135" idx="2"/>
            <a:endCxn id="226" idx="0"/>
          </p:cNvCxnSpPr>
          <p:nvPr/>
        </p:nvCxnSpPr>
        <p:spPr>
          <a:xfrm rot="16200000" flipH="1">
            <a:off x="34187633" y="6364000"/>
            <a:ext cx="249756" cy="112857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3" name="Соединительная линия уступом 123">
            <a:extLst>
              <a:ext uri="{FF2B5EF4-FFF2-40B4-BE49-F238E27FC236}">
                <a16:creationId xmlns:a16="http://schemas.microsoft.com/office/drawing/2014/main" id="{0DD383AF-7358-4D05-9F30-B6B41AF854DB}"/>
              </a:ext>
            </a:extLst>
          </p:cNvPr>
          <p:cNvCxnSpPr>
            <a:cxnSpLocks/>
            <a:stCxn id="135" idx="2"/>
            <a:endCxn id="118" idx="0"/>
          </p:cNvCxnSpPr>
          <p:nvPr/>
        </p:nvCxnSpPr>
        <p:spPr>
          <a:xfrm rot="16200000" flipH="1">
            <a:off x="33626317" y="6925317"/>
            <a:ext cx="249756" cy="593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4" name="Соединительная линия уступом 123">
            <a:extLst>
              <a:ext uri="{FF2B5EF4-FFF2-40B4-BE49-F238E27FC236}">
                <a16:creationId xmlns:a16="http://schemas.microsoft.com/office/drawing/2014/main" id="{0DD383AF-7358-4D05-9F30-B6B41AF854DB}"/>
              </a:ext>
            </a:extLst>
          </p:cNvPr>
          <p:cNvCxnSpPr>
            <a:cxnSpLocks/>
            <a:stCxn id="226" idx="2"/>
            <a:endCxn id="92" idx="0"/>
          </p:cNvCxnSpPr>
          <p:nvPr/>
        </p:nvCxnSpPr>
        <p:spPr>
          <a:xfrm rot="5400000">
            <a:off x="34736482" y="7733479"/>
            <a:ext cx="280631"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6" name="Соединительная линия уступом 123">
            <a:extLst>
              <a:ext uri="{FF2B5EF4-FFF2-40B4-BE49-F238E27FC236}">
                <a16:creationId xmlns:a16="http://schemas.microsoft.com/office/drawing/2014/main" id="{0DD383AF-7358-4D05-9F30-B6B41AF854DB}"/>
              </a:ext>
            </a:extLst>
          </p:cNvPr>
          <p:cNvCxnSpPr>
            <a:cxnSpLocks/>
            <a:stCxn id="198" idx="2"/>
            <a:endCxn id="210" idx="0"/>
          </p:cNvCxnSpPr>
          <p:nvPr/>
        </p:nvCxnSpPr>
        <p:spPr>
          <a:xfrm rot="5400000">
            <a:off x="31483069" y="7737208"/>
            <a:ext cx="273169" cy="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97" name="Прямоугольник 196"/>
          <p:cNvSpPr/>
          <p:nvPr/>
        </p:nvSpPr>
        <p:spPr>
          <a:xfrm>
            <a:off x="21578207" y="950257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Деколонизация Африки </a:t>
            </a:r>
            <a:r>
              <a:rPr lang="ru-RU" sz="300" dirty="0"/>
              <a:t>(Западная Сахара и Экваториальная Гвинея будут выделены, как субъекты-колонии, </a:t>
            </a:r>
            <a:r>
              <a:rPr lang="en-US" sz="300" dirty="0"/>
              <a:t>+</a:t>
            </a:r>
            <a:r>
              <a:rPr lang="ru-RU" sz="300" dirty="0"/>
              <a:t>75000 </a:t>
            </a:r>
            <a:r>
              <a:rPr lang="ru-RU" sz="300" dirty="0" err="1"/>
              <a:t>менпауэра</a:t>
            </a:r>
            <a:r>
              <a:rPr lang="ru-RU" sz="300" dirty="0"/>
              <a:t>)</a:t>
            </a:r>
          </a:p>
        </p:txBody>
      </p:sp>
      <p:cxnSp>
        <p:nvCxnSpPr>
          <p:cNvPr id="207" name="Соединительная линия уступом 206"/>
          <p:cNvCxnSpPr>
            <a:stCxn id="73" idx="2"/>
            <a:endCxn id="197" idx="0"/>
          </p:cNvCxnSpPr>
          <p:nvPr/>
        </p:nvCxnSpPr>
        <p:spPr>
          <a:xfrm rot="16200000" flipH="1">
            <a:off x="21905258" y="9366457"/>
            <a:ext cx="271127" cy="109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5" name="Соединительная линия уступом 214"/>
          <p:cNvCxnSpPr>
            <a:stCxn id="116" idx="2"/>
            <a:endCxn id="193" idx="0"/>
          </p:cNvCxnSpPr>
          <p:nvPr/>
        </p:nvCxnSpPr>
        <p:spPr>
          <a:xfrm rot="5400000">
            <a:off x="15373993" y="5824135"/>
            <a:ext cx="263319" cy="55489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17" name="Прямоугольник 216"/>
          <p:cNvSpPr/>
          <p:nvPr/>
        </p:nvSpPr>
        <p:spPr>
          <a:xfrm>
            <a:off x="16433802" y="7880394"/>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Запрет частной собственности (</a:t>
            </a:r>
            <a:r>
              <a:rPr lang="en-US" sz="800" dirty="0"/>
              <a:t>+</a:t>
            </a:r>
            <a:r>
              <a:rPr lang="ru-RU" sz="800" dirty="0"/>
              <a:t>2 военных завода)</a:t>
            </a:r>
          </a:p>
        </p:txBody>
      </p:sp>
      <p:sp>
        <p:nvSpPr>
          <p:cNvPr id="218" name="Прямоугольник 217"/>
          <p:cNvSpPr/>
          <p:nvPr/>
        </p:nvSpPr>
        <p:spPr>
          <a:xfrm>
            <a:off x="24370214" y="623324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Отправка духовников в трудовые лагеря </a:t>
            </a:r>
            <a:r>
              <a:rPr lang="ru-RU" sz="400" dirty="0"/>
              <a:t>(</a:t>
            </a:r>
            <a:r>
              <a:rPr lang="en-US" sz="400" dirty="0"/>
              <a:t>+ </a:t>
            </a:r>
            <a:r>
              <a:rPr lang="ru-RU" sz="400" dirty="0"/>
              <a:t>к объёмам производства)</a:t>
            </a:r>
          </a:p>
        </p:txBody>
      </p:sp>
      <p:cxnSp>
        <p:nvCxnSpPr>
          <p:cNvPr id="219" name="Соединительная линия уступом 123">
            <a:extLst>
              <a:ext uri="{FF2B5EF4-FFF2-40B4-BE49-F238E27FC236}">
                <a16:creationId xmlns:a16="http://schemas.microsoft.com/office/drawing/2014/main" id="{95E12289-D5C4-4A71-B46E-2AB617265BCE}"/>
              </a:ext>
            </a:extLst>
          </p:cNvPr>
          <p:cNvCxnSpPr>
            <a:cxnSpLocks/>
            <a:stCxn id="125" idx="2"/>
            <a:endCxn id="218" idx="0"/>
          </p:cNvCxnSpPr>
          <p:nvPr/>
        </p:nvCxnSpPr>
        <p:spPr>
          <a:xfrm rot="16200000" flipH="1">
            <a:off x="24309125" y="5708988"/>
            <a:ext cx="1048503"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0" name="Соединительная линия уступом 219"/>
          <p:cNvCxnSpPr>
            <a:stCxn id="93" idx="2"/>
            <a:endCxn id="108" idx="0"/>
          </p:cNvCxnSpPr>
          <p:nvPr/>
        </p:nvCxnSpPr>
        <p:spPr>
          <a:xfrm rot="16200000" flipH="1">
            <a:off x="16210163" y="6932869"/>
            <a:ext cx="285494"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1" name="Соединительная линия уступом 220"/>
          <p:cNvCxnSpPr>
            <a:stCxn id="108" idx="2"/>
            <a:endCxn id="217" idx="0"/>
          </p:cNvCxnSpPr>
          <p:nvPr/>
        </p:nvCxnSpPr>
        <p:spPr>
          <a:xfrm rot="16200000" flipH="1">
            <a:off x="16492550" y="7475978"/>
            <a:ext cx="264777" cy="54405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22" name="Прямоугольник 221"/>
          <p:cNvSpPr/>
          <p:nvPr/>
        </p:nvSpPr>
        <p:spPr>
          <a:xfrm>
            <a:off x="14765043" y="7069266"/>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Новые университеты</a:t>
            </a:r>
            <a:endParaRPr lang="ru-RU" sz="500" dirty="0"/>
          </a:p>
        </p:txBody>
      </p:sp>
      <p:cxnSp>
        <p:nvCxnSpPr>
          <p:cNvPr id="224" name="Соединительная линия уступом 223"/>
          <p:cNvCxnSpPr>
            <a:stCxn id="193" idx="2"/>
            <a:endCxn id="222" idx="0"/>
          </p:cNvCxnSpPr>
          <p:nvPr/>
        </p:nvCxnSpPr>
        <p:spPr>
          <a:xfrm rot="5400000">
            <a:off x="15080194" y="6921253"/>
            <a:ext cx="29602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5" name="Соединительная линия уступом 224"/>
          <p:cNvCxnSpPr>
            <a:stCxn id="93" idx="2"/>
            <a:endCxn id="195" idx="0"/>
          </p:cNvCxnSpPr>
          <p:nvPr/>
        </p:nvCxnSpPr>
        <p:spPr>
          <a:xfrm rot="5400000">
            <a:off x="15526168" y="7047051"/>
            <a:ext cx="1083671" cy="569815"/>
          </a:xfrm>
          <a:prstGeom prst="bentConnector3">
            <a:avLst>
              <a:gd name="adj1" fmla="val 11912"/>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28" name="Прямоугольник 227">
            <a:extLst>
              <a:ext uri="{FF2B5EF4-FFF2-40B4-BE49-F238E27FC236}">
                <a16:creationId xmlns:a16="http://schemas.microsoft.com/office/drawing/2014/main" id="{F8D1DA47-C504-41CD-B91F-0C23B929D953}"/>
              </a:ext>
            </a:extLst>
          </p:cNvPr>
          <p:cNvSpPr/>
          <p:nvPr/>
        </p:nvSpPr>
        <p:spPr>
          <a:xfrm>
            <a:off x="33285063" y="8638546"/>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Отвернуться от мелкой буржуазии </a:t>
            </a:r>
            <a:r>
              <a:rPr lang="ru-RU" sz="100" dirty="0"/>
              <a:t>(Большая часть членов социалистической партии с </a:t>
            </a:r>
            <a:r>
              <a:rPr lang="ru-RU" sz="100" dirty="0" err="1"/>
              <a:t>глу</a:t>
            </a:r>
            <a:r>
              <a:rPr lang="ru-RU" sz="100" dirty="0"/>
              <a:t> </a:t>
            </a:r>
            <a:r>
              <a:rPr lang="ru-RU" sz="100" dirty="0" err="1"/>
              <a:t>боким</a:t>
            </a:r>
            <a:r>
              <a:rPr lang="ru-RU" sz="100" dirty="0"/>
              <a:t> уважением относилась к своим старым лидерам, в особенности к Пабло </a:t>
            </a:r>
            <a:r>
              <a:rPr lang="ru-RU" sz="100" dirty="0" err="1"/>
              <a:t>Иглесиасу</a:t>
            </a:r>
            <a:r>
              <a:rPr lang="ru-RU" sz="100" dirty="0"/>
              <a:t>, который как бы </a:t>
            </a:r>
            <a:r>
              <a:rPr lang="ru-RU" sz="100" dirty="0" err="1"/>
              <a:t>олице</a:t>
            </a:r>
            <a:r>
              <a:rPr lang="ru-RU" sz="100" dirty="0"/>
              <a:t> </a:t>
            </a:r>
            <a:r>
              <a:rPr lang="ru-RU" sz="100" dirty="0" err="1"/>
              <a:t>творял</a:t>
            </a:r>
            <a:r>
              <a:rPr lang="ru-RU" sz="100" dirty="0"/>
              <a:t> героический период рабочего и социалистического движения. Вместе с тем они отвергали либеральную и мелкобуржуазную линию, навязанную партии </a:t>
            </a:r>
            <a:r>
              <a:rPr lang="ru-RU" sz="100" dirty="0" err="1"/>
              <a:t>Бестейро</a:t>
            </a:r>
            <a:r>
              <a:rPr lang="ru-RU" sz="100" dirty="0"/>
              <a:t>, Ларго Кабальеро, Фернандо де </a:t>
            </a:r>
            <a:r>
              <a:rPr lang="ru-RU" sz="100" dirty="0" err="1"/>
              <a:t>лос</a:t>
            </a:r>
            <a:r>
              <a:rPr lang="ru-RU" sz="100" dirty="0"/>
              <a:t> </a:t>
            </a:r>
            <a:r>
              <a:rPr lang="ru-RU" sz="100" dirty="0" err="1"/>
              <a:t>Риосом</a:t>
            </a:r>
            <a:r>
              <a:rPr lang="ru-RU" sz="100" dirty="0"/>
              <a:t>, </a:t>
            </a:r>
            <a:r>
              <a:rPr lang="ru-RU" sz="100" dirty="0" err="1"/>
              <a:t>Саборитом</a:t>
            </a:r>
            <a:r>
              <a:rPr lang="ru-RU" sz="100" dirty="0"/>
              <a:t>, </a:t>
            </a:r>
            <a:r>
              <a:rPr lang="ru-RU" sz="100" dirty="0" err="1"/>
              <a:t>Прието</a:t>
            </a:r>
            <a:r>
              <a:rPr lang="ru-RU" sz="100" dirty="0"/>
              <a:t> и другими)</a:t>
            </a:r>
          </a:p>
        </p:txBody>
      </p:sp>
      <p:sp>
        <p:nvSpPr>
          <p:cNvPr id="229" name="Прямоугольник 228">
            <a:extLst>
              <a:ext uri="{FF2B5EF4-FFF2-40B4-BE49-F238E27FC236}">
                <a16:creationId xmlns:a16="http://schemas.microsoft.com/office/drawing/2014/main" id="{7DAEAC1F-B20B-46CD-B818-99851DE5EF87}"/>
              </a:ext>
            </a:extLst>
          </p:cNvPr>
          <p:cNvSpPr/>
          <p:nvPr/>
        </p:nvSpPr>
        <p:spPr>
          <a:xfrm>
            <a:off x="33285060" y="9438811"/>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Репрессировать троцкистов (наше)</a:t>
            </a:r>
          </a:p>
        </p:txBody>
      </p:sp>
      <p:sp>
        <p:nvSpPr>
          <p:cNvPr id="232" name="Прямоугольник 231">
            <a:extLst>
              <a:ext uri="{FF2B5EF4-FFF2-40B4-BE49-F238E27FC236}">
                <a16:creationId xmlns:a16="http://schemas.microsoft.com/office/drawing/2014/main" id="{7DAEAC1F-B20B-46CD-B818-99851DE5EF87}"/>
              </a:ext>
            </a:extLst>
          </p:cNvPr>
          <p:cNvSpPr/>
          <p:nvPr/>
        </p:nvSpPr>
        <p:spPr>
          <a:xfrm>
            <a:off x="34413632" y="863854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Введение обязательной воинской повинности </a:t>
            </a:r>
            <a:r>
              <a:rPr lang="ru-RU" sz="200" dirty="0"/>
              <a:t>(обязательная воинская повинность, как единственный путь к быстрому созданию сильной Народной армии, об­ </a:t>
            </a:r>
            <a:r>
              <a:rPr lang="ru-RU" sz="200" dirty="0" err="1"/>
              <a:t>ладающей</a:t>
            </a:r>
            <a:r>
              <a:rPr lang="ru-RU" sz="200" dirty="0"/>
              <a:t> многочисленными обученными резервами и компетентным, пользующимся доверием народа единым командованием;)</a:t>
            </a:r>
            <a:endParaRPr lang="ru-RU" sz="700" dirty="0"/>
          </a:p>
        </p:txBody>
      </p:sp>
      <p:sp>
        <p:nvSpPr>
          <p:cNvPr id="233" name="Прямоугольник 232">
            <a:extLst>
              <a:ext uri="{FF2B5EF4-FFF2-40B4-BE49-F238E27FC236}">
                <a16:creationId xmlns:a16="http://schemas.microsoft.com/office/drawing/2014/main" id="{7DAEAC1F-B20B-46CD-B818-99851DE5EF87}"/>
              </a:ext>
            </a:extLst>
          </p:cNvPr>
          <p:cNvSpPr/>
          <p:nvPr/>
        </p:nvSpPr>
        <p:spPr>
          <a:xfrm>
            <a:off x="34413635" y="9440213"/>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Координация сельскохозяйственных и промышленных производств </a:t>
            </a:r>
            <a:r>
              <a:rPr lang="ru-RU" sz="100" dirty="0"/>
              <a:t>(координация сельскохозяйственного и промышленного производства, с тем чтобы и то и другое содействовало быстрейшему достижению главной цели народной борьбы в этот исторический момент — выиграть войну.)</a:t>
            </a:r>
          </a:p>
        </p:txBody>
      </p:sp>
      <p:sp>
        <p:nvSpPr>
          <p:cNvPr id="235" name="Прямоугольник 234">
            <a:extLst>
              <a:ext uri="{FF2B5EF4-FFF2-40B4-BE49-F238E27FC236}">
                <a16:creationId xmlns:a16="http://schemas.microsoft.com/office/drawing/2014/main" id="{3F73D485-85C1-4021-BF3A-F98C9D79AF9E}"/>
              </a:ext>
            </a:extLst>
          </p:cNvPr>
          <p:cNvSpPr/>
          <p:nvPr/>
        </p:nvSpPr>
        <p:spPr>
          <a:xfrm>
            <a:off x="31721984" y="8638546"/>
            <a:ext cx="926325" cy="540000"/>
          </a:xfrm>
          <a:prstGeom prst="rect">
            <a:avLst/>
          </a:prstGeom>
          <a:gradFill>
            <a:gsLst>
              <a:gs pos="0">
                <a:schemeClr val="accent1">
                  <a:tint val="66000"/>
                  <a:satMod val="160000"/>
                </a:schemeClr>
              </a:gs>
              <a:gs pos="100000">
                <a:srgbClr val="FF0000"/>
              </a:gs>
            </a:gsLst>
            <a:lin ang="5400000" scaled="0"/>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мощной военной промышленности</a:t>
            </a:r>
            <a:endParaRPr lang="ru-RU" sz="500" dirty="0"/>
          </a:p>
        </p:txBody>
      </p:sp>
      <p:cxnSp>
        <p:nvCxnSpPr>
          <p:cNvPr id="236" name="Соединительная линия уступом 59">
            <a:extLst>
              <a:ext uri="{FF2B5EF4-FFF2-40B4-BE49-F238E27FC236}">
                <a16:creationId xmlns:a16="http://schemas.microsoft.com/office/drawing/2014/main" id="{146CBA15-0EC9-4B49-9151-897C0373358B}"/>
              </a:ext>
            </a:extLst>
          </p:cNvPr>
          <p:cNvCxnSpPr>
            <a:cxnSpLocks/>
            <a:stCxn id="159" idx="2"/>
            <a:endCxn id="235" idx="0"/>
          </p:cNvCxnSpPr>
          <p:nvPr/>
        </p:nvCxnSpPr>
        <p:spPr>
          <a:xfrm rot="16200000" flipH="1">
            <a:off x="31213959" y="7667358"/>
            <a:ext cx="223738" cy="171863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37" name="Прямоугольник 236"/>
          <p:cNvSpPr/>
          <p:nvPr/>
        </p:nvSpPr>
        <p:spPr>
          <a:xfrm>
            <a:off x="17017420" y="7078955"/>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Политика улучшения материального положения </a:t>
            </a:r>
            <a:r>
              <a:rPr lang="ru-RU" sz="200" dirty="0"/>
              <a:t>(Проведение политики систематического и серь­езного улучшения материального положения, условий труда, быта и культурного обслуживания городского и сельского пролетариата.)</a:t>
            </a:r>
            <a:endParaRPr lang="ru-RU" sz="100" dirty="0"/>
          </a:p>
        </p:txBody>
      </p:sp>
      <p:sp>
        <p:nvSpPr>
          <p:cNvPr id="238" name="Прямоугольник 237">
            <a:extLst>
              <a:ext uri="{FF2B5EF4-FFF2-40B4-BE49-F238E27FC236}">
                <a16:creationId xmlns:a16="http://schemas.microsoft.com/office/drawing/2014/main" id="{7DAEAC1F-B20B-46CD-B818-99851DE5EF87}"/>
              </a:ext>
            </a:extLst>
          </p:cNvPr>
          <p:cNvSpPr/>
          <p:nvPr/>
        </p:nvSpPr>
        <p:spPr>
          <a:xfrm>
            <a:off x="32185149" y="7873794"/>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Защита советского союза</a:t>
            </a:r>
          </a:p>
        </p:txBody>
      </p:sp>
      <p:cxnSp>
        <p:nvCxnSpPr>
          <p:cNvPr id="239" name="Прямая соединительная линия 238">
            <a:extLst>
              <a:ext uri="{FF2B5EF4-FFF2-40B4-BE49-F238E27FC236}">
                <a16:creationId xmlns:a16="http://schemas.microsoft.com/office/drawing/2014/main" id="{BF4D2C3F-BCB4-485D-98D8-A6C1B37BA272}"/>
              </a:ext>
            </a:extLst>
          </p:cNvPr>
          <p:cNvCxnSpPr>
            <a:cxnSpLocks/>
            <a:stCxn id="210" idx="3"/>
            <a:endCxn id="238" idx="1"/>
          </p:cNvCxnSpPr>
          <p:nvPr/>
        </p:nvCxnSpPr>
        <p:spPr>
          <a:xfrm>
            <a:off x="32082813" y="8143794"/>
            <a:ext cx="10233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0" name="Соединительная линия уступом 59">
            <a:extLst>
              <a:ext uri="{FF2B5EF4-FFF2-40B4-BE49-F238E27FC236}">
                <a16:creationId xmlns:a16="http://schemas.microsoft.com/office/drawing/2014/main" id="{41E480A3-A812-4731-BA0E-CEBFE1B527FF}"/>
              </a:ext>
            </a:extLst>
          </p:cNvPr>
          <p:cNvCxnSpPr>
            <a:cxnSpLocks/>
            <a:stCxn id="196" idx="2"/>
            <a:endCxn id="238" idx="0"/>
          </p:cNvCxnSpPr>
          <p:nvPr/>
        </p:nvCxnSpPr>
        <p:spPr>
          <a:xfrm rot="16200000" flipH="1">
            <a:off x="32507996" y="7733478"/>
            <a:ext cx="280630" cy="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41" name="Прямоугольник 240">
            <a:extLst>
              <a:ext uri="{FF2B5EF4-FFF2-40B4-BE49-F238E27FC236}">
                <a16:creationId xmlns:a16="http://schemas.microsoft.com/office/drawing/2014/main" id="{7DAEAC1F-B20B-46CD-B818-99851DE5EF87}"/>
              </a:ext>
            </a:extLst>
          </p:cNvPr>
          <p:cNvSpPr/>
          <p:nvPr/>
        </p:nvSpPr>
        <p:spPr>
          <a:xfrm>
            <a:off x="30628867" y="1022581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600" dirty="0"/>
              <a:t>проведение миролюбивой внешней политики, под­держка Лиги наций и принципа коллективной безопас­ности. </a:t>
            </a:r>
            <a:endParaRPr lang="ru-RU" sz="500" dirty="0"/>
          </a:p>
        </p:txBody>
      </p:sp>
      <p:sp>
        <p:nvSpPr>
          <p:cNvPr id="234" name="Прямоугольник 233">
            <a:extLst>
              <a:ext uri="{FF2B5EF4-FFF2-40B4-BE49-F238E27FC236}">
                <a16:creationId xmlns:a16="http://schemas.microsoft.com/office/drawing/2014/main" id="{2061239C-FA52-42FA-B47C-EF4539C7AB40}"/>
              </a:ext>
            </a:extLst>
          </p:cNvPr>
          <p:cNvSpPr/>
          <p:nvPr/>
        </p:nvSpPr>
        <p:spPr>
          <a:xfrm>
            <a:off x="50280075" y="3819213"/>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Крушение надежд (</a:t>
            </a:r>
            <a:r>
              <a:rPr lang="ru-RU" sz="700" dirty="0" err="1"/>
              <a:t>Санхуро</a:t>
            </a:r>
            <a:r>
              <a:rPr lang="ru-RU" sz="700" dirty="0"/>
              <a:t> наебнулся)</a:t>
            </a:r>
          </a:p>
        </p:txBody>
      </p:sp>
      <p:cxnSp>
        <p:nvCxnSpPr>
          <p:cNvPr id="242" name="Прямая соединительная линия 241">
            <a:extLst>
              <a:ext uri="{FF2B5EF4-FFF2-40B4-BE49-F238E27FC236}">
                <a16:creationId xmlns:a16="http://schemas.microsoft.com/office/drawing/2014/main" id="{779399EB-4FE7-4A5B-8D56-3E136B134C7D}"/>
              </a:ext>
            </a:extLst>
          </p:cNvPr>
          <p:cNvCxnSpPr>
            <a:cxnSpLocks/>
            <a:stCxn id="801" idx="3"/>
            <a:endCxn id="234" idx="1"/>
          </p:cNvCxnSpPr>
          <p:nvPr/>
        </p:nvCxnSpPr>
        <p:spPr>
          <a:xfrm flipV="1">
            <a:off x="32090738" y="4089213"/>
            <a:ext cx="18189337"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188735"/>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37355</TotalTime>
  <Words>3264</Words>
  <Application>Microsoft Office PowerPoint</Application>
  <PresentationFormat>Произвольный</PresentationFormat>
  <Paragraphs>95</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Calibri Light</vt:lpstr>
      <vt:lpstr>Тема Office</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Kirill</dc:creator>
  <cp:lastModifiedBy>Антон Алёшин</cp:lastModifiedBy>
  <cp:revision>2108</cp:revision>
  <dcterms:created xsi:type="dcterms:W3CDTF">2018-10-23T08:09:21Z</dcterms:created>
  <dcterms:modified xsi:type="dcterms:W3CDTF">2026-05-05T09:49:56Z</dcterms:modified>
</cp:coreProperties>
</file>