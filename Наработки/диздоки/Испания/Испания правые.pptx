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3"/>
  </p:notesMasterIdLst>
  <p:sldIdLst>
    <p:sldId id="259" r:id="rId2"/>
  </p:sldIdLst>
  <p:sldSz cx="51206400" cy="36018788"/>
  <p:notesSz cx="6858000" cy="9144000"/>
  <p:defaultTextStyle>
    <a:defPPr>
      <a:defRPr lang="ru-RU"/>
    </a:defPPr>
    <a:lvl1pPr marL="0" algn="l" defTabSz="1532289" rtl="0" eaLnBrk="1" latinLnBrk="0" hangingPunct="1">
      <a:defRPr sz="3000" kern="1200">
        <a:solidFill>
          <a:schemeClr val="tx1"/>
        </a:solidFill>
        <a:latin typeface="+mn-lt"/>
        <a:ea typeface="+mn-ea"/>
        <a:cs typeface="+mn-cs"/>
      </a:defRPr>
    </a:lvl1pPr>
    <a:lvl2pPr marL="766144" algn="l" defTabSz="1532289" rtl="0" eaLnBrk="1" latinLnBrk="0" hangingPunct="1">
      <a:defRPr sz="3000" kern="1200">
        <a:solidFill>
          <a:schemeClr val="tx1"/>
        </a:solidFill>
        <a:latin typeface="+mn-lt"/>
        <a:ea typeface="+mn-ea"/>
        <a:cs typeface="+mn-cs"/>
      </a:defRPr>
    </a:lvl2pPr>
    <a:lvl3pPr marL="1532289" algn="l" defTabSz="1532289" rtl="0" eaLnBrk="1" latinLnBrk="0" hangingPunct="1">
      <a:defRPr sz="3000" kern="1200">
        <a:solidFill>
          <a:schemeClr val="tx1"/>
        </a:solidFill>
        <a:latin typeface="+mn-lt"/>
        <a:ea typeface="+mn-ea"/>
        <a:cs typeface="+mn-cs"/>
      </a:defRPr>
    </a:lvl3pPr>
    <a:lvl4pPr marL="2298433" algn="l" defTabSz="1532289" rtl="0" eaLnBrk="1" latinLnBrk="0" hangingPunct="1">
      <a:defRPr sz="3000" kern="1200">
        <a:solidFill>
          <a:schemeClr val="tx1"/>
        </a:solidFill>
        <a:latin typeface="+mn-lt"/>
        <a:ea typeface="+mn-ea"/>
        <a:cs typeface="+mn-cs"/>
      </a:defRPr>
    </a:lvl4pPr>
    <a:lvl5pPr marL="3064578" algn="l" defTabSz="1532289" rtl="0" eaLnBrk="1" latinLnBrk="0" hangingPunct="1">
      <a:defRPr sz="3000" kern="1200">
        <a:solidFill>
          <a:schemeClr val="tx1"/>
        </a:solidFill>
        <a:latin typeface="+mn-lt"/>
        <a:ea typeface="+mn-ea"/>
        <a:cs typeface="+mn-cs"/>
      </a:defRPr>
    </a:lvl5pPr>
    <a:lvl6pPr marL="3830722" algn="l" defTabSz="1532289" rtl="0" eaLnBrk="1" latinLnBrk="0" hangingPunct="1">
      <a:defRPr sz="3000" kern="1200">
        <a:solidFill>
          <a:schemeClr val="tx1"/>
        </a:solidFill>
        <a:latin typeface="+mn-lt"/>
        <a:ea typeface="+mn-ea"/>
        <a:cs typeface="+mn-cs"/>
      </a:defRPr>
    </a:lvl6pPr>
    <a:lvl7pPr marL="4596867" algn="l" defTabSz="1532289" rtl="0" eaLnBrk="1" latinLnBrk="0" hangingPunct="1">
      <a:defRPr sz="3000" kern="1200">
        <a:solidFill>
          <a:schemeClr val="tx1"/>
        </a:solidFill>
        <a:latin typeface="+mn-lt"/>
        <a:ea typeface="+mn-ea"/>
        <a:cs typeface="+mn-cs"/>
      </a:defRPr>
    </a:lvl7pPr>
    <a:lvl8pPr marL="5363011" algn="l" defTabSz="1532289" rtl="0" eaLnBrk="1" latinLnBrk="0" hangingPunct="1">
      <a:defRPr sz="3000" kern="1200">
        <a:solidFill>
          <a:schemeClr val="tx1"/>
        </a:solidFill>
        <a:latin typeface="+mn-lt"/>
        <a:ea typeface="+mn-ea"/>
        <a:cs typeface="+mn-cs"/>
      </a:defRPr>
    </a:lvl8pPr>
    <a:lvl9pPr marL="6129155" algn="l" defTabSz="1532289" rtl="0" eaLnBrk="1" latinLnBrk="0" hangingPunct="1">
      <a:defRPr sz="3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344">
          <p15:clr>
            <a:srgbClr val="A4A3A4"/>
          </p15:clr>
        </p15:guide>
        <p15:guide id="2" pos="1612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3FB1"/>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5" autoAdjust="0"/>
    <p:restoredTop sz="96374" autoAdjust="0"/>
  </p:normalViewPr>
  <p:slideViewPr>
    <p:cSldViewPr snapToGrid="0">
      <p:cViewPr>
        <p:scale>
          <a:sx n="90" d="100"/>
          <a:sy n="90" d="100"/>
        </p:scale>
        <p:origin x="72" y="-2700"/>
      </p:cViewPr>
      <p:guideLst>
        <p:guide orient="horz" pos="11344"/>
        <p:guide pos="16127"/>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E3D7F9-E251-484C-A6FF-FA958879DF69}" type="datetimeFigureOut">
              <a:rPr lang="ru-RU" smtClean="0"/>
              <a:pPr/>
              <a:t>05.05.2026</a:t>
            </a:fld>
            <a:endParaRPr lang="ru-RU"/>
          </a:p>
        </p:txBody>
      </p:sp>
      <p:sp>
        <p:nvSpPr>
          <p:cNvPr id="4" name="Образ слайда 3"/>
          <p:cNvSpPr>
            <a:spLocks noGrp="1" noRot="1" noChangeAspect="1"/>
          </p:cNvSpPr>
          <p:nvPr>
            <p:ph type="sldImg" idx="2"/>
          </p:nvPr>
        </p:nvSpPr>
        <p:spPr>
          <a:xfrm>
            <a:off x="1236663" y="1143000"/>
            <a:ext cx="4384675"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86EE9E-3817-4644-8752-DBAA6FA3C802}" type="slidenum">
              <a:rPr lang="ru-RU" smtClean="0"/>
              <a:pPr/>
              <a:t>‹#›</a:t>
            </a:fld>
            <a:endParaRPr lang="ru-RU"/>
          </a:p>
        </p:txBody>
      </p:sp>
    </p:spTree>
    <p:extLst>
      <p:ext uri="{BB962C8B-B14F-4D97-AF65-F5344CB8AC3E}">
        <p14:creationId xmlns:p14="http://schemas.microsoft.com/office/powerpoint/2010/main" val="1928360652"/>
      </p:ext>
    </p:extLst>
  </p:cSld>
  <p:clrMap bg1="lt1" tx1="dk1" bg2="lt2" tx2="dk2" accent1="accent1" accent2="accent2" accent3="accent3" accent4="accent4" accent5="accent5" accent6="accent6" hlink="hlink" folHlink="folHlink"/>
  <p:notesStyle>
    <a:lvl1pPr marL="0" algn="l" defTabSz="1247333" rtl="0" eaLnBrk="1" latinLnBrk="0" hangingPunct="1">
      <a:defRPr sz="1600" kern="1200">
        <a:solidFill>
          <a:schemeClr val="tx1"/>
        </a:solidFill>
        <a:latin typeface="+mn-lt"/>
        <a:ea typeface="+mn-ea"/>
        <a:cs typeface="+mn-cs"/>
      </a:defRPr>
    </a:lvl1pPr>
    <a:lvl2pPr marL="623667" algn="l" defTabSz="1247333" rtl="0" eaLnBrk="1" latinLnBrk="0" hangingPunct="1">
      <a:defRPr sz="1600" kern="1200">
        <a:solidFill>
          <a:schemeClr val="tx1"/>
        </a:solidFill>
        <a:latin typeface="+mn-lt"/>
        <a:ea typeface="+mn-ea"/>
        <a:cs typeface="+mn-cs"/>
      </a:defRPr>
    </a:lvl2pPr>
    <a:lvl3pPr marL="1247333" algn="l" defTabSz="1247333" rtl="0" eaLnBrk="1" latinLnBrk="0" hangingPunct="1">
      <a:defRPr sz="1600" kern="1200">
        <a:solidFill>
          <a:schemeClr val="tx1"/>
        </a:solidFill>
        <a:latin typeface="+mn-lt"/>
        <a:ea typeface="+mn-ea"/>
        <a:cs typeface="+mn-cs"/>
      </a:defRPr>
    </a:lvl3pPr>
    <a:lvl4pPr marL="1871000" algn="l" defTabSz="1247333" rtl="0" eaLnBrk="1" latinLnBrk="0" hangingPunct="1">
      <a:defRPr sz="1600" kern="1200">
        <a:solidFill>
          <a:schemeClr val="tx1"/>
        </a:solidFill>
        <a:latin typeface="+mn-lt"/>
        <a:ea typeface="+mn-ea"/>
        <a:cs typeface="+mn-cs"/>
      </a:defRPr>
    </a:lvl4pPr>
    <a:lvl5pPr marL="2494666" algn="l" defTabSz="1247333" rtl="0" eaLnBrk="1" latinLnBrk="0" hangingPunct="1">
      <a:defRPr sz="1600" kern="1200">
        <a:solidFill>
          <a:schemeClr val="tx1"/>
        </a:solidFill>
        <a:latin typeface="+mn-lt"/>
        <a:ea typeface="+mn-ea"/>
        <a:cs typeface="+mn-cs"/>
      </a:defRPr>
    </a:lvl5pPr>
    <a:lvl6pPr marL="3118333" algn="l" defTabSz="1247333" rtl="0" eaLnBrk="1" latinLnBrk="0" hangingPunct="1">
      <a:defRPr sz="1600" kern="1200">
        <a:solidFill>
          <a:schemeClr val="tx1"/>
        </a:solidFill>
        <a:latin typeface="+mn-lt"/>
        <a:ea typeface="+mn-ea"/>
        <a:cs typeface="+mn-cs"/>
      </a:defRPr>
    </a:lvl6pPr>
    <a:lvl7pPr marL="3741999" algn="l" defTabSz="1247333" rtl="0" eaLnBrk="1" latinLnBrk="0" hangingPunct="1">
      <a:defRPr sz="1600" kern="1200">
        <a:solidFill>
          <a:schemeClr val="tx1"/>
        </a:solidFill>
        <a:latin typeface="+mn-lt"/>
        <a:ea typeface="+mn-ea"/>
        <a:cs typeface="+mn-cs"/>
      </a:defRPr>
    </a:lvl7pPr>
    <a:lvl8pPr marL="4365666" algn="l" defTabSz="1247333" rtl="0" eaLnBrk="1" latinLnBrk="0" hangingPunct="1">
      <a:defRPr sz="1600" kern="1200">
        <a:solidFill>
          <a:schemeClr val="tx1"/>
        </a:solidFill>
        <a:latin typeface="+mn-lt"/>
        <a:ea typeface="+mn-ea"/>
        <a:cs typeface="+mn-cs"/>
      </a:defRPr>
    </a:lvl8pPr>
    <a:lvl9pPr marL="4989332" algn="l" defTabSz="1247333"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236663" y="1143000"/>
            <a:ext cx="4384675" cy="30861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B86EE9E-3817-4644-8752-DBAA6FA3C802}" type="slidenum">
              <a:rPr lang="ru-RU" smtClean="0"/>
              <a:pPr/>
              <a:t>1</a:t>
            </a:fld>
            <a:endParaRPr lang="ru-RU"/>
          </a:p>
        </p:txBody>
      </p:sp>
    </p:spTree>
    <p:extLst>
      <p:ext uri="{BB962C8B-B14F-4D97-AF65-F5344CB8AC3E}">
        <p14:creationId xmlns:p14="http://schemas.microsoft.com/office/powerpoint/2010/main" val="2397767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400801" y="5894744"/>
            <a:ext cx="38404800" cy="12539874"/>
          </a:xfrm>
        </p:spPr>
        <p:txBody>
          <a:bodyPr anchor="b"/>
          <a:lstStyle>
            <a:lvl1pPr algn="ctr">
              <a:defRPr sz="24700"/>
            </a:lvl1pPr>
          </a:lstStyle>
          <a:p>
            <a:r>
              <a:rPr lang="ru-RU"/>
              <a:t>Образец заголовка</a:t>
            </a:r>
            <a:endParaRPr lang="en-US" dirty="0"/>
          </a:p>
        </p:txBody>
      </p:sp>
      <p:sp>
        <p:nvSpPr>
          <p:cNvPr id="3" name="Subtitle 2"/>
          <p:cNvSpPr>
            <a:spLocks noGrp="1"/>
          </p:cNvSpPr>
          <p:nvPr>
            <p:ph type="subTitle" idx="1"/>
          </p:nvPr>
        </p:nvSpPr>
        <p:spPr>
          <a:xfrm>
            <a:off x="6400801" y="18918204"/>
            <a:ext cx="38404800" cy="8696200"/>
          </a:xfrm>
        </p:spPr>
        <p:txBody>
          <a:bodyPr/>
          <a:lstStyle>
            <a:lvl1pPr marL="0" indent="0" algn="ctr">
              <a:buNone/>
              <a:defRPr sz="9900"/>
            </a:lvl1pPr>
            <a:lvl2pPr marL="1878359" indent="0" algn="ctr">
              <a:buNone/>
              <a:defRPr sz="8200"/>
            </a:lvl2pPr>
            <a:lvl3pPr marL="3756718" indent="0" algn="ctr">
              <a:buNone/>
              <a:defRPr sz="7400"/>
            </a:lvl3pPr>
            <a:lvl4pPr marL="5635077" indent="0" algn="ctr">
              <a:buNone/>
              <a:defRPr sz="6600"/>
            </a:lvl4pPr>
            <a:lvl5pPr marL="7513436" indent="0" algn="ctr">
              <a:buNone/>
              <a:defRPr sz="6600"/>
            </a:lvl5pPr>
            <a:lvl6pPr marL="9391794" indent="0" algn="ctr">
              <a:buNone/>
              <a:defRPr sz="6600"/>
            </a:lvl6pPr>
            <a:lvl7pPr marL="11270153" indent="0" algn="ctr">
              <a:buNone/>
              <a:defRPr sz="6600"/>
            </a:lvl7pPr>
            <a:lvl8pPr marL="13148512" indent="0" algn="ctr">
              <a:buNone/>
              <a:defRPr sz="6600"/>
            </a:lvl8pPr>
            <a:lvl9pPr marL="15026871" indent="0" algn="ctr">
              <a:buNone/>
              <a:defRPr sz="6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201854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813552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3493774" y="8979693"/>
            <a:ext cx="44165519" cy="14982813"/>
          </a:xfrm>
        </p:spPr>
        <p:txBody>
          <a:bodyPr anchor="b"/>
          <a:lstStyle>
            <a:lvl1pPr>
              <a:defRPr sz="24700"/>
            </a:lvl1pPr>
          </a:lstStyle>
          <a:p>
            <a:r>
              <a:rPr lang="ru-RU"/>
              <a:t>Образец заголовка</a:t>
            </a:r>
            <a:endParaRPr lang="en-US" dirty="0"/>
          </a:p>
        </p:txBody>
      </p:sp>
      <p:sp>
        <p:nvSpPr>
          <p:cNvPr id="3" name="Text Placeholder 2"/>
          <p:cNvSpPr>
            <a:spLocks noGrp="1"/>
          </p:cNvSpPr>
          <p:nvPr>
            <p:ph type="body" idx="1"/>
          </p:nvPr>
        </p:nvSpPr>
        <p:spPr>
          <a:xfrm>
            <a:off x="3493774" y="24104247"/>
            <a:ext cx="44165519" cy="7879108"/>
          </a:xfrm>
        </p:spPr>
        <p:txBody>
          <a:bodyPr/>
          <a:lstStyle>
            <a:lvl1pPr marL="0" indent="0">
              <a:buNone/>
              <a:defRPr sz="9900">
                <a:solidFill>
                  <a:schemeClr val="tx1">
                    <a:tint val="75000"/>
                  </a:schemeClr>
                </a:solidFill>
              </a:defRPr>
            </a:lvl1pPr>
            <a:lvl2pPr marL="1878359" indent="0">
              <a:buNone/>
              <a:defRPr sz="8200">
                <a:solidFill>
                  <a:schemeClr val="tx1">
                    <a:tint val="75000"/>
                  </a:schemeClr>
                </a:solidFill>
              </a:defRPr>
            </a:lvl2pPr>
            <a:lvl3pPr marL="3756718" indent="0">
              <a:buNone/>
              <a:defRPr sz="7400">
                <a:solidFill>
                  <a:schemeClr val="tx1">
                    <a:tint val="75000"/>
                  </a:schemeClr>
                </a:solidFill>
              </a:defRPr>
            </a:lvl3pPr>
            <a:lvl4pPr marL="5635077" indent="0">
              <a:buNone/>
              <a:defRPr sz="6600">
                <a:solidFill>
                  <a:schemeClr val="tx1">
                    <a:tint val="75000"/>
                  </a:schemeClr>
                </a:solidFill>
              </a:defRPr>
            </a:lvl4pPr>
            <a:lvl5pPr marL="7513436" indent="0">
              <a:buNone/>
              <a:defRPr sz="6600">
                <a:solidFill>
                  <a:schemeClr val="tx1">
                    <a:tint val="75000"/>
                  </a:schemeClr>
                </a:solidFill>
              </a:defRPr>
            </a:lvl5pPr>
            <a:lvl6pPr marL="9391794" indent="0">
              <a:buNone/>
              <a:defRPr sz="6600">
                <a:solidFill>
                  <a:schemeClr val="tx1">
                    <a:tint val="75000"/>
                  </a:schemeClr>
                </a:solidFill>
              </a:defRPr>
            </a:lvl6pPr>
            <a:lvl7pPr marL="11270153" indent="0">
              <a:buNone/>
              <a:defRPr sz="6600">
                <a:solidFill>
                  <a:schemeClr val="tx1">
                    <a:tint val="75000"/>
                  </a:schemeClr>
                </a:solidFill>
              </a:defRPr>
            </a:lvl7pPr>
            <a:lvl8pPr marL="13148512" indent="0">
              <a:buNone/>
              <a:defRPr sz="6600">
                <a:solidFill>
                  <a:schemeClr val="tx1">
                    <a:tint val="75000"/>
                  </a:schemeClr>
                </a:solidFill>
              </a:defRPr>
            </a:lvl8pPr>
            <a:lvl9pPr marL="15026871" indent="0">
              <a:buNone/>
              <a:defRPr sz="6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817244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3520442" y="9588334"/>
            <a:ext cx="21762720" cy="2285359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25923241" y="9588334"/>
            <a:ext cx="21762720" cy="2285359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635467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3527113" y="1917674"/>
            <a:ext cx="44165519" cy="696196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3527112" y="8829610"/>
            <a:ext cx="21662706" cy="4327254"/>
          </a:xfrm>
        </p:spPr>
        <p:txBody>
          <a:bodyPr anchor="b"/>
          <a:lstStyle>
            <a:lvl1pPr marL="0" indent="0">
              <a:buNone/>
              <a:defRPr sz="9900" b="1"/>
            </a:lvl1pPr>
            <a:lvl2pPr marL="1878359" indent="0">
              <a:buNone/>
              <a:defRPr sz="8200" b="1"/>
            </a:lvl2pPr>
            <a:lvl3pPr marL="3756718" indent="0">
              <a:buNone/>
              <a:defRPr sz="7400" b="1"/>
            </a:lvl3pPr>
            <a:lvl4pPr marL="5635077" indent="0">
              <a:buNone/>
              <a:defRPr sz="6600" b="1"/>
            </a:lvl4pPr>
            <a:lvl5pPr marL="7513436" indent="0">
              <a:buNone/>
              <a:defRPr sz="6600" b="1"/>
            </a:lvl5pPr>
            <a:lvl6pPr marL="9391794" indent="0">
              <a:buNone/>
              <a:defRPr sz="6600" b="1"/>
            </a:lvl6pPr>
            <a:lvl7pPr marL="11270153" indent="0">
              <a:buNone/>
              <a:defRPr sz="6600" b="1"/>
            </a:lvl7pPr>
            <a:lvl8pPr marL="13148512" indent="0">
              <a:buNone/>
              <a:defRPr sz="6600" b="1"/>
            </a:lvl8pPr>
            <a:lvl9pPr marL="15026871" indent="0">
              <a:buNone/>
              <a:defRPr sz="6600" b="1"/>
            </a:lvl9pPr>
          </a:lstStyle>
          <a:p>
            <a:pPr lvl="0"/>
            <a:r>
              <a:rPr lang="ru-RU"/>
              <a:t>Образец текста</a:t>
            </a:r>
          </a:p>
        </p:txBody>
      </p:sp>
      <p:sp>
        <p:nvSpPr>
          <p:cNvPr id="4" name="Content Placeholder 3"/>
          <p:cNvSpPr>
            <a:spLocks noGrp="1"/>
          </p:cNvSpPr>
          <p:nvPr>
            <p:ph sz="half" idx="2"/>
          </p:nvPr>
        </p:nvSpPr>
        <p:spPr>
          <a:xfrm>
            <a:off x="3527112" y="13156863"/>
            <a:ext cx="21662706" cy="1935176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25923240" y="8829610"/>
            <a:ext cx="21769390" cy="4327254"/>
          </a:xfrm>
        </p:spPr>
        <p:txBody>
          <a:bodyPr anchor="b"/>
          <a:lstStyle>
            <a:lvl1pPr marL="0" indent="0">
              <a:buNone/>
              <a:defRPr sz="9900" b="1"/>
            </a:lvl1pPr>
            <a:lvl2pPr marL="1878359" indent="0">
              <a:buNone/>
              <a:defRPr sz="8200" b="1"/>
            </a:lvl2pPr>
            <a:lvl3pPr marL="3756718" indent="0">
              <a:buNone/>
              <a:defRPr sz="7400" b="1"/>
            </a:lvl3pPr>
            <a:lvl4pPr marL="5635077" indent="0">
              <a:buNone/>
              <a:defRPr sz="6600" b="1"/>
            </a:lvl4pPr>
            <a:lvl5pPr marL="7513436" indent="0">
              <a:buNone/>
              <a:defRPr sz="6600" b="1"/>
            </a:lvl5pPr>
            <a:lvl6pPr marL="9391794" indent="0">
              <a:buNone/>
              <a:defRPr sz="6600" b="1"/>
            </a:lvl6pPr>
            <a:lvl7pPr marL="11270153" indent="0">
              <a:buNone/>
              <a:defRPr sz="6600" b="1"/>
            </a:lvl7pPr>
            <a:lvl8pPr marL="13148512" indent="0">
              <a:buNone/>
              <a:defRPr sz="6600" b="1"/>
            </a:lvl8pPr>
            <a:lvl9pPr marL="15026871" indent="0">
              <a:buNone/>
              <a:defRPr sz="6600" b="1"/>
            </a:lvl9pPr>
          </a:lstStyle>
          <a:p>
            <a:pPr lvl="0"/>
            <a:r>
              <a:rPr lang="ru-RU"/>
              <a:t>Образец текста</a:t>
            </a:r>
          </a:p>
        </p:txBody>
      </p:sp>
      <p:sp>
        <p:nvSpPr>
          <p:cNvPr id="6" name="Content Placeholder 5"/>
          <p:cNvSpPr>
            <a:spLocks noGrp="1"/>
          </p:cNvSpPr>
          <p:nvPr>
            <p:ph sz="quarter" idx="4"/>
          </p:nvPr>
        </p:nvSpPr>
        <p:spPr>
          <a:xfrm>
            <a:off x="25923240" y="13156863"/>
            <a:ext cx="21769390" cy="1935176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3995563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82748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229108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3527116" y="2401252"/>
            <a:ext cx="16515395" cy="8404384"/>
          </a:xfrm>
        </p:spPr>
        <p:txBody>
          <a:bodyPr anchor="b"/>
          <a:lstStyle>
            <a:lvl1pPr>
              <a:defRPr sz="13100"/>
            </a:lvl1pPr>
          </a:lstStyle>
          <a:p>
            <a:r>
              <a:rPr lang="ru-RU"/>
              <a:t>Образец заголовка</a:t>
            </a:r>
            <a:endParaRPr lang="en-US" dirty="0"/>
          </a:p>
        </p:txBody>
      </p:sp>
      <p:sp>
        <p:nvSpPr>
          <p:cNvPr id="3" name="Content Placeholder 2"/>
          <p:cNvSpPr>
            <a:spLocks noGrp="1"/>
          </p:cNvSpPr>
          <p:nvPr>
            <p:ph idx="1"/>
          </p:nvPr>
        </p:nvSpPr>
        <p:spPr>
          <a:xfrm>
            <a:off x="21769390" y="5186042"/>
            <a:ext cx="25923240" cy="25596684"/>
          </a:xfrm>
        </p:spPr>
        <p:txBody>
          <a:bodyPr/>
          <a:lstStyle>
            <a:lvl1pPr>
              <a:defRPr sz="13100"/>
            </a:lvl1pPr>
            <a:lvl2pPr>
              <a:defRPr sz="11500"/>
            </a:lvl2pPr>
            <a:lvl3pPr>
              <a:defRPr sz="9900"/>
            </a:lvl3pPr>
            <a:lvl4pPr>
              <a:defRPr sz="8200"/>
            </a:lvl4pPr>
            <a:lvl5pPr>
              <a:defRPr sz="8200"/>
            </a:lvl5pPr>
            <a:lvl6pPr>
              <a:defRPr sz="8200"/>
            </a:lvl6pPr>
            <a:lvl7pPr>
              <a:defRPr sz="8200"/>
            </a:lvl7pPr>
            <a:lvl8pPr>
              <a:defRPr sz="8200"/>
            </a:lvl8pPr>
            <a:lvl9pPr>
              <a:defRPr sz="8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3527116" y="10805639"/>
            <a:ext cx="16515395" cy="20018778"/>
          </a:xfrm>
        </p:spPr>
        <p:txBody>
          <a:bodyPr/>
          <a:lstStyle>
            <a:lvl1pPr marL="0" indent="0">
              <a:buNone/>
              <a:defRPr sz="6600"/>
            </a:lvl1pPr>
            <a:lvl2pPr marL="1878359" indent="0">
              <a:buNone/>
              <a:defRPr sz="5800"/>
            </a:lvl2pPr>
            <a:lvl3pPr marL="3756718" indent="0">
              <a:buNone/>
              <a:defRPr sz="4900"/>
            </a:lvl3pPr>
            <a:lvl4pPr marL="5635077" indent="0">
              <a:buNone/>
              <a:defRPr sz="4100"/>
            </a:lvl4pPr>
            <a:lvl5pPr marL="7513436" indent="0">
              <a:buNone/>
              <a:defRPr sz="4100"/>
            </a:lvl5pPr>
            <a:lvl6pPr marL="9391794" indent="0">
              <a:buNone/>
              <a:defRPr sz="4100"/>
            </a:lvl6pPr>
            <a:lvl7pPr marL="11270153" indent="0">
              <a:buNone/>
              <a:defRPr sz="4100"/>
            </a:lvl7pPr>
            <a:lvl8pPr marL="13148512" indent="0">
              <a:buNone/>
              <a:defRPr sz="4100"/>
            </a:lvl8pPr>
            <a:lvl9pPr marL="15026871" indent="0">
              <a:buNone/>
              <a:defRPr sz="4100"/>
            </a:lvl9pPr>
          </a:lstStyle>
          <a:p>
            <a:pPr lvl="0"/>
            <a:r>
              <a:rPr lang="ru-RU"/>
              <a:t>Образец текста</a:t>
            </a:r>
          </a:p>
        </p:txBody>
      </p:sp>
      <p:sp>
        <p:nvSpPr>
          <p:cNvPr id="5" name="Date Placeholder 4"/>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336945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3527116" y="2401252"/>
            <a:ext cx="16515395" cy="8404384"/>
          </a:xfrm>
        </p:spPr>
        <p:txBody>
          <a:bodyPr anchor="b"/>
          <a:lstStyle>
            <a:lvl1pPr>
              <a:defRPr sz="131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21769390" y="5186042"/>
            <a:ext cx="25923240" cy="25596684"/>
          </a:xfrm>
        </p:spPr>
        <p:txBody>
          <a:bodyPr anchor="t"/>
          <a:lstStyle>
            <a:lvl1pPr marL="0" indent="0">
              <a:buNone/>
              <a:defRPr sz="13100"/>
            </a:lvl1pPr>
            <a:lvl2pPr marL="1878359" indent="0">
              <a:buNone/>
              <a:defRPr sz="11500"/>
            </a:lvl2pPr>
            <a:lvl3pPr marL="3756718" indent="0">
              <a:buNone/>
              <a:defRPr sz="9900"/>
            </a:lvl3pPr>
            <a:lvl4pPr marL="5635077" indent="0">
              <a:buNone/>
              <a:defRPr sz="8200"/>
            </a:lvl4pPr>
            <a:lvl5pPr marL="7513436" indent="0">
              <a:buNone/>
              <a:defRPr sz="8200"/>
            </a:lvl5pPr>
            <a:lvl6pPr marL="9391794" indent="0">
              <a:buNone/>
              <a:defRPr sz="8200"/>
            </a:lvl6pPr>
            <a:lvl7pPr marL="11270153" indent="0">
              <a:buNone/>
              <a:defRPr sz="8200"/>
            </a:lvl7pPr>
            <a:lvl8pPr marL="13148512" indent="0">
              <a:buNone/>
              <a:defRPr sz="8200"/>
            </a:lvl8pPr>
            <a:lvl9pPr marL="15026871" indent="0">
              <a:buNone/>
              <a:defRPr sz="8200"/>
            </a:lvl9pPr>
          </a:lstStyle>
          <a:p>
            <a:r>
              <a:rPr lang="ru-RU"/>
              <a:t>Вставка рисунка</a:t>
            </a:r>
            <a:endParaRPr lang="en-US" dirty="0"/>
          </a:p>
        </p:txBody>
      </p:sp>
      <p:sp>
        <p:nvSpPr>
          <p:cNvPr id="4" name="Text Placeholder 3"/>
          <p:cNvSpPr>
            <a:spLocks noGrp="1"/>
          </p:cNvSpPr>
          <p:nvPr>
            <p:ph type="body" sz="half" idx="2"/>
          </p:nvPr>
        </p:nvSpPr>
        <p:spPr>
          <a:xfrm>
            <a:off x="3527116" y="10805639"/>
            <a:ext cx="16515395" cy="20018778"/>
          </a:xfrm>
        </p:spPr>
        <p:txBody>
          <a:bodyPr/>
          <a:lstStyle>
            <a:lvl1pPr marL="0" indent="0">
              <a:buNone/>
              <a:defRPr sz="6600"/>
            </a:lvl1pPr>
            <a:lvl2pPr marL="1878359" indent="0">
              <a:buNone/>
              <a:defRPr sz="5800"/>
            </a:lvl2pPr>
            <a:lvl3pPr marL="3756718" indent="0">
              <a:buNone/>
              <a:defRPr sz="4900"/>
            </a:lvl3pPr>
            <a:lvl4pPr marL="5635077" indent="0">
              <a:buNone/>
              <a:defRPr sz="4100"/>
            </a:lvl4pPr>
            <a:lvl5pPr marL="7513436" indent="0">
              <a:buNone/>
              <a:defRPr sz="4100"/>
            </a:lvl5pPr>
            <a:lvl6pPr marL="9391794" indent="0">
              <a:buNone/>
              <a:defRPr sz="4100"/>
            </a:lvl6pPr>
            <a:lvl7pPr marL="11270153" indent="0">
              <a:buNone/>
              <a:defRPr sz="4100"/>
            </a:lvl7pPr>
            <a:lvl8pPr marL="13148512" indent="0">
              <a:buNone/>
              <a:defRPr sz="4100"/>
            </a:lvl8pPr>
            <a:lvl9pPr marL="15026871" indent="0">
              <a:buNone/>
              <a:defRPr sz="4100"/>
            </a:lvl9pPr>
          </a:lstStyle>
          <a:p>
            <a:pPr lvl="0"/>
            <a:r>
              <a:rPr lang="ru-RU"/>
              <a:t>Образец текста</a:t>
            </a:r>
          </a:p>
        </p:txBody>
      </p:sp>
      <p:sp>
        <p:nvSpPr>
          <p:cNvPr id="5" name="Date Placeholder 4"/>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74207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2587197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644580" y="1917668"/>
            <a:ext cx="11041380" cy="3052425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3520443" y="1917668"/>
            <a:ext cx="32484061" cy="3052425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2729497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20444" y="1917674"/>
            <a:ext cx="44165519" cy="6961967"/>
          </a:xfrm>
          <a:prstGeom prst="rect">
            <a:avLst/>
          </a:prstGeom>
        </p:spPr>
        <p:txBody>
          <a:bodyPr vert="horz" lIns="124733" tIns="62367" rIns="124733" bIns="62367"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3520444" y="9588334"/>
            <a:ext cx="44165519" cy="22853590"/>
          </a:xfrm>
          <a:prstGeom prst="rect">
            <a:avLst/>
          </a:prstGeom>
        </p:spPr>
        <p:txBody>
          <a:bodyPr vert="horz" lIns="124733" tIns="62367" rIns="124733" bIns="62367"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3520442" y="33384083"/>
            <a:ext cx="11521440" cy="1917666"/>
          </a:xfrm>
          <a:prstGeom prst="rect">
            <a:avLst/>
          </a:prstGeom>
        </p:spPr>
        <p:txBody>
          <a:bodyPr vert="horz" lIns="124733" tIns="62367" rIns="124733" bIns="62367" rtlCol="0" anchor="ctr"/>
          <a:lstStyle>
            <a:lvl1pPr algn="l">
              <a:defRPr sz="4900">
                <a:solidFill>
                  <a:schemeClr val="tx1">
                    <a:tint val="75000"/>
                  </a:schemeClr>
                </a:solidFill>
              </a:defRPr>
            </a:lvl1pPr>
          </a:lstStyle>
          <a:p>
            <a:fld id="{85A5DE44-605B-4D3B-B2B7-94543DF81A36}" type="datetimeFigureOut">
              <a:rPr lang="ru-RU" smtClean="0"/>
              <a:pPr/>
              <a:t>05.05.2026</a:t>
            </a:fld>
            <a:endParaRPr lang="ru-RU"/>
          </a:p>
        </p:txBody>
      </p:sp>
      <p:sp>
        <p:nvSpPr>
          <p:cNvPr id="5" name="Footer Placeholder 4"/>
          <p:cNvSpPr>
            <a:spLocks noGrp="1"/>
          </p:cNvSpPr>
          <p:nvPr>
            <p:ph type="ftr" sz="quarter" idx="3"/>
          </p:nvPr>
        </p:nvSpPr>
        <p:spPr>
          <a:xfrm>
            <a:off x="16962125" y="33384083"/>
            <a:ext cx="17282159" cy="1917666"/>
          </a:xfrm>
          <a:prstGeom prst="rect">
            <a:avLst/>
          </a:prstGeom>
        </p:spPr>
        <p:txBody>
          <a:bodyPr vert="horz" lIns="124733" tIns="62367" rIns="124733" bIns="62367" rtlCol="0" anchor="ctr"/>
          <a:lstStyle>
            <a:lvl1pPr algn="ctr">
              <a:defRPr sz="49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36164520" y="33384083"/>
            <a:ext cx="11521440" cy="1917666"/>
          </a:xfrm>
          <a:prstGeom prst="rect">
            <a:avLst/>
          </a:prstGeom>
        </p:spPr>
        <p:txBody>
          <a:bodyPr vert="horz" lIns="124733" tIns="62367" rIns="124733" bIns="62367" rtlCol="0" anchor="ctr"/>
          <a:lstStyle>
            <a:lvl1pPr algn="r">
              <a:defRPr sz="4900">
                <a:solidFill>
                  <a:schemeClr val="tx1">
                    <a:tint val="75000"/>
                  </a:schemeClr>
                </a:solidFill>
              </a:defRPr>
            </a:lvl1pPr>
          </a:lstStyle>
          <a:p>
            <a:fld id="{84F3E878-C7D4-455C-B7B2-78E3A4BD70DA}" type="slidenum">
              <a:rPr lang="ru-RU" smtClean="0"/>
              <a:pPr/>
              <a:t>‹#›</a:t>
            </a:fld>
            <a:endParaRPr lang="ru-RU"/>
          </a:p>
        </p:txBody>
      </p:sp>
    </p:spTree>
    <p:extLst>
      <p:ext uri="{BB962C8B-B14F-4D97-AF65-F5344CB8AC3E}">
        <p14:creationId xmlns:p14="http://schemas.microsoft.com/office/powerpoint/2010/main" val="174410556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3756718" rtl="0" eaLnBrk="1" latinLnBrk="0" hangingPunct="1">
        <a:lnSpc>
          <a:spcPct val="90000"/>
        </a:lnSpc>
        <a:spcBef>
          <a:spcPct val="0"/>
        </a:spcBef>
        <a:buNone/>
        <a:defRPr sz="18100" kern="1200">
          <a:solidFill>
            <a:schemeClr val="tx1"/>
          </a:solidFill>
          <a:latin typeface="+mj-lt"/>
          <a:ea typeface="+mj-ea"/>
          <a:cs typeface="+mj-cs"/>
        </a:defRPr>
      </a:lvl1pPr>
    </p:titleStyle>
    <p:bodyStyle>
      <a:lvl1pPr marL="939179" indent="-939179" algn="l" defTabSz="3756718" rtl="0" eaLnBrk="1" latinLnBrk="0" hangingPunct="1">
        <a:lnSpc>
          <a:spcPct val="90000"/>
        </a:lnSpc>
        <a:spcBef>
          <a:spcPts val="4109"/>
        </a:spcBef>
        <a:buFont typeface="Arial" panose="020B0604020202020204" pitchFamily="34" charset="0"/>
        <a:buChar char="•"/>
        <a:defRPr sz="11500" kern="1200">
          <a:solidFill>
            <a:schemeClr val="tx1"/>
          </a:solidFill>
          <a:latin typeface="+mn-lt"/>
          <a:ea typeface="+mn-ea"/>
          <a:cs typeface="+mn-cs"/>
        </a:defRPr>
      </a:lvl1pPr>
      <a:lvl2pPr marL="2817538" indent="-939179" algn="l" defTabSz="3756718" rtl="0" eaLnBrk="1" latinLnBrk="0" hangingPunct="1">
        <a:lnSpc>
          <a:spcPct val="90000"/>
        </a:lnSpc>
        <a:spcBef>
          <a:spcPts val="2054"/>
        </a:spcBef>
        <a:buFont typeface="Arial" panose="020B0604020202020204" pitchFamily="34" charset="0"/>
        <a:buChar char="•"/>
        <a:defRPr sz="9900" kern="1200">
          <a:solidFill>
            <a:schemeClr val="tx1"/>
          </a:solidFill>
          <a:latin typeface="+mn-lt"/>
          <a:ea typeface="+mn-ea"/>
          <a:cs typeface="+mn-cs"/>
        </a:defRPr>
      </a:lvl2pPr>
      <a:lvl3pPr marL="4695897" indent="-939179" algn="l" defTabSz="3756718" rtl="0" eaLnBrk="1" latinLnBrk="0" hangingPunct="1">
        <a:lnSpc>
          <a:spcPct val="90000"/>
        </a:lnSpc>
        <a:spcBef>
          <a:spcPts val="2054"/>
        </a:spcBef>
        <a:buFont typeface="Arial" panose="020B0604020202020204" pitchFamily="34" charset="0"/>
        <a:buChar char="•"/>
        <a:defRPr sz="8200" kern="1200">
          <a:solidFill>
            <a:schemeClr val="tx1"/>
          </a:solidFill>
          <a:latin typeface="+mn-lt"/>
          <a:ea typeface="+mn-ea"/>
          <a:cs typeface="+mn-cs"/>
        </a:defRPr>
      </a:lvl3pPr>
      <a:lvl4pPr marL="6574255"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4pPr>
      <a:lvl5pPr marL="8452614"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5pPr>
      <a:lvl6pPr marL="10330973"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6pPr>
      <a:lvl7pPr marL="12209332"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7pPr>
      <a:lvl8pPr marL="14087691"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8pPr>
      <a:lvl9pPr marL="15966050"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9pPr>
    </p:bodyStyle>
    <p:otherStyle>
      <a:defPPr>
        <a:defRPr lang="en-US"/>
      </a:defPPr>
      <a:lvl1pPr marL="0" algn="l" defTabSz="3756718" rtl="0" eaLnBrk="1" latinLnBrk="0" hangingPunct="1">
        <a:defRPr sz="7400" kern="1200">
          <a:solidFill>
            <a:schemeClr val="tx1"/>
          </a:solidFill>
          <a:latin typeface="+mn-lt"/>
          <a:ea typeface="+mn-ea"/>
          <a:cs typeface="+mn-cs"/>
        </a:defRPr>
      </a:lvl1pPr>
      <a:lvl2pPr marL="1878359" algn="l" defTabSz="3756718" rtl="0" eaLnBrk="1" latinLnBrk="0" hangingPunct="1">
        <a:defRPr sz="7400" kern="1200">
          <a:solidFill>
            <a:schemeClr val="tx1"/>
          </a:solidFill>
          <a:latin typeface="+mn-lt"/>
          <a:ea typeface="+mn-ea"/>
          <a:cs typeface="+mn-cs"/>
        </a:defRPr>
      </a:lvl2pPr>
      <a:lvl3pPr marL="3756718" algn="l" defTabSz="3756718" rtl="0" eaLnBrk="1" latinLnBrk="0" hangingPunct="1">
        <a:defRPr sz="7400" kern="1200">
          <a:solidFill>
            <a:schemeClr val="tx1"/>
          </a:solidFill>
          <a:latin typeface="+mn-lt"/>
          <a:ea typeface="+mn-ea"/>
          <a:cs typeface="+mn-cs"/>
        </a:defRPr>
      </a:lvl3pPr>
      <a:lvl4pPr marL="5635077" algn="l" defTabSz="3756718" rtl="0" eaLnBrk="1" latinLnBrk="0" hangingPunct="1">
        <a:defRPr sz="7400" kern="1200">
          <a:solidFill>
            <a:schemeClr val="tx1"/>
          </a:solidFill>
          <a:latin typeface="+mn-lt"/>
          <a:ea typeface="+mn-ea"/>
          <a:cs typeface="+mn-cs"/>
        </a:defRPr>
      </a:lvl4pPr>
      <a:lvl5pPr marL="7513436" algn="l" defTabSz="3756718" rtl="0" eaLnBrk="1" latinLnBrk="0" hangingPunct="1">
        <a:defRPr sz="7400" kern="1200">
          <a:solidFill>
            <a:schemeClr val="tx1"/>
          </a:solidFill>
          <a:latin typeface="+mn-lt"/>
          <a:ea typeface="+mn-ea"/>
          <a:cs typeface="+mn-cs"/>
        </a:defRPr>
      </a:lvl5pPr>
      <a:lvl6pPr marL="9391794" algn="l" defTabSz="3756718" rtl="0" eaLnBrk="1" latinLnBrk="0" hangingPunct="1">
        <a:defRPr sz="7400" kern="1200">
          <a:solidFill>
            <a:schemeClr val="tx1"/>
          </a:solidFill>
          <a:latin typeface="+mn-lt"/>
          <a:ea typeface="+mn-ea"/>
          <a:cs typeface="+mn-cs"/>
        </a:defRPr>
      </a:lvl6pPr>
      <a:lvl7pPr marL="11270153" algn="l" defTabSz="3756718" rtl="0" eaLnBrk="1" latinLnBrk="0" hangingPunct="1">
        <a:defRPr sz="7400" kern="1200">
          <a:solidFill>
            <a:schemeClr val="tx1"/>
          </a:solidFill>
          <a:latin typeface="+mn-lt"/>
          <a:ea typeface="+mn-ea"/>
          <a:cs typeface="+mn-cs"/>
        </a:defRPr>
      </a:lvl7pPr>
      <a:lvl8pPr marL="13148512" algn="l" defTabSz="3756718" rtl="0" eaLnBrk="1" latinLnBrk="0" hangingPunct="1">
        <a:defRPr sz="7400" kern="1200">
          <a:solidFill>
            <a:schemeClr val="tx1"/>
          </a:solidFill>
          <a:latin typeface="+mn-lt"/>
          <a:ea typeface="+mn-ea"/>
          <a:cs typeface="+mn-cs"/>
        </a:defRPr>
      </a:lvl8pPr>
      <a:lvl9pPr marL="15026871" algn="l" defTabSz="3756718" rtl="0" eaLnBrk="1" latinLnBrk="0" hangingPunct="1">
        <a:defRPr sz="7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 name="Прямоугольник 614"/>
          <p:cNvSpPr/>
          <p:nvPr/>
        </p:nvSpPr>
        <p:spPr>
          <a:xfrm>
            <a:off x="555905" y="229384"/>
            <a:ext cx="971265" cy="675564"/>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3600" b="1" dirty="0"/>
              <a:t>340</a:t>
            </a:r>
          </a:p>
        </p:txBody>
      </p:sp>
      <p:sp>
        <p:nvSpPr>
          <p:cNvPr id="777" name="Прямоугольник 776"/>
          <p:cNvSpPr/>
          <p:nvPr/>
        </p:nvSpPr>
        <p:spPr>
          <a:xfrm>
            <a:off x="5498918" y="297166"/>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НД «нехватка школ», в 1930 80000к детей не училось в школах</a:t>
            </a:r>
          </a:p>
        </p:txBody>
      </p:sp>
      <p:sp>
        <p:nvSpPr>
          <p:cNvPr id="105" name="Прямоугольник 104"/>
          <p:cNvSpPr/>
          <p:nvPr/>
        </p:nvSpPr>
        <p:spPr>
          <a:xfrm>
            <a:off x="20773297" y="8271754"/>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Реставрация монархии</a:t>
            </a:r>
            <a:endParaRPr lang="ru-RU" sz="700" dirty="0">
              <a:solidFill>
                <a:srgbClr val="FF0000"/>
              </a:solidFill>
            </a:endParaRPr>
          </a:p>
        </p:txBody>
      </p:sp>
      <p:sp>
        <p:nvSpPr>
          <p:cNvPr id="106" name="Прямоугольник 105"/>
          <p:cNvSpPr/>
          <p:nvPr/>
        </p:nvSpPr>
        <p:spPr>
          <a:xfrm>
            <a:off x="20773297" y="6716647"/>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Восстание под королевским флагом</a:t>
            </a:r>
          </a:p>
        </p:txBody>
      </p:sp>
      <p:sp>
        <p:nvSpPr>
          <p:cNvPr id="107" name="Прямоугольник 106"/>
          <p:cNvSpPr/>
          <p:nvPr/>
        </p:nvSpPr>
        <p:spPr>
          <a:xfrm>
            <a:off x="17128994" y="9017243"/>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Карлос </a:t>
            </a:r>
            <a:r>
              <a:rPr lang="en-US" sz="700" dirty="0"/>
              <a:t>VIII</a:t>
            </a:r>
            <a:r>
              <a:rPr lang="ru-RU" sz="700" dirty="0"/>
              <a:t> (Карл </a:t>
            </a:r>
            <a:r>
              <a:rPr lang="ru-RU" sz="700" dirty="0" err="1"/>
              <a:t>Пио</a:t>
            </a:r>
            <a:r>
              <a:rPr lang="ru-RU" sz="700" dirty="0"/>
              <a:t> Габсбург-</a:t>
            </a:r>
            <a:r>
              <a:rPr lang="ru-RU" sz="700" dirty="0" err="1"/>
              <a:t>Бурбонский</a:t>
            </a:r>
            <a:r>
              <a:rPr lang="ru-RU" sz="700" dirty="0"/>
              <a:t>)</a:t>
            </a:r>
          </a:p>
        </p:txBody>
      </p:sp>
      <p:sp>
        <p:nvSpPr>
          <p:cNvPr id="108" name="Прямоугольник 107"/>
          <p:cNvSpPr/>
          <p:nvPr/>
        </p:nvSpPr>
        <p:spPr>
          <a:xfrm>
            <a:off x="19243882" y="9017243"/>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Хавьер</a:t>
            </a:r>
            <a:r>
              <a:rPr lang="en-US" sz="700" dirty="0"/>
              <a:t> I</a:t>
            </a:r>
            <a:r>
              <a:rPr lang="ru-RU" sz="700" dirty="0"/>
              <a:t> (Хавьер де Бурбон-Парма)</a:t>
            </a:r>
          </a:p>
        </p:txBody>
      </p:sp>
      <p:sp>
        <p:nvSpPr>
          <p:cNvPr id="109" name="Прямоугольник 108"/>
          <p:cNvSpPr/>
          <p:nvPr/>
        </p:nvSpPr>
        <p:spPr>
          <a:xfrm>
            <a:off x="22428585" y="9017243"/>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Хуан </a:t>
            </a:r>
            <a:r>
              <a:rPr lang="en-US" sz="700" dirty="0"/>
              <a:t>III</a:t>
            </a:r>
            <a:endParaRPr lang="ru-RU" sz="700" dirty="0"/>
          </a:p>
        </p:txBody>
      </p:sp>
      <p:sp>
        <p:nvSpPr>
          <p:cNvPr id="110" name="Прямоугольник 109"/>
          <p:cNvSpPr/>
          <p:nvPr/>
        </p:nvSpPr>
        <p:spPr>
          <a:xfrm>
            <a:off x="24675676" y="9017243"/>
            <a:ext cx="926325" cy="540000"/>
          </a:xfrm>
          <a:prstGeom prst="rect">
            <a:avLst/>
          </a:prstGeom>
          <a:solidFill>
            <a:srgbClr val="7030A0"/>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Альфонс </a:t>
            </a:r>
            <a:r>
              <a:rPr lang="en-US" sz="700" dirty="0"/>
              <a:t>XIII</a:t>
            </a:r>
            <a:endParaRPr lang="ru-RU" sz="700" dirty="0"/>
          </a:p>
        </p:txBody>
      </p:sp>
      <p:sp>
        <p:nvSpPr>
          <p:cNvPr id="111" name="Прямоугольник 110"/>
          <p:cNvSpPr/>
          <p:nvPr/>
        </p:nvSpPr>
        <p:spPr>
          <a:xfrm>
            <a:off x="24675675" y="7485552"/>
            <a:ext cx="926325" cy="540000"/>
          </a:xfrm>
          <a:prstGeom prst="rect">
            <a:avLst/>
          </a:prstGeom>
          <a:solidFill>
            <a:srgbClr val="7030A0"/>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700" dirty="0" err="1"/>
              <a:t>Renovación</a:t>
            </a:r>
            <a:r>
              <a:rPr lang="en-US" sz="700" dirty="0"/>
              <a:t> </a:t>
            </a:r>
            <a:r>
              <a:rPr lang="en-US" sz="700" dirty="0" err="1"/>
              <a:t>Española</a:t>
            </a:r>
            <a:endParaRPr lang="ru-RU" sz="700" dirty="0"/>
          </a:p>
        </p:txBody>
      </p:sp>
      <p:sp>
        <p:nvSpPr>
          <p:cNvPr id="112" name="Прямоугольник 111"/>
          <p:cNvSpPr/>
          <p:nvPr/>
        </p:nvSpPr>
        <p:spPr>
          <a:xfrm>
            <a:off x="22428585" y="7484997"/>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Национальный блок</a:t>
            </a:r>
            <a:endParaRPr lang="ru-RU" sz="300" dirty="0"/>
          </a:p>
        </p:txBody>
      </p:sp>
      <p:sp>
        <p:nvSpPr>
          <p:cNvPr id="120" name="Прямоугольник 119"/>
          <p:cNvSpPr/>
          <p:nvPr/>
        </p:nvSpPr>
        <p:spPr>
          <a:xfrm>
            <a:off x="17128994" y="7484997"/>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Испанские крестоносцы</a:t>
            </a:r>
          </a:p>
        </p:txBody>
      </p:sp>
      <p:sp>
        <p:nvSpPr>
          <p:cNvPr id="121" name="Прямоугольник 120"/>
          <p:cNvSpPr/>
          <p:nvPr/>
        </p:nvSpPr>
        <p:spPr>
          <a:xfrm>
            <a:off x="19243882" y="7484997"/>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Традиционалисты</a:t>
            </a:r>
          </a:p>
        </p:txBody>
      </p:sp>
      <p:cxnSp>
        <p:nvCxnSpPr>
          <p:cNvPr id="134" name="Прямая соединительная линия 133"/>
          <p:cNvCxnSpPr>
            <a:stCxn id="121" idx="3"/>
            <a:endCxn id="112" idx="1"/>
          </p:cNvCxnSpPr>
          <p:nvPr/>
        </p:nvCxnSpPr>
        <p:spPr>
          <a:xfrm>
            <a:off x="20170207" y="7754997"/>
            <a:ext cx="225837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0" name="Прямая со стрелкой 139"/>
          <p:cNvCxnSpPr>
            <a:stCxn id="120" idx="2"/>
            <a:endCxn id="107" idx="0"/>
          </p:cNvCxnSpPr>
          <p:nvPr/>
        </p:nvCxnSpPr>
        <p:spPr>
          <a:xfrm>
            <a:off x="17592157" y="8024997"/>
            <a:ext cx="0" cy="99224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43" name="Прямая со стрелкой 142"/>
          <p:cNvCxnSpPr>
            <a:stCxn id="121" idx="2"/>
            <a:endCxn id="108" idx="0"/>
          </p:cNvCxnSpPr>
          <p:nvPr/>
        </p:nvCxnSpPr>
        <p:spPr>
          <a:xfrm>
            <a:off x="19707045" y="8024997"/>
            <a:ext cx="0" cy="99224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46" name="Прямая со стрелкой 145"/>
          <p:cNvCxnSpPr>
            <a:stCxn id="112" idx="2"/>
            <a:endCxn id="109" idx="0"/>
          </p:cNvCxnSpPr>
          <p:nvPr/>
        </p:nvCxnSpPr>
        <p:spPr>
          <a:xfrm>
            <a:off x="22891748" y="8024997"/>
            <a:ext cx="0" cy="99224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49" name="Прямая со стрелкой 148"/>
          <p:cNvCxnSpPr>
            <a:stCxn id="111" idx="2"/>
            <a:endCxn id="110" idx="0"/>
          </p:cNvCxnSpPr>
          <p:nvPr/>
        </p:nvCxnSpPr>
        <p:spPr>
          <a:xfrm>
            <a:off x="25138838" y="8025552"/>
            <a:ext cx="1" cy="99169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52" name="Прямая со стрелкой 151"/>
          <p:cNvCxnSpPr>
            <a:stCxn id="106" idx="2"/>
            <a:endCxn id="105" idx="0"/>
          </p:cNvCxnSpPr>
          <p:nvPr/>
        </p:nvCxnSpPr>
        <p:spPr>
          <a:xfrm>
            <a:off x="21236460" y="7256647"/>
            <a:ext cx="0" cy="1015107"/>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58" name="Соединительная линия уступом 157"/>
          <p:cNvCxnSpPr>
            <a:stCxn id="105" idx="2"/>
            <a:endCxn id="107" idx="0"/>
          </p:cNvCxnSpPr>
          <p:nvPr/>
        </p:nvCxnSpPr>
        <p:spPr>
          <a:xfrm rot="5400000">
            <a:off x="19311565" y="7092347"/>
            <a:ext cx="205489" cy="364430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62" name="Соединительная линия уступом 161"/>
          <p:cNvCxnSpPr>
            <a:stCxn id="105" idx="2"/>
            <a:endCxn id="110" idx="0"/>
          </p:cNvCxnSpPr>
          <p:nvPr/>
        </p:nvCxnSpPr>
        <p:spPr>
          <a:xfrm rot="16200000" flipH="1">
            <a:off x="23084905" y="6963308"/>
            <a:ext cx="205489" cy="390237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65" name="Соединительная линия уступом 164"/>
          <p:cNvCxnSpPr>
            <a:stCxn id="105" idx="2"/>
            <a:endCxn id="108" idx="0"/>
          </p:cNvCxnSpPr>
          <p:nvPr/>
        </p:nvCxnSpPr>
        <p:spPr>
          <a:xfrm rot="5400000">
            <a:off x="20369009" y="8149791"/>
            <a:ext cx="205489" cy="152941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68" name="Соединительная линия уступом 167"/>
          <p:cNvCxnSpPr>
            <a:stCxn id="105" idx="2"/>
            <a:endCxn id="109" idx="0"/>
          </p:cNvCxnSpPr>
          <p:nvPr/>
        </p:nvCxnSpPr>
        <p:spPr>
          <a:xfrm rot="16200000" flipH="1">
            <a:off x="21961360" y="8086854"/>
            <a:ext cx="205489" cy="165528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71" name="Соединительная линия уступом 170"/>
          <p:cNvCxnSpPr>
            <a:stCxn id="106" idx="2"/>
            <a:endCxn id="120" idx="0"/>
          </p:cNvCxnSpPr>
          <p:nvPr/>
        </p:nvCxnSpPr>
        <p:spPr>
          <a:xfrm rot="5400000">
            <a:off x="19300134" y="5548671"/>
            <a:ext cx="228350" cy="364430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74" name="Соединительная линия уступом 173"/>
          <p:cNvCxnSpPr>
            <a:stCxn id="106" idx="2"/>
            <a:endCxn id="112" idx="0"/>
          </p:cNvCxnSpPr>
          <p:nvPr/>
        </p:nvCxnSpPr>
        <p:spPr>
          <a:xfrm rot="16200000" flipH="1">
            <a:off x="21949929" y="6543178"/>
            <a:ext cx="228350" cy="165528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80" name="Соединительная линия уступом 179"/>
          <p:cNvCxnSpPr>
            <a:stCxn id="106" idx="2"/>
            <a:endCxn id="121" idx="0"/>
          </p:cNvCxnSpPr>
          <p:nvPr/>
        </p:nvCxnSpPr>
        <p:spPr>
          <a:xfrm rot="5400000">
            <a:off x="20357578" y="6606115"/>
            <a:ext cx="228350" cy="152941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9" name="Прямоугольник 78"/>
          <p:cNvSpPr/>
          <p:nvPr/>
        </p:nvSpPr>
        <p:spPr>
          <a:xfrm>
            <a:off x="17674919" y="8266034"/>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Женские секции «Маргариток»</a:t>
            </a:r>
            <a:endParaRPr lang="ru-RU" sz="200" dirty="0"/>
          </a:p>
        </p:txBody>
      </p:sp>
      <p:sp>
        <p:nvSpPr>
          <p:cNvPr id="80" name="Прямоугольник 79"/>
          <p:cNvSpPr/>
          <p:nvPr/>
        </p:nvSpPr>
        <p:spPr>
          <a:xfrm>
            <a:off x="18187716" y="9797975"/>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Восстановление привилегий церкви</a:t>
            </a:r>
          </a:p>
        </p:txBody>
      </p:sp>
      <p:sp>
        <p:nvSpPr>
          <p:cNvPr id="82" name="Прямоугольник 81"/>
          <p:cNvSpPr/>
          <p:nvPr/>
        </p:nvSpPr>
        <p:spPr>
          <a:xfrm>
            <a:off x="19245141" y="9797974"/>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Карлистская Королевская военная академия</a:t>
            </a:r>
            <a:endParaRPr lang="ru-RU" sz="100" dirty="0"/>
          </a:p>
        </p:txBody>
      </p:sp>
      <p:sp>
        <p:nvSpPr>
          <p:cNvPr id="83" name="Прямоугольник 82"/>
          <p:cNvSpPr/>
          <p:nvPr/>
        </p:nvSpPr>
        <p:spPr>
          <a:xfrm>
            <a:off x="19246245" y="10549614"/>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Голубой дивизион</a:t>
            </a:r>
            <a:endParaRPr lang="ru-RU" sz="100" dirty="0"/>
          </a:p>
        </p:txBody>
      </p:sp>
      <p:cxnSp>
        <p:nvCxnSpPr>
          <p:cNvPr id="85" name="Прямая со стрелкой 84"/>
          <p:cNvCxnSpPr>
            <a:stCxn id="82" idx="2"/>
            <a:endCxn id="83" idx="0"/>
          </p:cNvCxnSpPr>
          <p:nvPr/>
        </p:nvCxnSpPr>
        <p:spPr>
          <a:xfrm>
            <a:off x="19708304" y="10337974"/>
            <a:ext cx="1104" cy="21164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00" name="Прямоугольник 99"/>
          <p:cNvSpPr/>
          <p:nvPr/>
        </p:nvSpPr>
        <p:spPr>
          <a:xfrm>
            <a:off x="6668638" y="6729871"/>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Бунт испанской фаланги</a:t>
            </a:r>
          </a:p>
        </p:txBody>
      </p:sp>
      <p:sp>
        <p:nvSpPr>
          <p:cNvPr id="104" name="Прямоугольник 103"/>
          <p:cNvSpPr/>
          <p:nvPr/>
        </p:nvSpPr>
        <p:spPr>
          <a:xfrm>
            <a:off x="18719557" y="8268341"/>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Расширить </a:t>
            </a:r>
            <a:r>
              <a:rPr lang="ru-RU" sz="700" dirty="0" err="1"/>
              <a:t>Рекете</a:t>
            </a:r>
            <a:endParaRPr lang="ru-RU" sz="700" dirty="0"/>
          </a:p>
        </p:txBody>
      </p:sp>
      <p:cxnSp>
        <p:nvCxnSpPr>
          <p:cNvPr id="113" name="Прямая соединительная линия 112"/>
          <p:cNvCxnSpPr>
            <a:stCxn id="121" idx="1"/>
            <a:endCxn id="120" idx="3"/>
          </p:cNvCxnSpPr>
          <p:nvPr/>
        </p:nvCxnSpPr>
        <p:spPr>
          <a:xfrm flipH="1">
            <a:off x="18055319" y="7754997"/>
            <a:ext cx="118856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5" name="Соединительная линия уступом 114"/>
          <p:cNvCxnSpPr>
            <a:stCxn id="121" idx="2"/>
            <a:endCxn id="104" idx="0"/>
          </p:cNvCxnSpPr>
          <p:nvPr/>
        </p:nvCxnSpPr>
        <p:spPr>
          <a:xfrm rot="5400000">
            <a:off x="19323211" y="7884507"/>
            <a:ext cx="243344" cy="52432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16" name="Соединительная линия уступом 115"/>
          <p:cNvCxnSpPr>
            <a:stCxn id="121" idx="2"/>
            <a:endCxn id="79" idx="0"/>
          </p:cNvCxnSpPr>
          <p:nvPr/>
        </p:nvCxnSpPr>
        <p:spPr>
          <a:xfrm rot="5400000">
            <a:off x="18802046" y="7361034"/>
            <a:ext cx="241037" cy="1568963"/>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18" name="Соединительная линия уступом 117"/>
          <p:cNvCxnSpPr>
            <a:stCxn id="120" idx="2"/>
            <a:endCxn id="79" idx="0"/>
          </p:cNvCxnSpPr>
          <p:nvPr/>
        </p:nvCxnSpPr>
        <p:spPr>
          <a:xfrm rot="16200000" flipH="1">
            <a:off x="17744601" y="7872552"/>
            <a:ext cx="241037" cy="54592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22" name="Соединительная линия уступом 121"/>
          <p:cNvCxnSpPr>
            <a:stCxn id="120" idx="2"/>
            <a:endCxn id="104" idx="0"/>
          </p:cNvCxnSpPr>
          <p:nvPr/>
        </p:nvCxnSpPr>
        <p:spPr>
          <a:xfrm rot="16200000" flipH="1">
            <a:off x="18265766" y="7351387"/>
            <a:ext cx="243344" cy="1590563"/>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28" name="Соединительная линия уступом 127"/>
          <p:cNvCxnSpPr>
            <a:stCxn id="107" idx="2"/>
          </p:cNvCxnSpPr>
          <p:nvPr/>
        </p:nvCxnSpPr>
        <p:spPr>
          <a:xfrm rot="16200000" flipH="1">
            <a:off x="18001152" y="9148248"/>
            <a:ext cx="240732" cy="1058722"/>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31" name="Соединительная линия уступом 130"/>
          <p:cNvCxnSpPr>
            <a:stCxn id="108" idx="2"/>
            <a:endCxn id="80" idx="0"/>
          </p:cNvCxnSpPr>
          <p:nvPr/>
        </p:nvCxnSpPr>
        <p:spPr>
          <a:xfrm rot="5400000">
            <a:off x="19058596" y="9149526"/>
            <a:ext cx="240732" cy="1056166"/>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35" name="Прямая соединительная линия 134"/>
          <p:cNvCxnSpPr>
            <a:stCxn id="106" idx="1"/>
            <a:endCxn id="192" idx="3"/>
          </p:cNvCxnSpPr>
          <p:nvPr/>
        </p:nvCxnSpPr>
        <p:spPr>
          <a:xfrm flipH="1">
            <a:off x="13670315" y="6986647"/>
            <a:ext cx="7102982" cy="1322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38" name="Прямоугольник 137"/>
          <p:cNvSpPr/>
          <p:nvPr/>
        </p:nvSpPr>
        <p:spPr>
          <a:xfrm>
            <a:off x="23552539" y="9802747"/>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Ограничение финансовой власти олигархов</a:t>
            </a:r>
          </a:p>
        </p:txBody>
      </p:sp>
      <p:sp>
        <p:nvSpPr>
          <p:cNvPr id="139" name="Прямоугольник 138"/>
          <p:cNvSpPr/>
          <p:nvPr/>
        </p:nvSpPr>
        <p:spPr>
          <a:xfrm>
            <a:off x="23552542" y="8266208"/>
            <a:ext cx="926325" cy="540000"/>
          </a:xfrm>
          <a:prstGeom prst="rect">
            <a:avLst/>
          </a:prstGeom>
          <a:solidFill>
            <a:srgbClr val="7030A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Восстановить «Испанских партизан» </a:t>
            </a:r>
            <a:r>
              <a:rPr lang="ru-RU" sz="100" dirty="0"/>
              <a:t>(В Партизаны Испании была небольшой военизированная организацией крайнего правой активной во время Второй Испанской Республики , который действовал на орбите Национального блока в Хосе </a:t>
            </a:r>
            <a:r>
              <a:rPr lang="ru-RU" sz="100" dirty="0" err="1"/>
              <a:t>Кальво</a:t>
            </a:r>
            <a:r>
              <a:rPr lang="ru-RU" sz="100" dirty="0"/>
              <a:t> </a:t>
            </a:r>
            <a:r>
              <a:rPr lang="ru-RU" sz="100" dirty="0" err="1"/>
              <a:t>Сотел</a:t>
            </a:r>
            <a:r>
              <a:rPr lang="ru-RU" sz="100" dirty="0"/>
              <a:t> . На них была серая рубашка, шляпа легионера и крест Сан-Фернандо . [ 1 ] Созданная в 1935 году, когда было принято решение о формировании ополчения из молодежных кадров </a:t>
            </a:r>
            <a:r>
              <a:rPr lang="ru-RU" sz="100" dirty="0" err="1"/>
              <a:t>Renovación</a:t>
            </a:r>
            <a:r>
              <a:rPr lang="ru-RU" sz="100" dirty="0"/>
              <a:t> </a:t>
            </a:r>
            <a:r>
              <a:rPr lang="ru-RU" sz="100" dirty="0" err="1"/>
              <a:t>Española</a:t>
            </a:r>
            <a:r>
              <a:rPr lang="ru-RU" sz="100" dirty="0"/>
              <a:t> , [ 2 ] одним из его инструкторов был Хуан Антонио </a:t>
            </a:r>
            <a:r>
              <a:rPr lang="ru-RU" sz="100" dirty="0" err="1"/>
              <a:t>Ансальдо</a:t>
            </a:r>
            <a:r>
              <a:rPr lang="ru-RU" sz="100" dirty="0"/>
              <a:t> . [ 1 ]С уличным </a:t>
            </a:r>
            <a:r>
              <a:rPr lang="ru-RU" sz="100" dirty="0" err="1"/>
              <a:t>активизмом</a:t>
            </a:r>
            <a:r>
              <a:rPr lang="ru-RU" sz="100" dirty="0"/>
              <a:t>, в конечном счете ограниченным [ 1 ], после выборов в феврале 1936 года и открытого процесса разложения радикального альфонса , члены партизан, как правило, отказались от своей воинственности в организации.)</a:t>
            </a:r>
          </a:p>
        </p:txBody>
      </p:sp>
      <p:cxnSp>
        <p:nvCxnSpPr>
          <p:cNvPr id="141" name="Прямая со стрелкой 140"/>
          <p:cNvCxnSpPr>
            <a:stCxn id="107" idx="2"/>
            <a:endCxn id="155" idx="0"/>
          </p:cNvCxnSpPr>
          <p:nvPr/>
        </p:nvCxnSpPr>
        <p:spPr>
          <a:xfrm>
            <a:off x="17592157" y="9557243"/>
            <a:ext cx="582" cy="23868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42" name="Прямоугольник 141"/>
          <p:cNvSpPr/>
          <p:nvPr/>
        </p:nvSpPr>
        <p:spPr>
          <a:xfrm>
            <a:off x="22428584" y="10549614"/>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Прогрессивный подоходный налог</a:t>
            </a:r>
          </a:p>
        </p:txBody>
      </p:sp>
      <p:sp>
        <p:nvSpPr>
          <p:cNvPr id="144" name="Прямоугольник 143"/>
          <p:cNvSpPr/>
          <p:nvPr/>
        </p:nvSpPr>
        <p:spPr>
          <a:xfrm>
            <a:off x="22428584" y="12065408"/>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Универсализация социального обеспечения</a:t>
            </a:r>
          </a:p>
        </p:txBody>
      </p:sp>
      <p:sp>
        <p:nvSpPr>
          <p:cNvPr id="145" name="Прямоугольник 144"/>
          <p:cNvSpPr/>
          <p:nvPr/>
        </p:nvSpPr>
        <p:spPr>
          <a:xfrm>
            <a:off x="21312270" y="9803580"/>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Коллективная аренда ферм</a:t>
            </a:r>
          </a:p>
        </p:txBody>
      </p:sp>
      <p:sp>
        <p:nvSpPr>
          <p:cNvPr id="147" name="Прямоугольник 146"/>
          <p:cNvSpPr/>
          <p:nvPr/>
        </p:nvSpPr>
        <p:spPr>
          <a:xfrm>
            <a:off x="23552542" y="10549614"/>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Акционеры-рабочие</a:t>
            </a:r>
          </a:p>
        </p:txBody>
      </p:sp>
      <p:sp>
        <p:nvSpPr>
          <p:cNvPr id="148" name="Прямоугольник 147"/>
          <p:cNvSpPr/>
          <p:nvPr/>
        </p:nvSpPr>
        <p:spPr>
          <a:xfrm>
            <a:off x="21312271" y="10549614"/>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Корпоративная монархия</a:t>
            </a:r>
          </a:p>
        </p:txBody>
      </p:sp>
      <p:cxnSp>
        <p:nvCxnSpPr>
          <p:cNvPr id="150" name="Соединительная линия уступом 149"/>
          <p:cNvCxnSpPr>
            <a:cxnSpLocks/>
            <a:stCxn id="109" idx="2"/>
            <a:endCxn id="145" idx="0"/>
          </p:cNvCxnSpPr>
          <p:nvPr/>
        </p:nvCxnSpPr>
        <p:spPr>
          <a:xfrm rot="5400000">
            <a:off x="22210423" y="9122254"/>
            <a:ext cx="246337" cy="111631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51" name="Соединительная линия уступом 150"/>
          <p:cNvCxnSpPr>
            <a:cxnSpLocks/>
            <a:stCxn id="109" idx="2"/>
            <a:endCxn id="138" idx="0"/>
          </p:cNvCxnSpPr>
          <p:nvPr/>
        </p:nvCxnSpPr>
        <p:spPr>
          <a:xfrm rot="16200000" flipH="1">
            <a:off x="23330973" y="9118018"/>
            <a:ext cx="245504" cy="112395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72" name="Прямая со стрелкой 171"/>
          <p:cNvCxnSpPr>
            <a:stCxn id="142" idx="2"/>
            <a:endCxn id="144" idx="0"/>
          </p:cNvCxnSpPr>
          <p:nvPr/>
        </p:nvCxnSpPr>
        <p:spPr>
          <a:xfrm>
            <a:off x="22891747" y="11089614"/>
            <a:ext cx="0" cy="975794"/>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75" name="Прямоугольник 174"/>
          <p:cNvSpPr/>
          <p:nvPr/>
        </p:nvSpPr>
        <p:spPr>
          <a:xfrm>
            <a:off x="26916437" y="9797976"/>
            <a:ext cx="926325" cy="540000"/>
          </a:xfrm>
          <a:prstGeom prst="rect">
            <a:avLst/>
          </a:prstGeom>
          <a:solidFill>
            <a:srgbClr val="7030A0"/>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Запросить помощь в Италии</a:t>
            </a:r>
          </a:p>
        </p:txBody>
      </p:sp>
      <p:sp>
        <p:nvSpPr>
          <p:cNvPr id="176" name="Прямоугольник 175"/>
          <p:cNvSpPr/>
          <p:nvPr/>
        </p:nvSpPr>
        <p:spPr>
          <a:xfrm>
            <a:off x="18713676" y="13648778"/>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Крестовый поход против революции</a:t>
            </a:r>
            <a:endParaRPr lang="ru-RU" sz="600" dirty="0"/>
          </a:p>
        </p:txBody>
      </p:sp>
      <p:sp>
        <p:nvSpPr>
          <p:cNvPr id="178" name="Прямоугольник 177"/>
          <p:cNvSpPr/>
          <p:nvPr/>
        </p:nvSpPr>
        <p:spPr>
          <a:xfrm>
            <a:off x="24675678" y="9803579"/>
            <a:ext cx="926325" cy="540000"/>
          </a:xfrm>
          <a:prstGeom prst="rect">
            <a:avLst/>
          </a:prstGeom>
          <a:solidFill>
            <a:srgbClr val="7030A0"/>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err="1"/>
              <a:t>Неотрадиционализм</a:t>
            </a:r>
            <a:endParaRPr lang="ru-RU" sz="700" dirty="0"/>
          </a:p>
        </p:txBody>
      </p:sp>
      <p:sp>
        <p:nvSpPr>
          <p:cNvPr id="179" name="Прямоугольник 178"/>
          <p:cNvSpPr/>
          <p:nvPr/>
        </p:nvSpPr>
        <p:spPr>
          <a:xfrm>
            <a:off x="24675677" y="10549614"/>
            <a:ext cx="926325" cy="540000"/>
          </a:xfrm>
          <a:prstGeom prst="rect">
            <a:avLst/>
          </a:prstGeom>
          <a:solidFill>
            <a:srgbClr val="7030A0"/>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Превознесения национальных ценностей</a:t>
            </a:r>
          </a:p>
        </p:txBody>
      </p:sp>
      <p:sp>
        <p:nvSpPr>
          <p:cNvPr id="181" name="Прямоугольник 180"/>
          <p:cNvSpPr/>
          <p:nvPr/>
        </p:nvSpPr>
        <p:spPr>
          <a:xfrm>
            <a:off x="25798814" y="9797976"/>
            <a:ext cx="926325" cy="540000"/>
          </a:xfrm>
          <a:prstGeom prst="rect">
            <a:avLst/>
          </a:prstGeom>
          <a:solidFill>
            <a:srgbClr val="7030A0"/>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Содействие сельскохозяйственной кооперации</a:t>
            </a:r>
          </a:p>
        </p:txBody>
      </p:sp>
      <p:sp>
        <p:nvSpPr>
          <p:cNvPr id="193" name="Прямоугольник 192"/>
          <p:cNvSpPr/>
          <p:nvPr/>
        </p:nvSpPr>
        <p:spPr>
          <a:xfrm>
            <a:off x="25798812" y="10549614"/>
            <a:ext cx="926325" cy="540000"/>
          </a:xfrm>
          <a:prstGeom prst="rect">
            <a:avLst/>
          </a:prstGeom>
          <a:solidFill>
            <a:srgbClr val="7030A0"/>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Аграрный национализм</a:t>
            </a:r>
          </a:p>
        </p:txBody>
      </p:sp>
      <p:sp>
        <p:nvSpPr>
          <p:cNvPr id="194" name="Прямоугольник 193"/>
          <p:cNvSpPr/>
          <p:nvPr/>
        </p:nvSpPr>
        <p:spPr>
          <a:xfrm>
            <a:off x="26916436" y="10549614"/>
            <a:ext cx="926325" cy="540000"/>
          </a:xfrm>
          <a:prstGeom prst="rect">
            <a:avLst/>
          </a:prstGeom>
          <a:solidFill>
            <a:srgbClr val="7030A0"/>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Национализация служб здравоохранения и социальной помощи</a:t>
            </a:r>
          </a:p>
        </p:txBody>
      </p:sp>
      <p:sp>
        <p:nvSpPr>
          <p:cNvPr id="195" name="Прямоугольник 194"/>
          <p:cNvSpPr/>
          <p:nvPr/>
        </p:nvSpPr>
        <p:spPr>
          <a:xfrm>
            <a:off x="26360483" y="11358799"/>
            <a:ext cx="926325" cy="540000"/>
          </a:xfrm>
          <a:prstGeom prst="rect">
            <a:avLst/>
          </a:prstGeom>
          <a:solidFill>
            <a:srgbClr val="7030A0"/>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Ввести бесплатное начальное образование </a:t>
            </a:r>
            <a:r>
              <a:rPr lang="ru-RU" sz="200" dirty="0"/>
              <a:t>(Бесплатное начальное образование и доступ для популярных классов к среднему и высшему образованию.)</a:t>
            </a:r>
          </a:p>
        </p:txBody>
      </p:sp>
      <p:cxnSp>
        <p:nvCxnSpPr>
          <p:cNvPr id="196" name="Соединительная линия уступом 195"/>
          <p:cNvCxnSpPr>
            <a:stCxn id="110" idx="2"/>
            <a:endCxn id="175" idx="0"/>
          </p:cNvCxnSpPr>
          <p:nvPr/>
        </p:nvCxnSpPr>
        <p:spPr>
          <a:xfrm rot="16200000" flipH="1">
            <a:off x="26138853" y="8557228"/>
            <a:ext cx="240733" cy="224076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99" name="Соединительная линия уступом 198"/>
          <p:cNvCxnSpPr>
            <a:stCxn id="110" idx="2"/>
            <a:endCxn id="181" idx="0"/>
          </p:cNvCxnSpPr>
          <p:nvPr/>
        </p:nvCxnSpPr>
        <p:spPr>
          <a:xfrm rot="16200000" flipH="1">
            <a:off x="25580042" y="9116040"/>
            <a:ext cx="240733" cy="112313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02" name="Прямая со стрелкой 201"/>
          <p:cNvCxnSpPr>
            <a:stCxn id="110" idx="2"/>
            <a:endCxn id="178" idx="0"/>
          </p:cNvCxnSpPr>
          <p:nvPr/>
        </p:nvCxnSpPr>
        <p:spPr>
          <a:xfrm>
            <a:off x="25138839" y="9557243"/>
            <a:ext cx="2" cy="24633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05" name="Прямая со стрелкой 204"/>
          <p:cNvCxnSpPr>
            <a:stCxn id="178" idx="2"/>
            <a:endCxn id="179" idx="0"/>
          </p:cNvCxnSpPr>
          <p:nvPr/>
        </p:nvCxnSpPr>
        <p:spPr>
          <a:xfrm flipH="1">
            <a:off x="25138840" y="10343579"/>
            <a:ext cx="1" cy="20603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11" name="Прямая со стрелкой 210"/>
          <p:cNvCxnSpPr>
            <a:stCxn id="181" idx="2"/>
            <a:endCxn id="193" idx="0"/>
          </p:cNvCxnSpPr>
          <p:nvPr/>
        </p:nvCxnSpPr>
        <p:spPr>
          <a:xfrm flipH="1">
            <a:off x="26261975" y="10337976"/>
            <a:ext cx="2" cy="21163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14" name="Соединительная линия уступом 213"/>
          <p:cNvCxnSpPr>
            <a:stCxn id="181" idx="2"/>
            <a:endCxn id="194" idx="0"/>
          </p:cNvCxnSpPr>
          <p:nvPr/>
        </p:nvCxnSpPr>
        <p:spPr>
          <a:xfrm rot="16200000" flipH="1">
            <a:off x="26714969" y="9884984"/>
            <a:ext cx="211638" cy="111762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24" name="Прямоугольник 123"/>
          <p:cNvSpPr/>
          <p:nvPr/>
        </p:nvSpPr>
        <p:spPr>
          <a:xfrm>
            <a:off x="20234582" y="10553168"/>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матери престол Португалии</a:t>
            </a:r>
          </a:p>
        </p:txBody>
      </p:sp>
      <p:cxnSp>
        <p:nvCxnSpPr>
          <p:cNvPr id="125" name="Соединительная линия уступом 124"/>
          <p:cNvCxnSpPr>
            <a:stCxn id="107" idx="2"/>
            <a:endCxn id="163" idx="0"/>
          </p:cNvCxnSpPr>
          <p:nvPr/>
        </p:nvCxnSpPr>
        <p:spPr>
          <a:xfrm rot="5400000">
            <a:off x="16944285" y="9148051"/>
            <a:ext cx="238680" cy="105706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54" name="Прямоугольник 153"/>
          <p:cNvSpPr/>
          <p:nvPr/>
        </p:nvSpPr>
        <p:spPr>
          <a:xfrm>
            <a:off x="20248130" y="9796397"/>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Забрать Французский престол</a:t>
            </a:r>
          </a:p>
        </p:txBody>
      </p:sp>
      <p:cxnSp>
        <p:nvCxnSpPr>
          <p:cNvPr id="167" name="Прямая со стрелкой 166"/>
          <p:cNvCxnSpPr>
            <a:stCxn id="108" idx="2"/>
            <a:endCxn id="82" idx="0"/>
          </p:cNvCxnSpPr>
          <p:nvPr/>
        </p:nvCxnSpPr>
        <p:spPr>
          <a:xfrm>
            <a:off x="19707045" y="9557243"/>
            <a:ext cx="1259" cy="24073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82" name="Соединительная линия уступом 124"/>
          <p:cNvCxnSpPr>
            <a:stCxn id="82" idx="2"/>
            <a:endCxn id="124" idx="0"/>
          </p:cNvCxnSpPr>
          <p:nvPr/>
        </p:nvCxnSpPr>
        <p:spPr>
          <a:xfrm rot="16200000" flipH="1">
            <a:off x="20095427" y="9950850"/>
            <a:ext cx="215194" cy="98944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85" name="Соединительная линия уступом 184"/>
          <p:cNvCxnSpPr>
            <a:stCxn id="111" idx="2"/>
            <a:endCxn id="139" idx="0"/>
          </p:cNvCxnSpPr>
          <p:nvPr/>
        </p:nvCxnSpPr>
        <p:spPr>
          <a:xfrm rot="5400000">
            <a:off x="24456944" y="7584314"/>
            <a:ext cx="240656" cy="1123133"/>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88" name="Соединительная линия уступом 187"/>
          <p:cNvCxnSpPr>
            <a:cxnSpLocks/>
            <a:stCxn id="112" idx="2"/>
            <a:endCxn id="139" idx="0"/>
          </p:cNvCxnSpPr>
          <p:nvPr/>
        </p:nvCxnSpPr>
        <p:spPr>
          <a:xfrm rot="16200000" flipH="1">
            <a:off x="23333121" y="7583623"/>
            <a:ext cx="241211" cy="112395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59" name="Прямоугольник 158"/>
          <p:cNvSpPr/>
          <p:nvPr/>
        </p:nvSpPr>
        <p:spPr>
          <a:xfrm>
            <a:off x="18187715" y="10549614"/>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титул короля обеих Сицилий</a:t>
            </a:r>
          </a:p>
        </p:txBody>
      </p:sp>
      <p:cxnSp>
        <p:nvCxnSpPr>
          <p:cNvPr id="160" name="Соединительная линия уступом 124"/>
          <p:cNvCxnSpPr>
            <a:stCxn id="82" idx="2"/>
            <a:endCxn id="159" idx="0"/>
          </p:cNvCxnSpPr>
          <p:nvPr/>
        </p:nvCxnSpPr>
        <p:spPr>
          <a:xfrm rot="5400000">
            <a:off x="19073771" y="9915081"/>
            <a:ext cx="211640" cy="1057426"/>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70" name="Прямоугольник 169"/>
          <p:cNvSpPr/>
          <p:nvPr/>
        </p:nvSpPr>
        <p:spPr>
          <a:xfrm>
            <a:off x="20773297" y="12069697"/>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Подтверждение легитимности</a:t>
            </a:r>
          </a:p>
        </p:txBody>
      </p:sp>
      <p:cxnSp>
        <p:nvCxnSpPr>
          <p:cNvPr id="173" name="Прямая со стрелкой 172"/>
          <p:cNvCxnSpPr>
            <a:stCxn id="105" idx="2"/>
            <a:endCxn id="170" idx="0"/>
          </p:cNvCxnSpPr>
          <p:nvPr/>
        </p:nvCxnSpPr>
        <p:spPr>
          <a:xfrm>
            <a:off x="21236460" y="8811754"/>
            <a:ext cx="0" cy="3257943"/>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63" name="Прямоугольник 162"/>
          <p:cNvSpPr/>
          <p:nvPr/>
        </p:nvSpPr>
        <p:spPr>
          <a:xfrm>
            <a:off x="16071929" y="9795923"/>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Испанский средиземноморский флот</a:t>
            </a:r>
          </a:p>
        </p:txBody>
      </p:sp>
      <p:sp>
        <p:nvSpPr>
          <p:cNvPr id="155" name="Прямоугольник 154"/>
          <p:cNvSpPr/>
          <p:nvPr/>
        </p:nvSpPr>
        <p:spPr>
          <a:xfrm>
            <a:off x="17129576" y="9795923"/>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католика-монархического общества</a:t>
            </a:r>
          </a:p>
        </p:txBody>
      </p:sp>
      <p:sp>
        <p:nvSpPr>
          <p:cNvPr id="156" name="Прямоугольник 155"/>
          <p:cNvSpPr/>
          <p:nvPr/>
        </p:nvSpPr>
        <p:spPr>
          <a:xfrm>
            <a:off x="16071929" y="10549866"/>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Претензии на земли Габсбургов</a:t>
            </a:r>
          </a:p>
        </p:txBody>
      </p:sp>
      <p:cxnSp>
        <p:nvCxnSpPr>
          <p:cNvPr id="164" name="Прямая со стрелкой 163"/>
          <p:cNvCxnSpPr>
            <a:stCxn id="163" idx="2"/>
            <a:endCxn id="156" idx="0"/>
          </p:cNvCxnSpPr>
          <p:nvPr/>
        </p:nvCxnSpPr>
        <p:spPr>
          <a:xfrm>
            <a:off x="16535092" y="10335923"/>
            <a:ext cx="0" cy="213943"/>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83" name="Прямоугольник 182"/>
          <p:cNvSpPr/>
          <p:nvPr/>
        </p:nvSpPr>
        <p:spPr>
          <a:xfrm>
            <a:off x="17127796" y="10549614"/>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Идея превыше всего!</a:t>
            </a:r>
          </a:p>
        </p:txBody>
      </p:sp>
      <p:cxnSp>
        <p:nvCxnSpPr>
          <p:cNvPr id="184" name="Прямая со стрелкой 183"/>
          <p:cNvCxnSpPr>
            <a:stCxn id="155" idx="2"/>
            <a:endCxn id="183" idx="0"/>
          </p:cNvCxnSpPr>
          <p:nvPr/>
        </p:nvCxnSpPr>
        <p:spPr>
          <a:xfrm flipH="1">
            <a:off x="17590959" y="10335923"/>
            <a:ext cx="1780" cy="21369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86" name="Соединительная линия уступом 124"/>
          <p:cNvCxnSpPr>
            <a:stCxn id="155" idx="2"/>
            <a:endCxn id="159" idx="0"/>
          </p:cNvCxnSpPr>
          <p:nvPr/>
        </p:nvCxnSpPr>
        <p:spPr>
          <a:xfrm rot="16200000" flipH="1">
            <a:off x="18014963" y="9913698"/>
            <a:ext cx="213691" cy="1058139"/>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87" name="Прямоугольник 186"/>
          <p:cNvSpPr/>
          <p:nvPr/>
        </p:nvSpPr>
        <p:spPr>
          <a:xfrm>
            <a:off x="20235221" y="11354244"/>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Заключить </a:t>
            </a:r>
            <a:r>
              <a:rPr lang="ru-RU" sz="700" dirty="0" err="1"/>
              <a:t>Виндзорский</a:t>
            </a:r>
            <a:r>
              <a:rPr lang="ru-RU" sz="700" dirty="0"/>
              <a:t> пакт от новой династии</a:t>
            </a:r>
          </a:p>
        </p:txBody>
      </p:sp>
      <p:sp>
        <p:nvSpPr>
          <p:cNvPr id="190" name="Прямоугольник 189"/>
          <p:cNvSpPr/>
          <p:nvPr/>
        </p:nvSpPr>
        <p:spPr>
          <a:xfrm>
            <a:off x="18184471" y="11347420"/>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Вернуться к союзу с Германией</a:t>
            </a:r>
          </a:p>
        </p:txBody>
      </p:sp>
      <p:sp>
        <p:nvSpPr>
          <p:cNvPr id="191" name="Прямоугольник 190"/>
          <p:cNvSpPr/>
          <p:nvPr/>
        </p:nvSpPr>
        <p:spPr>
          <a:xfrm>
            <a:off x="21315371" y="11351011"/>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Антиреволюционный союз (наше + «вражда с левым блоком»)</a:t>
            </a:r>
          </a:p>
        </p:txBody>
      </p:sp>
      <p:cxnSp>
        <p:nvCxnSpPr>
          <p:cNvPr id="201" name="Соединительная линия уступом 124"/>
          <p:cNvCxnSpPr>
            <a:stCxn id="124" idx="2"/>
            <a:endCxn id="187" idx="0"/>
          </p:cNvCxnSpPr>
          <p:nvPr/>
        </p:nvCxnSpPr>
        <p:spPr>
          <a:xfrm rot="16200000" flipH="1">
            <a:off x="20567526" y="11223386"/>
            <a:ext cx="261076" cy="63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03" name="Соединительная линия уступом 124"/>
          <p:cNvCxnSpPr>
            <a:stCxn id="183" idx="2"/>
            <a:endCxn id="190" idx="0"/>
          </p:cNvCxnSpPr>
          <p:nvPr/>
        </p:nvCxnSpPr>
        <p:spPr>
          <a:xfrm rot="16200000" flipH="1">
            <a:off x="17990393" y="10690179"/>
            <a:ext cx="257806" cy="105667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04" name="Соединительная линия уступом 124"/>
          <p:cNvCxnSpPr>
            <a:stCxn id="83" idx="2"/>
            <a:endCxn id="190" idx="0"/>
          </p:cNvCxnSpPr>
          <p:nvPr/>
        </p:nvCxnSpPr>
        <p:spPr>
          <a:xfrm rot="5400000">
            <a:off x="19049618" y="10687630"/>
            <a:ext cx="257806" cy="1061774"/>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06" name="Соединительная линия уступом 124"/>
          <p:cNvCxnSpPr>
            <a:stCxn id="83" idx="2"/>
            <a:endCxn id="191" idx="0"/>
          </p:cNvCxnSpPr>
          <p:nvPr/>
        </p:nvCxnSpPr>
        <p:spPr>
          <a:xfrm rot="16200000" flipH="1">
            <a:off x="20613273" y="10185749"/>
            <a:ext cx="261397" cy="2069126"/>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12" name="Прямая соединительная линия 211"/>
          <p:cNvCxnSpPr>
            <a:stCxn id="187" idx="1"/>
            <a:endCxn id="190" idx="3"/>
          </p:cNvCxnSpPr>
          <p:nvPr/>
        </p:nvCxnSpPr>
        <p:spPr>
          <a:xfrm flipH="1" flipV="1">
            <a:off x="19110796" y="11617420"/>
            <a:ext cx="1124425" cy="682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8" name="Соединительная линия уступом 217"/>
          <p:cNvCxnSpPr>
            <a:stCxn id="109" idx="2"/>
            <a:endCxn id="154" idx="0"/>
          </p:cNvCxnSpPr>
          <p:nvPr/>
        </p:nvCxnSpPr>
        <p:spPr>
          <a:xfrm rot="5400000">
            <a:off x="21681944" y="8586593"/>
            <a:ext cx="239154" cy="218045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21" name="Соединительная линия уступом 220"/>
          <p:cNvCxnSpPr>
            <a:stCxn id="110" idx="2"/>
            <a:endCxn id="154" idx="0"/>
          </p:cNvCxnSpPr>
          <p:nvPr/>
        </p:nvCxnSpPr>
        <p:spPr>
          <a:xfrm rot="5400000">
            <a:off x="22805489" y="7463047"/>
            <a:ext cx="239154" cy="4427546"/>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230" name="Прямоугольник 229"/>
          <p:cNvSpPr/>
          <p:nvPr/>
        </p:nvSpPr>
        <p:spPr>
          <a:xfrm>
            <a:off x="22435406" y="9809511"/>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Забрать трон у </a:t>
            </a:r>
            <a:r>
              <a:rPr lang="ru-RU" sz="700" dirty="0" err="1"/>
              <a:t>Виндзоров</a:t>
            </a:r>
            <a:r>
              <a:rPr lang="ru-RU" sz="700" dirty="0"/>
              <a:t> (мать Хуана внучка королевы Виктории)</a:t>
            </a:r>
          </a:p>
        </p:txBody>
      </p:sp>
      <p:cxnSp>
        <p:nvCxnSpPr>
          <p:cNvPr id="234" name="Прямая со стрелкой 233"/>
          <p:cNvCxnSpPr>
            <a:stCxn id="138" idx="2"/>
            <a:endCxn id="147" idx="0"/>
          </p:cNvCxnSpPr>
          <p:nvPr/>
        </p:nvCxnSpPr>
        <p:spPr>
          <a:xfrm>
            <a:off x="24015702" y="10342747"/>
            <a:ext cx="3" cy="20686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37" name="Прямая со стрелкой 236"/>
          <p:cNvCxnSpPr>
            <a:stCxn id="109" idx="2"/>
            <a:endCxn id="230" idx="0"/>
          </p:cNvCxnSpPr>
          <p:nvPr/>
        </p:nvCxnSpPr>
        <p:spPr>
          <a:xfrm>
            <a:off x="22891748" y="9557243"/>
            <a:ext cx="6821" cy="25226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48" name="Соединительная линия уступом 124"/>
          <p:cNvCxnSpPr>
            <a:stCxn id="183" idx="2"/>
            <a:endCxn id="191" idx="0"/>
          </p:cNvCxnSpPr>
          <p:nvPr/>
        </p:nvCxnSpPr>
        <p:spPr>
          <a:xfrm rot="16200000" flipH="1">
            <a:off x="19554048" y="9126524"/>
            <a:ext cx="261397" cy="418757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51" name="Соединительная линия уступом 124"/>
          <p:cNvCxnSpPr>
            <a:stCxn id="142" idx="2"/>
            <a:endCxn id="191" idx="0"/>
          </p:cNvCxnSpPr>
          <p:nvPr/>
        </p:nvCxnSpPr>
        <p:spPr>
          <a:xfrm rot="5400000">
            <a:off x="22204443" y="10663706"/>
            <a:ext cx="261397" cy="1113213"/>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54" name="Соединительная линия уступом 124"/>
          <p:cNvCxnSpPr>
            <a:stCxn id="179" idx="2"/>
            <a:endCxn id="191" idx="0"/>
          </p:cNvCxnSpPr>
          <p:nvPr/>
        </p:nvCxnSpPr>
        <p:spPr>
          <a:xfrm rot="5400000">
            <a:off x="23327989" y="9540159"/>
            <a:ext cx="261397" cy="3360306"/>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57" name="Прямая соединительная линия 256"/>
          <p:cNvCxnSpPr>
            <a:stCxn id="191" idx="1"/>
            <a:endCxn id="187" idx="3"/>
          </p:cNvCxnSpPr>
          <p:nvPr/>
        </p:nvCxnSpPr>
        <p:spPr>
          <a:xfrm flipH="1">
            <a:off x="21161546" y="11621011"/>
            <a:ext cx="153825" cy="323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2" name="Прямая соединительная линия 261"/>
          <p:cNvCxnSpPr>
            <a:stCxn id="350" idx="1"/>
            <a:endCxn id="191" idx="3"/>
          </p:cNvCxnSpPr>
          <p:nvPr/>
        </p:nvCxnSpPr>
        <p:spPr>
          <a:xfrm flipH="1">
            <a:off x="22241696" y="11610297"/>
            <a:ext cx="1316505" cy="1071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5" name="Соединительная линия уступом 264"/>
          <p:cNvCxnSpPr>
            <a:stCxn id="142" idx="2"/>
            <a:endCxn id="190" idx="0"/>
          </p:cNvCxnSpPr>
          <p:nvPr/>
        </p:nvCxnSpPr>
        <p:spPr>
          <a:xfrm rot="5400000">
            <a:off x="20640788" y="9096461"/>
            <a:ext cx="257806" cy="424411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80" name="Прямоугольник 279"/>
          <p:cNvSpPr/>
          <p:nvPr/>
        </p:nvSpPr>
        <p:spPr>
          <a:xfrm>
            <a:off x="18710897" y="12870271"/>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Пулемёт и католический молитвенник</a:t>
            </a:r>
          </a:p>
        </p:txBody>
      </p:sp>
      <p:sp>
        <p:nvSpPr>
          <p:cNvPr id="281" name="Прямоугольник 280"/>
          <p:cNvSpPr/>
          <p:nvPr/>
        </p:nvSpPr>
        <p:spPr>
          <a:xfrm>
            <a:off x="22898568" y="12870271"/>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Возродить империю</a:t>
            </a:r>
          </a:p>
        </p:txBody>
      </p:sp>
      <p:cxnSp>
        <p:nvCxnSpPr>
          <p:cNvPr id="282" name="Соединительная линия уступом 124"/>
          <p:cNvCxnSpPr>
            <a:stCxn id="170" idx="2"/>
            <a:endCxn id="281" idx="0"/>
          </p:cNvCxnSpPr>
          <p:nvPr/>
        </p:nvCxnSpPr>
        <p:spPr>
          <a:xfrm rot="16200000" flipH="1">
            <a:off x="22168808" y="11677348"/>
            <a:ext cx="260574" cy="212527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85" name="Соединительная линия уступом 124"/>
          <p:cNvCxnSpPr>
            <a:stCxn id="170" idx="2"/>
            <a:endCxn id="280" idx="0"/>
          </p:cNvCxnSpPr>
          <p:nvPr/>
        </p:nvCxnSpPr>
        <p:spPr>
          <a:xfrm rot="5400000">
            <a:off x="20074973" y="11708784"/>
            <a:ext cx="260574" cy="206240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88" name="Прямоугольник 287"/>
          <p:cNvSpPr/>
          <p:nvPr/>
        </p:nvSpPr>
        <p:spPr>
          <a:xfrm>
            <a:off x="21875542" y="13654791"/>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Основать академию </a:t>
            </a:r>
            <a:r>
              <a:rPr lang="ru-RU" sz="700" dirty="0" err="1"/>
              <a:t>Васкеса</a:t>
            </a:r>
            <a:r>
              <a:rPr lang="ru-RU" sz="700" dirty="0"/>
              <a:t> де </a:t>
            </a:r>
            <a:r>
              <a:rPr lang="ru-RU" sz="700" dirty="0" err="1"/>
              <a:t>Меллы</a:t>
            </a:r>
            <a:endParaRPr lang="ru-RU" sz="700" dirty="0"/>
          </a:p>
        </p:txBody>
      </p:sp>
      <p:sp>
        <p:nvSpPr>
          <p:cNvPr id="295" name="Прямоугольник 294"/>
          <p:cNvSpPr/>
          <p:nvPr/>
        </p:nvSpPr>
        <p:spPr>
          <a:xfrm>
            <a:off x="18195030" y="9024269"/>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700" dirty="0"/>
              <a:t>Dios, Patria y Rey</a:t>
            </a:r>
            <a:endParaRPr lang="ru-RU" sz="700" dirty="0"/>
          </a:p>
        </p:txBody>
      </p:sp>
      <p:sp>
        <p:nvSpPr>
          <p:cNvPr id="192" name="Прямоугольник 191"/>
          <p:cNvSpPr/>
          <p:nvPr/>
        </p:nvSpPr>
        <p:spPr>
          <a:xfrm>
            <a:off x="12743990" y="6729871"/>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Изгнать лидеров партий</a:t>
            </a:r>
          </a:p>
        </p:txBody>
      </p:sp>
      <p:cxnSp>
        <p:nvCxnSpPr>
          <p:cNvPr id="198" name="Прямая соединительная линия 197"/>
          <p:cNvCxnSpPr>
            <a:stCxn id="100" idx="3"/>
            <a:endCxn id="192" idx="1"/>
          </p:cNvCxnSpPr>
          <p:nvPr/>
        </p:nvCxnSpPr>
        <p:spPr>
          <a:xfrm>
            <a:off x="7594963" y="6999871"/>
            <a:ext cx="514902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0" name="Соединительная линия уступом 124"/>
          <p:cNvCxnSpPr>
            <a:stCxn id="281" idx="2"/>
            <a:endCxn id="288" idx="0"/>
          </p:cNvCxnSpPr>
          <p:nvPr/>
        </p:nvCxnSpPr>
        <p:spPr>
          <a:xfrm rot="5400000">
            <a:off x="22727958" y="13021018"/>
            <a:ext cx="244520" cy="102302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15" name="Соединительная линия уступом 214"/>
          <p:cNvCxnSpPr>
            <a:stCxn id="104" idx="2"/>
          </p:cNvCxnSpPr>
          <p:nvPr/>
        </p:nvCxnSpPr>
        <p:spPr>
          <a:xfrm rot="5400000">
            <a:off x="18812493" y="8654042"/>
            <a:ext cx="215928" cy="52452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20" name="Соединительная линия уступом 219"/>
          <p:cNvCxnSpPr>
            <a:stCxn id="79" idx="2"/>
          </p:cNvCxnSpPr>
          <p:nvPr/>
        </p:nvCxnSpPr>
        <p:spPr>
          <a:xfrm rot="16200000" flipH="1">
            <a:off x="18289020" y="8655095"/>
            <a:ext cx="218235" cy="52011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25" name="Соединительная линия уступом 224"/>
          <p:cNvCxnSpPr>
            <a:stCxn id="195" idx="2"/>
            <a:endCxn id="144" idx="0"/>
          </p:cNvCxnSpPr>
          <p:nvPr/>
        </p:nvCxnSpPr>
        <p:spPr>
          <a:xfrm rot="5400000">
            <a:off x="24774393" y="10016154"/>
            <a:ext cx="166609" cy="3931899"/>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228" name="Прямоугольник 227"/>
          <p:cNvSpPr/>
          <p:nvPr/>
        </p:nvSpPr>
        <p:spPr>
          <a:xfrm>
            <a:off x="20775629" y="12880472"/>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Подтвердить </a:t>
            </a:r>
            <a:r>
              <a:rPr lang="ru-RU" sz="700" dirty="0" err="1"/>
              <a:t>фуэрос</a:t>
            </a:r>
            <a:endParaRPr lang="ru-RU" sz="700" dirty="0"/>
          </a:p>
        </p:txBody>
      </p:sp>
      <p:cxnSp>
        <p:nvCxnSpPr>
          <p:cNvPr id="229" name="Прямая со стрелкой 228"/>
          <p:cNvCxnSpPr>
            <a:stCxn id="170" idx="2"/>
            <a:endCxn id="228" idx="0"/>
          </p:cNvCxnSpPr>
          <p:nvPr/>
        </p:nvCxnSpPr>
        <p:spPr>
          <a:xfrm>
            <a:off x="21236460" y="12609697"/>
            <a:ext cx="2332" cy="27077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35" name="Прямоугольник 234"/>
          <p:cNvSpPr/>
          <p:nvPr/>
        </p:nvSpPr>
        <p:spPr>
          <a:xfrm>
            <a:off x="19242021" y="14419111"/>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Защитники католичества</a:t>
            </a:r>
          </a:p>
        </p:txBody>
      </p:sp>
      <p:sp>
        <p:nvSpPr>
          <p:cNvPr id="238" name="Прямоугольник 237"/>
          <p:cNvSpPr/>
          <p:nvPr/>
        </p:nvSpPr>
        <p:spPr>
          <a:xfrm>
            <a:off x="18194748" y="14419111"/>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Культивировать фанатизм</a:t>
            </a:r>
          </a:p>
        </p:txBody>
      </p:sp>
      <p:cxnSp>
        <p:nvCxnSpPr>
          <p:cNvPr id="239" name="Соединительная линия уступом 124"/>
          <p:cNvCxnSpPr>
            <a:stCxn id="280" idx="2"/>
            <a:endCxn id="176" idx="0"/>
          </p:cNvCxnSpPr>
          <p:nvPr/>
        </p:nvCxnSpPr>
        <p:spPr>
          <a:xfrm rot="16200000" flipH="1">
            <a:off x="19056196" y="13528134"/>
            <a:ext cx="238507" cy="277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59" name="Прямоугольник 258"/>
          <p:cNvSpPr/>
          <p:nvPr/>
        </p:nvSpPr>
        <p:spPr>
          <a:xfrm>
            <a:off x="20774901" y="14430076"/>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Поощрить местную разработку месторождений</a:t>
            </a:r>
          </a:p>
        </p:txBody>
      </p:sp>
      <p:cxnSp>
        <p:nvCxnSpPr>
          <p:cNvPr id="261" name="Прямая со стрелкой 260"/>
          <p:cNvCxnSpPr>
            <a:stCxn id="228" idx="2"/>
            <a:endCxn id="284" idx="0"/>
          </p:cNvCxnSpPr>
          <p:nvPr/>
        </p:nvCxnSpPr>
        <p:spPr>
          <a:xfrm flipH="1">
            <a:off x="21238064" y="13420472"/>
            <a:ext cx="728" cy="23419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66" name="Прямоугольник 265"/>
          <p:cNvSpPr/>
          <p:nvPr/>
        </p:nvSpPr>
        <p:spPr>
          <a:xfrm>
            <a:off x="22905795" y="13653572"/>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Флот достойный короля </a:t>
            </a:r>
          </a:p>
        </p:txBody>
      </p:sp>
      <p:cxnSp>
        <p:nvCxnSpPr>
          <p:cNvPr id="267" name="Соединительная линия уступом 124"/>
          <p:cNvCxnSpPr>
            <a:stCxn id="281" idx="2"/>
            <a:endCxn id="266" idx="0"/>
          </p:cNvCxnSpPr>
          <p:nvPr/>
        </p:nvCxnSpPr>
        <p:spPr>
          <a:xfrm rot="16200000" flipH="1">
            <a:off x="23243694" y="13528307"/>
            <a:ext cx="243301" cy="722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70" name="Прямоугольник 269"/>
          <p:cNvSpPr/>
          <p:nvPr/>
        </p:nvSpPr>
        <p:spPr>
          <a:xfrm>
            <a:off x="22904576" y="14442393"/>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славу Испанской армады </a:t>
            </a:r>
            <a:endParaRPr lang="ru-RU" sz="500" dirty="0"/>
          </a:p>
        </p:txBody>
      </p:sp>
      <p:sp>
        <p:nvSpPr>
          <p:cNvPr id="271" name="Прямоугольник 270"/>
          <p:cNvSpPr/>
          <p:nvPr/>
        </p:nvSpPr>
        <p:spPr>
          <a:xfrm>
            <a:off x="22904575" y="15195858"/>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Имперская безопасность</a:t>
            </a:r>
          </a:p>
        </p:txBody>
      </p:sp>
      <p:cxnSp>
        <p:nvCxnSpPr>
          <p:cNvPr id="272" name="Прямая со стрелкой 271"/>
          <p:cNvCxnSpPr>
            <a:stCxn id="266" idx="2"/>
            <a:endCxn id="270" idx="0"/>
          </p:cNvCxnSpPr>
          <p:nvPr/>
        </p:nvCxnSpPr>
        <p:spPr>
          <a:xfrm flipH="1">
            <a:off x="23367739" y="14193572"/>
            <a:ext cx="1219" cy="24882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77" name="Прямая со стрелкой 276"/>
          <p:cNvCxnSpPr>
            <a:stCxn id="270" idx="2"/>
            <a:endCxn id="271" idx="0"/>
          </p:cNvCxnSpPr>
          <p:nvPr/>
        </p:nvCxnSpPr>
        <p:spPr>
          <a:xfrm flipH="1">
            <a:off x="23367738" y="14982393"/>
            <a:ext cx="1" cy="21346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84" name="Прямоугольник 283"/>
          <p:cNvSpPr/>
          <p:nvPr/>
        </p:nvSpPr>
        <p:spPr>
          <a:xfrm>
            <a:off x="20774901" y="13654664"/>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Поощрить местную индустриализацию</a:t>
            </a:r>
          </a:p>
        </p:txBody>
      </p:sp>
      <p:cxnSp>
        <p:nvCxnSpPr>
          <p:cNvPr id="287" name="Прямая со стрелкой 286"/>
          <p:cNvCxnSpPr>
            <a:stCxn id="284" idx="2"/>
            <a:endCxn id="259" idx="0"/>
          </p:cNvCxnSpPr>
          <p:nvPr/>
        </p:nvCxnSpPr>
        <p:spPr>
          <a:xfrm>
            <a:off x="21238064" y="14194664"/>
            <a:ext cx="0" cy="23541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92" name="Прямоугольник 291"/>
          <p:cNvSpPr/>
          <p:nvPr/>
        </p:nvSpPr>
        <p:spPr>
          <a:xfrm>
            <a:off x="24039622" y="13646256"/>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Усилить империю</a:t>
            </a:r>
          </a:p>
        </p:txBody>
      </p:sp>
      <p:sp>
        <p:nvSpPr>
          <p:cNvPr id="297" name="Прямоугольник 296"/>
          <p:cNvSpPr/>
          <p:nvPr/>
        </p:nvSpPr>
        <p:spPr>
          <a:xfrm>
            <a:off x="21865818" y="14442395"/>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Отобрать Испанские Нидерланды</a:t>
            </a:r>
          </a:p>
        </p:txBody>
      </p:sp>
      <p:sp>
        <p:nvSpPr>
          <p:cNvPr id="298" name="Прямоугольник 297"/>
          <p:cNvSpPr/>
          <p:nvPr/>
        </p:nvSpPr>
        <p:spPr>
          <a:xfrm>
            <a:off x="21864599" y="15194642"/>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Филиппины</a:t>
            </a:r>
          </a:p>
        </p:txBody>
      </p:sp>
      <p:sp>
        <p:nvSpPr>
          <p:cNvPr id="299" name="Прямоугольник 298"/>
          <p:cNvSpPr/>
          <p:nvPr/>
        </p:nvSpPr>
        <p:spPr>
          <a:xfrm>
            <a:off x="24021364" y="14447272"/>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Кубу</a:t>
            </a:r>
          </a:p>
        </p:txBody>
      </p:sp>
      <p:sp>
        <p:nvSpPr>
          <p:cNvPr id="300" name="Прямоугольник 299"/>
          <p:cNvSpPr/>
          <p:nvPr/>
        </p:nvSpPr>
        <p:spPr>
          <a:xfrm>
            <a:off x="24020144" y="15206833"/>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Мексику</a:t>
            </a:r>
          </a:p>
        </p:txBody>
      </p:sp>
      <p:cxnSp>
        <p:nvCxnSpPr>
          <p:cNvPr id="301" name="Соединительная линия уступом 124"/>
          <p:cNvCxnSpPr>
            <a:stCxn id="266" idx="2"/>
            <a:endCxn id="299" idx="0"/>
          </p:cNvCxnSpPr>
          <p:nvPr/>
        </p:nvCxnSpPr>
        <p:spPr>
          <a:xfrm rot="16200000" flipH="1">
            <a:off x="23799892" y="13762637"/>
            <a:ext cx="253700" cy="111556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04" name="Соединительная линия уступом 124"/>
          <p:cNvCxnSpPr>
            <a:stCxn id="266" idx="2"/>
            <a:endCxn id="297" idx="0"/>
          </p:cNvCxnSpPr>
          <p:nvPr/>
        </p:nvCxnSpPr>
        <p:spPr>
          <a:xfrm rot="5400000">
            <a:off x="22724559" y="13797995"/>
            <a:ext cx="248823" cy="103997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08" name="Прямая со стрелкой 307"/>
          <p:cNvCxnSpPr>
            <a:stCxn id="297" idx="2"/>
            <a:endCxn id="298" idx="0"/>
          </p:cNvCxnSpPr>
          <p:nvPr/>
        </p:nvCxnSpPr>
        <p:spPr>
          <a:xfrm flipH="1">
            <a:off x="22327762" y="14982395"/>
            <a:ext cx="1219" cy="21224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11" name="Прямая со стрелкой 310"/>
          <p:cNvCxnSpPr>
            <a:stCxn id="299" idx="2"/>
            <a:endCxn id="300" idx="0"/>
          </p:cNvCxnSpPr>
          <p:nvPr/>
        </p:nvCxnSpPr>
        <p:spPr>
          <a:xfrm flipH="1">
            <a:off x="24483307" y="14987272"/>
            <a:ext cx="1220" cy="21956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15" name="Соединительная линия уступом 314"/>
          <p:cNvCxnSpPr>
            <a:stCxn id="193" idx="2"/>
            <a:endCxn id="195" idx="0"/>
          </p:cNvCxnSpPr>
          <p:nvPr/>
        </p:nvCxnSpPr>
        <p:spPr>
          <a:xfrm rot="16200000" flipH="1">
            <a:off x="26408218" y="10943370"/>
            <a:ext cx="269185" cy="56167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18" name="Соединительная линия уступом 317"/>
          <p:cNvCxnSpPr>
            <a:stCxn id="194" idx="2"/>
            <a:endCxn id="195" idx="0"/>
          </p:cNvCxnSpPr>
          <p:nvPr/>
        </p:nvCxnSpPr>
        <p:spPr>
          <a:xfrm rot="5400000">
            <a:off x="26967031" y="10946230"/>
            <a:ext cx="269185" cy="55595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21" name="Прямоугольник 320"/>
          <p:cNvSpPr/>
          <p:nvPr/>
        </p:nvSpPr>
        <p:spPr>
          <a:xfrm>
            <a:off x="22907014" y="15995656"/>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«долг» США</a:t>
            </a:r>
          </a:p>
        </p:txBody>
      </p:sp>
      <p:cxnSp>
        <p:nvCxnSpPr>
          <p:cNvPr id="322" name="Соединительная линия уступом 124"/>
          <p:cNvCxnSpPr>
            <a:stCxn id="298" idx="2"/>
            <a:endCxn id="321" idx="0"/>
          </p:cNvCxnSpPr>
          <p:nvPr/>
        </p:nvCxnSpPr>
        <p:spPr>
          <a:xfrm rot="16200000" flipH="1">
            <a:off x="22718462" y="15343941"/>
            <a:ext cx="261014" cy="104241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25" name="Соединительная линия уступом 124"/>
          <p:cNvCxnSpPr>
            <a:stCxn id="300" idx="2"/>
            <a:endCxn id="321" idx="0"/>
          </p:cNvCxnSpPr>
          <p:nvPr/>
        </p:nvCxnSpPr>
        <p:spPr>
          <a:xfrm rot="5400000">
            <a:off x="23802331" y="15314679"/>
            <a:ext cx="248823" cy="111313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28" name="Прямоугольник 327"/>
          <p:cNvSpPr/>
          <p:nvPr/>
        </p:nvSpPr>
        <p:spPr>
          <a:xfrm>
            <a:off x="20245384" y="9016686"/>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белогвардейской дивизии</a:t>
            </a:r>
          </a:p>
        </p:txBody>
      </p:sp>
      <p:cxnSp>
        <p:nvCxnSpPr>
          <p:cNvPr id="329" name="Соединительная линия уступом 328"/>
          <p:cNvCxnSpPr>
            <a:stCxn id="105" idx="2"/>
            <a:endCxn id="328" idx="0"/>
          </p:cNvCxnSpPr>
          <p:nvPr/>
        </p:nvCxnSpPr>
        <p:spPr>
          <a:xfrm rot="5400000">
            <a:off x="20870038" y="8650264"/>
            <a:ext cx="204932" cy="52791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32" name="Прямоугольник 331"/>
          <p:cNvSpPr/>
          <p:nvPr/>
        </p:nvSpPr>
        <p:spPr>
          <a:xfrm>
            <a:off x="21319499" y="9015466"/>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Расширение генералитета</a:t>
            </a:r>
          </a:p>
        </p:txBody>
      </p:sp>
      <p:cxnSp>
        <p:nvCxnSpPr>
          <p:cNvPr id="333" name="Соединительная линия уступом 332"/>
          <p:cNvCxnSpPr>
            <a:stCxn id="105" idx="2"/>
            <a:endCxn id="332" idx="0"/>
          </p:cNvCxnSpPr>
          <p:nvPr/>
        </p:nvCxnSpPr>
        <p:spPr>
          <a:xfrm rot="16200000" flipH="1">
            <a:off x="21407705" y="8640509"/>
            <a:ext cx="203712" cy="54620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36" name="Прямоугольник 335"/>
          <p:cNvSpPr/>
          <p:nvPr/>
        </p:nvSpPr>
        <p:spPr>
          <a:xfrm>
            <a:off x="19748744" y="13652568"/>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Восстановление монастырей</a:t>
            </a:r>
          </a:p>
        </p:txBody>
      </p:sp>
      <p:cxnSp>
        <p:nvCxnSpPr>
          <p:cNvPr id="344" name="Соединительная линия уступом 124"/>
          <p:cNvCxnSpPr>
            <a:stCxn id="281" idx="2"/>
            <a:endCxn id="292" idx="0"/>
          </p:cNvCxnSpPr>
          <p:nvPr/>
        </p:nvCxnSpPr>
        <p:spPr>
          <a:xfrm rot="16200000" flipH="1">
            <a:off x="23814266" y="12957736"/>
            <a:ext cx="235985" cy="114105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47" name="Соединительная линия уступом 124"/>
          <p:cNvCxnSpPr>
            <a:stCxn id="280" idx="2"/>
            <a:endCxn id="336" idx="0"/>
          </p:cNvCxnSpPr>
          <p:nvPr/>
        </p:nvCxnSpPr>
        <p:spPr>
          <a:xfrm rot="16200000" flipH="1">
            <a:off x="19571835" y="13012495"/>
            <a:ext cx="242297" cy="103784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50" name="Прямоугольник 349"/>
          <p:cNvSpPr/>
          <p:nvPr/>
        </p:nvSpPr>
        <p:spPr>
          <a:xfrm>
            <a:off x="23558201" y="11340297"/>
            <a:ext cx="926325" cy="540000"/>
          </a:xfrm>
          <a:prstGeom prst="rect">
            <a:avLst/>
          </a:prstGeom>
          <a:solidFill>
            <a:srgbClr val="7030A0"/>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Союз с Италией</a:t>
            </a:r>
          </a:p>
        </p:txBody>
      </p:sp>
      <p:cxnSp>
        <p:nvCxnSpPr>
          <p:cNvPr id="354" name="Соединительная линия уступом 353"/>
          <p:cNvCxnSpPr>
            <a:stCxn id="179" idx="2"/>
            <a:endCxn id="350" idx="0"/>
          </p:cNvCxnSpPr>
          <p:nvPr/>
        </p:nvCxnSpPr>
        <p:spPr>
          <a:xfrm rot="5400000">
            <a:off x="24454761" y="10656217"/>
            <a:ext cx="250683" cy="111747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22" name="Прямоугольник 221"/>
          <p:cNvSpPr/>
          <p:nvPr/>
        </p:nvSpPr>
        <p:spPr>
          <a:xfrm>
            <a:off x="6662284" y="9042175"/>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Отмена республиканской конституции</a:t>
            </a:r>
            <a:endParaRPr lang="ru-RU" sz="200" dirty="0"/>
          </a:p>
        </p:txBody>
      </p:sp>
      <p:sp>
        <p:nvSpPr>
          <p:cNvPr id="223" name="Прямоугольник 222"/>
          <p:cNvSpPr/>
          <p:nvPr/>
        </p:nvSpPr>
        <p:spPr>
          <a:xfrm>
            <a:off x="9420867" y="9837595"/>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веру в церковь (католицизм)</a:t>
            </a:r>
          </a:p>
        </p:txBody>
      </p:sp>
      <p:sp>
        <p:nvSpPr>
          <p:cNvPr id="224" name="Прямоугольник 223"/>
          <p:cNvSpPr/>
          <p:nvPr/>
        </p:nvSpPr>
        <p:spPr>
          <a:xfrm>
            <a:off x="3903708" y="9835164"/>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Тоталитарное государство профсоюзов</a:t>
            </a:r>
          </a:p>
        </p:txBody>
      </p:sp>
      <p:sp>
        <p:nvSpPr>
          <p:cNvPr id="226" name="Прямоугольник 225"/>
          <p:cNvSpPr/>
          <p:nvPr/>
        </p:nvSpPr>
        <p:spPr>
          <a:xfrm>
            <a:off x="3903708" y="10584441"/>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Вертикальный профсоюз</a:t>
            </a:r>
          </a:p>
        </p:txBody>
      </p:sp>
      <p:sp>
        <p:nvSpPr>
          <p:cNvPr id="227" name="Прямоугольник 226"/>
          <p:cNvSpPr/>
          <p:nvPr/>
        </p:nvSpPr>
        <p:spPr>
          <a:xfrm>
            <a:off x="3333933" y="11371722"/>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Объединение рабочих и работодателей по отраслям</a:t>
            </a:r>
          </a:p>
        </p:txBody>
      </p:sp>
      <p:sp>
        <p:nvSpPr>
          <p:cNvPr id="232" name="Прямоугольник 231"/>
          <p:cNvSpPr/>
          <p:nvPr/>
        </p:nvSpPr>
        <p:spPr>
          <a:xfrm>
            <a:off x="4460768" y="11371246"/>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Передача прав собственности и средств производства в профсоюзы</a:t>
            </a:r>
          </a:p>
        </p:txBody>
      </p:sp>
      <p:sp>
        <p:nvSpPr>
          <p:cNvPr id="233" name="Прямоугольник 232"/>
          <p:cNvSpPr/>
          <p:nvPr/>
        </p:nvSpPr>
        <p:spPr>
          <a:xfrm>
            <a:off x="6662288" y="9835008"/>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Социальная революция</a:t>
            </a:r>
          </a:p>
        </p:txBody>
      </p:sp>
      <p:sp>
        <p:nvSpPr>
          <p:cNvPr id="240" name="Прямоугольник 239"/>
          <p:cNvSpPr/>
          <p:nvPr/>
        </p:nvSpPr>
        <p:spPr>
          <a:xfrm>
            <a:off x="6662287" y="10593243"/>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a:t>Упразднение партийной системы</a:t>
            </a:r>
            <a:endParaRPr lang="ru-RU" sz="200" dirty="0"/>
          </a:p>
        </p:txBody>
      </p:sp>
      <p:sp>
        <p:nvSpPr>
          <p:cNvPr id="241" name="Прямоугольник 240"/>
          <p:cNvSpPr/>
          <p:nvPr/>
        </p:nvSpPr>
        <p:spPr>
          <a:xfrm>
            <a:off x="7767187" y="10593243"/>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Обязательная начальная военная подготовка</a:t>
            </a:r>
          </a:p>
        </p:txBody>
      </p:sp>
      <p:sp>
        <p:nvSpPr>
          <p:cNvPr id="243" name="Прямоугольник 242"/>
          <p:cNvSpPr/>
          <p:nvPr/>
        </p:nvSpPr>
        <p:spPr>
          <a:xfrm>
            <a:off x="5557387" y="9835164"/>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Политика в отношении сельской местности</a:t>
            </a:r>
            <a:endParaRPr lang="ru-RU" sz="200" dirty="0"/>
          </a:p>
        </p:txBody>
      </p:sp>
      <p:sp>
        <p:nvSpPr>
          <p:cNvPr id="244" name="Прямоугольник 243"/>
          <p:cNvSpPr/>
          <p:nvPr/>
        </p:nvSpPr>
        <p:spPr>
          <a:xfrm>
            <a:off x="5557387" y="10593243"/>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Синтез аграрных реформ</a:t>
            </a:r>
            <a:endParaRPr lang="ru-RU" sz="200" dirty="0"/>
          </a:p>
        </p:txBody>
      </p:sp>
      <p:cxnSp>
        <p:nvCxnSpPr>
          <p:cNvPr id="245" name="Соединительная линия уступом 244"/>
          <p:cNvCxnSpPr>
            <a:stCxn id="222" idx="2"/>
            <a:endCxn id="224" idx="0"/>
          </p:cNvCxnSpPr>
          <p:nvPr/>
        </p:nvCxnSpPr>
        <p:spPr>
          <a:xfrm rot="5400000">
            <a:off x="5619665" y="8329381"/>
            <a:ext cx="252989" cy="275857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47" name="Прямоугольник 246"/>
          <p:cNvSpPr/>
          <p:nvPr/>
        </p:nvSpPr>
        <p:spPr>
          <a:xfrm>
            <a:off x="8872087" y="10584441"/>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Национальная реконструкция</a:t>
            </a:r>
            <a:endParaRPr lang="ru-RU" sz="200" dirty="0"/>
          </a:p>
        </p:txBody>
      </p:sp>
      <p:sp>
        <p:nvSpPr>
          <p:cNvPr id="249" name="Прямоугольник 248"/>
          <p:cNvSpPr/>
          <p:nvPr/>
        </p:nvSpPr>
        <p:spPr>
          <a:xfrm>
            <a:off x="6109836" y="11351478"/>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Восстановить Испанскую империю</a:t>
            </a:r>
            <a:endParaRPr lang="ru-RU" sz="200" dirty="0"/>
          </a:p>
        </p:txBody>
      </p:sp>
      <p:sp>
        <p:nvSpPr>
          <p:cNvPr id="252" name="Прямоугольник 251"/>
          <p:cNvSpPr/>
          <p:nvPr/>
        </p:nvSpPr>
        <p:spPr>
          <a:xfrm>
            <a:off x="9976987" y="10584441"/>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Привить дисциплину и единство через религию</a:t>
            </a:r>
          </a:p>
        </p:txBody>
      </p:sp>
      <p:sp>
        <p:nvSpPr>
          <p:cNvPr id="253" name="Прямоугольник 252"/>
          <p:cNvSpPr/>
          <p:nvPr/>
        </p:nvSpPr>
        <p:spPr>
          <a:xfrm>
            <a:off x="8325886" y="9838317"/>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Поддержка выдающихся талантов</a:t>
            </a:r>
            <a:endParaRPr lang="ru-RU" sz="200" dirty="0"/>
          </a:p>
        </p:txBody>
      </p:sp>
      <p:sp>
        <p:nvSpPr>
          <p:cNvPr id="256" name="Прямоугольник 255"/>
          <p:cNvSpPr/>
          <p:nvPr/>
        </p:nvSpPr>
        <p:spPr>
          <a:xfrm>
            <a:off x="4463273" y="12124199"/>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Воплотить в жизнь национал-</a:t>
            </a:r>
            <a:r>
              <a:rPr lang="ru-RU" sz="700" dirty="0" err="1"/>
              <a:t>юнионизм</a:t>
            </a:r>
            <a:r>
              <a:rPr lang="ru-RU" sz="700" dirty="0"/>
              <a:t> </a:t>
            </a:r>
            <a:r>
              <a:rPr lang="ru-RU" sz="700" dirty="0" err="1"/>
              <a:t>Рамоса</a:t>
            </a:r>
            <a:endParaRPr lang="ru-RU" sz="700" dirty="0"/>
          </a:p>
        </p:txBody>
      </p:sp>
      <p:cxnSp>
        <p:nvCxnSpPr>
          <p:cNvPr id="263" name="Соединительная линия уступом 262"/>
          <p:cNvCxnSpPr>
            <a:stCxn id="222" idx="2"/>
            <a:endCxn id="223" idx="0"/>
          </p:cNvCxnSpPr>
          <p:nvPr/>
        </p:nvCxnSpPr>
        <p:spPr>
          <a:xfrm rot="16200000" flipH="1">
            <a:off x="8377028" y="8330593"/>
            <a:ext cx="255420" cy="275858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64" name="Соединительная линия уступом 263"/>
          <p:cNvCxnSpPr>
            <a:stCxn id="226" idx="2"/>
            <a:endCxn id="227" idx="0"/>
          </p:cNvCxnSpPr>
          <p:nvPr/>
        </p:nvCxnSpPr>
        <p:spPr>
          <a:xfrm rot="5400000">
            <a:off x="3958344" y="10963194"/>
            <a:ext cx="247281" cy="56977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68" name="Соединительная линия уступом 267"/>
          <p:cNvCxnSpPr>
            <a:stCxn id="226" idx="2"/>
            <a:endCxn id="232" idx="0"/>
          </p:cNvCxnSpPr>
          <p:nvPr/>
        </p:nvCxnSpPr>
        <p:spPr>
          <a:xfrm rot="16200000" flipH="1">
            <a:off x="4521999" y="10969313"/>
            <a:ext cx="246805" cy="55706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69" name="Соединительная линия уступом 268"/>
          <p:cNvCxnSpPr>
            <a:stCxn id="233" idx="2"/>
            <a:endCxn id="241" idx="0"/>
          </p:cNvCxnSpPr>
          <p:nvPr/>
        </p:nvCxnSpPr>
        <p:spPr>
          <a:xfrm rot="16200000" flipH="1">
            <a:off x="7568783" y="9931675"/>
            <a:ext cx="218235" cy="110489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73" name="Соединительная линия уступом 272"/>
          <p:cNvCxnSpPr>
            <a:stCxn id="222" idx="2"/>
            <a:endCxn id="253" idx="0"/>
          </p:cNvCxnSpPr>
          <p:nvPr/>
        </p:nvCxnSpPr>
        <p:spPr>
          <a:xfrm rot="16200000" flipH="1">
            <a:off x="7829177" y="8878445"/>
            <a:ext cx="256142" cy="166360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75" name="Соединительная линия уступом 274"/>
          <p:cNvCxnSpPr>
            <a:stCxn id="223" idx="2"/>
            <a:endCxn id="252" idx="0"/>
          </p:cNvCxnSpPr>
          <p:nvPr/>
        </p:nvCxnSpPr>
        <p:spPr>
          <a:xfrm rot="16200000" flipH="1">
            <a:off x="10058667" y="10202958"/>
            <a:ext cx="206846" cy="55612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79" name="Прямая со стрелкой 278"/>
          <p:cNvCxnSpPr>
            <a:stCxn id="224" idx="2"/>
            <a:endCxn id="226" idx="0"/>
          </p:cNvCxnSpPr>
          <p:nvPr/>
        </p:nvCxnSpPr>
        <p:spPr>
          <a:xfrm>
            <a:off x="4366871" y="10375164"/>
            <a:ext cx="0" cy="20927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83" name="Прямая со стрелкой 282"/>
          <p:cNvCxnSpPr>
            <a:stCxn id="243" idx="2"/>
            <a:endCxn id="244" idx="0"/>
          </p:cNvCxnSpPr>
          <p:nvPr/>
        </p:nvCxnSpPr>
        <p:spPr>
          <a:xfrm>
            <a:off x="6020550" y="10375164"/>
            <a:ext cx="0" cy="218079"/>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86" name="Прямая со стрелкой 285"/>
          <p:cNvCxnSpPr>
            <a:stCxn id="233" idx="2"/>
            <a:endCxn id="240" idx="0"/>
          </p:cNvCxnSpPr>
          <p:nvPr/>
        </p:nvCxnSpPr>
        <p:spPr>
          <a:xfrm flipH="1">
            <a:off x="7125450" y="10375008"/>
            <a:ext cx="1" cy="21823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90" name="Соединительная линия уступом 289"/>
          <p:cNvCxnSpPr>
            <a:stCxn id="222" idx="2"/>
            <a:endCxn id="243" idx="0"/>
          </p:cNvCxnSpPr>
          <p:nvPr/>
        </p:nvCxnSpPr>
        <p:spPr>
          <a:xfrm rot="5400000">
            <a:off x="6446505" y="9156221"/>
            <a:ext cx="252989" cy="110489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91" name="Прямая со стрелкой 290"/>
          <p:cNvCxnSpPr>
            <a:stCxn id="222" idx="2"/>
            <a:endCxn id="233" idx="0"/>
          </p:cNvCxnSpPr>
          <p:nvPr/>
        </p:nvCxnSpPr>
        <p:spPr>
          <a:xfrm>
            <a:off x="7125447" y="9582175"/>
            <a:ext cx="4" cy="252833"/>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93" name="Прямая со стрелкой 292"/>
          <p:cNvCxnSpPr>
            <a:stCxn id="100" idx="2"/>
            <a:endCxn id="222" idx="0"/>
          </p:cNvCxnSpPr>
          <p:nvPr/>
        </p:nvCxnSpPr>
        <p:spPr>
          <a:xfrm flipH="1">
            <a:off x="7125447" y="7269871"/>
            <a:ext cx="6354" cy="1772304"/>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94" name="Прямоугольник 293"/>
          <p:cNvSpPr/>
          <p:nvPr/>
        </p:nvSpPr>
        <p:spPr>
          <a:xfrm>
            <a:off x="5004458" y="7511010"/>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Диктатура </a:t>
            </a:r>
            <a:r>
              <a:rPr lang="ru-RU" sz="700" dirty="0" err="1"/>
              <a:t>Примо</a:t>
            </a:r>
            <a:r>
              <a:rPr lang="ru-RU" sz="700" dirty="0"/>
              <a:t> де Риверы</a:t>
            </a:r>
            <a:endParaRPr lang="ru-RU" sz="400" dirty="0"/>
          </a:p>
        </p:txBody>
      </p:sp>
      <p:sp>
        <p:nvSpPr>
          <p:cNvPr id="296" name="Прямоугольник 295"/>
          <p:cNvSpPr/>
          <p:nvPr/>
        </p:nvSpPr>
        <p:spPr>
          <a:xfrm>
            <a:off x="8328681" y="7511010"/>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Представительство </a:t>
            </a:r>
            <a:r>
              <a:rPr lang="ru-RU" sz="700" dirty="0" err="1"/>
              <a:t>Эдильи</a:t>
            </a:r>
            <a:endParaRPr lang="ru-RU" sz="700" dirty="0"/>
          </a:p>
        </p:txBody>
      </p:sp>
      <p:cxnSp>
        <p:nvCxnSpPr>
          <p:cNvPr id="307" name="Прямая соединительная линия 306"/>
          <p:cNvCxnSpPr>
            <a:stCxn id="294" idx="3"/>
            <a:endCxn id="296" idx="1"/>
          </p:cNvCxnSpPr>
          <p:nvPr/>
        </p:nvCxnSpPr>
        <p:spPr>
          <a:xfrm>
            <a:off x="5930783" y="7781010"/>
            <a:ext cx="239789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10" name="Прямоугольник 309"/>
          <p:cNvSpPr/>
          <p:nvPr/>
        </p:nvSpPr>
        <p:spPr>
          <a:xfrm>
            <a:off x="3901284" y="8268098"/>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Диалектика кулаков и ружей</a:t>
            </a:r>
          </a:p>
        </p:txBody>
      </p:sp>
      <p:sp>
        <p:nvSpPr>
          <p:cNvPr id="312" name="Прямоугольник 311"/>
          <p:cNvSpPr/>
          <p:nvPr/>
        </p:nvSpPr>
        <p:spPr>
          <a:xfrm>
            <a:off x="6113011" y="12118589"/>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Помочь </a:t>
            </a:r>
            <a:r>
              <a:rPr lang="ru-RU" sz="700" dirty="0" err="1"/>
              <a:t>Прету</a:t>
            </a:r>
            <a:r>
              <a:rPr lang="ru-RU" sz="700" dirty="0"/>
              <a:t> возглавить Португалию</a:t>
            </a:r>
          </a:p>
        </p:txBody>
      </p:sp>
      <p:sp>
        <p:nvSpPr>
          <p:cNvPr id="313" name="Прямоугольник 312"/>
          <p:cNvSpPr/>
          <p:nvPr/>
        </p:nvSpPr>
        <p:spPr>
          <a:xfrm>
            <a:off x="7214736" y="12118589"/>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Пригласить португальских национал-синдикалистов</a:t>
            </a:r>
          </a:p>
        </p:txBody>
      </p:sp>
      <p:cxnSp>
        <p:nvCxnSpPr>
          <p:cNvPr id="314" name="Прямая соединительная линия 313"/>
          <p:cNvCxnSpPr>
            <a:stCxn id="312" idx="3"/>
            <a:endCxn id="313" idx="1"/>
          </p:cNvCxnSpPr>
          <p:nvPr/>
        </p:nvCxnSpPr>
        <p:spPr>
          <a:xfrm>
            <a:off x="7039336" y="12388589"/>
            <a:ext cx="1754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19" name="Прямоугольник 318"/>
          <p:cNvSpPr/>
          <p:nvPr/>
        </p:nvSpPr>
        <p:spPr>
          <a:xfrm>
            <a:off x="5007147" y="8268098"/>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Объединение под авторитетом государства</a:t>
            </a:r>
          </a:p>
        </p:txBody>
      </p:sp>
      <p:sp>
        <p:nvSpPr>
          <p:cNvPr id="320" name="Прямоугольник 319"/>
          <p:cNvSpPr/>
          <p:nvPr/>
        </p:nvSpPr>
        <p:spPr>
          <a:xfrm>
            <a:off x="6113010" y="8266559"/>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Концепция «Воинственной и жертвенной жизни»</a:t>
            </a:r>
          </a:p>
        </p:txBody>
      </p:sp>
      <p:sp>
        <p:nvSpPr>
          <p:cNvPr id="324" name="Прямоугольник 323"/>
          <p:cNvSpPr/>
          <p:nvPr/>
        </p:nvSpPr>
        <p:spPr>
          <a:xfrm>
            <a:off x="4463273" y="12891900"/>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Стимулирование роста промышленности</a:t>
            </a:r>
          </a:p>
        </p:txBody>
      </p:sp>
      <p:cxnSp>
        <p:nvCxnSpPr>
          <p:cNvPr id="326" name="Прямая со стрелкой 325"/>
          <p:cNvCxnSpPr>
            <a:stCxn id="256" idx="2"/>
            <a:endCxn id="324" idx="0"/>
          </p:cNvCxnSpPr>
          <p:nvPr/>
        </p:nvCxnSpPr>
        <p:spPr>
          <a:xfrm>
            <a:off x="4926436" y="12664199"/>
            <a:ext cx="0" cy="22770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27" name="Соединительная линия уступом 326"/>
          <p:cNvCxnSpPr>
            <a:stCxn id="227" idx="2"/>
            <a:endCxn id="256" idx="0"/>
          </p:cNvCxnSpPr>
          <p:nvPr/>
        </p:nvCxnSpPr>
        <p:spPr>
          <a:xfrm rot="16200000" flipH="1">
            <a:off x="4255528" y="11453290"/>
            <a:ext cx="212477" cy="112934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35" name="Соединительная линия уступом 334"/>
          <p:cNvCxnSpPr>
            <a:stCxn id="294" idx="2"/>
            <a:endCxn id="310" idx="0"/>
          </p:cNvCxnSpPr>
          <p:nvPr/>
        </p:nvCxnSpPr>
        <p:spPr>
          <a:xfrm rot="5400000">
            <a:off x="4807490" y="7607967"/>
            <a:ext cx="217088" cy="110317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38" name="Соединительная линия уступом 337"/>
          <p:cNvCxnSpPr>
            <a:stCxn id="294" idx="2"/>
            <a:endCxn id="320" idx="0"/>
          </p:cNvCxnSpPr>
          <p:nvPr/>
        </p:nvCxnSpPr>
        <p:spPr>
          <a:xfrm rot="16200000" flipH="1">
            <a:off x="5914123" y="7604508"/>
            <a:ext cx="215549" cy="110855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52" name="Прямоугольник 351"/>
          <p:cNvSpPr/>
          <p:nvPr/>
        </p:nvSpPr>
        <p:spPr>
          <a:xfrm>
            <a:off x="7214736" y="11349023"/>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Дипломатическая служба фаланги</a:t>
            </a:r>
            <a:endParaRPr lang="ru-RU" sz="200" dirty="0"/>
          </a:p>
        </p:txBody>
      </p:sp>
      <p:cxnSp>
        <p:nvCxnSpPr>
          <p:cNvPr id="353" name="Соединительная линия уступом 352"/>
          <p:cNvCxnSpPr>
            <a:stCxn id="240" idx="2"/>
            <a:endCxn id="352" idx="0"/>
          </p:cNvCxnSpPr>
          <p:nvPr/>
        </p:nvCxnSpPr>
        <p:spPr>
          <a:xfrm rot="16200000" flipH="1">
            <a:off x="7293784" y="10964908"/>
            <a:ext cx="215780" cy="55244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56" name="Соединительная линия уступом 355"/>
          <p:cNvCxnSpPr>
            <a:stCxn id="240" idx="2"/>
            <a:endCxn id="249" idx="0"/>
          </p:cNvCxnSpPr>
          <p:nvPr/>
        </p:nvCxnSpPr>
        <p:spPr>
          <a:xfrm rot="5400000">
            <a:off x="6740108" y="10966135"/>
            <a:ext cx="218235" cy="55245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59" name="Прямоугольник 358"/>
          <p:cNvSpPr/>
          <p:nvPr/>
        </p:nvSpPr>
        <p:spPr>
          <a:xfrm>
            <a:off x="5557385" y="12902546"/>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Филиппины</a:t>
            </a:r>
          </a:p>
        </p:txBody>
      </p:sp>
      <p:sp>
        <p:nvSpPr>
          <p:cNvPr id="360" name="Прямоугольник 359"/>
          <p:cNvSpPr/>
          <p:nvPr/>
        </p:nvSpPr>
        <p:spPr>
          <a:xfrm>
            <a:off x="7767185" y="12899851"/>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Взять руководство над Филиппинской фалангой</a:t>
            </a:r>
          </a:p>
        </p:txBody>
      </p:sp>
      <p:cxnSp>
        <p:nvCxnSpPr>
          <p:cNvPr id="361" name="Прямая соединительная линия 360"/>
          <p:cNvCxnSpPr>
            <a:stCxn id="359" idx="3"/>
            <a:endCxn id="360" idx="1"/>
          </p:cNvCxnSpPr>
          <p:nvPr/>
        </p:nvCxnSpPr>
        <p:spPr>
          <a:xfrm flipV="1">
            <a:off x="6483710" y="13169851"/>
            <a:ext cx="1283475" cy="269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5" name="Соединительная линия уступом 364"/>
          <p:cNvCxnSpPr>
            <a:stCxn id="249" idx="2"/>
            <a:endCxn id="359" idx="0"/>
          </p:cNvCxnSpPr>
          <p:nvPr/>
        </p:nvCxnSpPr>
        <p:spPr>
          <a:xfrm rot="5400000">
            <a:off x="5791240" y="12120787"/>
            <a:ext cx="1011068" cy="552451"/>
          </a:xfrm>
          <a:prstGeom prst="bentConnector3">
            <a:avLst>
              <a:gd name="adj1" fmla="val 10543"/>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69" name="Соединительная линия уступом 368"/>
          <p:cNvCxnSpPr>
            <a:stCxn id="352" idx="2"/>
            <a:endCxn id="360" idx="0"/>
          </p:cNvCxnSpPr>
          <p:nvPr/>
        </p:nvCxnSpPr>
        <p:spPr>
          <a:xfrm rot="16200000" flipH="1">
            <a:off x="7448709" y="12118212"/>
            <a:ext cx="1010828" cy="552449"/>
          </a:xfrm>
          <a:prstGeom prst="bentConnector3">
            <a:avLst>
              <a:gd name="adj1" fmla="val 10669"/>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73" name="Прямая со стрелкой 372"/>
          <p:cNvCxnSpPr>
            <a:stCxn id="249" idx="2"/>
            <a:endCxn id="312" idx="0"/>
          </p:cNvCxnSpPr>
          <p:nvPr/>
        </p:nvCxnSpPr>
        <p:spPr>
          <a:xfrm>
            <a:off x="6572999" y="11891478"/>
            <a:ext cx="3175" cy="22711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76" name="Прямая со стрелкой 375"/>
          <p:cNvCxnSpPr>
            <a:stCxn id="352" idx="2"/>
            <a:endCxn id="313" idx="0"/>
          </p:cNvCxnSpPr>
          <p:nvPr/>
        </p:nvCxnSpPr>
        <p:spPr>
          <a:xfrm>
            <a:off x="7677899" y="11889023"/>
            <a:ext cx="0" cy="22956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84" name="Прямая со стрелкой 383"/>
          <p:cNvCxnSpPr>
            <a:stCxn id="294" idx="2"/>
            <a:endCxn id="319" idx="0"/>
          </p:cNvCxnSpPr>
          <p:nvPr/>
        </p:nvCxnSpPr>
        <p:spPr>
          <a:xfrm>
            <a:off x="5467621" y="8051010"/>
            <a:ext cx="2689" cy="21708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87" name="Прямоугольник 386"/>
          <p:cNvSpPr/>
          <p:nvPr/>
        </p:nvSpPr>
        <p:spPr>
          <a:xfrm>
            <a:off x="5004458" y="9036138"/>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Вступить в фашистский Интернационал </a:t>
            </a:r>
            <a:r>
              <a:rPr lang="ru-RU" sz="500" dirty="0"/>
              <a:t>(если </a:t>
            </a:r>
            <a:r>
              <a:rPr lang="ru-RU" sz="500" dirty="0" err="1"/>
              <a:t>Итал</a:t>
            </a:r>
            <a:r>
              <a:rPr lang="ru-RU" sz="500" dirty="0"/>
              <a:t> во главе, не даёт учить </a:t>
            </a:r>
            <a:r>
              <a:rPr lang="ru-RU" sz="500" dirty="0" err="1"/>
              <a:t>дип</a:t>
            </a:r>
            <a:r>
              <a:rPr lang="ru-RU" sz="500" dirty="0"/>
              <a:t> службу фаланги)</a:t>
            </a:r>
          </a:p>
        </p:txBody>
      </p:sp>
      <p:sp>
        <p:nvSpPr>
          <p:cNvPr id="388" name="Прямоугольник 387"/>
          <p:cNvSpPr/>
          <p:nvPr/>
        </p:nvSpPr>
        <p:spPr>
          <a:xfrm>
            <a:off x="8328680" y="9036138"/>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Вступить в Ось</a:t>
            </a:r>
            <a:endParaRPr lang="ru-RU" sz="500" dirty="0"/>
          </a:p>
        </p:txBody>
      </p:sp>
      <p:cxnSp>
        <p:nvCxnSpPr>
          <p:cNvPr id="396" name="Соединительная линия уступом 395"/>
          <p:cNvCxnSpPr>
            <a:stCxn id="100" idx="2"/>
            <a:endCxn id="294" idx="0"/>
          </p:cNvCxnSpPr>
          <p:nvPr/>
        </p:nvCxnSpPr>
        <p:spPr>
          <a:xfrm rot="5400000">
            <a:off x="6179142" y="6558350"/>
            <a:ext cx="241139" cy="166418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99" name="Соединительная линия уступом 398"/>
          <p:cNvCxnSpPr>
            <a:stCxn id="100" idx="2"/>
            <a:endCxn id="296" idx="0"/>
          </p:cNvCxnSpPr>
          <p:nvPr/>
        </p:nvCxnSpPr>
        <p:spPr>
          <a:xfrm rot="16200000" flipH="1">
            <a:off x="7841253" y="6560418"/>
            <a:ext cx="241139" cy="166004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404" name="Прямоугольник 403"/>
          <p:cNvSpPr/>
          <p:nvPr/>
        </p:nvSpPr>
        <p:spPr>
          <a:xfrm>
            <a:off x="8328680" y="8275440"/>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Превосходство старых рубашек</a:t>
            </a:r>
          </a:p>
        </p:txBody>
      </p:sp>
      <p:sp>
        <p:nvSpPr>
          <p:cNvPr id="405" name="Прямоугольник 404"/>
          <p:cNvSpPr/>
          <p:nvPr/>
        </p:nvSpPr>
        <p:spPr>
          <a:xfrm>
            <a:off x="9420866" y="8268616"/>
            <a:ext cx="926325" cy="540000"/>
          </a:xfrm>
          <a:prstGeom prst="rect">
            <a:avLst/>
          </a:prstGeom>
          <a:no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Построить культ личности</a:t>
            </a:r>
          </a:p>
        </p:txBody>
      </p:sp>
      <p:sp>
        <p:nvSpPr>
          <p:cNvPr id="406" name="Прямоугольник 405"/>
          <p:cNvSpPr/>
          <p:nvPr/>
        </p:nvSpPr>
        <p:spPr>
          <a:xfrm>
            <a:off x="7214736" y="8268098"/>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Пролетарская пропаганда</a:t>
            </a:r>
          </a:p>
        </p:txBody>
      </p:sp>
      <p:cxnSp>
        <p:nvCxnSpPr>
          <p:cNvPr id="410" name="Соединительная линия уступом 409"/>
          <p:cNvCxnSpPr>
            <a:stCxn id="296" idx="2"/>
            <a:endCxn id="406" idx="0"/>
          </p:cNvCxnSpPr>
          <p:nvPr/>
        </p:nvCxnSpPr>
        <p:spPr>
          <a:xfrm rot="5400000">
            <a:off x="8126328" y="7602582"/>
            <a:ext cx="217088" cy="111394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15" name="Прямая со стрелкой 414"/>
          <p:cNvCxnSpPr>
            <a:stCxn id="296" idx="2"/>
            <a:endCxn id="404" idx="0"/>
          </p:cNvCxnSpPr>
          <p:nvPr/>
        </p:nvCxnSpPr>
        <p:spPr>
          <a:xfrm flipH="1">
            <a:off x="8791843" y="8051010"/>
            <a:ext cx="1" cy="22443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18" name="Прямая со стрелкой 417"/>
          <p:cNvCxnSpPr>
            <a:stCxn id="404" idx="2"/>
            <a:endCxn id="388" idx="0"/>
          </p:cNvCxnSpPr>
          <p:nvPr/>
        </p:nvCxnSpPr>
        <p:spPr>
          <a:xfrm>
            <a:off x="8791843" y="8815440"/>
            <a:ext cx="0" cy="22069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423" name="Прямоугольник 422"/>
          <p:cNvSpPr/>
          <p:nvPr/>
        </p:nvSpPr>
        <p:spPr>
          <a:xfrm>
            <a:off x="8872593" y="12100294"/>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Пятая колонна</a:t>
            </a:r>
          </a:p>
        </p:txBody>
      </p:sp>
      <p:sp>
        <p:nvSpPr>
          <p:cNvPr id="424" name="Прямоугольник 423"/>
          <p:cNvSpPr/>
          <p:nvPr/>
        </p:nvSpPr>
        <p:spPr>
          <a:xfrm>
            <a:off x="8328680" y="13665370"/>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Союз с национальной фалангой Чили</a:t>
            </a:r>
          </a:p>
        </p:txBody>
      </p:sp>
      <p:sp>
        <p:nvSpPr>
          <p:cNvPr id="425" name="Прямоугольник 424"/>
          <p:cNvSpPr/>
          <p:nvPr/>
        </p:nvSpPr>
        <p:spPr>
          <a:xfrm>
            <a:off x="5004458" y="13665003"/>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Передать власть «Национальной фаланге»</a:t>
            </a:r>
          </a:p>
        </p:txBody>
      </p:sp>
      <p:cxnSp>
        <p:nvCxnSpPr>
          <p:cNvPr id="426" name="Прямая соединительная линия 425"/>
          <p:cNvCxnSpPr>
            <a:stCxn id="425" idx="3"/>
            <a:endCxn id="424" idx="1"/>
          </p:cNvCxnSpPr>
          <p:nvPr/>
        </p:nvCxnSpPr>
        <p:spPr>
          <a:xfrm>
            <a:off x="5930783" y="13935003"/>
            <a:ext cx="2397897" cy="36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9" name="Соединительная линия уступом 428"/>
          <p:cNvCxnSpPr>
            <a:stCxn id="352" idx="2"/>
            <a:endCxn id="424" idx="0"/>
          </p:cNvCxnSpPr>
          <p:nvPr/>
        </p:nvCxnSpPr>
        <p:spPr>
          <a:xfrm rot="16200000" flipH="1">
            <a:off x="7346698" y="12220224"/>
            <a:ext cx="1776347" cy="1113944"/>
          </a:xfrm>
          <a:prstGeom prst="bentConnector3">
            <a:avLst>
              <a:gd name="adj1" fmla="val 5925"/>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33" name="Соединительная линия уступом 432"/>
          <p:cNvCxnSpPr>
            <a:stCxn id="249" idx="2"/>
            <a:endCxn id="425" idx="0"/>
          </p:cNvCxnSpPr>
          <p:nvPr/>
        </p:nvCxnSpPr>
        <p:spPr>
          <a:xfrm rot="5400000">
            <a:off x="5133548" y="12225551"/>
            <a:ext cx="1773525" cy="1105378"/>
          </a:xfrm>
          <a:prstGeom prst="bentConnector3">
            <a:avLst>
              <a:gd name="adj1" fmla="val 5855"/>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437" name="Прямоугольник 436"/>
          <p:cNvSpPr/>
          <p:nvPr/>
        </p:nvSpPr>
        <p:spPr>
          <a:xfrm>
            <a:off x="5004458" y="15214607"/>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Поддержать «Поколение </a:t>
            </a:r>
            <a:r>
              <a:rPr lang="ru-RU" sz="700" dirty="0" err="1"/>
              <a:t>Чако</a:t>
            </a:r>
            <a:r>
              <a:rPr lang="ru-RU" sz="700" dirty="0"/>
              <a:t>» в Боливии</a:t>
            </a:r>
          </a:p>
        </p:txBody>
      </p:sp>
      <p:sp>
        <p:nvSpPr>
          <p:cNvPr id="438" name="Прямоугольник 437"/>
          <p:cNvSpPr/>
          <p:nvPr/>
        </p:nvSpPr>
        <p:spPr>
          <a:xfrm>
            <a:off x="8328680" y="15214607"/>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Достигнуть консенсуса с Боливийской социалистической фалангой</a:t>
            </a:r>
          </a:p>
        </p:txBody>
      </p:sp>
      <p:sp>
        <p:nvSpPr>
          <p:cNvPr id="439" name="Прямоугольник 438"/>
          <p:cNvSpPr/>
          <p:nvPr/>
        </p:nvSpPr>
        <p:spPr>
          <a:xfrm>
            <a:off x="7214735" y="14434778"/>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Перетянуть Кубу на свою сторону</a:t>
            </a:r>
          </a:p>
        </p:txBody>
      </p:sp>
      <p:sp>
        <p:nvSpPr>
          <p:cNvPr id="440" name="Прямоугольник 439"/>
          <p:cNvSpPr/>
          <p:nvPr/>
        </p:nvSpPr>
        <p:spPr>
          <a:xfrm>
            <a:off x="6109835" y="14435604"/>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Поставить фалангу во главе Кубы</a:t>
            </a:r>
          </a:p>
        </p:txBody>
      </p:sp>
      <p:cxnSp>
        <p:nvCxnSpPr>
          <p:cNvPr id="441" name="Прямая соединительная линия 440"/>
          <p:cNvCxnSpPr>
            <a:stCxn id="440" idx="3"/>
            <a:endCxn id="439" idx="1"/>
          </p:cNvCxnSpPr>
          <p:nvPr/>
        </p:nvCxnSpPr>
        <p:spPr>
          <a:xfrm flipV="1">
            <a:off x="7036160" y="14704778"/>
            <a:ext cx="178575" cy="82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4" name="Соединительная линия уступом 443"/>
          <p:cNvCxnSpPr>
            <a:stCxn id="312" idx="2"/>
            <a:endCxn id="439" idx="0"/>
          </p:cNvCxnSpPr>
          <p:nvPr/>
        </p:nvCxnSpPr>
        <p:spPr>
          <a:xfrm rot="16200000" flipH="1">
            <a:off x="6238942" y="12995821"/>
            <a:ext cx="1776189" cy="1101724"/>
          </a:xfrm>
          <a:prstGeom prst="bentConnector3">
            <a:avLst>
              <a:gd name="adj1" fmla="val 6258"/>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48" name="Соединительная линия уступом 447"/>
          <p:cNvCxnSpPr>
            <a:stCxn id="313" idx="2"/>
            <a:endCxn id="440" idx="0"/>
          </p:cNvCxnSpPr>
          <p:nvPr/>
        </p:nvCxnSpPr>
        <p:spPr>
          <a:xfrm rot="5400000">
            <a:off x="6236942" y="12994646"/>
            <a:ext cx="1777015" cy="1104901"/>
          </a:xfrm>
          <a:prstGeom prst="bentConnector3">
            <a:avLst>
              <a:gd name="adj1" fmla="val 6278"/>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52" name="Прямая со стрелкой 451"/>
          <p:cNvCxnSpPr>
            <a:stCxn id="312" idx="2"/>
            <a:endCxn id="440" idx="0"/>
          </p:cNvCxnSpPr>
          <p:nvPr/>
        </p:nvCxnSpPr>
        <p:spPr>
          <a:xfrm flipH="1">
            <a:off x="6572998" y="12658589"/>
            <a:ext cx="3176" cy="1777015"/>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55" name="Прямая со стрелкой 454"/>
          <p:cNvCxnSpPr>
            <a:stCxn id="313" idx="2"/>
            <a:endCxn id="439" idx="0"/>
          </p:cNvCxnSpPr>
          <p:nvPr/>
        </p:nvCxnSpPr>
        <p:spPr>
          <a:xfrm flipH="1">
            <a:off x="7677898" y="12658589"/>
            <a:ext cx="1" cy="1776189"/>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58" name="Соединительная линия уступом 457"/>
          <p:cNvCxnSpPr>
            <a:stCxn id="424" idx="2"/>
            <a:endCxn id="437" idx="0"/>
          </p:cNvCxnSpPr>
          <p:nvPr/>
        </p:nvCxnSpPr>
        <p:spPr>
          <a:xfrm rot="5400000">
            <a:off x="6625114" y="13047877"/>
            <a:ext cx="1009237" cy="3324222"/>
          </a:xfrm>
          <a:prstGeom prst="bentConnector3">
            <a:avLst>
              <a:gd name="adj1" fmla="val 6771"/>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62" name="Соединительная линия уступом 461"/>
          <p:cNvCxnSpPr>
            <a:stCxn id="425" idx="2"/>
            <a:endCxn id="438" idx="0"/>
          </p:cNvCxnSpPr>
          <p:nvPr/>
        </p:nvCxnSpPr>
        <p:spPr>
          <a:xfrm rot="16200000" flipH="1">
            <a:off x="6624930" y="13047694"/>
            <a:ext cx="1009604" cy="3324222"/>
          </a:xfrm>
          <a:prstGeom prst="bentConnector3">
            <a:avLst>
              <a:gd name="adj1" fmla="val 6195"/>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67" name="Прямая со стрелкой 466"/>
          <p:cNvCxnSpPr>
            <a:stCxn id="425" idx="2"/>
            <a:endCxn id="437" idx="0"/>
          </p:cNvCxnSpPr>
          <p:nvPr/>
        </p:nvCxnSpPr>
        <p:spPr>
          <a:xfrm>
            <a:off x="5467621" y="14205003"/>
            <a:ext cx="0" cy="1009604"/>
          </a:xfrm>
          <a:prstGeom prst="straightConnector1">
            <a:avLst/>
          </a:prstGeom>
          <a:ln w="19050">
            <a:prstDash val="sysDash"/>
            <a:tailEnd type="arrow"/>
          </a:ln>
        </p:spPr>
        <p:style>
          <a:lnRef idx="1">
            <a:schemeClr val="accent1"/>
          </a:lnRef>
          <a:fillRef idx="0">
            <a:schemeClr val="accent1"/>
          </a:fillRef>
          <a:effectRef idx="0">
            <a:schemeClr val="accent1"/>
          </a:effectRef>
          <a:fontRef idx="minor">
            <a:schemeClr val="tx1"/>
          </a:fontRef>
        </p:style>
      </p:cxnSp>
      <p:cxnSp>
        <p:nvCxnSpPr>
          <p:cNvPr id="470" name="Прямая со стрелкой 469"/>
          <p:cNvCxnSpPr>
            <a:stCxn id="424" idx="2"/>
            <a:endCxn id="438" idx="0"/>
          </p:cNvCxnSpPr>
          <p:nvPr/>
        </p:nvCxnSpPr>
        <p:spPr>
          <a:xfrm>
            <a:off x="8791843" y="14205370"/>
            <a:ext cx="0" cy="1009237"/>
          </a:xfrm>
          <a:prstGeom prst="straightConnector1">
            <a:avLst/>
          </a:prstGeom>
          <a:ln w="19050">
            <a:prstDash val="sysDash"/>
            <a:tailEnd type="arrow"/>
          </a:ln>
        </p:spPr>
        <p:style>
          <a:lnRef idx="1">
            <a:schemeClr val="accent1"/>
          </a:lnRef>
          <a:fillRef idx="0">
            <a:schemeClr val="accent1"/>
          </a:fillRef>
          <a:effectRef idx="0">
            <a:schemeClr val="accent1"/>
          </a:effectRef>
          <a:fontRef idx="minor">
            <a:schemeClr val="tx1"/>
          </a:fontRef>
        </p:style>
      </p:cxnSp>
      <p:cxnSp>
        <p:nvCxnSpPr>
          <p:cNvPr id="473" name="Прямая соединительная линия 472"/>
          <p:cNvCxnSpPr>
            <a:stCxn id="437" idx="3"/>
            <a:endCxn id="438" idx="1"/>
          </p:cNvCxnSpPr>
          <p:nvPr/>
        </p:nvCxnSpPr>
        <p:spPr>
          <a:xfrm>
            <a:off x="5930783" y="15484607"/>
            <a:ext cx="239789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76" name="Прямоугольник 475"/>
          <p:cNvSpPr/>
          <p:nvPr/>
        </p:nvSpPr>
        <p:spPr>
          <a:xfrm>
            <a:off x="5557385" y="16003279"/>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Оказать поддержку аргентинским филиалам фаланги</a:t>
            </a:r>
          </a:p>
        </p:txBody>
      </p:sp>
      <p:sp>
        <p:nvSpPr>
          <p:cNvPr id="477" name="Прямоугольник 476"/>
          <p:cNvSpPr/>
          <p:nvPr/>
        </p:nvSpPr>
        <p:spPr>
          <a:xfrm>
            <a:off x="7767184" y="16003279"/>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Союз с Аргентиной</a:t>
            </a:r>
          </a:p>
        </p:txBody>
      </p:sp>
      <p:cxnSp>
        <p:nvCxnSpPr>
          <p:cNvPr id="478" name="Соединительная линия уступом 477"/>
          <p:cNvCxnSpPr>
            <a:stCxn id="425" idx="2"/>
            <a:endCxn id="476" idx="0"/>
          </p:cNvCxnSpPr>
          <p:nvPr/>
        </p:nvCxnSpPr>
        <p:spPr>
          <a:xfrm rot="16200000" flipH="1">
            <a:off x="4844946" y="14827677"/>
            <a:ext cx="1798276" cy="552927"/>
          </a:xfrm>
          <a:prstGeom prst="bentConnector3">
            <a:avLst>
              <a:gd name="adj1" fmla="val 4136"/>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82" name="Соединительная линия уступом 481"/>
          <p:cNvCxnSpPr>
            <a:stCxn id="425" idx="2"/>
            <a:endCxn id="477" idx="0"/>
          </p:cNvCxnSpPr>
          <p:nvPr/>
        </p:nvCxnSpPr>
        <p:spPr>
          <a:xfrm rot="16200000" flipH="1">
            <a:off x="5949846" y="13722778"/>
            <a:ext cx="1798276" cy="2762726"/>
          </a:xfrm>
          <a:prstGeom prst="bentConnector3">
            <a:avLst>
              <a:gd name="adj1" fmla="val 3804"/>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87" name="Соединительная линия уступом 486"/>
          <p:cNvCxnSpPr>
            <a:stCxn id="424" idx="2"/>
            <a:endCxn id="477" idx="0"/>
          </p:cNvCxnSpPr>
          <p:nvPr/>
        </p:nvCxnSpPr>
        <p:spPr>
          <a:xfrm rot="5400000">
            <a:off x="7612141" y="14823576"/>
            <a:ext cx="1797909" cy="561496"/>
          </a:xfrm>
          <a:prstGeom prst="bentConnector3">
            <a:avLst>
              <a:gd name="adj1" fmla="val 4127"/>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92" name="Соединительная линия уступом 491"/>
          <p:cNvCxnSpPr>
            <a:stCxn id="424" idx="2"/>
            <a:endCxn id="476" idx="0"/>
          </p:cNvCxnSpPr>
          <p:nvPr/>
        </p:nvCxnSpPr>
        <p:spPr>
          <a:xfrm rot="5400000">
            <a:off x="6507242" y="13718677"/>
            <a:ext cx="1797909" cy="2771295"/>
          </a:xfrm>
          <a:prstGeom prst="bentConnector3">
            <a:avLst>
              <a:gd name="adj1" fmla="val 3462"/>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96" name="Прямая соединительная линия 495"/>
          <p:cNvCxnSpPr>
            <a:stCxn id="476" idx="3"/>
            <a:endCxn id="477" idx="1"/>
          </p:cNvCxnSpPr>
          <p:nvPr/>
        </p:nvCxnSpPr>
        <p:spPr>
          <a:xfrm>
            <a:off x="6483710" y="16273279"/>
            <a:ext cx="128347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99" name="Прямоугольник 498"/>
          <p:cNvSpPr/>
          <p:nvPr/>
        </p:nvSpPr>
        <p:spPr>
          <a:xfrm>
            <a:off x="6662283" y="16819067"/>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Объединить Испаноязычные страны</a:t>
            </a:r>
          </a:p>
        </p:txBody>
      </p:sp>
      <p:cxnSp>
        <p:nvCxnSpPr>
          <p:cNvPr id="500" name="Соединительная линия уступом 499"/>
          <p:cNvCxnSpPr>
            <a:stCxn id="477" idx="2"/>
            <a:endCxn id="499" idx="0"/>
          </p:cNvCxnSpPr>
          <p:nvPr/>
        </p:nvCxnSpPr>
        <p:spPr>
          <a:xfrm rot="5400000">
            <a:off x="7540003" y="16128723"/>
            <a:ext cx="275788" cy="110490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03" name="Соединительная линия уступом 502"/>
          <p:cNvCxnSpPr>
            <a:stCxn id="476" idx="2"/>
            <a:endCxn id="499" idx="0"/>
          </p:cNvCxnSpPr>
          <p:nvPr/>
        </p:nvCxnSpPr>
        <p:spPr>
          <a:xfrm rot="16200000" flipH="1">
            <a:off x="6435103" y="16128724"/>
            <a:ext cx="275788" cy="1104898"/>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06" name="Соединительная линия уступом 505"/>
          <p:cNvCxnSpPr>
            <a:stCxn id="439" idx="2"/>
            <a:endCxn id="499" idx="0"/>
          </p:cNvCxnSpPr>
          <p:nvPr/>
        </p:nvCxnSpPr>
        <p:spPr>
          <a:xfrm rot="5400000">
            <a:off x="6479528" y="15620696"/>
            <a:ext cx="1844289" cy="552452"/>
          </a:xfrm>
          <a:prstGeom prst="bentConnector3">
            <a:avLst>
              <a:gd name="adj1" fmla="val 7549"/>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09" name="Соединительная линия уступом 508"/>
          <p:cNvCxnSpPr>
            <a:stCxn id="440" idx="2"/>
            <a:endCxn id="499" idx="0"/>
          </p:cNvCxnSpPr>
          <p:nvPr/>
        </p:nvCxnSpPr>
        <p:spPr>
          <a:xfrm rot="16200000" flipH="1">
            <a:off x="5927491" y="15621111"/>
            <a:ext cx="1843463" cy="552448"/>
          </a:xfrm>
          <a:prstGeom prst="bentConnector3">
            <a:avLst>
              <a:gd name="adj1" fmla="val 753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14" name="Соединительная линия уступом 513"/>
          <p:cNvCxnSpPr>
            <a:stCxn id="360" idx="2"/>
            <a:endCxn id="499" idx="0"/>
          </p:cNvCxnSpPr>
          <p:nvPr/>
        </p:nvCxnSpPr>
        <p:spPr>
          <a:xfrm rot="5400000">
            <a:off x="5988289" y="14577008"/>
            <a:ext cx="3379216" cy="1104902"/>
          </a:xfrm>
          <a:prstGeom prst="bentConnector3">
            <a:avLst>
              <a:gd name="adj1" fmla="val 294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18" name="Соединительная линия уступом 517"/>
          <p:cNvCxnSpPr>
            <a:stCxn id="359" idx="2"/>
            <a:endCxn id="499" idx="0"/>
          </p:cNvCxnSpPr>
          <p:nvPr/>
        </p:nvCxnSpPr>
        <p:spPr>
          <a:xfrm rot="16200000" flipH="1">
            <a:off x="4884737" y="14578357"/>
            <a:ext cx="3376521" cy="1104898"/>
          </a:xfrm>
          <a:prstGeom prst="bentConnector3">
            <a:avLst>
              <a:gd name="adj1" fmla="val 2826"/>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22" name="Прямая со стрелкой 521"/>
          <p:cNvCxnSpPr>
            <a:stCxn id="319" idx="2"/>
            <a:endCxn id="387" idx="0"/>
          </p:cNvCxnSpPr>
          <p:nvPr/>
        </p:nvCxnSpPr>
        <p:spPr>
          <a:xfrm flipH="1">
            <a:off x="5467621" y="8808098"/>
            <a:ext cx="2689" cy="22804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23" name="Прямоугольник 322"/>
          <p:cNvSpPr/>
          <p:nvPr/>
        </p:nvSpPr>
        <p:spPr>
          <a:xfrm>
            <a:off x="8315373" y="11352969"/>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Все должны служить</a:t>
            </a:r>
          </a:p>
        </p:txBody>
      </p:sp>
      <p:sp>
        <p:nvSpPr>
          <p:cNvPr id="331" name="Прямоугольник 330"/>
          <p:cNvSpPr/>
          <p:nvPr/>
        </p:nvSpPr>
        <p:spPr>
          <a:xfrm>
            <a:off x="9423116" y="11348420"/>
            <a:ext cx="926325" cy="540000"/>
          </a:xfrm>
          <a:prstGeom prst="rect">
            <a:avLst/>
          </a:prstGeom>
          <a:no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Расширить призыв в армию (ваниль)</a:t>
            </a:r>
          </a:p>
        </p:txBody>
      </p:sp>
      <p:cxnSp>
        <p:nvCxnSpPr>
          <p:cNvPr id="334" name="Соединительная линия уступом 333"/>
          <p:cNvCxnSpPr>
            <a:stCxn id="352" idx="2"/>
            <a:endCxn id="423" idx="0"/>
          </p:cNvCxnSpPr>
          <p:nvPr/>
        </p:nvCxnSpPr>
        <p:spPr>
          <a:xfrm rot="16200000" flipH="1">
            <a:off x="8401192" y="11165729"/>
            <a:ext cx="211271" cy="165785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42" name="Соединительная линия уступом 341"/>
          <p:cNvCxnSpPr>
            <a:stCxn id="241" idx="2"/>
            <a:endCxn id="323" idx="0"/>
          </p:cNvCxnSpPr>
          <p:nvPr/>
        </p:nvCxnSpPr>
        <p:spPr>
          <a:xfrm rot="16200000" flipH="1">
            <a:off x="8394580" y="10969013"/>
            <a:ext cx="219726" cy="548186"/>
          </a:xfrm>
          <a:prstGeom prst="bentConnector3">
            <a:avLst>
              <a:gd name="adj1" fmla="val 50000"/>
            </a:avLst>
          </a:prstGeom>
          <a:ln w="19050">
            <a:prstDash val="solid"/>
            <a:tailEnd type="arrow"/>
          </a:ln>
        </p:spPr>
        <p:style>
          <a:lnRef idx="1">
            <a:schemeClr val="accent1"/>
          </a:lnRef>
          <a:fillRef idx="0">
            <a:schemeClr val="accent1"/>
          </a:fillRef>
          <a:effectRef idx="0">
            <a:schemeClr val="accent1"/>
          </a:effectRef>
          <a:fontRef idx="minor">
            <a:schemeClr val="tx1"/>
          </a:fontRef>
        </p:style>
      </p:cxnSp>
      <p:cxnSp>
        <p:nvCxnSpPr>
          <p:cNvPr id="346" name="Соединительная линия уступом 345"/>
          <p:cNvCxnSpPr>
            <a:stCxn id="241" idx="2"/>
            <a:endCxn id="331" idx="0"/>
          </p:cNvCxnSpPr>
          <p:nvPr/>
        </p:nvCxnSpPr>
        <p:spPr>
          <a:xfrm rot="16200000" flipH="1">
            <a:off x="8950726" y="10412866"/>
            <a:ext cx="215177" cy="1655929"/>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55" name="Соединительная линия уступом 354"/>
          <p:cNvCxnSpPr>
            <a:stCxn id="331" idx="2"/>
            <a:endCxn id="423" idx="0"/>
          </p:cNvCxnSpPr>
          <p:nvPr/>
        </p:nvCxnSpPr>
        <p:spPr>
          <a:xfrm rot="5400000">
            <a:off x="9505081" y="11719096"/>
            <a:ext cx="211874" cy="55052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71" name="Прямоугольник 370"/>
          <p:cNvSpPr/>
          <p:nvPr/>
        </p:nvSpPr>
        <p:spPr>
          <a:xfrm>
            <a:off x="10503564" y="11343870"/>
            <a:ext cx="926325" cy="540000"/>
          </a:xfrm>
          <a:prstGeom prst="rect">
            <a:avLst/>
          </a:prstGeom>
          <a:no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Национальная и народная армия Испании (ваниль)</a:t>
            </a:r>
          </a:p>
        </p:txBody>
      </p:sp>
      <p:cxnSp>
        <p:nvCxnSpPr>
          <p:cNvPr id="372" name="Соединительная линия уступом 371"/>
          <p:cNvCxnSpPr>
            <a:stCxn id="241" idx="2"/>
            <a:endCxn id="371" idx="0"/>
          </p:cNvCxnSpPr>
          <p:nvPr/>
        </p:nvCxnSpPr>
        <p:spPr>
          <a:xfrm rot="16200000" flipH="1">
            <a:off x="9493225" y="9870367"/>
            <a:ext cx="210627" cy="273637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377" name="Прямоугольник 376"/>
          <p:cNvSpPr/>
          <p:nvPr/>
        </p:nvSpPr>
        <p:spPr>
          <a:xfrm>
            <a:off x="9964477" y="12108145"/>
            <a:ext cx="926325" cy="540000"/>
          </a:xfrm>
          <a:prstGeom prst="rect">
            <a:avLst/>
          </a:prstGeom>
          <a:no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Подготовить оборону Пиренеев (ваниль)</a:t>
            </a:r>
          </a:p>
        </p:txBody>
      </p:sp>
      <p:cxnSp>
        <p:nvCxnSpPr>
          <p:cNvPr id="378" name="Соединительная линия уступом 377"/>
          <p:cNvCxnSpPr>
            <a:stCxn id="241" idx="2"/>
            <a:endCxn id="377" idx="0"/>
          </p:cNvCxnSpPr>
          <p:nvPr/>
        </p:nvCxnSpPr>
        <p:spPr>
          <a:xfrm rot="16200000" flipH="1">
            <a:off x="8841544" y="10522049"/>
            <a:ext cx="974902" cy="2197290"/>
          </a:xfrm>
          <a:prstGeom prst="bentConnector3">
            <a:avLst>
              <a:gd name="adj1" fmla="val 11502"/>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382" name="Прямоугольник 381"/>
          <p:cNvSpPr/>
          <p:nvPr/>
        </p:nvSpPr>
        <p:spPr>
          <a:xfrm>
            <a:off x="3335553" y="12119524"/>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Слава и богатство на морях (ваниль)</a:t>
            </a:r>
          </a:p>
        </p:txBody>
      </p:sp>
      <p:sp>
        <p:nvSpPr>
          <p:cNvPr id="389" name="Прямоугольник 388"/>
          <p:cNvSpPr/>
          <p:nvPr/>
        </p:nvSpPr>
        <p:spPr>
          <a:xfrm>
            <a:off x="3336159" y="12894613"/>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Улучшить внутренние морские базы (ваниль)</a:t>
            </a:r>
          </a:p>
        </p:txBody>
      </p:sp>
      <p:sp>
        <p:nvSpPr>
          <p:cNvPr id="390" name="Прямоугольник 389"/>
          <p:cNvSpPr/>
          <p:nvPr/>
        </p:nvSpPr>
        <p:spPr>
          <a:xfrm>
            <a:off x="2248512" y="12894614"/>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Защита коммерции (ваниль)</a:t>
            </a:r>
          </a:p>
        </p:txBody>
      </p:sp>
      <p:sp>
        <p:nvSpPr>
          <p:cNvPr id="391" name="Прямоугольник 390"/>
          <p:cNvSpPr/>
          <p:nvPr/>
        </p:nvSpPr>
        <p:spPr>
          <a:xfrm>
            <a:off x="3341536" y="13635110"/>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Великая морская держава (ваниль)</a:t>
            </a:r>
          </a:p>
        </p:txBody>
      </p:sp>
      <p:cxnSp>
        <p:nvCxnSpPr>
          <p:cNvPr id="392" name="Соединительная линия уступом 391"/>
          <p:cNvCxnSpPr>
            <a:stCxn id="382" idx="2"/>
            <a:endCxn id="390" idx="0"/>
          </p:cNvCxnSpPr>
          <p:nvPr/>
        </p:nvCxnSpPr>
        <p:spPr>
          <a:xfrm rot="5400000">
            <a:off x="3137651" y="12233549"/>
            <a:ext cx="235090" cy="108704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95" name="Прямая со стрелкой 394"/>
          <p:cNvCxnSpPr>
            <a:stCxn id="382" idx="2"/>
            <a:endCxn id="389" idx="0"/>
          </p:cNvCxnSpPr>
          <p:nvPr/>
        </p:nvCxnSpPr>
        <p:spPr>
          <a:xfrm>
            <a:off x="3798716" y="12659524"/>
            <a:ext cx="606" cy="235089"/>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00" name="Прямая со стрелкой 399"/>
          <p:cNvCxnSpPr>
            <a:stCxn id="389" idx="2"/>
            <a:endCxn id="391" idx="0"/>
          </p:cNvCxnSpPr>
          <p:nvPr/>
        </p:nvCxnSpPr>
        <p:spPr>
          <a:xfrm>
            <a:off x="3799322" y="13434613"/>
            <a:ext cx="5377" cy="20049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11" name="Прямая со стрелкой 410"/>
          <p:cNvCxnSpPr>
            <a:stCxn id="227" idx="2"/>
            <a:endCxn id="382" idx="0"/>
          </p:cNvCxnSpPr>
          <p:nvPr/>
        </p:nvCxnSpPr>
        <p:spPr>
          <a:xfrm>
            <a:off x="3797096" y="11911722"/>
            <a:ext cx="1620" cy="20780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14" name="Прямая со стрелкой 413"/>
          <p:cNvCxnSpPr>
            <a:stCxn id="232" idx="2"/>
            <a:endCxn id="256" idx="0"/>
          </p:cNvCxnSpPr>
          <p:nvPr/>
        </p:nvCxnSpPr>
        <p:spPr>
          <a:xfrm>
            <a:off x="4923931" y="11911246"/>
            <a:ext cx="2505" cy="212953"/>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41" name="Прямоугольник 340"/>
          <p:cNvSpPr/>
          <p:nvPr/>
        </p:nvSpPr>
        <p:spPr>
          <a:xfrm>
            <a:off x="12743984" y="8273544"/>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Отмена статуса автономии 1932 года</a:t>
            </a:r>
            <a:endParaRPr lang="ru-RU" sz="300" dirty="0"/>
          </a:p>
        </p:txBody>
      </p:sp>
      <p:sp>
        <p:nvSpPr>
          <p:cNvPr id="343" name="Прямоугольник 342"/>
          <p:cNvSpPr/>
          <p:nvPr/>
        </p:nvSpPr>
        <p:spPr>
          <a:xfrm>
            <a:off x="11651799" y="9840950"/>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Закон о труде</a:t>
            </a:r>
            <a:endParaRPr lang="ru-RU" sz="200" dirty="0"/>
          </a:p>
        </p:txBody>
      </p:sp>
      <p:sp>
        <p:nvSpPr>
          <p:cNvPr id="345" name="Прямоугольник 344"/>
          <p:cNvSpPr/>
          <p:nvPr/>
        </p:nvSpPr>
        <p:spPr>
          <a:xfrm>
            <a:off x="13836175" y="9840950"/>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Закон о печати</a:t>
            </a:r>
            <a:endParaRPr lang="ru-RU" sz="300" dirty="0"/>
          </a:p>
        </p:txBody>
      </p:sp>
      <p:sp>
        <p:nvSpPr>
          <p:cNvPr id="348" name="Прямоугольник 347"/>
          <p:cNvSpPr/>
          <p:nvPr/>
        </p:nvSpPr>
        <p:spPr>
          <a:xfrm>
            <a:off x="12743987" y="9847776"/>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Закон о среднем образовании</a:t>
            </a:r>
            <a:endParaRPr lang="ru-RU" sz="300" dirty="0"/>
          </a:p>
        </p:txBody>
      </p:sp>
      <p:sp>
        <p:nvSpPr>
          <p:cNvPr id="357" name="Прямоугольник 356"/>
          <p:cNvSpPr/>
          <p:nvPr/>
        </p:nvSpPr>
        <p:spPr>
          <a:xfrm>
            <a:off x="12743986" y="9039918"/>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Репрессировать оппозицию</a:t>
            </a:r>
            <a:endParaRPr lang="ru-RU" sz="100" dirty="0"/>
          </a:p>
        </p:txBody>
      </p:sp>
      <p:sp>
        <p:nvSpPr>
          <p:cNvPr id="358" name="Прямоугольник 357"/>
          <p:cNvSpPr/>
          <p:nvPr/>
        </p:nvSpPr>
        <p:spPr>
          <a:xfrm>
            <a:off x="13290080" y="10587004"/>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Формирование подконтрольных кортесов</a:t>
            </a:r>
            <a:endParaRPr lang="ru-RU" sz="100" dirty="0"/>
          </a:p>
        </p:txBody>
      </p:sp>
      <p:sp>
        <p:nvSpPr>
          <p:cNvPr id="362" name="Прямоугольник 361"/>
          <p:cNvSpPr/>
          <p:nvPr/>
        </p:nvSpPr>
        <p:spPr>
          <a:xfrm>
            <a:off x="11641606" y="7501850"/>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800" dirty="0"/>
              <a:t>Директор  Эмилия Мола</a:t>
            </a:r>
            <a:endParaRPr lang="ru-RU" sz="700" dirty="0"/>
          </a:p>
        </p:txBody>
      </p:sp>
      <p:sp>
        <p:nvSpPr>
          <p:cNvPr id="363" name="Прямоугольник 362"/>
          <p:cNvSpPr/>
          <p:nvPr/>
        </p:nvSpPr>
        <p:spPr>
          <a:xfrm>
            <a:off x="13836175" y="7508197"/>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600" dirty="0"/>
              <a:t>Генералиссимус Франсиско Франко</a:t>
            </a:r>
          </a:p>
        </p:txBody>
      </p:sp>
      <p:cxnSp>
        <p:nvCxnSpPr>
          <p:cNvPr id="364" name="Прямая соединительная линия 363"/>
          <p:cNvCxnSpPr>
            <a:stCxn id="362" idx="3"/>
            <a:endCxn id="363" idx="1"/>
          </p:cNvCxnSpPr>
          <p:nvPr/>
        </p:nvCxnSpPr>
        <p:spPr>
          <a:xfrm>
            <a:off x="12567931" y="7771850"/>
            <a:ext cx="1268244" cy="634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6" name="Прямая со стрелкой 365"/>
          <p:cNvCxnSpPr>
            <a:stCxn id="192" idx="2"/>
            <a:endCxn id="341" idx="0"/>
          </p:cNvCxnSpPr>
          <p:nvPr/>
        </p:nvCxnSpPr>
        <p:spPr>
          <a:xfrm flipH="1">
            <a:off x="13207147" y="7269871"/>
            <a:ext cx="6" cy="1003673"/>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67" name="Соединительная линия уступом 366"/>
          <p:cNvCxnSpPr>
            <a:stCxn id="192" idx="2"/>
            <a:endCxn id="362" idx="0"/>
          </p:cNvCxnSpPr>
          <p:nvPr/>
        </p:nvCxnSpPr>
        <p:spPr>
          <a:xfrm rot="5400000">
            <a:off x="12539972" y="6834668"/>
            <a:ext cx="231979" cy="110238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68" name="Соединительная линия уступом 367"/>
          <p:cNvCxnSpPr>
            <a:stCxn id="192" idx="2"/>
            <a:endCxn id="363" idx="0"/>
          </p:cNvCxnSpPr>
          <p:nvPr/>
        </p:nvCxnSpPr>
        <p:spPr>
          <a:xfrm rot="16200000" flipH="1">
            <a:off x="13634082" y="6842941"/>
            <a:ext cx="238326" cy="109218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70" name="Прямая со стрелкой 369"/>
          <p:cNvCxnSpPr>
            <a:stCxn id="341" idx="2"/>
            <a:endCxn id="357" idx="0"/>
          </p:cNvCxnSpPr>
          <p:nvPr/>
        </p:nvCxnSpPr>
        <p:spPr>
          <a:xfrm>
            <a:off x="13207147" y="8813544"/>
            <a:ext cx="2" cy="226374"/>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74" name="Прямая со стрелкой 373"/>
          <p:cNvCxnSpPr>
            <a:stCxn id="357" idx="2"/>
            <a:endCxn id="348" idx="0"/>
          </p:cNvCxnSpPr>
          <p:nvPr/>
        </p:nvCxnSpPr>
        <p:spPr>
          <a:xfrm>
            <a:off x="13207149" y="9579918"/>
            <a:ext cx="1" cy="26785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75" name="Соединительная линия уступом 374"/>
          <p:cNvCxnSpPr>
            <a:stCxn id="357" idx="2"/>
            <a:endCxn id="345" idx="0"/>
          </p:cNvCxnSpPr>
          <p:nvPr/>
        </p:nvCxnSpPr>
        <p:spPr>
          <a:xfrm rot="16200000" flipH="1">
            <a:off x="13622727" y="9164339"/>
            <a:ext cx="261032" cy="109218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79" name="Соединительная линия уступом 378"/>
          <p:cNvCxnSpPr>
            <a:stCxn id="357" idx="2"/>
            <a:endCxn id="343" idx="0"/>
          </p:cNvCxnSpPr>
          <p:nvPr/>
        </p:nvCxnSpPr>
        <p:spPr>
          <a:xfrm rot="5400000">
            <a:off x="12530540" y="9164341"/>
            <a:ext cx="261032" cy="109218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81" name="Прямоугольник 380"/>
          <p:cNvSpPr/>
          <p:nvPr/>
        </p:nvSpPr>
        <p:spPr>
          <a:xfrm>
            <a:off x="10537854" y="8263488"/>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Новые инструкции</a:t>
            </a:r>
            <a:endParaRPr lang="ru-RU" sz="500" dirty="0"/>
          </a:p>
        </p:txBody>
      </p:sp>
      <p:sp>
        <p:nvSpPr>
          <p:cNvPr id="385" name="Прямоугольник 384"/>
          <p:cNvSpPr/>
          <p:nvPr/>
        </p:nvSpPr>
        <p:spPr>
          <a:xfrm>
            <a:off x="11651799" y="8266132"/>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Основать Испанскую директорию</a:t>
            </a:r>
            <a:endParaRPr lang="ru-RU" sz="100" dirty="0"/>
          </a:p>
        </p:txBody>
      </p:sp>
      <p:cxnSp>
        <p:nvCxnSpPr>
          <p:cNvPr id="393" name="Соединительная линия уступом 392"/>
          <p:cNvCxnSpPr>
            <a:stCxn id="362" idx="2"/>
            <a:endCxn id="405" idx="0"/>
          </p:cNvCxnSpPr>
          <p:nvPr/>
        </p:nvCxnSpPr>
        <p:spPr>
          <a:xfrm rot="5400000">
            <a:off x="10881016" y="7044863"/>
            <a:ext cx="226766" cy="222074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94" name="Соединительная линия уступом 393"/>
          <p:cNvCxnSpPr>
            <a:stCxn id="296" idx="2"/>
            <a:endCxn id="405" idx="0"/>
          </p:cNvCxnSpPr>
          <p:nvPr/>
        </p:nvCxnSpPr>
        <p:spPr>
          <a:xfrm rot="16200000" flipH="1">
            <a:off x="9229133" y="7613720"/>
            <a:ext cx="217606" cy="109218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97" name="Соединительная линия уступом 396"/>
          <p:cNvCxnSpPr>
            <a:stCxn id="362" idx="2"/>
            <a:endCxn id="385" idx="0"/>
          </p:cNvCxnSpPr>
          <p:nvPr/>
        </p:nvCxnSpPr>
        <p:spPr>
          <a:xfrm rot="16200000" flipH="1">
            <a:off x="11997724" y="8148894"/>
            <a:ext cx="224282" cy="1019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98" name="Прямоугольник 397"/>
          <p:cNvSpPr/>
          <p:nvPr/>
        </p:nvSpPr>
        <p:spPr>
          <a:xfrm>
            <a:off x="9167512" y="19052186"/>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a:t>
            </a:r>
            <a:r>
              <a:rPr lang="en-US" sz="700" dirty="0" err="1"/>
              <a:t>Naviera</a:t>
            </a:r>
            <a:r>
              <a:rPr lang="en-US" sz="700" dirty="0"/>
              <a:t> </a:t>
            </a:r>
            <a:r>
              <a:rPr lang="en-US" sz="700" dirty="0" err="1"/>
              <a:t>Armas</a:t>
            </a:r>
            <a:r>
              <a:rPr lang="ru-RU" sz="700" dirty="0"/>
              <a:t> (1941)</a:t>
            </a:r>
            <a:endParaRPr lang="ru-RU" sz="100" dirty="0"/>
          </a:p>
        </p:txBody>
      </p:sp>
      <p:sp>
        <p:nvSpPr>
          <p:cNvPr id="402" name="Прямоугольник 401"/>
          <p:cNvSpPr/>
          <p:nvPr/>
        </p:nvSpPr>
        <p:spPr>
          <a:xfrm>
            <a:off x="9166225" y="18329770"/>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700" dirty="0" err="1"/>
              <a:t>Trasmediterránea</a:t>
            </a:r>
            <a:endParaRPr lang="ru-RU" sz="100" dirty="0"/>
          </a:p>
        </p:txBody>
      </p:sp>
      <p:sp>
        <p:nvSpPr>
          <p:cNvPr id="409" name="Прямоугольник 408"/>
          <p:cNvSpPr/>
          <p:nvPr/>
        </p:nvSpPr>
        <p:spPr>
          <a:xfrm>
            <a:off x="11779583" y="17596727"/>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Регламент реорганизации флота</a:t>
            </a:r>
            <a:r>
              <a:rPr lang="ru-RU" sz="500" dirty="0"/>
              <a:t> (</a:t>
            </a:r>
            <a:r>
              <a:rPr lang="ru-RU" sz="500" dirty="0" err="1"/>
              <a:t>ист</a:t>
            </a:r>
            <a:r>
              <a:rPr lang="ru-RU" sz="500" dirty="0"/>
              <a:t> 11 мая 1937 года)</a:t>
            </a:r>
            <a:endParaRPr lang="ru-RU" sz="100" dirty="0"/>
          </a:p>
        </p:txBody>
      </p:sp>
      <p:sp>
        <p:nvSpPr>
          <p:cNvPr id="419" name="Прямоугольник 418"/>
          <p:cNvSpPr/>
          <p:nvPr/>
        </p:nvSpPr>
        <p:spPr>
          <a:xfrm>
            <a:off x="10742124" y="17596727"/>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Народное военно-морское училище </a:t>
            </a:r>
            <a:r>
              <a:rPr lang="ru-RU" sz="600" dirty="0"/>
              <a:t>(</a:t>
            </a:r>
            <a:r>
              <a:rPr lang="ru-RU" sz="600" dirty="0" err="1"/>
              <a:t>ист</a:t>
            </a:r>
            <a:r>
              <a:rPr lang="ru-RU" sz="600" dirty="0"/>
              <a:t> октябрь 1937 года)</a:t>
            </a:r>
            <a:endParaRPr lang="ru-RU" sz="200" dirty="0"/>
          </a:p>
        </p:txBody>
      </p:sp>
      <p:sp>
        <p:nvSpPr>
          <p:cNvPr id="420" name="Прямоугольник 419"/>
          <p:cNvSpPr/>
          <p:nvPr/>
        </p:nvSpPr>
        <p:spPr>
          <a:xfrm>
            <a:off x="11258405" y="18329770"/>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Избавиться от пятой колонны националистов во флоте </a:t>
            </a:r>
            <a:r>
              <a:rPr lang="ru-RU" sz="500" dirty="0"/>
              <a:t>(не исторический)</a:t>
            </a:r>
            <a:endParaRPr lang="ru-RU" sz="100" dirty="0"/>
          </a:p>
        </p:txBody>
      </p:sp>
      <p:sp>
        <p:nvSpPr>
          <p:cNvPr id="421" name="Прямоугольник 420"/>
          <p:cNvSpPr/>
          <p:nvPr/>
        </p:nvSpPr>
        <p:spPr>
          <a:xfrm>
            <a:off x="12314528" y="18329770"/>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военно-морской базы в Малаге </a:t>
            </a:r>
            <a:r>
              <a:rPr lang="ru-RU" sz="500" dirty="0"/>
              <a:t>(исторический)</a:t>
            </a:r>
            <a:endParaRPr lang="ru-RU" sz="100" dirty="0"/>
          </a:p>
        </p:txBody>
      </p:sp>
      <p:sp>
        <p:nvSpPr>
          <p:cNvPr id="422" name="Прямоугольник 421"/>
          <p:cNvSpPr/>
          <p:nvPr/>
        </p:nvSpPr>
        <p:spPr>
          <a:xfrm>
            <a:off x="7627296" y="17572935"/>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Спустить со стапелей </a:t>
            </a:r>
            <a:r>
              <a:rPr lang="en-US" sz="700" dirty="0"/>
              <a:t>Canarias</a:t>
            </a:r>
            <a:r>
              <a:rPr lang="ru-RU" sz="700" dirty="0"/>
              <a:t> (</a:t>
            </a:r>
            <a:r>
              <a:rPr lang="ru-RU" sz="700" dirty="0" err="1"/>
              <a:t>ист</a:t>
            </a:r>
            <a:r>
              <a:rPr lang="ru-RU" sz="700" dirty="0"/>
              <a:t> сентябрь 1936)</a:t>
            </a:r>
            <a:endParaRPr lang="ru-RU" sz="100" dirty="0"/>
          </a:p>
        </p:txBody>
      </p:sp>
      <p:sp>
        <p:nvSpPr>
          <p:cNvPr id="428" name="Прямоугольник 427"/>
          <p:cNvSpPr/>
          <p:nvPr/>
        </p:nvSpPr>
        <p:spPr>
          <a:xfrm>
            <a:off x="10203884" y="18329770"/>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Советские командиры подлодок </a:t>
            </a:r>
            <a:r>
              <a:rPr lang="ru-RU" sz="400" dirty="0"/>
              <a:t>(исторический)</a:t>
            </a:r>
            <a:endParaRPr lang="ru-RU" sz="200" dirty="0"/>
          </a:p>
        </p:txBody>
      </p:sp>
      <p:sp>
        <p:nvSpPr>
          <p:cNvPr id="430" name="Прямоугольник 429"/>
          <p:cNvSpPr/>
          <p:nvPr/>
        </p:nvSpPr>
        <p:spPr>
          <a:xfrm>
            <a:off x="10203884" y="19052186"/>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Расширение и укрепление военно-морской базы </a:t>
            </a:r>
            <a:r>
              <a:rPr lang="ru-RU" sz="700" dirty="0" err="1"/>
              <a:t>Картахен</a:t>
            </a:r>
            <a:r>
              <a:rPr lang="ru-RU" sz="700" dirty="0"/>
              <a:t> </a:t>
            </a:r>
            <a:r>
              <a:rPr lang="ru-RU" sz="500" dirty="0"/>
              <a:t>(исторический)</a:t>
            </a:r>
            <a:endParaRPr lang="ru-RU" sz="100" dirty="0"/>
          </a:p>
        </p:txBody>
      </p:sp>
      <p:sp>
        <p:nvSpPr>
          <p:cNvPr id="434" name="Прямоугольник 433"/>
          <p:cNvSpPr/>
          <p:nvPr/>
        </p:nvSpPr>
        <p:spPr>
          <a:xfrm>
            <a:off x="12849477" y="17596726"/>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Вспомогательный флот </a:t>
            </a:r>
            <a:r>
              <a:rPr lang="ru-RU" sz="700" dirty="0" err="1"/>
              <a:t>Эузкади</a:t>
            </a:r>
            <a:r>
              <a:rPr lang="ru-RU" sz="700" dirty="0"/>
              <a:t> </a:t>
            </a:r>
            <a:r>
              <a:rPr lang="ru-RU" sz="500" dirty="0"/>
              <a:t>(январь 1937)</a:t>
            </a:r>
            <a:endParaRPr lang="ru-RU" sz="100" dirty="0"/>
          </a:p>
        </p:txBody>
      </p:sp>
      <p:cxnSp>
        <p:nvCxnSpPr>
          <p:cNvPr id="435" name="Соединительная линия уступом 124"/>
          <p:cNvCxnSpPr>
            <a:stCxn id="419" idx="2"/>
            <a:endCxn id="420" idx="0"/>
          </p:cNvCxnSpPr>
          <p:nvPr/>
        </p:nvCxnSpPr>
        <p:spPr>
          <a:xfrm rot="16200000" flipH="1">
            <a:off x="11366906" y="17975107"/>
            <a:ext cx="193043" cy="51628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36" name="Соединительная линия уступом 124"/>
          <p:cNvCxnSpPr>
            <a:stCxn id="409" idx="2"/>
            <a:endCxn id="420" idx="0"/>
          </p:cNvCxnSpPr>
          <p:nvPr/>
        </p:nvCxnSpPr>
        <p:spPr>
          <a:xfrm rot="5400000">
            <a:off x="11885636" y="17972659"/>
            <a:ext cx="193043" cy="52117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42" name="Соединительная линия уступом 124"/>
          <p:cNvCxnSpPr>
            <a:stCxn id="419" idx="2"/>
            <a:endCxn id="428" idx="0"/>
          </p:cNvCxnSpPr>
          <p:nvPr/>
        </p:nvCxnSpPr>
        <p:spPr>
          <a:xfrm rot="5400000">
            <a:off x="10839646" y="17964128"/>
            <a:ext cx="193043" cy="53824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46" name="Соединительная линия уступом 124"/>
          <p:cNvCxnSpPr>
            <a:stCxn id="409" idx="2"/>
            <a:endCxn id="421" idx="0"/>
          </p:cNvCxnSpPr>
          <p:nvPr/>
        </p:nvCxnSpPr>
        <p:spPr>
          <a:xfrm rot="16200000" flipH="1">
            <a:off x="12413697" y="17965775"/>
            <a:ext cx="193043" cy="53494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47" name="Прямая со стрелкой 446"/>
          <p:cNvCxnSpPr>
            <a:stCxn id="428" idx="2"/>
            <a:endCxn id="430" idx="0"/>
          </p:cNvCxnSpPr>
          <p:nvPr/>
        </p:nvCxnSpPr>
        <p:spPr>
          <a:xfrm>
            <a:off x="10667047" y="18869770"/>
            <a:ext cx="0" cy="18241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451" name="Прямоугольник 450"/>
          <p:cNvSpPr/>
          <p:nvPr/>
        </p:nvSpPr>
        <p:spPr>
          <a:xfrm>
            <a:off x="7604768" y="297166"/>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700" dirty="0"/>
              <a:t>Francisco Moreno </a:t>
            </a:r>
            <a:r>
              <a:rPr lang="en-US" sz="700" dirty="0" err="1"/>
              <a:t>Fernández</a:t>
            </a:r>
            <a:r>
              <a:rPr lang="ru-RU" sz="700" dirty="0"/>
              <a:t> </a:t>
            </a:r>
            <a:r>
              <a:rPr lang="ru-RU" sz="300" dirty="0"/>
              <a:t>Он стал адмиралом национального флота и главнокомандующим сухопутными, морскими и военно-воздушными силами Средиземноморской блокады (1937-1939) </a:t>
            </a:r>
            <a:r>
              <a:rPr lang="en-US" sz="700" dirty="0"/>
              <a:t>Juan </a:t>
            </a:r>
            <a:r>
              <a:rPr lang="en-US" sz="700" dirty="0" err="1"/>
              <a:t>Cervera</a:t>
            </a:r>
            <a:r>
              <a:rPr lang="en-US" sz="700" dirty="0"/>
              <a:t> </a:t>
            </a:r>
            <a:r>
              <a:rPr lang="en-US" sz="700" dirty="0" err="1"/>
              <a:t>Valderrama</a:t>
            </a:r>
            <a:r>
              <a:rPr lang="ru-RU" sz="700" dirty="0"/>
              <a:t> </a:t>
            </a:r>
            <a:r>
              <a:rPr lang="ru-RU" sz="300" dirty="0"/>
              <a:t>(начальником Генерального штаба Военно-морского флота)</a:t>
            </a:r>
            <a:endParaRPr lang="ru-RU" sz="100" dirty="0"/>
          </a:p>
        </p:txBody>
      </p:sp>
      <p:sp>
        <p:nvSpPr>
          <p:cNvPr id="454" name="Прямоугольник 453"/>
          <p:cNvSpPr/>
          <p:nvPr/>
        </p:nvSpPr>
        <p:spPr>
          <a:xfrm>
            <a:off x="8642911" y="17572935"/>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Добровольный вспомогательный флот</a:t>
            </a:r>
            <a:endParaRPr lang="ru-RU" sz="100" dirty="0"/>
          </a:p>
        </p:txBody>
      </p:sp>
      <p:sp>
        <p:nvSpPr>
          <p:cNvPr id="456" name="Прямоугольник 455"/>
          <p:cNvSpPr/>
          <p:nvPr/>
        </p:nvSpPr>
        <p:spPr>
          <a:xfrm>
            <a:off x="8128564" y="18329770"/>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Сформировать школу морского дела и артиллерии</a:t>
            </a:r>
            <a:endParaRPr lang="ru-RU" sz="100" dirty="0"/>
          </a:p>
        </p:txBody>
      </p:sp>
      <p:sp>
        <p:nvSpPr>
          <p:cNvPr id="457" name="Прямоугольник 456"/>
          <p:cNvSpPr/>
          <p:nvPr/>
        </p:nvSpPr>
        <p:spPr>
          <a:xfrm>
            <a:off x="7085264" y="18329770"/>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Поддержка германского и итальянских флотов</a:t>
            </a:r>
            <a:endParaRPr lang="ru-RU" sz="100" dirty="0"/>
          </a:p>
        </p:txBody>
      </p:sp>
      <p:sp>
        <p:nvSpPr>
          <p:cNvPr id="459" name="Прямоугольник 458"/>
          <p:cNvSpPr/>
          <p:nvPr/>
        </p:nvSpPr>
        <p:spPr>
          <a:xfrm>
            <a:off x="8125743" y="19052186"/>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Испанские тральщики</a:t>
            </a:r>
            <a:endParaRPr lang="ru-RU" sz="100" dirty="0"/>
          </a:p>
        </p:txBody>
      </p:sp>
      <p:cxnSp>
        <p:nvCxnSpPr>
          <p:cNvPr id="463" name="Соединительная линия уступом 124"/>
          <p:cNvCxnSpPr>
            <a:stCxn id="434" idx="2"/>
            <a:endCxn id="421" idx="0"/>
          </p:cNvCxnSpPr>
          <p:nvPr/>
        </p:nvCxnSpPr>
        <p:spPr>
          <a:xfrm rot="5400000">
            <a:off x="12948644" y="17965774"/>
            <a:ext cx="193044" cy="53494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65" name="Соединительная линия уступом 124"/>
          <p:cNvCxnSpPr>
            <a:stCxn id="454" idx="2"/>
            <a:endCxn id="402" idx="0"/>
          </p:cNvCxnSpPr>
          <p:nvPr/>
        </p:nvCxnSpPr>
        <p:spPr>
          <a:xfrm rot="16200000" flipH="1">
            <a:off x="9259314" y="17959695"/>
            <a:ext cx="216835" cy="52331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66" name="Соединительная линия уступом 124"/>
          <p:cNvCxnSpPr>
            <a:stCxn id="454" idx="2"/>
            <a:endCxn id="456" idx="0"/>
          </p:cNvCxnSpPr>
          <p:nvPr/>
        </p:nvCxnSpPr>
        <p:spPr>
          <a:xfrm rot="5400000">
            <a:off x="8740484" y="17964179"/>
            <a:ext cx="216835" cy="51434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68" name="Соединительная линия уступом 124"/>
          <p:cNvCxnSpPr>
            <a:stCxn id="422" idx="2"/>
            <a:endCxn id="457" idx="0"/>
          </p:cNvCxnSpPr>
          <p:nvPr/>
        </p:nvCxnSpPr>
        <p:spPr>
          <a:xfrm rot="5400000">
            <a:off x="7711026" y="17950336"/>
            <a:ext cx="216835" cy="54203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71" name="Соединительная линия уступом 124"/>
          <p:cNvCxnSpPr>
            <a:stCxn id="422" idx="2"/>
            <a:endCxn id="456" idx="0"/>
          </p:cNvCxnSpPr>
          <p:nvPr/>
        </p:nvCxnSpPr>
        <p:spPr>
          <a:xfrm rot="16200000" flipH="1">
            <a:off x="8232676" y="17970718"/>
            <a:ext cx="216835" cy="50126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72" name="Соединительная линия уступом 124"/>
          <p:cNvCxnSpPr>
            <a:stCxn id="456" idx="2"/>
            <a:endCxn id="459" idx="0"/>
          </p:cNvCxnSpPr>
          <p:nvPr/>
        </p:nvCxnSpPr>
        <p:spPr>
          <a:xfrm rot="5400000">
            <a:off x="8499109" y="18959568"/>
            <a:ext cx="182416" cy="282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74" name="Соединительная линия уступом 124"/>
          <p:cNvCxnSpPr>
            <a:stCxn id="402" idx="2"/>
            <a:endCxn id="398" idx="0"/>
          </p:cNvCxnSpPr>
          <p:nvPr/>
        </p:nvCxnSpPr>
        <p:spPr>
          <a:xfrm rot="16200000" flipH="1">
            <a:off x="9538823" y="18960334"/>
            <a:ext cx="182416" cy="128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432" name="Прямоугольник 431"/>
          <p:cNvSpPr/>
          <p:nvPr/>
        </p:nvSpPr>
        <p:spPr>
          <a:xfrm>
            <a:off x="2712561" y="18337152"/>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Усиление ВВС в Африке</a:t>
            </a:r>
            <a:endParaRPr lang="ru-RU" sz="100" dirty="0"/>
          </a:p>
        </p:txBody>
      </p:sp>
      <p:sp>
        <p:nvSpPr>
          <p:cNvPr id="475" name="Прямоугольник 474"/>
          <p:cNvSpPr/>
          <p:nvPr/>
        </p:nvSpPr>
        <p:spPr>
          <a:xfrm>
            <a:off x="1598235" y="17570902"/>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Национальная авиация</a:t>
            </a:r>
            <a:endParaRPr lang="ru-RU" sz="100" dirty="0"/>
          </a:p>
        </p:txBody>
      </p:sp>
      <p:sp>
        <p:nvSpPr>
          <p:cNvPr id="479" name="Прямоугольник 478"/>
          <p:cNvSpPr/>
          <p:nvPr/>
        </p:nvSpPr>
        <p:spPr>
          <a:xfrm>
            <a:off x="4866689" y="17570902"/>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Восстановить ВВС Республики </a:t>
            </a:r>
            <a:r>
              <a:rPr lang="ru-RU" sz="500" dirty="0"/>
              <a:t>(исторический)</a:t>
            </a:r>
            <a:endParaRPr lang="ru-RU" sz="100" dirty="0"/>
          </a:p>
        </p:txBody>
      </p:sp>
      <p:sp>
        <p:nvSpPr>
          <p:cNvPr id="481" name="Прямоугольник 480"/>
          <p:cNvSpPr/>
          <p:nvPr/>
        </p:nvSpPr>
        <p:spPr>
          <a:xfrm>
            <a:off x="1602023" y="18329769"/>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Принять иностранных лётчиков</a:t>
            </a:r>
            <a:endParaRPr lang="ru-RU" sz="100" dirty="0"/>
          </a:p>
        </p:txBody>
      </p:sp>
      <p:sp>
        <p:nvSpPr>
          <p:cNvPr id="483" name="Прямоугольник 482"/>
          <p:cNvSpPr/>
          <p:nvPr/>
        </p:nvSpPr>
        <p:spPr>
          <a:xfrm>
            <a:off x="4867847" y="18341550"/>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Иностранный авиакорпус</a:t>
            </a:r>
            <a:endParaRPr lang="ru-RU" sz="100" dirty="0"/>
          </a:p>
        </p:txBody>
      </p:sp>
      <p:sp>
        <p:nvSpPr>
          <p:cNvPr id="485" name="Прямоугольник 484"/>
          <p:cNvSpPr/>
          <p:nvPr/>
        </p:nvSpPr>
        <p:spPr>
          <a:xfrm>
            <a:off x="461311" y="18327869"/>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Новые истребители</a:t>
            </a:r>
            <a:endParaRPr lang="ru-RU" sz="100" dirty="0"/>
          </a:p>
        </p:txBody>
      </p:sp>
      <p:sp>
        <p:nvSpPr>
          <p:cNvPr id="486" name="Прямоугольник 485"/>
          <p:cNvSpPr/>
          <p:nvPr/>
        </p:nvSpPr>
        <p:spPr>
          <a:xfrm>
            <a:off x="3812169" y="18337152"/>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Министерства военно-морского флота и авиации (май 1937)</a:t>
            </a:r>
            <a:endParaRPr lang="ru-RU" sz="100" dirty="0"/>
          </a:p>
        </p:txBody>
      </p:sp>
      <p:sp>
        <p:nvSpPr>
          <p:cNvPr id="489" name="Прямоугольник 488"/>
          <p:cNvSpPr/>
          <p:nvPr/>
        </p:nvSpPr>
        <p:spPr>
          <a:xfrm>
            <a:off x="5922812" y="18337152"/>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Французские истребители</a:t>
            </a:r>
            <a:endParaRPr lang="ru-RU" sz="100" dirty="0"/>
          </a:p>
        </p:txBody>
      </p:sp>
      <p:sp>
        <p:nvSpPr>
          <p:cNvPr id="493" name="Прямоугольник 492"/>
          <p:cNvSpPr/>
          <p:nvPr/>
        </p:nvSpPr>
        <p:spPr>
          <a:xfrm>
            <a:off x="1602022" y="19102985"/>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Новая тактика </a:t>
            </a:r>
            <a:r>
              <a:rPr lang="ru-RU" sz="700" dirty="0" err="1"/>
              <a:t>Мёльдирса</a:t>
            </a:r>
            <a:endParaRPr lang="ru-RU" sz="100" dirty="0"/>
          </a:p>
        </p:txBody>
      </p:sp>
      <p:sp>
        <p:nvSpPr>
          <p:cNvPr id="495" name="Прямоугольник 494"/>
          <p:cNvSpPr/>
          <p:nvPr/>
        </p:nvSpPr>
        <p:spPr>
          <a:xfrm>
            <a:off x="1602900" y="19825401"/>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Использование рации в крыльях</a:t>
            </a:r>
            <a:endParaRPr lang="ru-RU" sz="100" dirty="0"/>
          </a:p>
        </p:txBody>
      </p:sp>
      <p:sp>
        <p:nvSpPr>
          <p:cNvPr id="497" name="Прямоугольник 496"/>
          <p:cNvSpPr/>
          <p:nvPr/>
        </p:nvSpPr>
        <p:spPr>
          <a:xfrm>
            <a:off x="4864243" y="19123918"/>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Опыт использования манёвренной авиации</a:t>
            </a:r>
            <a:endParaRPr lang="ru-RU" sz="100" dirty="0"/>
          </a:p>
        </p:txBody>
      </p:sp>
      <p:sp>
        <p:nvSpPr>
          <p:cNvPr id="501" name="Прямоугольник 500"/>
          <p:cNvSpPr/>
          <p:nvPr/>
        </p:nvSpPr>
        <p:spPr>
          <a:xfrm>
            <a:off x="5922812" y="19110255"/>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Шторм и пламя</a:t>
            </a:r>
            <a:endParaRPr lang="ru-RU" sz="100" dirty="0"/>
          </a:p>
        </p:txBody>
      </p:sp>
      <p:sp>
        <p:nvSpPr>
          <p:cNvPr id="502" name="Прямоугольник 501"/>
          <p:cNvSpPr/>
          <p:nvPr/>
        </p:nvSpPr>
        <p:spPr>
          <a:xfrm>
            <a:off x="2705402" y="19101752"/>
            <a:ext cx="926325" cy="540000"/>
          </a:xfrm>
          <a:prstGeom prst="rect">
            <a:avLst/>
          </a:prstGeom>
          <a:no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министерства ВВС Испании </a:t>
            </a:r>
          </a:p>
        </p:txBody>
      </p:sp>
      <p:cxnSp>
        <p:nvCxnSpPr>
          <p:cNvPr id="505" name="Соединительная линия уступом 124"/>
          <p:cNvCxnSpPr>
            <a:stCxn id="486" idx="2"/>
            <a:endCxn id="502" idx="0"/>
          </p:cNvCxnSpPr>
          <p:nvPr/>
        </p:nvCxnSpPr>
        <p:spPr>
          <a:xfrm rot="5400000">
            <a:off x="3609649" y="18436069"/>
            <a:ext cx="224600" cy="110676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07" name="Соединительная линия уступом 124"/>
          <p:cNvCxnSpPr>
            <a:stCxn id="432" idx="2"/>
            <a:endCxn id="502" idx="0"/>
          </p:cNvCxnSpPr>
          <p:nvPr/>
        </p:nvCxnSpPr>
        <p:spPr>
          <a:xfrm rot="5400000">
            <a:off x="3059845" y="18985873"/>
            <a:ext cx="224600" cy="7159"/>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10" name="Соединительная линия уступом 124"/>
          <p:cNvCxnSpPr>
            <a:cxnSpLocks/>
            <a:stCxn id="475" idx="2"/>
            <a:endCxn id="485" idx="0"/>
          </p:cNvCxnSpPr>
          <p:nvPr/>
        </p:nvCxnSpPr>
        <p:spPr>
          <a:xfrm rot="5400000">
            <a:off x="1384453" y="17650923"/>
            <a:ext cx="216967" cy="113692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13" name="Соединительная линия уступом 124"/>
          <p:cNvCxnSpPr>
            <a:stCxn id="475" idx="2"/>
            <a:endCxn id="432" idx="0"/>
          </p:cNvCxnSpPr>
          <p:nvPr/>
        </p:nvCxnSpPr>
        <p:spPr>
          <a:xfrm rot="16200000" flipH="1">
            <a:off x="2505436" y="17666864"/>
            <a:ext cx="226250" cy="111432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15" name="Соединительная линия уступом 124"/>
          <p:cNvCxnSpPr>
            <a:stCxn id="481" idx="2"/>
            <a:endCxn id="493" idx="0"/>
          </p:cNvCxnSpPr>
          <p:nvPr/>
        </p:nvCxnSpPr>
        <p:spPr>
          <a:xfrm rot="5400000">
            <a:off x="1948578" y="18986377"/>
            <a:ext cx="233216"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17" name="Соединительная линия уступом 124"/>
          <p:cNvCxnSpPr>
            <a:stCxn id="493" idx="2"/>
            <a:endCxn id="495" idx="0"/>
          </p:cNvCxnSpPr>
          <p:nvPr/>
        </p:nvCxnSpPr>
        <p:spPr>
          <a:xfrm rot="16200000" flipH="1">
            <a:off x="1974416" y="19733754"/>
            <a:ext cx="182416" cy="87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19" name="Соединительная линия уступом 124"/>
          <p:cNvCxnSpPr>
            <a:stCxn id="479" idx="2"/>
            <a:endCxn id="486" idx="0"/>
          </p:cNvCxnSpPr>
          <p:nvPr/>
        </p:nvCxnSpPr>
        <p:spPr>
          <a:xfrm rot="5400000">
            <a:off x="4689467" y="17696767"/>
            <a:ext cx="226250" cy="105452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24" name="Соединительная линия уступом 124"/>
          <p:cNvCxnSpPr>
            <a:stCxn id="479" idx="2"/>
            <a:endCxn id="489" idx="0"/>
          </p:cNvCxnSpPr>
          <p:nvPr/>
        </p:nvCxnSpPr>
        <p:spPr>
          <a:xfrm rot="16200000" flipH="1">
            <a:off x="5744788" y="17695965"/>
            <a:ext cx="226250" cy="105612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25" name="Соединительная линия уступом 124"/>
          <p:cNvCxnSpPr>
            <a:stCxn id="479" idx="2"/>
            <a:endCxn id="483" idx="0"/>
          </p:cNvCxnSpPr>
          <p:nvPr/>
        </p:nvCxnSpPr>
        <p:spPr>
          <a:xfrm rot="16200000" flipH="1">
            <a:off x="5215107" y="18225647"/>
            <a:ext cx="230648" cy="115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27" name="Соединительная линия уступом 124"/>
          <p:cNvCxnSpPr>
            <a:stCxn id="483" idx="2"/>
            <a:endCxn id="497" idx="0"/>
          </p:cNvCxnSpPr>
          <p:nvPr/>
        </p:nvCxnSpPr>
        <p:spPr>
          <a:xfrm rot="5400000">
            <a:off x="5208024" y="19000932"/>
            <a:ext cx="242368" cy="360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28" name="Соединительная линия уступом 124"/>
          <p:cNvCxnSpPr>
            <a:stCxn id="483" idx="2"/>
            <a:endCxn id="501" idx="0"/>
          </p:cNvCxnSpPr>
          <p:nvPr/>
        </p:nvCxnSpPr>
        <p:spPr>
          <a:xfrm rot="16200000" flipH="1">
            <a:off x="5744140" y="18468419"/>
            <a:ext cx="228705" cy="105496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33" name="Прямоугольник 532"/>
          <p:cNvSpPr/>
          <p:nvPr/>
        </p:nvSpPr>
        <p:spPr>
          <a:xfrm>
            <a:off x="18342075" y="17611392"/>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Регулярная народная армия </a:t>
            </a:r>
            <a:r>
              <a:rPr lang="ru-RU" sz="500" dirty="0"/>
              <a:t>(исторический)</a:t>
            </a:r>
            <a:endParaRPr lang="ru-RU" sz="100" dirty="0"/>
          </a:p>
        </p:txBody>
      </p:sp>
      <p:sp>
        <p:nvSpPr>
          <p:cNvPr id="534" name="Прямоугольник 533"/>
          <p:cNvSpPr/>
          <p:nvPr/>
        </p:nvSpPr>
        <p:spPr>
          <a:xfrm>
            <a:off x="19437131" y="17611392"/>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Сохранить армию добровольцев</a:t>
            </a:r>
            <a:endParaRPr lang="ru-RU" sz="100" dirty="0"/>
          </a:p>
        </p:txBody>
      </p:sp>
      <p:cxnSp>
        <p:nvCxnSpPr>
          <p:cNvPr id="535" name="Прямая соединительная линия 534"/>
          <p:cNvCxnSpPr>
            <a:stCxn id="534" idx="1"/>
            <a:endCxn id="533" idx="3"/>
          </p:cNvCxnSpPr>
          <p:nvPr/>
        </p:nvCxnSpPr>
        <p:spPr>
          <a:xfrm flipH="1">
            <a:off x="19268400" y="17881392"/>
            <a:ext cx="16873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36" name="Прямоугольник 535"/>
          <p:cNvSpPr/>
          <p:nvPr/>
        </p:nvSpPr>
        <p:spPr>
          <a:xfrm>
            <a:off x="17783179" y="18376292"/>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Министерство национальной обороны</a:t>
            </a:r>
            <a:endParaRPr lang="ru-RU" sz="100" dirty="0"/>
          </a:p>
        </p:txBody>
      </p:sp>
      <p:cxnSp>
        <p:nvCxnSpPr>
          <p:cNvPr id="537" name="Соединительная линия уступом 124"/>
          <p:cNvCxnSpPr>
            <a:stCxn id="533" idx="2"/>
            <a:endCxn id="536" idx="0"/>
          </p:cNvCxnSpPr>
          <p:nvPr/>
        </p:nvCxnSpPr>
        <p:spPr>
          <a:xfrm rot="5400000">
            <a:off x="18413340" y="17984394"/>
            <a:ext cx="224900" cy="55889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39" name="Прямоугольник 538"/>
          <p:cNvSpPr/>
          <p:nvPr/>
        </p:nvSpPr>
        <p:spPr>
          <a:xfrm>
            <a:off x="18885396" y="18376292"/>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Интернациональные бригады </a:t>
            </a:r>
            <a:r>
              <a:rPr lang="ru-RU" sz="500" dirty="0"/>
              <a:t>(исторический)</a:t>
            </a:r>
            <a:endParaRPr lang="ru-RU" sz="100" dirty="0"/>
          </a:p>
        </p:txBody>
      </p:sp>
      <p:cxnSp>
        <p:nvCxnSpPr>
          <p:cNvPr id="540" name="Соединительная линия уступом 124"/>
          <p:cNvCxnSpPr>
            <a:stCxn id="534" idx="2"/>
            <a:endCxn id="539" idx="0"/>
          </p:cNvCxnSpPr>
          <p:nvPr/>
        </p:nvCxnSpPr>
        <p:spPr>
          <a:xfrm rot="5400000">
            <a:off x="19511977" y="17987975"/>
            <a:ext cx="224900" cy="55173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41" name="Соединительная линия уступом 124"/>
          <p:cNvCxnSpPr>
            <a:stCxn id="533" idx="2"/>
            <a:endCxn id="539" idx="0"/>
          </p:cNvCxnSpPr>
          <p:nvPr/>
        </p:nvCxnSpPr>
        <p:spPr>
          <a:xfrm rot="16200000" flipH="1">
            <a:off x="18964448" y="17992181"/>
            <a:ext cx="224900" cy="54332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542" name="Прямоугольник 541"/>
          <p:cNvSpPr/>
          <p:nvPr/>
        </p:nvSpPr>
        <p:spPr>
          <a:xfrm>
            <a:off x="19987613" y="18376292"/>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Упор на смешанные бригады</a:t>
            </a:r>
            <a:endParaRPr lang="ru-RU" sz="100" dirty="0"/>
          </a:p>
        </p:txBody>
      </p:sp>
      <p:cxnSp>
        <p:nvCxnSpPr>
          <p:cNvPr id="543" name="Соединительная линия уступом 124"/>
          <p:cNvCxnSpPr>
            <a:stCxn id="534" idx="2"/>
            <a:endCxn id="542" idx="0"/>
          </p:cNvCxnSpPr>
          <p:nvPr/>
        </p:nvCxnSpPr>
        <p:spPr>
          <a:xfrm rot="16200000" flipH="1">
            <a:off x="20063085" y="17988601"/>
            <a:ext cx="224900" cy="55048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45" name="Прямоугольник 544"/>
          <p:cNvSpPr/>
          <p:nvPr/>
        </p:nvSpPr>
        <p:spPr>
          <a:xfrm>
            <a:off x="18885395" y="19141192"/>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Введение политкомиссаров в армейские ряды</a:t>
            </a:r>
            <a:endParaRPr lang="ru-RU" sz="100" dirty="0"/>
          </a:p>
        </p:txBody>
      </p:sp>
      <p:cxnSp>
        <p:nvCxnSpPr>
          <p:cNvPr id="548" name="Соединительная линия уступом 124"/>
          <p:cNvCxnSpPr>
            <a:stCxn id="539" idx="2"/>
            <a:endCxn id="545" idx="0"/>
          </p:cNvCxnSpPr>
          <p:nvPr/>
        </p:nvCxnSpPr>
        <p:spPr>
          <a:xfrm rot="5400000">
            <a:off x="19236109" y="19028742"/>
            <a:ext cx="224900"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49" name="Прямоугольник 548"/>
          <p:cNvSpPr/>
          <p:nvPr/>
        </p:nvSpPr>
        <p:spPr>
          <a:xfrm>
            <a:off x="19990458" y="19141192"/>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Подножные ресурсы</a:t>
            </a:r>
            <a:endParaRPr lang="ru-RU" sz="100" dirty="0"/>
          </a:p>
        </p:txBody>
      </p:sp>
      <p:cxnSp>
        <p:nvCxnSpPr>
          <p:cNvPr id="551" name="Соединительная линия уступом 124"/>
          <p:cNvCxnSpPr>
            <a:stCxn id="539" idx="2"/>
            <a:endCxn id="549" idx="0"/>
          </p:cNvCxnSpPr>
          <p:nvPr/>
        </p:nvCxnSpPr>
        <p:spPr>
          <a:xfrm rot="16200000" flipH="1">
            <a:off x="19788640" y="18476211"/>
            <a:ext cx="224900" cy="110506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52" name="Прямоугольник 551"/>
          <p:cNvSpPr/>
          <p:nvPr/>
        </p:nvSpPr>
        <p:spPr>
          <a:xfrm>
            <a:off x="17786409" y="19141192"/>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манёвренной армии</a:t>
            </a:r>
            <a:endParaRPr lang="ru-RU" sz="100" dirty="0"/>
          </a:p>
        </p:txBody>
      </p:sp>
      <p:cxnSp>
        <p:nvCxnSpPr>
          <p:cNvPr id="554" name="Соединительная линия уступом 124"/>
          <p:cNvCxnSpPr>
            <a:stCxn id="539" idx="2"/>
            <a:endCxn id="552" idx="0"/>
          </p:cNvCxnSpPr>
          <p:nvPr/>
        </p:nvCxnSpPr>
        <p:spPr>
          <a:xfrm rot="5400000">
            <a:off x="18686616" y="18479249"/>
            <a:ext cx="224900" cy="109898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55" name="Прямоугольник 554"/>
          <p:cNvSpPr/>
          <p:nvPr/>
        </p:nvSpPr>
        <p:spPr>
          <a:xfrm>
            <a:off x="16716197" y="19141192"/>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Использовать образцы советской техники </a:t>
            </a:r>
            <a:r>
              <a:rPr lang="ru-RU" sz="500" dirty="0"/>
              <a:t>(исторический)</a:t>
            </a:r>
            <a:endParaRPr lang="ru-RU" sz="100" dirty="0"/>
          </a:p>
        </p:txBody>
      </p:sp>
      <p:sp>
        <p:nvSpPr>
          <p:cNvPr id="557" name="Прямоугольник 556"/>
          <p:cNvSpPr/>
          <p:nvPr/>
        </p:nvSpPr>
        <p:spPr>
          <a:xfrm>
            <a:off x="15623344" y="19141192"/>
            <a:ext cx="926325" cy="540000"/>
          </a:xfrm>
          <a:prstGeom prst="rect">
            <a:avLst/>
          </a:prstGeom>
          <a:no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Запустить </a:t>
            </a:r>
            <a:r>
              <a:rPr lang="en-US" sz="700" dirty="0" err="1"/>
              <a:t>Trubia</a:t>
            </a:r>
            <a:r>
              <a:rPr lang="en-US" sz="700" dirty="0"/>
              <a:t> A4</a:t>
            </a:r>
            <a:r>
              <a:rPr lang="ru-RU" sz="700" dirty="0"/>
              <a:t> в серийное производство</a:t>
            </a:r>
          </a:p>
        </p:txBody>
      </p:sp>
      <p:cxnSp>
        <p:nvCxnSpPr>
          <p:cNvPr id="558" name="Соединительная линия уступом 124"/>
          <p:cNvCxnSpPr>
            <a:stCxn id="539" idx="2"/>
            <a:endCxn id="555" idx="0"/>
          </p:cNvCxnSpPr>
          <p:nvPr/>
        </p:nvCxnSpPr>
        <p:spPr>
          <a:xfrm rot="5400000">
            <a:off x="18151510" y="17944143"/>
            <a:ext cx="224900" cy="216919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59" name="Соединительная линия уступом 124"/>
          <p:cNvCxnSpPr>
            <a:stCxn id="539" idx="2"/>
            <a:endCxn id="557" idx="0"/>
          </p:cNvCxnSpPr>
          <p:nvPr/>
        </p:nvCxnSpPr>
        <p:spPr>
          <a:xfrm rot="5400000">
            <a:off x="17605083" y="17397716"/>
            <a:ext cx="224900" cy="3262052"/>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60" name="Прямая соединительная линия 559"/>
          <p:cNvCxnSpPr>
            <a:stCxn id="555" idx="1"/>
            <a:endCxn id="557" idx="3"/>
          </p:cNvCxnSpPr>
          <p:nvPr/>
        </p:nvCxnSpPr>
        <p:spPr>
          <a:xfrm flipH="1">
            <a:off x="16549669" y="19411192"/>
            <a:ext cx="16652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61" name="Прямоугольник 560"/>
          <p:cNvSpPr/>
          <p:nvPr/>
        </p:nvSpPr>
        <p:spPr>
          <a:xfrm>
            <a:off x="15624567" y="19906092"/>
            <a:ext cx="926325" cy="540000"/>
          </a:xfrm>
          <a:prstGeom prst="rect">
            <a:avLst/>
          </a:prstGeom>
          <a:no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Запустить </a:t>
            </a:r>
            <a:r>
              <a:rPr lang="en-US" sz="700" dirty="0" err="1"/>
              <a:t>Verdeja</a:t>
            </a:r>
            <a:r>
              <a:rPr lang="ru-RU" sz="700" dirty="0"/>
              <a:t> в серийное производство</a:t>
            </a:r>
          </a:p>
        </p:txBody>
      </p:sp>
      <p:cxnSp>
        <p:nvCxnSpPr>
          <p:cNvPr id="563" name="Соединительная линия уступом 124"/>
          <p:cNvCxnSpPr>
            <a:stCxn id="557" idx="2"/>
            <a:endCxn id="561" idx="0"/>
          </p:cNvCxnSpPr>
          <p:nvPr/>
        </p:nvCxnSpPr>
        <p:spPr>
          <a:xfrm rot="16200000" flipH="1">
            <a:off x="15974668" y="19793030"/>
            <a:ext cx="224900" cy="122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491" name="Прямоугольник 490"/>
          <p:cNvSpPr/>
          <p:nvPr/>
        </p:nvSpPr>
        <p:spPr>
          <a:xfrm>
            <a:off x="14531714" y="18376292"/>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Советники правых сил</a:t>
            </a:r>
            <a:endParaRPr lang="ru-RU" sz="100" dirty="0"/>
          </a:p>
        </p:txBody>
      </p:sp>
      <p:sp>
        <p:nvSpPr>
          <p:cNvPr id="564" name="Прямоугольник 563"/>
          <p:cNvSpPr/>
          <p:nvPr/>
        </p:nvSpPr>
        <p:spPr>
          <a:xfrm>
            <a:off x="13943238" y="17596726"/>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Африканская экспедиционная армия</a:t>
            </a:r>
          </a:p>
        </p:txBody>
      </p:sp>
      <p:sp>
        <p:nvSpPr>
          <p:cNvPr id="566" name="Прямоугольник 565"/>
          <p:cNvSpPr/>
          <p:nvPr/>
        </p:nvSpPr>
        <p:spPr>
          <a:xfrm>
            <a:off x="13360641" y="18376292"/>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Формирование армейских корпусов</a:t>
            </a:r>
            <a:endParaRPr lang="ru-RU" sz="100" dirty="0"/>
          </a:p>
        </p:txBody>
      </p:sp>
      <p:sp>
        <p:nvSpPr>
          <p:cNvPr id="567" name="Прямоугольник 566"/>
          <p:cNvSpPr/>
          <p:nvPr/>
        </p:nvSpPr>
        <p:spPr>
          <a:xfrm>
            <a:off x="14530491" y="19141191"/>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Использовать образцы немецкой техники </a:t>
            </a:r>
            <a:r>
              <a:rPr lang="ru-RU" sz="500" dirty="0"/>
              <a:t>(исторический)</a:t>
            </a:r>
            <a:endParaRPr lang="ru-RU" sz="100" dirty="0"/>
          </a:p>
        </p:txBody>
      </p:sp>
      <p:sp>
        <p:nvSpPr>
          <p:cNvPr id="569" name="Прямоугольник 568"/>
          <p:cNvSpPr/>
          <p:nvPr/>
        </p:nvSpPr>
        <p:spPr>
          <a:xfrm>
            <a:off x="13360815" y="19130839"/>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Школы и академии для временных офицеров</a:t>
            </a:r>
            <a:endParaRPr lang="ru-RU" sz="100" dirty="0"/>
          </a:p>
        </p:txBody>
      </p:sp>
      <p:cxnSp>
        <p:nvCxnSpPr>
          <p:cNvPr id="570" name="Соединительная линия уступом 124"/>
          <p:cNvCxnSpPr>
            <a:stCxn id="491" idx="2"/>
            <a:endCxn id="557" idx="0"/>
          </p:cNvCxnSpPr>
          <p:nvPr/>
        </p:nvCxnSpPr>
        <p:spPr>
          <a:xfrm rot="16200000" flipH="1">
            <a:off x="15428242" y="18482927"/>
            <a:ext cx="224900" cy="109163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71" name="Соединительная линия уступом 124"/>
          <p:cNvCxnSpPr>
            <a:stCxn id="491" idx="2"/>
            <a:endCxn id="567" idx="0"/>
          </p:cNvCxnSpPr>
          <p:nvPr/>
        </p:nvCxnSpPr>
        <p:spPr>
          <a:xfrm rot="5400000">
            <a:off x="14881817" y="19028130"/>
            <a:ext cx="224899" cy="122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73" name="Соединительная линия уступом 124"/>
          <p:cNvCxnSpPr>
            <a:stCxn id="564" idx="2"/>
            <a:endCxn id="491" idx="0"/>
          </p:cNvCxnSpPr>
          <p:nvPr/>
        </p:nvCxnSpPr>
        <p:spPr>
          <a:xfrm rot="16200000" flipH="1">
            <a:off x="14580856" y="17962271"/>
            <a:ext cx="239566" cy="58847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74" name="Соединительная линия уступом 124"/>
          <p:cNvCxnSpPr>
            <a:stCxn id="564" idx="2"/>
            <a:endCxn id="566" idx="0"/>
          </p:cNvCxnSpPr>
          <p:nvPr/>
        </p:nvCxnSpPr>
        <p:spPr>
          <a:xfrm rot="5400000">
            <a:off x="13995320" y="17965211"/>
            <a:ext cx="239566" cy="58259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76" name="Соединительная линия уступом 124"/>
          <p:cNvCxnSpPr>
            <a:stCxn id="566" idx="2"/>
            <a:endCxn id="569" idx="0"/>
          </p:cNvCxnSpPr>
          <p:nvPr/>
        </p:nvCxnSpPr>
        <p:spPr>
          <a:xfrm rot="16200000" flipH="1">
            <a:off x="13716618" y="19023478"/>
            <a:ext cx="214547" cy="17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77" name="Прямая соединительная линия 576"/>
          <p:cNvCxnSpPr>
            <a:stCxn id="557" idx="1"/>
            <a:endCxn id="567" idx="3"/>
          </p:cNvCxnSpPr>
          <p:nvPr/>
        </p:nvCxnSpPr>
        <p:spPr>
          <a:xfrm flipH="1" flipV="1">
            <a:off x="15456816" y="19411191"/>
            <a:ext cx="166528" cy="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78" name="Прямоугольник 577"/>
          <p:cNvSpPr/>
          <p:nvPr/>
        </p:nvSpPr>
        <p:spPr>
          <a:xfrm>
            <a:off x="13945701" y="19881923"/>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Железная дисциплина</a:t>
            </a:r>
          </a:p>
        </p:txBody>
      </p:sp>
      <p:cxnSp>
        <p:nvCxnSpPr>
          <p:cNvPr id="580" name="Соединительная линия уступом 124"/>
          <p:cNvCxnSpPr>
            <a:stCxn id="491" idx="2"/>
            <a:endCxn id="578" idx="0"/>
          </p:cNvCxnSpPr>
          <p:nvPr/>
        </p:nvCxnSpPr>
        <p:spPr>
          <a:xfrm rot="5400000">
            <a:off x="14219056" y="19106101"/>
            <a:ext cx="965631" cy="586013"/>
          </a:xfrm>
          <a:prstGeom prst="bentConnector3">
            <a:avLst>
              <a:gd name="adj1" fmla="val 11133"/>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81" name="Соединительная линия уступом 124"/>
          <p:cNvCxnSpPr>
            <a:stCxn id="569" idx="2"/>
            <a:endCxn id="578" idx="0"/>
          </p:cNvCxnSpPr>
          <p:nvPr/>
        </p:nvCxnSpPr>
        <p:spPr>
          <a:xfrm rot="16200000" flipH="1">
            <a:off x="14010879" y="19483938"/>
            <a:ext cx="211084" cy="58488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85" name="Прямоугольник 584"/>
          <p:cNvSpPr/>
          <p:nvPr/>
        </p:nvSpPr>
        <p:spPr>
          <a:xfrm>
            <a:off x="4362827" y="299617"/>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Послевоенный НД «Коррупция фаланги» </a:t>
            </a:r>
            <a:r>
              <a:rPr lang="ru-RU" sz="200" dirty="0"/>
              <a:t>(В послевоенный период усилилась критика верховным командованием коррупции и неэффективности фалангистов в государственной администрации. [ 38 ] Франко, однако, игнорировал как фалангистскую коррупцию, так и коррупцию и непостоянство, которые имели место в армии.[ 38 ])</a:t>
            </a:r>
          </a:p>
        </p:txBody>
      </p:sp>
      <p:sp>
        <p:nvSpPr>
          <p:cNvPr id="586" name="Прямоугольник 585"/>
          <p:cNvSpPr/>
          <p:nvPr/>
        </p:nvSpPr>
        <p:spPr>
          <a:xfrm>
            <a:off x="14530490" y="20689343"/>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Программа </a:t>
            </a:r>
            <a:r>
              <a:rPr lang="en-US" sz="700" dirty="0" err="1"/>
              <a:t>Bär</a:t>
            </a:r>
            <a:endParaRPr lang="ru-RU" sz="100" dirty="0"/>
          </a:p>
        </p:txBody>
      </p:sp>
      <p:cxnSp>
        <p:nvCxnSpPr>
          <p:cNvPr id="589" name="Соединительная линия уступом 124"/>
          <p:cNvCxnSpPr>
            <a:stCxn id="567" idx="2"/>
            <a:endCxn id="586" idx="0"/>
          </p:cNvCxnSpPr>
          <p:nvPr/>
        </p:nvCxnSpPr>
        <p:spPr>
          <a:xfrm rot="5400000">
            <a:off x="14489578" y="20185267"/>
            <a:ext cx="1008152"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82" name="Прямоугольник 581"/>
          <p:cNvSpPr/>
          <p:nvPr/>
        </p:nvSpPr>
        <p:spPr>
          <a:xfrm>
            <a:off x="12741785" y="2596931"/>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Крушение надежд (</a:t>
            </a:r>
            <a:r>
              <a:rPr lang="ru-RU" sz="700" dirty="0" err="1"/>
              <a:t>Санхуро</a:t>
            </a:r>
            <a:r>
              <a:rPr lang="ru-RU" sz="700" dirty="0"/>
              <a:t> наебнулся)</a:t>
            </a:r>
          </a:p>
        </p:txBody>
      </p:sp>
      <p:cxnSp>
        <p:nvCxnSpPr>
          <p:cNvPr id="590" name="Прямая соединительная линия 589"/>
          <p:cNvCxnSpPr>
            <a:cxnSpLocks/>
            <a:stCxn id="733" idx="3"/>
            <a:endCxn id="582" idx="1"/>
          </p:cNvCxnSpPr>
          <p:nvPr/>
        </p:nvCxnSpPr>
        <p:spPr>
          <a:xfrm flipV="1">
            <a:off x="925862" y="2866931"/>
            <a:ext cx="11815923" cy="2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91" name="Прямоугольник 590"/>
          <p:cNvSpPr/>
          <p:nvPr/>
        </p:nvSpPr>
        <p:spPr>
          <a:xfrm>
            <a:off x="17543892" y="3531582"/>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Итальянский экспедиционный корпус (ваниль)</a:t>
            </a:r>
          </a:p>
        </p:txBody>
      </p:sp>
      <p:sp>
        <p:nvSpPr>
          <p:cNvPr id="592" name="Прямоугольник 591"/>
          <p:cNvSpPr/>
          <p:nvPr/>
        </p:nvSpPr>
        <p:spPr>
          <a:xfrm>
            <a:off x="18671024" y="3540577"/>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Легион Кондор (ваниль)</a:t>
            </a:r>
          </a:p>
        </p:txBody>
      </p:sp>
      <p:sp>
        <p:nvSpPr>
          <p:cNvPr id="593" name="Прямоугольник 592"/>
          <p:cNvSpPr/>
          <p:nvPr/>
        </p:nvSpPr>
        <p:spPr>
          <a:xfrm>
            <a:off x="18113879" y="4306542"/>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Поставки вооружения (ваниль)</a:t>
            </a:r>
          </a:p>
        </p:txBody>
      </p:sp>
      <p:cxnSp>
        <p:nvCxnSpPr>
          <p:cNvPr id="596" name="Соединительная линия уступом 595"/>
          <p:cNvCxnSpPr>
            <a:stCxn id="582" idx="2"/>
            <a:endCxn id="591" idx="0"/>
          </p:cNvCxnSpPr>
          <p:nvPr/>
        </p:nvCxnSpPr>
        <p:spPr>
          <a:xfrm rot="16200000" flipH="1">
            <a:off x="15408676" y="933202"/>
            <a:ext cx="394651" cy="480210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97" name="Соединительная линия уступом 596"/>
          <p:cNvCxnSpPr>
            <a:stCxn id="582" idx="2"/>
            <a:endCxn id="592" idx="0"/>
          </p:cNvCxnSpPr>
          <p:nvPr/>
        </p:nvCxnSpPr>
        <p:spPr>
          <a:xfrm rot="16200000" flipH="1">
            <a:off x="15967744" y="374134"/>
            <a:ext cx="403646" cy="5929239"/>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98" name="Соединительная линия уступом 597"/>
          <p:cNvCxnSpPr>
            <a:stCxn id="591" idx="2"/>
            <a:endCxn id="593" idx="0"/>
          </p:cNvCxnSpPr>
          <p:nvPr/>
        </p:nvCxnSpPr>
        <p:spPr>
          <a:xfrm rot="16200000" flipH="1">
            <a:off x="18174568" y="3904068"/>
            <a:ext cx="234960" cy="56998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99" name="Соединительная линия уступом 598"/>
          <p:cNvCxnSpPr>
            <a:stCxn id="592" idx="2"/>
            <a:endCxn id="593" idx="0"/>
          </p:cNvCxnSpPr>
          <p:nvPr/>
        </p:nvCxnSpPr>
        <p:spPr>
          <a:xfrm rot="5400000">
            <a:off x="18742633" y="3914987"/>
            <a:ext cx="225965" cy="55714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600" name="Прямоугольник 599"/>
          <p:cNvSpPr/>
          <p:nvPr/>
        </p:nvSpPr>
        <p:spPr>
          <a:xfrm>
            <a:off x="17543893" y="5087498"/>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Получить обучающий персонал (ваниль)</a:t>
            </a:r>
          </a:p>
        </p:txBody>
      </p:sp>
      <p:sp>
        <p:nvSpPr>
          <p:cNvPr id="601" name="Прямоугольник 600"/>
          <p:cNvSpPr/>
          <p:nvPr/>
        </p:nvSpPr>
        <p:spPr>
          <a:xfrm>
            <a:off x="18671024" y="5092771"/>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Улучшение доктрин (ваниль)</a:t>
            </a:r>
          </a:p>
        </p:txBody>
      </p:sp>
      <p:cxnSp>
        <p:nvCxnSpPr>
          <p:cNvPr id="602" name="Соединительная линия уступом 601"/>
          <p:cNvCxnSpPr>
            <a:stCxn id="593" idx="2"/>
            <a:endCxn id="600" idx="0"/>
          </p:cNvCxnSpPr>
          <p:nvPr/>
        </p:nvCxnSpPr>
        <p:spPr>
          <a:xfrm rot="5400000">
            <a:off x="18171571" y="4682027"/>
            <a:ext cx="240956" cy="56998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03" name="Соединительная линия уступом 602"/>
          <p:cNvCxnSpPr>
            <a:stCxn id="593" idx="2"/>
            <a:endCxn id="601" idx="0"/>
          </p:cNvCxnSpPr>
          <p:nvPr/>
        </p:nvCxnSpPr>
        <p:spPr>
          <a:xfrm rot="16200000" flipH="1">
            <a:off x="18732500" y="4691083"/>
            <a:ext cx="246229" cy="55714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607" name="Прямоугольник 606"/>
          <p:cNvSpPr/>
          <p:nvPr/>
        </p:nvSpPr>
        <p:spPr>
          <a:xfrm>
            <a:off x="14388723" y="3649981"/>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Подержать верных </a:t>
            </a:r>
            <a:r>
              <a:rPr lang="ru-RU" sz="700" dirty="0" err="1"/>
              <a:t>карлистов</a:t>
            </a:r>
            <a:endParaRPr lang="ru-RU" sz="700" dirty="0"/>
          </a:p>
        </p:txBody>
      </p:sp>
      <p:sp>
        <p:nvSpPr>
          <p:cNvPr id="609" name="Прямоугольник 608"/>
          <p:cNvSpPr/>
          <p:nvPr/>
        </p:nvSpPr>
        <p:spPr>
          <a:xfrm>
            <a:off x="13832302" y="4410920"/>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Интегрировать </a:t>
            </a:r>
            <a:r>
              <a:rPr lang="ru-RU" sz="700" dirty="0" err="1"/>
              <a:t>рекете</a:t>
            </a:r>
            <a:r>
              <a:rPr lang="ru-RU" sz="700" dirty="0"/>
              <a:t> (ваниль)</a:t>
            </a:r>
          </a:p>
        </p:txBody>
      </p:sp>
      <p:sp>
        <p:nvSpPr>
          <p:cNvPr id="610" name="Прямоугольник 609"/>
          <p:cNvSpPr/>
          <p:nvPr/>
        </p:nvSpPr>
        <p:spPr>
          <a:xfrm>
            <a:off x="11090899" y="3645109"/>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Перехватить контроль над фалангой</a:t>
            </a:r>
          </a:p>
        </p:txBody>
      </p:sp>
      <p:sp>
        <p:nvSpPr>
          <p:cNvPr id="611" name="Прямоугольник 610"/>
          <p:cNvSpPr/>
          <p:nvPr/>
        </p:nvSpPr>
        <p:spPr>
          <a:xfrm>
            <a:off x="11651374" y="4404834"/>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Роль мученика </a:t>
            </a:r>
            <a:r>
              <a:rPr lang="ru-RU" sz="700" dirty="0" err="1"/>
              <a:t>Примо</a:t>
            </a:r>
            <a:r>
              <a:rPr lang="ru-RU" sz="700" dirty="0"/>
              <a:t> де Риверы (ваниль)</a:t>
            </a:r>
          </a:p>
        </p:txBody>
      </p:sp>
      <p:sp>
        <p:nvSpPr>
          <p:cNvPr id="612" name="Прямоугольник 611"/>
          <p:cNvSpPr/>
          <p:nvPr/>
        </p:nvSpPr>
        <p:spPr>
          <a:xfrm>
            <a:off x="12195799" y="5236406"/>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Превознести жертвы войны (ваниль)</a:t>
            </a:r>
          </a:p>
        </p:txBody>
      </p:sp>
      <p:cxnSp>
        <p:nvCxnSpPr>
          <p:cNvPr id="613" name="Соединительная линия уступом 612"/>
          <p:cNvCxnSpPr>
            <a:stCxn id="611" idx="2"/>
            <a:endCxn id="612" idx="0"/>
          </p:cNvCxnSpPr>
          <p:nvPr/>
        </p:nvCxnSpPr>
        <p:spPr>
          <a:xfrm rot="16200000" flipH="1">
            <a:off x="12240963" y="4818407"/>
            <a:ext cx="291572" cy="54442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614" name="Соединительная линия уступом 613"/>
          <p:cNvCxnSpPr>
            <a:stCxn id="623" idx="2"/>
            <a:endCxn id="106" idx="0"/>
          </p:cNvCxnSpPr>
          <p:nvPr/>
        </p:nvCxnSpPr>
        <p:spPr>
          <a:xfrm rot="16200000" flipH="1">
            <a:off x="17130169" y="2610356"/>
            <a:ext cx="187426" cy="802515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19" name="Соединительная линия уступом 618"/>
          <p:cNvCxnSpPr>
            <a:stCxn id="582" idx="2"/>
            <a:endCxn id="610" idx="0"/>
          </p:cNvCxnSpPr>
          <p:nvPr/>
        </p:nvCxnSpPr>
        <p:spPr>
          <a:xfrm rot="5400000">
            <a:off x="12125416" y="2565577"/>
            <a:ext cx="508178" cy="165088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21" name="Соединительная линия уступом 620"/>
          <p:cNvCxnSpPr>
            <a:stCxn id="582" idx="2"/>
            <a:endCxn id="607" idx="0"/>
          </p:cNvCxnSpPr>
          <p:nvPr/>
        </p:nvCxnSpPr>
        <p:spPr>
          <a:xfrm rot="16200000" flipH="1">
            <a:off x="13771892" y="2569987"/>
            <a:ext cx="513050" cy="164693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623" name="Прямоугольник 622"/>
          <p:cNvSpPr/>
          <p:nvPr/>
        </p:nvSpPr>
        <p:spPr>
          <a:xfrm>
            <a:off x="12748141" y="5989221"/>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Указ об объединении</a:t>
            </a:r>
          </a:p>
        </p:txBody>
      </p:sp>
      <p:cxnSp>
        <p:nvCxnSpPr>
          <p:cNvPr id="624" name="Прямая со стрелкой 623"/>
          <p:cNvCxnSpPr>
            <a:stCxn id="582" idx="2"/>
            <a:endCxn id="623" idx="0"/>
          </p:cNvCxnSpPr>
          <p:nvPr/>
        </p:nvCxnSpPr>
        <p:spPr>
          <a:xfrm>
            <a:off x="13204948" y="3136931"/>
            <a:ext cx="6356" cy="285229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25" name="Соединительная линия уступом 624"/>
          <p:cNvCxnSpPr>
            <a:stCxn id="609" idx="2"/>
            <a:endCxn id="612" idx="0"/>
          </p:cNvCxnSpPr>
          <p:nvPr/>
        </p:nvCxnSpPr>
        <p:spPr>
          <a:xfrm rot="5400000">
            <a:off x="13334471" y="4275412"/>
            <a:ext cx="285486" cy="1636503"/>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626" name="Соединительная линия уступом 625"/>
          <p:cNvCxnSpPr>
            <a:stCxn id="623" idx="2"/>
            <a:endCxn id="100" idx="0"/>
          </p:cNvCxnSpPr>
          <p:nvPr/>
        </p:nvCxnSpPr>
        <p:spPr>
          <a:xfrm rot="5400000">
            <a:off x="10071228" y="3589795"/>
            <a:ext cx="200650" cy="607950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630" name="Прямоугольник 629"/>
          <p:cNvSpPr/>
          <p:nvPr/>
        </p:nvSpPr>
        <p:spPr>
          <a:xfrm>
            <a:off x="11090899" y="9029987"/>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Расширение шпионской деятельности</a:t>
            </a:r>
            <a:endParaRPr lang="ru-RU" sz="600" dirty="0"/>
          </a:p>
        </p:txBody>
      </p:sp>
      <p:sp>
        <p:nvSpPr>
          <p:cNvPr id="635" name="Прямоугольник 634"/>
          <p:cNvSpPr/>
          <p:nvPr/>
        </p:nvSpPr>
        <p:spPr>
          <a:xfrm>
            <a:off x="32950977" y="2577054"/>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Победа СЕДО (Хосе Мария </a:t>
            </a:r>
            <a:r>
              <a:rPr lang="ru-RU" sz="700" dirty="0" err="1"/>
              <a:t>Хиль-Роблес</a:t>
            </a:r>
            <a:r>
              <a:rPr lang="ru-RU" sz="700" dirty="0"/>
              <a:t> с </a:t>
            </a:r>
            <a:r>
              <a:rPr lang="ru-RU" sz="700" dirty="0" err="1"/>
              <a:t>трейтом</a:t>
            </a:r>
            <a:r>
              <a:rPr lang="ru-RU" sz="700" dirty="0"/>
              <a:t> </a:t>
            </a:r>
            <a:r>
              <a:rPr lang="ru-RU" sz="700" dirty="0" err="1"/>
              <a:t>Хефе</a:t>
            </a:r>
            <a:r>
              <a:rPr lang="ru-RU" sz="700" dirty="0"/>
              <a:t>)</a:t>
            </a:r>
          </a:p>
        </p:txBody>
      </p:sp>
      <p:cxnSp>
        <p:nvCxnSpPr>
          <p:cNvPr id="636" name="Прямая соединительная линия 635"/>
          <p:cNvCxnSpPr>
            <a:stCxn id="582" idx="3"/>
            <a:endCxn id="635" idx="1"/>
          </p:cNvCxnSpPr>
          <p:nvPr/>
        </p:nvCxnSpPr>
        <p:spPr>
          <a:xfrm flipV="1">
            <a:off x="13668110" y="2847054"/>
            <a:ext cx="19282867" cy="1987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640" name="Прямоугольник 639"/>
          <p:cNvSpPr/>
          <p:nvPr/>
        </p:nvSpPr>
        <p:spPr>
          <a:xfrm>
            <a:off x="19791648" y="3535759"/>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Португальская помощь (ваниль)</a:t>
            </a:r>
          </a:p>
        </p:txBody>
      </p:sp>
      <p:sp>
        <p:nvSpPr>
          <p:cNvPr id="641" name="Прямоугольник 640"/>
          <p:cNvSpPr/>
          <p:nvPr/>
        </p:nvSpPr>
        <p:spPr>
          <a:xfrm>
            <a:off x="19791512" y="4304532"/>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Иберийский пакт (ваниль)</a:t>
            </a:r>
          </a:p>
        </p:txBody>
      </p:sp>
      <p:cxnSp>
        <p:nvCxnSpPr>
          <p:cNvPr id="643" name="Соединительная линия уступом 642"/>
          <p:cNvCxnSpPr>
            <a:stCxn id="582" idx="2"/>
            <a:endCxn id="640" idx="0"/>
          </p:cNvCxnSpPr>
          <p:nvPr/>
        </p:nvCxnSpPr>
        <p:spPr>
          <a:xfrm rot="16200000" flipH="1">
            <a:off x="16530465" y="-188587"/>
            <a:ext cx="398828" cy="7049863"/>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644" name="Прямая со стрелкой 643"/>
          <p:cNvCxnSpPr>
            <a:stCxn id="640" idx="2"/>
            <a:endCxn id="641" idx="0"/>
          </p:cNvCxnSpPr>
          <p:nvPr/>
        </p:nvCxnSpPr>
        <p:spPr>
          <a:xfrm flipH="1">
            <a:off x="20254675" y="4075759"/>
            <a:ext cx="136" cy="228773"/>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648" name="Прямоугольник 647"/>
          <p:cNvSpPr/>
          <p:nvPr/>
        </p:nvSpPr>
        <p:spPr>
          <a:xfrm>
            <a:off x="11642958" y="12106726"/>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Присоединиться к странам Оси (ваниль)</a:t>
            </a:r>
          </a:p>
        </p:txBody>
      </p:sp>
      <p:sp>
        <p:nvSpPr>
          <p:cNvPr id="649" name="Прямоугольник 648"/>
          <p:cNvSpPr/>
          <p:nvPr/>
        </p:nvSpPr>
        <p:spPr>
          <a:xfrm>
            <a:off x="12721923" y="12108630"/>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Поддержка фашистских стран</a:t>
            </a:r>
          </a:p>
        </p:txBody>
      </p:sp>
      <p:sp>
        <p:nvSpPr>
          <p:cNvPr id="650" name="Прямоугольник 649"/>
          <p:cNvSpPr/>
          <p:nvPr/>
        </p:nvSpPr>
        <p:spPr>
          <a:xfrm>
            <a:off x="12721924" y="12890820"/>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250-я дивизия</a:t>
            </a:r>
            <a:endParaRPr lang="ru-RU" sz="200" dirty="0"/>
          </a:p>
        </p:txBody>
      </p:sp>
      <p:sp>
        <p:nvSpPr>
          <p:cNvPr id="651" name="Прямоугольник 650"/>
          <p:cNvSpPr/>
          <p:nvPr/>
        </p:nvSpPr>
        <p:spPr>
          <a:xfrm>
            <a:off x="13256254" y="13664027"/>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Вспомогательный корпус военной медицины</a:t>
            </a:r>
            <a:endParaRPr lang="ru-RU" sz="400" dirty="0"/>
          </a:p>
        </p:txBody>
      </p:sp>
      <p:sp>
        <p:nvSpPr>
          <p:cNvPr id="652" name="Прямоугольник 651"/>
          <p:cNvSpPr/>
          <p:nvPr/>
        </p:nvSpPr>
        <p:spPr>
          <a:xfrm>
            <a:off x="12173949" y="13664027"/>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Расширить дивизию артиллерийскими батальонами</a:t>
            </a:r>
            <a:endParaRPr lang="ru-RU" sz="200" dirty="0"/>
          </a:p>
        </p:txBody>
      </p:sp>
      <p:sp>
        <p:nvSpPr>
          <p:cNvPr id="653" name="Прямоугольник 652"/>
          <p:cNvSpPr/>
          <p:nvPr/>
        </p:nvSpPr>
        <p:spPr>
          <a:xfrm>
            <a:off x="13836168" y="8272832"/>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600" dirty="0"/>
              <a:t>Каудильо Франсиско Франко</a:t>
            </a:r>
          </a:p>
        </p:txBody>
      </p:sp>
      <p:sp>
        <p:nvSpPr>
          <p:cNvPr id="654" name="Прямоугольник 653"/>
          <p:cNvSpPr/>
          <p:nvPr/>
        </p:nvSpPr>
        <p:spPr>
          <a:xfrm>
            <a:off x="14928351" y="8276373"/>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600" dirty="0"/>
              <a:t>Фаланга, армия и церковь</a:t>
            </a:r>
            <a:endParaRPr lang="ru-RU" sz="200" dirty="0"/>
          </a:p>
        </p:txBody>
      </p:sp>
      <p:sp>
        <p:nvSpPr>
          <p:cNvPr id="655" name="Прямоугольник 654"/>
          <p:cNvSpPr/>
          <p:nvPr/>
        </p:nvSpPr>
        <p:spPr>
          <a:xfrm>
            <a:off x="11090900" y="10585060"/>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800" dirty="0"/>
              <a:t>Закон о профсоюзном единстве</a:t>
            </a:r>
            <a:endParaRPr lang="ru-RU" sz="100" dirty="0"/>
          </a:p>
        </p:txBody>
      </p:sp>
      <p:sp>
        <p:nvSpPr>
          <p:cNvPr id="656" name="Прямоугольник 655"/>
          <p:cNvSpPr/>
          <p:nvPr/>
        </p:nvSpPr>
        <p:spPr>
          <a:xfrm>
            <a:off x="12195800" y="10588218"/>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600" dirty="0"/>
              <a:t>Автаркия</a:t>
            </a:r>
          </a:p>
        </p:txBody>
      </p:sp>
      <p:sp>
        <p:nvSpPr>
          <p:cNvPr id="657" name="Прямоугольник 656"/>
          <p:cNvSpPr/>
          <p:nvPr/>
        </p:nvSpPr>
        <p:spPr>
          <a:xfrm>
            <a:off x="14384358" y="10599512"/>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800" dirty="0"/>
              <a:t>Молодёжный фронт</a:t>
            </a:r>
            <a:endParaRPr lang="ru-RU" sz="200" dirty="0"/>
          </a:p>
        </p:txBody>
      </p:sp>
      <p:sp>
        <p:nvSpPr>
          <p:cNvPr id="660" name="Прямоугольник 659"/>
          <p:cNvSpPr/>
          <p:nvPr/>
        </p:nvSpPr>
        <p:spPr>
          <a:xfrm>
            <a:off x="10537853" y="9840950"/>
            <a:ext cx="926325" cy="540000"/>
          </a:xfrm>
          <a:prstGeom prst="rect">
            <a:avLst/>
          </a:prstGeom>
          <a:no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600" dirty="0"/>
              <a:t>Реорганизация женской секции фаланги</a:t>
            </a:r>
            <a:endParaRPr lang="ru-RU" sz="100" dirty="0"/>
          </a:p>
        </p:txBody>
      </p:sp>
      <p:cxnSp>
        <p:nvCxnSpPr>
          <p:cNvPr id="661" name="Соединительная линия уступом 660"/>
          <p:cNvCxnSpPr>
            <a:stCxn id="357" idx="2"/>
            <a:endCxn id="660" idx="0"/>
          </p:cNvCxnSpPr>
          <p:nvPr/>
        </p:nvCxnSpPr>
        <p:spPr>
          <a:xfrm rot="5400000">
            <a:off x="11973567" y="8607368"/>
            <a:ext cx="261032" cy="2206133"/>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664" name="Соединительная линия уступом 663"/>
          <p:cNvCxnSpPr>
            <a:stCxn id="222" idx="2"/>
            <a:endCxn id="660" idx="0"/>
          </p:cNvCxnSpPr>
          <p:nvPr/>
        </p:nvCxnSpPr>
        <p:spPr>
          <a:xfrm rot="16200000" flipH="1">
            <a:off x="8933844" y="7773777"/>
            <a:ext cx="258775" cy="3875569"/>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670" name="Соединительная линия уступом 669"/>
          <p:cNvCxnSpPr>
            <a:stCxn id="343" idx="2"/>
            <a:endCxn id="655" idx="0"/>
          </p:cNvCxnSpPr>
          <p:nvPr/>
        </p:nvCxnSpPr>
        <p:spPr>
          <a:xfrm rot="5400000">
            <a:off x="11732458" y="10202556"/>
            <a:ext cx="204110" cy="56089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73" name="Соединительная линия уступом 672"/>
          <p:cNvCxnSpPr>
            <a:stCxn id="348" idx="2"/>
            <a:endCxn id="656" idx="0"/>
          </p:cNvCxnSpPr>
          <p:nvPr/>
        </p:nvCxnSpPr>
        <p:spPr>
          <a:xfrm rot="5400000">
            <a:off x="12832836" y="10213904"/>
            <a:ext cx="200442" cy="54818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76" name="Соединительная линия уступом 675"/>
          <p:cNvCxnSpPr>
            <a:stCxn id="348" idx="2"/>
            <a:endCxn id="358" idx="0"/>
          </p:cNvCxnSpPr>
          <p:nvPr/>
        </p:nvCxnSpPr>
        <p:spPr>
          <a:xfrm rot="16200000" flipH="1">
            <a:off x="13380582" y="10214343"/>
            <a:ext cx="199228" cy="54609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79" name="Соединительная линия уступом 678"/>
          <p:cNvCxnSpPr>
            <a:stCxn id="345" idx="2"/>
            <a:endCxn id="657" idx="0"/>
          </p:cNvCxnSpPr>
          <p:nvPr/>
        </p:nvCxnSpPr>
        <p:spPr>
          <a:xfrm rot="16200000" flipH="1">
            <a:off x="14464148" y="10216139"/>
            <a:ext cx="218562" cy="54818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682" name="Прямоугольник 681"/>
          <p:cNvSpPr/>
          <p:nvPr/>
        </p:nvSpPr>
        <p:spPr>
          <a:xfrm>
            <a:off x="13836167" y="11346420"/>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Восстановить монархию</a:t>
            </a:r>
          </a:p>
        </p:txBody>
      </p:sp>
      <p:sp>
        <p:nvSpPr>
          <p:cNvPr id="685" name="Прямоугольник 684"/>
          <p:cNvSpPr/>
          <p:nvPr/>
        </p:nvSpPr>
        <p:spPr>
          <a:xfrm>
            <a:off x="11638876" y="11348420"/>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600" dirty="0"/>
              <a:t>Пожизненный диктатор (ваниль)</a:t>
            </a:r>
          </a:p>
        </p:txBody>
      </p:sp>
      <p:cxnSp>
        <p:nvCxnSpPr>
          <p:cNvPr id="686" name="Прямая соединительная линия 685"/>
          <p:cNvCxnSpPr>
            <a:stCxn id="685" idx="3"/>
            <a:endCxn id="682" idx="1"/>
          </p:cNvCxnSpPr>
          <p:nvPr/>
        </p:nvCxnSpPr>
        <p:spPr>
          <a:xfrm flipV="1">
            <a:off x="12565201" y="11616420"/>
            <a:ext cx="1270966" cy="20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9" name="Соединительная линия уступом 688"/>
          <p:cNvCxnSpPr>
            <a:stCxn id="358" idx="2"/>
            <a:endCxn id="685" idx="0"/>
          </p:cNvCxnSpPr>
          <p:nvPr/>
        </p:nvCxnSpPr>
        <p:spPr>
          <a:xfrm rot="5400000">
            <a:off x="12816933" y="10412110"/>
            <a:ext cx="221416" cy="165120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92" name="Соединительная линия уступом 691"/>
          <p:cNvCxnSpPr>
            <a:stCxn id="358" idx="2"/>
            <a:endCxn id="682" idx="0"/>
          </p:cNvCxnSpPr>
          <p:nvPr/>
        </p:nvCxnSpPr>
        <p:spPr>
          <a:xfrm rot="16200000" flipH="1">
            <a:off x="13916578" y="10963668"/>
            <a:ext cx="219416" cy="54608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695" name="Прямоугольник 694"/>
          <p:cNvSpPr/>
          <p:nvPr/>
        </p:nvSpPr>
        <p:spPr>
          <a:xfrm>
            <a:off x="13836166" y="12106726"/>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Присоединиться к союзникам (ваниль)</a:t>
            </a:r>
          </a:p>
        </p:txBody>
      </p:sp>
      <p:sp>
        <p:nvSpPr>
          <p:cNvPr id="696" name="Прямоугольник 695"/>
          <p:cNvSpPr/>
          <p:nvPr/>
        </p:nvSpPr>
        <p:spPr>
          <a:xfrm>
            <a:off x="11638875" y="12899851"/>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Бронетанковый корпус (ваниль)</a:t>
            </a:r>
          </a:p>
        </p:txBody>
      </p:sp>
      <p:cxnSp>
        <p:nvCxnSpPr>
          <p:cNvPr id="698" name="Прямая соединительная линия 697"/>
          <p:cNvCxnSpPr>
            <a:stCxn id="648" idx="3"/>
            <a:endCxn id="649" idx="1"/>
          </p:cNvCxnSpPr>
          <p:nvPr/>
        </p:nvCxnSpPr>
        <p:spPr>
          <a:xfrm>
            <a:off x="12569283" y="12376726"/>
            <a:ext cx="152640" cy="190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1" name="Прямая соединительная линия 700"/>
          <p:cNvCxnSpPr>
            <a:stCxn id="649" idx="3"/>
            <a:endCxn id="695" idx="1"/>
          </p:cNvCxnSpPr>
          <p:nvPr/>
        </p:nvCxnSpPr>
        <p:spPr>
          <a:xfrm flipV="1">
            <a:off x="13648248" y="12376726"/>
            <a:ext cx="187918" cy="190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4" name="Соединительная линия уступом 703"/>
          <p:cNvCxnSpPr>
            <a:stCxn id="685" idx="2"/>
            <a:endCxn id="649" idx="0"/>
          </p:cNvCxnSpPr>
          <p:nvPr/>
        </p:nvCxnSpPr>
        <p:spPr>
          <a:xfrm rot="16200000" flipH="1">
            <a:off x="12533457" y="11457001"/>
            <a:ext cx="220210" cy="108304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707" name="Соединительная линия уступом 706"/>
          <p:cNvCxnSpPr>
            <a:stCxn id="685" idx="2"/>
            <a:endCxn id="695" idx="0"/>
          </p:cNvCxnSpPr>
          <p:nvPr/>
        </p:nvCxnSpPr>
        <p:spPr>
          <a:xfrm rot="16200000" flipH="1">
            <a:off x="13091531" y="10898928"/>
            <a:ext cx="218306" cy="219729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710" name="Соединительная линия уступом 709"/>
          <p:cNvCxnSpPr>
            <a:stCxn id="682" idx="2"/>
            <a:endCxn id="648" idx="0"/>
          </p:cNvCxnSpPr>
          <p:nvPr/>
        </p:nvCxnSpPr>
        <p:spPr>
          <a:xfrm rot="5400000">
            <a:off x="13092573" y="10899969"/>
            <a:ext cx="220306" cy="2193209"/>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713" name="Соединительная линия уступом 712"/>
          <p:cNvCxnSpPr>
            <a:stCxn id="682" idx="2"/>
            <a:endCxn id="649" idx="0"/>
          </p:cNvCxnSpPr>
          <p:nvPr/>
        </p:nvCxnSpPr>
        <p:spPr>
          <a:xfrm rot="5400000">
            <a:off x="13631103" y="11440403"/>
            <a:ext cx="222210" cy="1114244"/>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716" name="Соединительная линия уступом 715"/>
          <p:cNvCxnSpPr>
            <a:stCxn id="682" idx="2"/>
            <a:endCxn id="695" idx="0"/>
          </p:cNvCxnSpPr>
          <p:nvPr/>
        </p:nvCxnSpPr>
        <p:spPr>
          <a:xfrm rot="5400000">
            <a:off x="14189177" y="11996573"/>
            <a:ext cx="220306" cy="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720" name="Соединительная линия уступом 719"/>
          <p:cNvCxnSpPr>
            <a:stCxn id="685" idx="2"/>
            <a:endCxn id="648" idx="0"/>
          </p:cNvCxnSpPr>
          <p:nvPr/>
        </p:nvCxnSpPr>
        <p:spPr>
          <a:xfrm rot="16200000" flipH="1">
            <a:off x="11994927" y="11995532"/>
            <a:ext cx="218306" cy="4082"/>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726" name="Соединительная линия уступом 725"/>
          <p:cNvCxnSpPr>
            <a:stCxn id="650" idx="2"/>
            <a:endCxn id="652" idx="0"/>
          </p:cNvCxnSpPr>
          <p:nvPr/>
        </p:nvCxnSpPr>
        <p:spPr>
          <a:xfrm rot="5400000">
            <a:off x="12794497" y="13273436"/>
            <a:ext cx="233207" cy="54797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29" name="Соединительная линия уступом 728"/>
          <p:cNvCxnSpPr>
            <a:stCxn id="650" idx="2"/>
            <a:endCxn id="651" idx="0"/>
          </p:cNvCxnSpPr>
          <p:nvPr/>
        </p:nvCxnSpPr>
        <p:spPr>
          <a:xfrm rot="16200000" flipH="1">
            <a:off x="13335649" y="13280258"/>
            <a:ext cx="233207" cy="53433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32" name="Прямая со стрелкой 731"/>
          <p:cNvCxnSpPr>
            <a:stCxn id="649" idx="2"/>
            <a:endCxn id="650" idx="0"/>
          </p:cNvCxnSpPr>
          <p:nvPr/>
        </p:nvCxnSpPr>
        <p:spPr>
          <a:xfrm>
            <a:off x="13185086" y="12648630"/>
            <a:ext cx="1" cy="24219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35" name="Прямоугольник 734"/>
          <p:cNvSpPr/>
          <p:nvPr/>
        </p:nvSpPr>
        <p:spPr>
          <a:xfrm>
            <a:off x="10503564" y="12899851"/>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Экономическая помощь от фашистов (ваниль)</a:t>
            </a:r>
          </a:p>
        </p:txBody>
      </p:sp>
      <p:cxnSp>
        <p:nvCxnSpPr>
          <p:cNvPr id="736" name="Соединительная линия уступом 735"/>
          <p:cNvCxnSpPr>
            <a:stCxn id="648" idx="2"/>
            <a:endCxn id="735" idx="0"/>
          </p:cNvCxnSpPr>
          <p:nvPr/>
        </p:nvCxnSpPr>
        <p:spPr>
          <a:xfrm rot="5400000">
            <a:off x="11409862" y="12203591"/>
            <a:ext cx="253125" cy="113939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39" name="Прямая со стрелкой 738"/>
          <p:cNvCxnSpPr>
            <a:stCxn id="648" idx="2"/>
            <a:endCxn id="696" idx="0"/>
          </p:cNvCxnSpPr>
          <p:nvPr/>
        </p:nvCxnSpPr>
        <p:spPr>
          <a:xfrm flipH="1">
            <a:off x="12102038" y="12646726"/>
            <a:ext cx="4083" cy="25312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42" name="Прямоугольник 741"/>
          <p:cNvSpPr/>
          <p:nvPr/>
        </p:nvSpPr>
        <p:spPr>
          <a:xfrm>
            <a:off x="11073261" y="13657687"/>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Способствовать работе пиренейских грузовых перевозок (ваниль)</a:t>
            </a:r>
          </a:p>
        </p:txBody>
      </p:sp>
      <p:sp>
        <p:nvSpPr>
          <p:cNvPr id="743" name="Прямоугольник 742"/>
          <p:cNvSpPr/>
          <p:nvPr/>
        </p:nvSpPr>
        <p:spPr>
          <a:xfrm>
            <a:off x="9964477" y="13657687"/>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Итальянский судостроительный опыт(ваниль)</a:t>
            </a:r>
          </a:p>
        </p:txBody>
      </p:sp>
      <p:sp>
        <p:nvSpPr>
          <p:cNvPr id="744" name="Прямоугольник 743"/>
          <p:cNvSpPr/>
          <p:nvPr/>
        </p:nvSpPr>
        <p:spPr>
          <a:xfrm>
            <a:off x="10503564" y="14434777"/>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Поддержать военную промышленность (ваниль)</a:t>
            </a:r>
          </a:p>
        </p:txBody>
      </p:sp>
      <p:cxnSp>
        <p:nvCxnSpPr>
          <p:cNvPr id="745" name="Соединительная линия уступом 744"/>
          <p:cNvCxnSpPr>
            <a:stCxn id="735" idx="2"/>
            <a:endCxn id="743" idx="0"/>
          </p:cNvCxnSpPr>
          <p:nvPr/>
        </p:nvCxnSpPr>
        <p:spPr>
          <a:xfrm rot="5400000">
            <a:off x="10588266" y="13279226"/>
            <a:ext cx="217836" cy="53908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48" name="Соединительная линия уступом 747"/>
          <p:cNvCxnSpPr>
            <a:stCxn id="735" idx="2"/>
            <a:endCxn id="742" idx="0"/>
          </p:cNvCxnSpPr>
          <p:nvPr/>
        </p:nvCxnSpPr>
        <p:spPr>
          <a:xfrm rot="16200000" flipH="1">
            <a:off x="11142657" y="13263920"/>
            <a:ext cx="217836" cy="56969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51" name="Прямая со стрелкой 750"/>
          <p:cNvCxnSpPr>
            <a:stCxn id="735" idx="2"/>
            <a:endCxn id="744" idx="0"/>
          </p:cNvCxnSpPr>
          <p:nvPr/>
        </p:nvCxnSpPr>
        <p:spPr>
          <a:xfrm>
            <a:off x="10966727" y="13439851"/>
            <a:ext cx="0" cy="99492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54" name="Прямоугольник 753"/>
          <p:cNvSpPr/>
          <p:nvPr/>
        </p:nvSpPr>
        <p:spPr>
          <a:xfrm>
            <a:off x="13836165" y="12899851"/>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Расширить Испанские базы (ваниль)</a:t>
            </a:r>
          </a:p>
        </p:txBody>
      </p:sp>
      <p:cxnSp>
        <p:nvCxnSpPr>
          <p:cNvPr id="755" name="Соединительная линия уступом 754"/>
          <p:cNvCxnSpPr>
            <a:stCxn id="363" idx="2"/>
            <a:endCxn id="654" idx="0"/>
          </p:cNvCxnSpPr>
          <p:nvPr/>
        </p:nvCxnSpPr>
        <p:spPr>
          <a:xfrm rot="16200000" flipH="1">
            <a:off x="14731338" y="7616197"/>
            <a:ext cx="228176" cy="109217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58" name="Прямая со стрелкой 757"/>
          <p:cNvCxnSpPr>
            <a:stCxn id="363" idx="2"/>
            <a:endCxn id="653" idx="0"/>
          </p:cNvCxnSpPr>
          <p:nvPr/>
        </p:nvCxnSpPr>
        <p:spPr>
          <a:xfrm flipH="1">
            <a:off x="14299331" y="8048197"/>
            <a:ext cx="7" cy="22463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61" name="Прямая со стрелкой 760"/>
          <p:cNvCxnSpPr>
            <a:stCxn id="695" idx="2"/>
            <a:endCxn id="754" idx="0"/>
          </p:cNvCxnSpPr>
          <p:nvPr/>
        </p:nvCxnSpPr>
        <p:spPr>
          <a:xfrm flipH="1">
            <a:off x="14299328" y="12646726"/>
            <a:ext cx="1" cy="25312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64" name="Прямоугольник 763"/>
          <p:cNvSpPr/>
          <p:nvPr/>
        </p:nvSpPr>
        <p:spPr>
          <a:xfrm>
            <a:off x="14928350" y="12899851"/>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Экономическая помощь от капиталистов (ваниль)</a:t>
            </a:r>
          </a:p>
        </p:txBody>
      </p:sp>
      <p:sp>
        <p:nvSpPr>
          <p:cNvPr id="765" name="Прямоугольник 764"/>
          <p:cNvSpPr/>
          <p:nvPr/>
        </p:nvSpPr>
        <p:spPr>
          <a:xfrm>
            <a:off x="14384358" y="13659481"/>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Повысить уровень жизни (ваниль)</a:t>
            </a:r>
          </a:p>
        </p:txBody>
      </p:sp>
      <p:sp>
        <p:nvSpPr>
          <p:cNvPr id="766" name="Прямоугольник 765"/>
          <p:cNvSpPr/>
          <p:nvPr/>
        </p:nvSpPr>
        <p:spPr>
          <a:xfrm>
            <a:off x="15512460" y="13663597"/>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Развитие внутренней промышленности (ваниль)</a:t>
            </a:r>
          </a:p>
        </p:txBody>
      </p:sp>
      <p:sp>
        <p:nvSpPr>
          <p:cNvPr id="767" name="Прямоугольник 766"/>
          <p:cNvSpPr/>
          <p:nvPr/>
        </p:nvSpPr>
        <p:spPr>
          <a:xfrm>
            <a:off x="14928350" y="14419111"/>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Испанское чудо (ваниль)</a:t>
            </a:r>
          </a:p>
        </p:txBody>
      </p:sp>
      <p:cxnSp>
        <p:nvCxnSpPr>
          <p:cNvPr id="768" name="Соединительная линия уступом 767"/>
          <p:cNvCxnSpPr>
            <a:stCxn id="695" idx="2"/>
            <a:endCxn id="764" idx="0"/>
          </p:cNvCxnSpPr>
          <p:nvPr/>
        </p:nvCxnSpPr>
        <p:spPr>
          <a:xfrm rot="16200000" flipH="1">
            <a:off x="14718859" y="12227196"/>
            <a:ext cx="253125" cy="109218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71" name="Соединительная линия уступом 770"/>
          <p:cNvCxnSpPr>
            <a:stCxn id="764" idx="2"/>
            <a:endCxn id="766" idx="0"/>
          </p:cNvCxnSpPr>
          <p:nvPr/>
        </p:nvCxnSpPr>
        <p:spPr>
          <a:xfrm rot="16200000" flipH="1">
            <a:off x="15571695" y="13259669"/>
            <a:ext cx="223746" cy="58411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74" name="Соединительная линия уступом 773"/>
          <p:cNvCxnSpPr>
            <a:stCxn id="764" idx="2"/>
            <a:endCxn id="765" idx="0"/>
          </p:cNvCxnSpPr>
          <p:nvPr/>
        </p:nvCxnSpPr>
        <p:spPr>
          <a:xfrm rot="5400000">
            <a:off x="15009702" y="13277670"/>
            <a:ext cx="219630" cy="54399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78" name="Соединительная линия уступом 777"/>
          <p:cNvCxnSpPr>
            <a:stCxn id="766" idx="2"/>
            <a:endCxn id="767" idx="0"/>
          </p:cNvCxnSpPr>
          <p:nvPr/>
        </p:nvCxnSpPr>
        <p:spPr>
          <a:xfrm rot="5400000">
            <a:off x="15575811" y="14019299"/>
            <a:ext cx="215514" cy="58411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80" name="Соединительная линия уступом 779"/>
          <p:cNvCxnSpPr>
            <a:stCxn id="765" idx="2"/>
            <a:endCxn id="767" idx="0"/>
          </p:cNvCxnSpPr>
          <p:nvPr/>
        </p:nvCxnSpPr>
        <p:spPr>
          <a:xfrm rot="16200000" flipH="1">
            <a:off x="15009702" y="14037300"/>
            <a:ext cx="219630" cy="54399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84" name="Соединительная линия уступом 783"/>
          <p:cNvCxnSpPr>
            <a:stCxn id="358" idx="2"/>
            <a:endCxn id="787" idx="0"/>
          </p:cNvCxnSpPr>
          <p:nvPr/>
        </p:nvCxnSpPr>
        <p:spPr>
          <a:xfrm rot="16200000" flipH="1">
            <a:off x="15033125" y="9847121"/>
            <a:ext cx="216866" cy="277663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87" name="Прямоугольник 786"/>
          <p:cNvSpPr/>
          <p:nvPr/>
        </p:nvSpPr>
        <p:spPr>
          <a:xfrm>
            <a:off x="16066711" y="11343870"/>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Искоренить маки (ваниль)</a:t>
            </a:r>
          </a:p>
        </p:txBody>
      </p:sp>
      <p:sp>
        <p:nvSpPr>
          <p:cNvPr id="789" name="Прямоугольник 788"/>
          <p:cNvSpPr/>
          <p:nvPr/>
        </p:nvSpPr>
        <p:spPr>
          <a:xfrm>
            <a:off x="14950407" y="12113271"/>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err="1"/>
              <a:t>Танжерский</a:t>
            </a:r>
            <a:r>
              <a:rPr lang="ru-RU" sz="700" dirty="0"/>
              <a:t> анклав (ваниль)</a:t>
            </a:r>
          </a:p>
        </p:txBody>
      </p:sp>
      <p:sp>
        <p:nvSpPr>
          <p:cNvPr id="790" name="Прямоугольник 789"/>
          <p:cNvSpPr/>
          <p:nvPr/>
        </p:nvSpPr>
        <p:spPr>
          <a:xfrm>
            <a:off x="16064647" y="12100293"/>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Защита от стратегических бомбардировок (ваниль)</a:t>
            </a:r>
          </a:p>
        </p:txBody>
      </p:sp>
      <p:sp>
        <p:nvSpPr>
          <p:cNvPr id="791" name="Прямоугольник 790"/>
          <p:cNvSpPr/>
          <p:nvPr/>
        </p:nvSpPr>
        <p:spPr>
          <a:xfrm>
            <a:off x="16064647" y="12890819"/>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Защита от вторжения с моря (ваниль)</a:t>
            </a:r>
          </a:p>
        </p:txBody>
      </p:sp>
      <p:cxnSp>
        <p:nvCxnSpPr>
          <p:cNvPr id="793" name="Соединительная линия уступом 792"/>
          <p:cNvCxnSpPr>
            <a:stCxn id="787" idx="2"/>
            <a:endCxn id="789" idx="0"/>
          </p:cNvCxnSpPr>
          <p:nvPr/>
        </p:nvCxnSpPr>
        <p:spPr>
          <a:xfrm rot="5400000">
            <a:off x="15857022" y="11440418"/>
            <a:ext cx="229401" cy="111630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96" name="Прямоугольник 795"/>
          <p:cNvSpPr/>
          <p:nvPr/>
        </p:nvSpPr>
        <p:spPr>
          <a:xfrm>
            <a:off x="17178886" y="12108356"/>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Потребовать французскую Северную Африку (ваниль)</a:t>
            </a:r>
          </a:p>
        </p:txBody>
      </p:sp>
      <p:sp>
        <p:nvSpPr>
          <p:cNvPr id="797" name="Прямоугольник 796"/>
          <p:cNvSpPr/>
          <p:nvPr/>
        </p:nvSpPr>
        <p:spPr>
          <a:xfrm>
            <a:off x="17178886" y="12880472"/>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Отвоевать </a:t>
            </a:r>
            <a:r>
              <a:rPr lang="ru-RU" sz="700" dirty="0" err="1"/>
              <a:t>Гибраалтар</a:t>
            </a:r>
            <a:r>
              <a:rPr lang="ru-RU" sz="700" dirty="0"/>
              <a:t> (ваниль)</a:t>
            </a:r>
          </a:p>
        </p:txBody>
      </p:sp>
      <p:sp>
        <p:nvSpPr>
          <p:cNvPr id="798" name="Прямоугольник 797"/>
          <p:cNvSpPr/>
          <p:nvPr/>
        </p:nvSpPr>
        <p:spPr>
          <a:xfrm>
            <a:off x="16640562" y="13652589"/>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Заявить претензию на западную Африку (ваниль)</a:t>
            </a:r>
          </a:p>
        </p:txBody>
      </p:sp>
      <p:cxnSp>
        <p:nvCxnSpPr>
          <p:cNvPr id="799" name="Соединительная линия уступом 798"/>
          <p:cNvCxnSpPr>
            <a:stCxn id="787" idx="2"/>
            <a:endCxn id="796" idx="0"/>
          </p:cNvCxnSpPr>
          <p:nvPr/>
        </p:nvCxnSpPr>
        <p:spPr>
          <a:xfrm rot="16200000" flipH="1">
            <a:off x="16973718" y="11440025"/>
            <a:ext cx="224486" cy="111217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02" name="Соединительная линия уступом 801"/>
          <p:cNvCxnSpPr>
            <a:stCxn id="787" idx="2"/>
            <a:endCxn id="798" idx="0"/>
          </p:cNvCxnSpPr>
          <p:nvPr/>
        </p:nvCxnSpPr>
        <p:spPr>
          <a:xfrm rot="16200000" flipH="1">
            <a:off x="15932440" y="12481303"/>
            <a:ext cx="1768719" cy="573851"/>
          </a:xfrm>
          <a:prstGeom prst="bentConnector3">
            <a:avLst>
              <a:gd name="adj1" fmla="val 6539"/>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07" name="Прямая со стрелкой 806"/>
          <p:cNvCxnSpPr>
            <a:stCxn id="790" idx="2"/>
            <a:endCxn id="791" idx="0"/>
          </p:cNvCxnSpPr>
          <p:nvPr/>
        </p:nvCxnSpPr>
        <p:spPr>
          <a:xfrm>
            <a:off x="16527810" y="12640293"/>
            <a:ext cx="0" cy="25052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10" name="Прямая со стрелкой 809"/>
          <p:cNvCxnSpPr>
            <a:stCxn id="796" idx="2"/>
            <a:endCxn id="797" idx="0"/>
          </p:cNvCxnSpPr>
          <p:nvPr/>
        </p:nvCxnSpPr>
        <p:spPr>
          <a:xfrm>
            <a:off x="17642049" y="12648356"/>
            <a:ext cx="0" cy="23211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14" name="Прямоугольник 813"/>
          <p:cNvSpPr/>
          <p:nvPr/>
        </p:nvSpPr>
        <p:spPr>
          <a:xfrm>
            <a:off x="14382258" y="9037990"/>
            <a:ext cx="926325" cy="540000"/>
          </a:xfrm>
          <a:prstGeom prst="rect">
            <a:avLst/>
          </a:prstGeom>
          <a:solidFill>
            <a:schemeClr val="bg1">
              <a:lumMod val="50000"/>
            </a:schemeClr>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600" dirty="0"/>
              <a:t>Синтез </a:t>
            </a:r>
            <a:r>
              <a:rPr lang="ru-RU" sz="600" dirty="0" err="1"/>
              <a:t>фалангизма</a:t>
            </a:r>
            <a:r>
              <a:rPr lang="ru-RU" sz="600" dirty="0"/>
              <a:t> и капитализма (наше)</a:t>
            </a:r>
          </a:p>
        </p:txBody>
      </p:sp>
      <p:cxnSp>
        <p:nvCxnSpPr>
          <p:cNvPr id="815" name="Соединительная линия уступом 814"/>
          <p:cNvCxnSpPr>
            <a:stCxn id="363" idx="2"/>
            <a:endCxn id="814" idx="0"/>
          </p:cNvCxnSpPr>
          <p:nvPr/>
        </p:nvCxnSpPr>
        <p:spPr>
          <a:xfrm rot="16200000" flipH="1">
            <a:off x="14077483" y="8270051"/>
            <a:ext cx="989793" cy="546083"/>
          </a:xfrm>
          <a:prstGeom prst="bentConnector3">
            <a:avLst>
              <a:gd name="adj1" fmla="val 11356"/>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19" name="Прямоугольник 818"/>
          <p:cNvSpPr/>
          <p:nvPr/>
        </p:nvSpPr>
        <p:spPr>
          <a:xfrm>
            <a:off x="3161186" y="297166"/>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00" dirty="0"/>
              <a:t>Между тем экономическая ситуация не улучшилась в основном из-за проводившейся катастрофической автаркической и интервенционистской экономической политики . [ 53 ] В результате было жутким распределением производственных ресурсов, а также доказательство неисправной системы в том , что сразу же появилось, вне регулируемого рынка (и рационов </a:t>
            </a:r>
            <a:r>
              <a:rPr lang="ru-RU" sz="100" dirty="0" err="1"/>
              <a:t>картов</a:t>
            </a:r>
            <a:r>
              <a:rPr lang="ru-RU" sz="100" dirty="0"/>
              <a:t> ), черный рынка, известные как " черный рынок », к которой продукты были распределены по каналам, так как там они достигли более высоких цен. [ 54 ]</a:t>
            </a:r>
            <a:br>
              <a:rPr lang="ru-RU" sz="100" dirty="0"/>
            </a:br>
            <a:r>
              <a:rPr lang="ru-RU" sz="100" dirty="0"/>
              <a:t>Таким образом, применение автаркической и интервенционистской политики на службе «военного имперского государства» вызвало «глубокую экономическую депрессию, которая длилась более десяти лет». [ 55 ] Произошел резкий спад сельскохозяйственного производства, который вызвал очень серьезный голод [ 55 ], и только когда во второй половине 1940-х годов дефицит стал катастрофическим, генерал Франко разрешил импорт продуктов питания, так что только благодаря Аргентине и Американская пшеница, Испания была спасена от тотальной продовольственной катастрофы. [ 56 ]</a:t>
            </a:r>
            <a:br>
              <a:rPr lang="ru-RU" sz="100" dirty="0"/>
            </a:br>
            <a:r>
              <a:rPr lang="ru-RU" sz="100" dirty="0"/>
              <a:t>Ухудшились условия жизни и труда поденщиков, бедных крестьян, промышленных рабочих и обслуживающего персонала, резко снизилась реальная заработная плата. [ 57 ] Процесс индустриализации, который Испания переживала со второго десятилетия двадцатого века, был прерван, и восстановить промышленный уровень 1935 года можно было только через пятнадцать лет после окончания войны, в 1955 году. [ 58 ] Он выстрелил. рост инфляции из-за большого дефицита бюджета, финансируемого за счет выпуска залогового долга, который был взят на себя частными банками, которые могли немедленно преобразовать его в наличные (</a:t>
            </a:r>
            <a:r>
              <a:rPr lang="ru-RU" sz="100" dirty="0" err="1"/>
              <a:t>монетизировать</a:t>
            </a:r>
            <a:r>
              <a:rPr lang="ru-RU" sz="100" dirty="0"/>
              <a:t>) в Банке Испании. [ 59] Историк экономики Карлос </a:t>
            </a:r>
            <a:r>
              <a:rPr lang="ru-RU" sz="100" dirty="0" err="1"/>
              <a:t>Барсиела</a:t>
            </a:r>
            <a:r>
              <a:rPr lang="ru-RU" sz="100" dirty="0"/>
              <a:t>, подводя итоги лет автаркии Франко, подчеркнул, что «потребление населения, включая предметы первой необходимости, резко упало, а голод вызвал у миллионов испанцев» [ 60 ], и поэтому делает вывод, что «потребление населения, включая предметы первой необходимости, резко упало». эволюция испанской экономики в 1940-х годах была катастрофической ». [ 61 ]</a:t>
            </a:r>
          </a:p>
        </p:txBody>
      </p:sp>
      <p:cxnSp>
        <p:nvCxnSpPr>
          <p:cNvPr id="820" name="Соединительная линия уступом 819"/>
          <p:cNvCxnSpPr>
            <a:stCxn id="635" idx="2"/>
            <a:endCxn id="591" idx="0"/>
          </p:cNvCxnSpPr>
          <p:nvPr/>
        </p:nvCxnSpPr>
        <p:spPr>
          <a:xfrm rot="5400000">
            <a:off x="25503334" y="-4379224"/>
            <a:ext cx="414528" cy="1540708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23" name="Соединительная линия уступом 822"/>
          <p:cNvCxnSpPr>
            <a:stCxn id="635" idx="2"/>
            <a:endCxn id="592" idx="0"/>
          </p:cNvCxnSpPr>
          <p:nvPr/>
        </p:nvCxnSpPr>
        <p:spPr>
          <a:xfrm rot="5400000">
            <a:off x="26062403" y="-3811161"/>
            <a:ext cx="423523" cy="14279953"/>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26" name="Соединительная линия уступом 825"/>
          <p:cNvCxnSpPr>
            <a:stCxn id="635" idx="2"/>
            <a:endCxn id="640" idx="0"/>
          </p:cNvCxnSpPr>
          <p:nvPr/>
        </p:nvCxnSpPr>
        <p:spPr>
          <a:xfrm rot="5400000">
            <a:off x="26625124" y="-3253258"/>
            <a:ext cx="418705" cy="13159329"/>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618" name="Прямоугольник 617"/>
          <p:cNvSpPr/>
          <p:nvPr/>
        </p:nvSpPr>
        <p:spPr>
          <a:xfrm>
            <a:off x="31833042" y="3689341"/>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Защита христианской цивилизации</a:t>
            </a:r>
          </a:p>
        </p:txBody>
      </p:sp>
      <p:sp>
        <p:nvSpPr>
          <p:cNvPr id="627" name="Прямоугольник 626"/>
          <p:cNvSpPr/>
          <p:nvPr/>
        </p:nvSpPr>
        <p:spPr>
          <a:xfrm>
            <a:off x="32950975" y="3684188"/>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Введение военного положения</a:t>
            </a:r>
          </a:p>
        </p:txBody>
      </p:sp>
      <p:sp>
        <p:nvSpPr>
          <p:cNvPr id="628" name="Прямоугольник 627"/>
          <p:cNvSpPr/>
          <p:nvPr/>
        </p:nvSpPr>
        <p:spPr>
          <a:xfrm>
            <a:off x="34068907" y="3689341"/>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Молодёжь народного действия </a:t>
            </a:r>
            <a:r>
              <a:rPr lang="ru-RU" sz="200" dirty="0"/>
              <a:t>(</a:t>
            </a:r>
            <a:r>
              <a:rPr lang="en-US" sz="200" dirty="0"/>
              <a:t>José </a:t>
            </a:r>
            <a:r>
              <a:rPr lang="en-US" sz="200" dirty="0" err="1"/>
              <a:t>María</a:t>
            </a:r>
            <a:r>
              <a:rPr lang="en-US" sz="200" dirty="0"/>
              <a:t> Pérez de </a:t>
            </a:r>
            <a:r>
              <a:rPr lang="en-US" sz="200" dirty="0" err="1"/>
              <a:t>Laborda</a:t>
            </a:r>
            <a:r>
              <a:rPr lang="ru-RU" sz="200" dirty="0"/>
              <a:t>как советник) (были испанская молодежная организация с идеологией правого, первый из партии Народного действия (AP), а позднее, от Испанской конфедерации автономных прав (CEDA). [ 4 ] Его члены были широко известны как «Зеленые рубашки». [ 5 ],)</a:t>
            </a:r>
          </a:p>
        </p:txBody>
      </p:sp>
      <p:sp>
        <p:nvSpPr>
          <p:cNvPr id="629" name="Прямоугольник 628"/>
          <p:cNvSpPr/>
          <p:nvPr/>
        </p:nvSpPr>
        <p:spPr>
          <a:xfrm>
            <a:off x="31833041" y="5207330"/>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католические институты </a:t>
            </a:r>
            <a:r>
              <a:rPr lang="ru-RU" sz="100" dirty="0"/>
              <a:t>(Общим фактором этих партий был их особый интерес к клерикальным вопросам и их неприятие реформ, которые были предприняты в этих вопросах в первом законодательном органе Республики: </a:t>
            </a:r>
            <a:r>
              <a:rPr lang="ru-RU" sz="100" dirty="0" err="1"/>
              <a:t>секуляризм</a:t>
            </a:r>
            <a:r>
              <a:rPr lang="ru-RU" sz="100" dirty="0"/>
              <a:t> государства с разделением властей, церковью и государством, реформа учение, которое запрещало религиозные символы в школах и другие второстепенные вопросы духовного характера, но которые они считали особенно важными. Они были особенно чувствительны к общественным беспорядкам, закончившимся поджогом церквей и монастырей. CEDA удалось стать самой важной партией справа, достигнув почти 700 000 членов. Это проникновение в общество, превратившее его в массовую партию, было достигнуто с использованием в основном католических организаций.)</a:t>
            </a:r>
          </a:p>
        </p:txBody>
      </p:sp>
      <p:sp>
        <p:nvSpPr>
          <p:cNvPr id="632" name="Прямоугольник 631"/>
          <p:cNvSpPr/>
          <p:nvPr/>
        </p:nvSpPr>
        <p:spPr>
          <a:xfrm>
            <a:off x="29627045" y="7484996"/>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Обострение культа личности </a:t>
            </a:r>
            <a:r>
              <a:rPr lang="ru-RU" sz="100" dirty="0"/>
              <a:t>(В результате этого опыта CEDA приняло обострение культа личности лидера в своих кампаниях и предвыборных мероприятиях, воспроизводя изображение </a:t>
            </a:r>
            <a:r>
              <a:rPr lang="ru-RU" sz="100" dirty="0" err="1"/>
              <a:t>Хиль-Роблеса</a:t>
            </a:r>
            <a:r>
              <a:rPr lang="ru-RU" sz="100" dirty="0"/>
              <a:t> на больших плакатах, таких как тот, который был выставлен на площади </a:t>
            </a:r>
            <a:r>
              <a:rPr lang="ru-RU" sz="100" dirty="0" err="1"/>
              <a:t>Пуэрта</a:t>
            </a:r>
            <a:r>
              <a:rPr lang="ru-RU" sz="100" dirty="0"/>
              <a:t>-</a:t>
            </a:r>
            <a:r>
              <a:rPr lang="ru-RU" sz="100" dirty="0" err="1"/>
              <a:t>дель</a:t>
            </a:r>
            <a:r>
              <a:rPr lang="ru-RU" sz="100" dirty="0"/>
              <a:t>-Соль в Мадриде во время кампании 1936 года. , до этого никогда не видел в Испании.)</a:t>
            </a:r>
          </a:p>
        </p:txBody>
      </p:sp>
      <p:sp>
        <p:nvSpPr>
          <p:cNvPr id="633" name="Прямоугольник 632"/>
          <p:cNvSpPr/>
          <p:nvPr/>
        </p:nvSpPr>
        <p:spPr>
          <a:xfrm>
            <a:off x="32394966" y="4413580"/>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Объявить войну коммунизму</a:t>
            </a:r>
          </a:p>
        </p:txBody>
      </p:sp>
      <p:sp>
        <p:nvSpPr>
          <p:cNvPr id="634" name="Прямоугольник 633"/>
          <p:cNvSpPr/>
          <p:nvPr/>
        </p:nvSpPr>
        <p:spPr>
          <a:xfrm>
            <a:off x="33515844" y="5989220"/>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Ограничение власти олигархии (наше)</a:t>
            </a:r>
          </a:p>
        </p:txBody>
      </p:sp>
      <p:sp>
        <p:nvSpPr>
          <p:cNvPr id="637" name="Прямоугольник 636"/>
          <p:cNvSpPr/>
          <p:nvPr/>
        </p:nvSpPr>
        <p:spPr>
          <a:xfrm>
            <a:off x="34641023" y="4399448"/>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Подготовка к захватническим войнам</a:t>
            </a:r>
          </a:p>
        </p:txBody>
      </p:sp>
      <p:sp>
        <p:nvSpPr>
          <p:cNvPr id="638" name="Прямоугольник 637"/>
          <p:cNvSpPr/>
          <p:nvPr/>
        </p:nvSpPr>
        <p:spPr>
          <a:xfrm>
            <a:off x="31242453" y="5989220"/>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Расширить католическое учения в колониях</a:t>
            </a:r>
          </a:p>
        </p:txBody>
      </p:sp>
      <p:sp>
        <p:nvSpPr>
          <p:cNvPr id="639" name="Прямоугольник 638"/>
          <p:cNvSpPr/>
          <p:nvPr/>
        </p:nvSpPr>
        <p:spPr>
          <a:xfrm>
            <a:off x="32951870" y="7484996"/>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Радикальная Республиканская партия </a:t>
            </a:r>
            <a:r>
              <a:rPr lang="ru-RU" sz="200" dirty="0"/>
              <a:t>(не выучен фокус на гонение масонов, католические университеты не восстановлены) (Алехандро </a:t>
            </a:r>
            <a:r>
              <a:rPr lang="ru-RU" sz="200" dirty="0" err="1"/>
              <a:t>Лерру</a:t>
            </a:r>
            <a:r>
              <a:rPr lang="ru-RU" sz="200" dirty="0"/>
              <a:t> который в юности называли «императором </a:t>
            </a:r>
            <a:r>
              <a:rPr lang="ru-RU" sz="200" dirty="0" err="1"/>
              <a:t>Паралело</a:t>
            </a:r>
            <a:r>
              <a:rPr lang="ru-RU" sz="200" dirty="0"/>
              <a:t>» (квартала борделей в Барселоне))</a:t>
            </a:r>
          </a:p>
        </p:txBody>
      </p:sp>
      <p:sp>
        <p:nvSpPr>
          <p:cNvPr id="645" name="Прямоугольник 644"/>
          <p:cNvSpPr/>
          <p:nvPr/>
        </p:nvSpPr>
        <p:spPr>
          <a:xfrm>
            <a:off x="33515844" y="4413580"/>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Объявить войну масонству</a:t>
            </a:r>
          </a:p>
        </p:txBody>
      </p:sp>
      <p:sp>
        <p:nvSpPr>
          <p:cNvPr id="646" name="Прямоугольник 645"/>
          <p:cNvSpPr/>
          <p:nvPr/>
        </p:nvSpPr>
        <p:spPr>
          <a:xfrm>
            <a:off x="32950974" y="6718759"/>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Органическая демократия</a:t>
            </a:r>
          </a:p>
        </p:txBody>
      </p:sp>
      <p:sp>
        <p:nvSpPr>
          <p:cNvPr id="647" name="Прямоугольник 646"/>
          <p:cNvSpPr/>
          <p:nvPr/>
        </p:nvSpPr>
        <p:spPr>
          <a:xfrm>
            <a:off x="34068907" y="5213854"/>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земли помещикам (наше)</a:t>
            </a:r>
          </a:p>
        </p:txBody>
      </p:sp>
      <p:cxnSp>
        <p:nvCxnSpPr>
          <p:cNvPr id="659" name="Соединительная линия уступом 658"/>
          <p:cNvCxnSpPr>
            <a:stCxn id="635" idx="2"/>
            <a:endCxn id="618" idx="0"/>
          </p:cNvCxnSpPr>
          <p:nvPr/>
        </p:nvCxnSpPr>
        <p:spPr>
          <a:xfrm rot="5400000">
            <a:off x="32569030" y="2844230"/>
            <a:ext cx="572287" cy="111793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62" name="Соединительная линия уступом 661"/>
          <p:cNvCxnSpPr>
            <a:stCxn id="635" idx="2"/>
            <a:endCxn id="628" idx="0"/>
          </p:cNvCxnSpPr>
          <p:nvPr/>
        </p:nvCxnSpPr>
        <p:spPr>
          <a:xfrm rot="16200000" flipH="1">
            <a:off x="33686962" y="2844232"/>
            <a:ext cx="572287" cy="111793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65" name="Соединительная линия уступом 664"/>
          <p:cNvCxnSpPr>
            <a:stCxn id="627" idx="2"/>
            <a:endCxn id="633" idx="0"/>
          </p:cNvCxnSpPr>
          <p:nvPr/>
        </p:nvCxnSpPr>
        <p:spPr>
          <a:xfrm rot="5400000">
            <a:off x="33041438" y="4040880"/>
            <a:ext cx="189392" cy="55600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66" name="Соединительная линия уступом 665"/>
          <p:cNvCxnSpPr>
            <a:stCxn id="618" idx="2"/>
            <a:endCxn id="633" idx="0"/>
          </p:cNvCxnSpPr>
          <p:nvPr/>
        </p:nvCxnSpPr>
        <p:spPr>
          <a:xfrm rot="16200000" flipH="1">
            <a:off x="32485048" y="4040498"/>
            <a:ext cx="184239" cy="56192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67" name="Соединительная линия уступом 666"/>
          <p:cNvCxnSpPr>
            <a:stCxn id="628" idx="2"/>
            <a:endCxn id="645" idx="0"/>
          </p:cNvCxnSpPr>
          <p:nvPr/>
        </p:nvCxnSpPr>
        <p:spPr>
          <a:xfrm rot="5400000">
            <a:off x="34163420" y="4044929"/>
            <a:ext cx="184239" cy="55306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68" name="Соединительная линия уступом 667"/>
          <p:cNvCxnSpPr>
            <a:stCxn id="627" idx="2"/>
            <a:endCxn id="645" idx="0"/>
          </p:cNvCxnSpPr>
          <p:nvPr/>
        </p:nvCxnSpPr>
        <p:spPr>
          <a:xfrm rot="16200000" flipH="1">
            <a:off x="33601876" y="4036449"/>
            <a:ext cx="189392" cy="56486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69" name="Прямая со стрелкой 668"/>
          <p:cNvCxnSpPr>
            <a:stCxn id="708" idx="2"/>
            <a:endCxn id="646" idx="0"/>
          </p:cNvCxnSpPr>
          <p:nvPr/>
        </p:nvCxnSpPr>
        <p:spPr>
          <a:xfrm flipH="1">
            <a:off x="33414137" y="5753854"/>
            <a:ext cx="1177" cy="96490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71" name="Прямая со стрелкой 670"/>
          <p:cNvCxnSpPr>
            <a:stCxn id="635" idx="2"/>
            <a:endCxn id="627" idx="0"/>
          </p:cNvCxnSpPr>
          <p:nvPr/>
        </p:nvCxnSpPr>
        <p:spPr>
          <a:xfrm flipH="1">
            <a:off x="33414138" y="3117054"/>
            <a:ext cx="2" cy="567134"/>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72" name="Прямая со стрелкой 671"/>
          <p:cNvCxnSpPr>
            <a:stCxn id="618" idx="2"/>
            <a:endCxn id="629" idx="0"/>
          </p:cNvCxnSpPr>
          <p:nvPr/>
        </p:nvCxnSpPr>
        <p:spPr>
          <a:xfrm flipH="1">
            <a:off x="32296204" y="4229341"/>
            <a:ext cx="1" cy="977989"/>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74" name="Прямая со стрелкой 673"/>
          <p:cNvCxnSpPr>
            <a:stCxn id="628" idx="2"/>
            <a:endCxn id="647" idx="0"/>
          </p:cNvCxnSpPr>
          <p:nvPr/>
        </p:nvCxnSpPr>
        <p:spPr>
          <a:xfrm>
            <a:off x="34532070" y="4229341"/>
            <a:ext cx="0" cy="984513"/>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75" name="Прямая соединительная линия 674"/>
          <p:cNvCxnSpPr>
            <a:stCxn id="111" idx="3"/>
            <a:endCxn id="632" idx="1"/>
          </p:cNvCxnSpPr>
          <p:nvPr/>
        </p:nvCxnSpPr>
        <p:spPr>
          <a:xfrm flipV="1">
            <a:off x="25602000" y="7754996"/>
            <a:ext cx="4025045" cy="55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7" name="Соединительная линия уступом 676"/>
          <p:cNvCxnSpPr>
            <a:stCxn id="111" idx="2"/>
            <a:endCxn id="105" idx="0"/>
          </p:cNvCxnSpPr>
          <p:nvPr/>
        </p:nvCxnSpPr>
        <p:spPr>
          <a:xfrm rot="5400000">
            <a:off x="23064548" y="6197464"/>
            <a:ext cx="246202" cy="3902378"/>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678" name="Прямоугольник 677"/>
          <p:cNvSpPr/>
          <p:nvPr/>
        </p:nvSpPr>
        <p:spPr>
          <a:xfrm>
            <a:off x="36836211" y="7490552"/>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Позиция </a:t>
            </a:r>
            <a:r>
              <a:rPr lang="ru-RU" sz="700" dirty="0" err="1"/>
              <a:t>Мануэля</a:t>
            </a:r>
            <a:r>
              <a:rPr lang="ru-RU" sz="700" dirty="0"/>
              <a:t> </a:t>
            </a:r>
            <a:r>
              <a:rPr lang="ru-RU" sz="700" dirty="0" err="1"/>
              <a:t>Вернандеса</a:t>
            </a:r>
            <a:r>
              <a:rPr lang="ru-RU" sz="700" dirty="0"/>
              <a:t> </a:t>
            </a:r>
            <a:r>
              <a:rPr lang="ru-RU" sz="500" dirty="0"/>
              <a:t>(не выучен фокус на гонение коммунистов</a:t>
            </a:r>
            <a:r>
              <a:rPr lang="ru-RU" sz="700" dirty="0"/>
              <a:t>)  </a:t>
            </a:r>
            <a:r>
              <a:rPr lang="ru-RU" sz="100" dirty="0"/>
              <a:t>(«Я не имею ничего против испанских епископов, кроме двух вещей: они не верят в Бога и не окончили среднюю школу».)</a:t>
            </a:r>
          </a:p>
        </p:txBody>
      </p:sp>
      <p:cxnSp>
        <p:nvCxnSpPr>
          <p:cNvPr id="680" name="Прямая соединительная линия 679"/>
          <p:cNvCxnSpPr>
            <a:stCxn id="632" idx="3"/>
            <a:endCxn id="639" idx="1"/>
          </p:cNvCxnSpPr>
          <p:nvPr/>
        </p:nvCxnSpPr>
        <p:spPr>
          <a:xfrm>
            <a:off x="30553370" y="7754996"/>
            <a:ext cx="23985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683" name="Прямоугольник 682"/>
          <p:cNvSpPr/>
          <p:nvPr/>
        </p:nvSpPr>
        <p:spPr>
          <a:xfrm>
            <a:off x="29627044" y="8264735"/>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Использовать средства нацистской пропаганды</a:t>
            </a:r>
          </a:p>
        </p:txBody>
      </p:sp>
      <p:sp>
        <p:nvSpPr>
          <p:cNvPr id="684" name="Прямоугольник 683"/>
          <p:cNvSpPr/>
          <p:nvPr/>
        </p:nvSpPr>
        <p:spPr>
          <a:xfrm>
            <a:off x="29627044" y="9046338"/>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Присоединиться к Оси</a:t>
            </a:r>
          </a:p>
        </p:txBody>
      </p:sp>
      <p:sp>
        <p:nvSpPr>
          <p:cNvPr id="687" name="Прямоугольник 686"/>
          <p:cNvSpPr/>
          <p:nvPr/>
        </p:nvSpPr>
        <p:spPr>
          <a:xfrm>
            <a:off x="32400360" y="5985187"/>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Социальное учение церкви </a:t>
            </a:r>
            <a:r>
              <a:rPr lang="ru-RU" sz="100" dirty="0"/>
              <a:t>(Он был вдохновлен социальным католицизмом Папы Льва XIII, и его программа была резюмирована в девизе: «Религия, Отечество, Семья, Порядок, Работа и Собственность» (исключая монархию, учитывая случайный характер форм правления для CEDA , что вызвало отъезд католиков-альфонсов во главе </a:t>
            </a:r>
            <a:r>
              <a:rPr lang="ru-RU" sz="100" dirty="0" err="1"/>
              <a:t>сАнтонио</a:t>
            </a:r>
            <a:r>
              <a:rPr lang="ru-RU" sz="100" dirty="0"/>
              <a:t> </a:t>
            </a:r>
            <a:r>
              <a:rPr lang="ru-RU" sz="100" dirty="0" err="1"/>
              <a:t>Goicoechea</a:t>
            </a:r>
            <a:r>
              <a:rPr lang="ru-RU" sz="100" dirty="0"/>
              <a:t> , который основал испанскую Реновация партию , которая искала союза с </a:t>
            </a:r>
            <a:r>
              <a:rPr lang="ru-RU" sz="100" dirty="0" err="1"/>
              <a:t>карлистов</a:t>
            </a:r>
            <a:r>
              <a:rPr lang="ru-RU" sz="100" dirty="0"/>
              <a:t> в традиционалистов Причастия ). Он выступал за корпоративную организацию общества, следуя энциклике Пия XI </a:t>
            </a:r>
            <a:r>
              <a:rPr lang="ru-RU" sz="100" dirty="0" err="1"/>
              <a:t>Квадрагезимо</a:t>
            </a:r>
            <a:r>
              <a:rPr lang="ru-RU" sz="100" dirty="0"/>
              <a:t> </a:t>
            </a:r>
            <a:r>
              <a:rPr lang="ru-RU" sz="100" dirty="0" err="1"/>
              <a:t>Анно</a:t>
            </a:r>
            <a:r>
              <a:rPr lang="ru-RU" sz="100" dirty="0"/>
              <a:t>)</a:t>
            </a:r>
          </a:p>
        </p:txBody>
      </p:sp>
      <p:cxnSp>
        <p:nvCxnSpPr>
          <p:cNvPr id="691" name="Соединительная линия уступом 690"/>
          <p:cNvCxnSpPr>
            <a:stCxn id="629" idx="2"/>
            <a:endCxn id="638" idx="0"/>
          </p:cNvCxnSpPr>
          <p:nvPr/>
        </p:nvCxnSpPr>
        <p:spPr>
          <a:xfrm rot="5400000">
            <a:off x="31879965" y="5572981"/>
            <a:ext cx="241890" cy="59058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93" name="Соединительная линия уступом 692"/>
          <p:cNvCxnSpPr>
            <a:stCxn id="629" idx="2"/>
            <a:endCxn id="687" idx="0"/>
          </p:cNvCxnSpPr>
          <p:nvPr/>
        </p:nvCxnSpPr>
        <p:spPr>
          <a:xfrm rot="16200000" flipH="1">
            <a:off x="32460935" y="5582598"/>
            <a:ext cx="237857" cy="56731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97" name="Соединительная линия уступом 696"/>
          <p:cNvCxnSpPr>
            <a:stCxn id="646" idx="2"/>
            <a:endCxn id="111" idx="0"/>
          </p:cNvCxnSpPr>
          <p:nvPr/>
        </p:nvCxnSpPr>
        <p:spPr>
          <a:xfrm rot="5400000">
            <a:off x="29163092" y="3234506"/>
            <a:ext cx="226793" cy="827529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99" name="Соединительная линия уступом 698"/>
          <p:cNvCxnSpPr>
            <a:stCxn id="646" idx="2"/>
            <a:endCxn id="632" idx="0"/>
          </p:cNvCxnSpPr>
          <p:nvPr/>
        </p:nvCxnSpPr>
        <p:spPr>
          <a:xfrm rot="5400000">
            <a:off x="31639055" y="5709913"/>
            <a:ext cx="226237" cy="332392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02" name="Соединительная линия уступом 701"/>
          <p:cNvCxnSpPr>
            <a:stCxn id="646" idx="2"/>
            <a:endCxn id="678" idx="0"/>
          </p:cNvCxnSpPr>
          <p:nvPr/>
        </p:nvCxnSpPr>
        <p:spPr>
          <a:xfrm rot="16200000" flipH="1">
            <a:off x="35240859" y="5432036"/>
            <a:ext cx="231793" cy="388523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08" name="Прямоугольник 707"/>
          <p:cNvSpPr/>
          <p:nvPr/>
        </p:nvSpPr>
        <p:spPr>
          <a:xfrm>
            <a:off x="32952151" y="5213854"/>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Марш на Мадрид</a:t>
            </a:r>
          </a:p>
        </p:txBody>
      </p:sp>
      <p:cxnSp>
        <p:nvCxnSpPr>
          <p:cNvPr id="711" name="Прямая со стрелкой 710"/>
          <p:cNvCxnSpPr>
            <a:stCxn id="627" idx="2"/>
            <a:endCxn id="708" idx="0"/>
          </p:cNvCxnSpPr>
          <p:nvPr/>
        </p:nvCxnSpPr>
        <p:spPr>
          <a:xfrm>
            <a:off x="33414138" y="4224188"/>
            <a:ext cx="1176" cy="98966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15" name="Прямая соединительная линия 714"/>
          <p:cNvCxnSpPr>
            <a:stCxn id="678" idx="1"/>
            <a:endCxn id="639" idx="3"/>
          </p:cNvCxnSpPr>
          <p:nvPr/>
        </p:nvCxnSpPr>
        <p:spPr>
          <a:xfrm flipH="1" flipV="1">
            <a:off x="33878195" y="7754996"/>
            <a:ext cx="2958016" cy="555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17" name="Прямоугольник 716"/>
          <p:cNvSpPr/>
          <p:nvPr/>
        </p:nvSpPr>
        <p:spPr>
          <a:xfrm>
            <a:off x="31242453" y="4419297"/>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Свернуть секуляризацию (наше)</a:t>
            </a:r>
          </a:p>
        </p:txBody>
      </p:sp>
      <p:cxnSp>
        <p:nvCxnSpPr>
          <p:cNvPr id="718" name="Соединительная линия уступом 717"/>
          <p:cNvCxnSpPr>
            <a:stCxn id="618" idx="2"/>
            <a:endCxn id="717" idx="0"/>
          </p:cNvCxnSpPr>
          <p:nvPr/>
        </p:nvCxnSpPr>
        <p:spPr>
          <a:xfrm rot="5400000">
            <a:off x="31905933" y="4029025"/>
            <a:ext cx="189956" cy="59058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21" name="Соединительная линия уступом 720"/>
          <p:cNvCxnSpPr>
            <a:stCxn id="628" idx="2"/>
            <a:endCxn id="637" idx="0"/>
          </p:cNvCxnSpPr>
          <p:nvPr/>
        </p:nvCxnSpPr>
        <p:spPr>
          <a:xfrm rot="16200000" flipH="1">
            <a:off x="34733075" y="4028336"/>
            <a:ext cx="170107" cy="57211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23" name="Прямоугольник 722"/>
          <p:cNvSpPr/>
          <p:nvPr/>
        </p:nvSpPr>
        <p:spPr>
          <a:xfrm>
            <a:off x="34641022" y="5985331"/>
            <a:ext cx="926325" cy="540000"/>
          </a:xfrm>
          <a:prstGeom prst="rect">
            <a:avLst/>
          </a:prstGeom>
          <a:solidFill>
            <a:schemeClr val="bg1">
              <a:lumMod val="5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Введение прогрессивного налога (наше)</a:t>
            </a:r>
          </a:p>
        </p:txBody>
      </p:sp>
      <p:cxnSp>
        <p:nvCxnSpPr>
          <p:cNvPr id="724" name="Соединительная линия уступом 723"/>
          <p:cNvCxnSpPr>
            <a:stCxn id="647" idx="2"/>
            <a:endCxn id="723" idx="0"/>
          </p:cNvCxnSpPr>
          <p:nvPr/>
        </p:nvCxnSpPr>
        <p:spPr>
          <a:xfrm rot="16200000" flipH="1">
            <a:off x="34702389" y="5583534"/>
            <a:ext cx="231477" cy="57211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27" name="Соединительная линия уступом 726"/>
          <p:cNvCxnSpPr>
            <a:stCxn id="647" idx="2"/>
            <a:endCxn id="634" idx="0"/>
          </p:cNvCxnSpPr>
          <p:nvPr/>
        </p:nvCxnSpPr>
        <p:spPr>
          <a:xfrm rot="5400000">
            <a:off x="34137856" y="5595006"/>
            <a:ext cx="235366" cy="55306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30" name="Прямоугольник 729"/>
          <p:cNvSpPr/>
          <p:nvPr/>
        </p:nvSpPr>
        <p:spPr>
          <a:xfrm>
            <a:off x="28598033" y="9046338"/>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Строительство авиазавода в Гвадалахаре</a:t>
            </a:r>
            <a:endParaRPr lang="ru-RU" sz="200" dirty="0"/>
          </a:p>
        </p:txBody>
      </p:sp>
      <p:sp>
        <p:nvSpPr>
          <p:cNvPr id="731" name="Прямоугольник 730"/>
          <p:cNvSpPr/>
          <p:nvPr/>
        </p:nvSpPr>
        <p:spPr>
          <a:xfrm>
            <a:off x="27495298" y="9046338"/>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Расширение оружейного завода в Толедо</a:t>
            </a:r>
          </a:p>
        </p:txBody>
      </p:sp>
      <p:sp>
        <p:nvSpPr>
          <p:cNvPr id="734" name="Прямоугольник 733"/>
          <p:cNvSpPr/>
          <p:nvPr/>
        </p:nvSpPr>
        <p:spPr>
          <a:xfrm>
            <a:off x="30738637" y="10549612"/>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Единая и справедливая Испанская Империя!</a:t>
            </a:r>
          </a:p>
        </p:txBody>
      </p:sp>
      <p:sp>
        <p:nvSpPr>
          <p:cNvPr id="738" name="Прямоугольник 737"/>
          <p:cNvSpPr/>
          <p:nvPr/>
        </p:nvSpPr>
        <p:spPr>
          <a:xfrm>
            <a:off x="28053247" y="8288682"/>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Оснащение современными касками </a:t>
            </a:r>
            <a:r>
              <a:rPr lang="ru-RU" sz="300" dirty="0"/>
              <a:t>(</a:t>
            </a:r>
            <a:r>
              <a:rPr lang="ru-RU" sz="100" dirty="0"/>
              <a:t>За те скудные восемь месяцев, что длится его служение, он достигает минимального перевооружения, оснащая подразделения боевыми касками, планируя авиазавод в Гвадалахаре и укрепляя оружейный завод Толедо , включая 350 рабочих, которые будут производить 800 000 патронов в день.)</a:t>
            </a:r>
          </a:p>
        </p:txBody>
      </p:sp>
      <p:cxnSp>
        <p:nvCxnSpPr>
          <p:cNvPr id="740" name="Соединительная линия уступом 739"/>
          <p:cNvCxnSpPr>
            <a:stCxn id="632" idx="2"/>
            <a:endCxn id="738" idx="0"/>
          </p:cNvCxnSpPr>
          <p:nvPr/>
        </p:nvCxnSpPr>
        <p:spPr>
          <a:xfrm rot="5400000">
            <a:off x="29171466" y="7369940"/>
            <a:ext cx="263686" cy="157379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41" name="Соединительная линия уступом 740"/>
          <p:cNvCxnSpPr>
            <a:stCxn id="738" idx="2"/>
            <a:endCxn id="731" idx="0"/>
          </p:cNvCxnSpPr>
          <p:nvPr/>
        </p:nvCxnSpPr>
        <p:spPr>
          <a:xfrm rot="5400000">
            <a:off x="28128608" y="8658536"/>
            <a:ext cx="217656" cy="55794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46" name="Соединительная линия уступом 745"/>
          <p:cNvCxnSpPr>
            <a:stCxn id="738" idx="2"/>
            <a:endCxn id="730" idx="0"/>
          </p:cNvCxnSpPr>
          <p:nvPr/>
        </p:nvCxnSpPr>
        <p:spPr>
          <a:xfrm rot="16200000" flipH="1">
            <a:off x="28679975" y="8665117"/>
            <a:ext cx="217656" cy="54478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47" name="Прямая со стрелкой 746"/>
          <p:cNvCxnSpPr>
            <a:stCxn id="632" idx="2"/>
            <a:endCxn id="683" idx="0"/>
          </p:cNvCxnSpPr>
          <p:nvPr/>
        </p:nvCxnSpPr>
        <p:spPr>
          <a:xfrm flipH="1">
            <a:off x="30090207" y="8024996"/>
            <a:ext cx="1" cy="239739"/>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53" name="Прямая со стрелкой 752"/>
          <p:cNvCxnSpPr>
            <a:stCxn id="683" idx="2"/>
            <a:endCxn id="684" idx="0"/>
          </p:cNvCxnSpPr>
          <p:nvPr/>
        </p:nvCxnSpPr>
        <p:spPr>
          <a:xfrm>
            <a:off x="30090207" y="8804735"/>
            <a:ext cx="0" cy="241603"/>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756" name="Прямоугольник 755"/>
          <p:cNvSpPr/>
          <p:nvPr/>
        </p:nvSpPr>
        <p:spPr>
          <a:xfrm>
            <a:off x="30737108" y="9046338"/>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Собственный альянс</a:t>
            </a:r>
          </a:p>
        </p:txBody>
      </p:sp>
      <p:cxnSp>
        <p:nvCxnSpPr>
          <p:cNvPr id="757" name="Соединительная линия уступом 756"/>
          <p:cNvCxnSpPr>
            <a:stCxn id="683" idx="2"/>
            <a:endCxn id="756" idx="0"/>
          </p:cNvCxnSpPr>
          <p:nvPr/>
        </p:nvCxnSpPr>
        <p:spPr>
          <a:xfrm rot="16200000" flipH="1">
            <a:off x="30524438" y="8370504"/>
            <a:ext cx="241603" cy="1110064"/>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760" name="Прямая соединительная линия 759"/>
          <p:cNvCxnSpPr>
            <a:stCxn id="684" idx="3"/>
            <a:endCxn id="756" idx="1"/>
          </p:cNvCxnSpPr>
          <p:nvPr/>
        </p:nvCxnSpPr>
        <p:spPr>
          <a:xfrm>
            <a:off x="30553369" y="9316338"/>
            <a:ext cx="18373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63" name="Прямоугольник 762"/>
          <p:cNvSpPr/>
          <p:nvPr/>
        </p:nvSpPr>
        <p:spPr>
          <a:xfrm>
            <a:off x="36284444" y="9044804"/>
            <a:ext cx="926325" cy="540000"/>
          </a:xfrm>
          <a:prstGeom prst="rect">
            <a:avLst/>
          </a:prstGeom>
          <a:solidFill>
            <a:schemeClr val="accent1">
              <a:lumMod val="60000"/>
              <a:lumOff val="4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Аграрная реформа </a:t>
            </a:r>
            <a:r>
              <a:rPr lang="ru-RU" sz="100" dirty="0"/>
              <a:t>(Он ушел в отставку из-за предложения о законе об аграрной реформе, которое вызвало враждебность со стороны </a:t>
            </a:r>
            <a:r>
              <a:rPr lang="ru-RU" sz="100" dirty="0" err="1"/>
              <a:t>Bloque</a:t>
            </a:r>
            <a:r>
              <a:rPr lang="ru-RU" sz="100" dirty="0"/>
              <a:t> </a:t>
            </a:r>
            <a:r>
              <a:rPr lang="ru-RU" sz="100" dirty="0" err="1"/>
              <a:t>Nacional</a:t>
            </a:r>
            <a:r>
              <a:rPr lang="ru-RU" sz="100" dirty="0"/>
              <a:t> </a:t>
            </a:r>
            <a:r>
              <a:rPr lang="ru-RU" sz="100" dirty="0" err="1"/>
              <a:t>de</a:t>
            </a:r>
            <a:r>
              <a:rPr lang="ru-RU" sz="100" dirty="0"/>
              <a:t> </a:t>
            </a:r>
            <a:r>
              <a:rPr lang="ru-RU" sz="100" dirty="0" err="1"/>
              <a:t>Calvo</a:t>
            </a:r>
            <a:r>
              <a:rPr lang="ru-RU" sz="100" dirty="0"/>
              <a:t> </a:t>
            </a:r>
            <a:r>
              <a:rPr lang="ru-RU" sz="100" dirty="0" err="1"/>
              <a:t>Sotelo</a:t>
            </a:r>
            <a:r>
              <a:rPr lang="ru-RU" sz="100" dirty="0"/>
              <a:t>., поскольку экономические интересы избирателей Блока противоречили социальной доктрине Церкви, которую министр выдвинул для оправдания своей реформистской задачи. Прибыл депутат-монархист, чтобы воскликнуть: «Если ваша светлость намеревается захватить наши земли, опираясь на энциклики, мы станем раскольниками» [ 6 ] [ 7 ], хотя, по мнению историка Виктора </a:t>
            </a:r>
            <a:r>
              <a:rPr lang="ru-RU" sz="100" dirty="0" err="1"/>
              <a:t>Мануэля</a:t>
            </a:r>
            <a:r>
              <a:rPr lang="ru-RU" sz="100" dirty="0"/>
              <a:t> </a:t>
            </a:r>
            <a:r>
              <a:rPr lang="ru-RU" sz="100" dirty="0" err="1"/>
              <a:t>Арбелоа</a:t>
            </a:r>
            <a:r>
              <a:rPr lang="ru-RU" sz="100" dirty="0"/>
              <a:t>, к тому времени только одна утка будет распространяться.)</a:t>
            </a:r>
          </a:p>
        </p:txBody>
      </p:sp>
      <p:cxnSp>
        <p:nvCxnSpPr>
          <p:cNvPr id="769" name="Прямая со стрелкой 768"/>
          <p:cNvCxnSpPr>
            <a:stCxn id="646" idx="2"/>
            <a:endCxn id="639" idx="0"/>
          </p:cNvCxnSpPr>
          <p:nvPr/>
        </p:nvCxnSpPr>
        <p:spPr>
          <a:xfrm>
            <a:off x="33414137" y="7258759"/>
            <a:ext cx="896" cy="22623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70" name="Соединительная линия уступом 769"/>
          <p:cNvCxnSpPr>
            <a:stCxn id="772" idx="2"/>
            <a:endCxn id="773" idx="0"/>
          </p:cNvCxnSpPr>
          <p:nvPr/>
        </p:nvCxnSpPr>
        <p:spPr>
          <a:xfrm rot="16200000" flipH="1">
            <a:off x="37470635" y="8650911"/>
            <a:ext cx="223524" cy="56369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72" name="Прямоугольник 771"/>
          <p:cNvSpPr/>
          <p:nvPr/>
        </p:nvSpPr>
        <p:spPr>
          <a:xfrm>
            <a:off x="36837388" y="8280996"/>
            <a:ext cx="926325" cy="540000"/>
          </a:xfrm>
          <a:prstGeom prst="rect">
            <a:avLst/>
          </a:prstGeom>
          <a:solidFill>
            <a:schemeClr val="accent1">
              <a:lumMod val="60000"/>
              <a:lumOff val="4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Христианско-демократической партии</a:t>
            </a:r>
          </a:p>
        </p:txBody>
      </p:sp>
      <p:sp>
        <p:nvSpPr>
          <p:cNvPr id="773" name="Прямоугольник 772"/>
          <p:cNvSpPr/>
          <p:nvPr/>
        </p:nvSpPr>
        <p:spPr>
          <a:xfrm>
            <a:off x="37401081" y="9044520"/>
            <a:ext cx="926325" cy="540000"/>
          </a:xfrm>
          <a:prstGeom prst="rect">
            <a:avLst/>
          </a:prstGeom>
          <a:solidFill>
            <a:schemeClr val="accent1">
              <a:lumMod val="60000"/>
              <a:lumOff val="4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Союз демократических сил </a:t>
            </a:r>
            <a:r>
              <a:rPr lang="ru-RU" sz="200" dirty="0"/>
              <a:t>(они продвигали и подписывали пакт «Союз демократических сил» и вместе с другими оппозиционными силами продвигали так называемый «Союз демократических сил»)</a:t>
            </a:r>
          </a:p>
        </p:txBody>
      </p:sp>
      <p:cxnSp>
        <p:nvCxnSpPr>
          <p:cNvPr id="775" name="Соединительная линия уступом 774"/>
          <p:cNvCxnSpPr>
            <a:stCxn id="772" idx="2"/>
            <a:endCxn id="763" idx="0"/>
          </p:cNvCxnSpPr>
          <p:nvPr/>
        </p:nvCxnSpPr>
        <p:spPr>
          <a:xfrm rot="5400000">
            <a:off x="36912175" y="8656428"/>
            <a:ext cx="223808" cy="55294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83" name="Прямая со стрелкой 782"/>
          <p:cNvCxnSpPr>
            <a:stCxn id="678" idx="2"/>
            <a:endCxn id="772" idx="0"/>
          </p:cNvCxnSpPr>
          <p:nvPr/>
        </p:nvCxnSpPr>
        <p:spPr>
          <a:xfrm>
            <a:off x="37299374" y="8030552"/>
            <a:ext cx="1177" cy="250444"/>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86" name="Прямоугольник 785"/>
          <p:cNvSpPr/>
          <p:nvPr/>
        </p:nvSpPr>
        <p:spPr>
          <a:xfrm>
            <a:off x="38524613" y="9044520"/>
            <a:ext cx="926325" cy="540000"/>
          </a:xfrm>
          <a:prstGeom prst="rect">
            <a:avLst/>
          </a:prstGeom>
          <a:solidFill>
            <a:schemeClr val="accent1">
              <a:lumMod val="60000"/>
              <a:lumOff val="4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Вступить в союзники</a:t>
            </a:r>
          </a:p>
        </p:txBody>
      </p:sp>
      <p:cxnSp>
        <p:nvCxnSpPr>
          <p:cNvPr id="788" name="Соединительная линия уступом 787"/>
          <p:cNvCxnSpPr>
            <a:stCxn id="772" idx="2"/>
            <a:endCxn id="786" idx="0"/>
          </p:cNvCxnSpPr>
          <p:nvPr/>
        </p:nvCxnSpPr>
        <p:spPr>
          <a:xfrm rot="16200000" flipH="1">
            <a:off x="38032401" y="8089145"/>
            <a:ext cx="223524" cy="168722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92" name="Прямая соединительная линия 791"/>
          <p:cNvCxnSpPr>
            <a:stCxn id="773" idx="3"/>
            <a:endCxn id="786" idx="1"/>
          </p:cNvCxnSpPr>
          <p:nvPr/>
        </p:nvCxnSpPr>
        <p:spPr>
          <a:xfrm>
            <a:off x="38327406" y="9314520"/>
            <a:ext cx="19720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94" name="Прямоугольник 793"/>
          <p:cNvSpPr/>
          <p:nvPr/>
        </p:nvSpPr>
        <p:spPr>
          <a:xfrm>
            <a:off x="35713645" y="10555168"/>
            <a:ext cx="926325" cy="540000"/>
          </a:xfrm>
          <a:prstGeom prst="rect">
            <a:avLst/>
          </a:prstGeom>
          <a:solidFill>
            <a:schemeClr val="accent1">
              <a:lumMod val="60000"/>
              <a:lumOff val="4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Восстановление из кризиса (наше?)</a:t>
            </a:r>
          </a:p>
        </p:txBody>
      </p:sp>
      <p:cxnSp>
        <p:nvCxnSpPr>
          <p:cNvPr id="795" name="Прямая со стрелкой 794"/>
          <p:cNvCxnSpPr>
            <a:stCxn id="763" idx="2"/>
            <a:endCxn id="895" idx="0"/>
          </p:cNvCxnSpPr>
          <p:nvPr/>
        </p:nvCxnSpPr>
        <p:spPr>
          <a:xfrm>
            <a:off x="36747607" y="9584804"/>
            <a:ext cx="4702" cy="20191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00" name="Прямоугольник 799"/>
          <p:cNvSpPr/>
          <p:nvPr/>
        </p:nvSpPr>
        <p:spPr>
          <a:xfrm>
            <a:off x="35130416" y="11353823"/>
            <a:ext cx="926325" cy="540000"/>
          </a:xfrm>
          <a:prstGeom prst="rect">
            <a:avLst/>
          </a:prstGeom>
          <a:solidFill>
            <a:schemeClr val="accent1">
              <a:lumMod val="60000"/>
              <a:lumOff val="4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Порты Барселоны (наше)</a:t>
            </a:r>
          </a:p>
        </p:txBody>
      </p:sp>
      <p:sp>
        <p:nvSpPr>
          <p:cNvPr id="801" name="Прямоугольник 800"/>
          <p:cNvSpPr/>
          <p:nvPr/>
        </p:nvSpPr>
        <p:spPr>
          <a:xfrm>
            <a:off x="36282323" y="11353845"/>
            <a:ext cx="926325" cy="540000"/>
          </a:xfrm>
          <a:prstGeom prst="rect">
            <a:avLst/>
          </a:prstGeom>
          <a:solidFill>
            <a:schemeClr val="accent1">
              <a:lumMod val="60000"/>
              <a:lumOff val="4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Строительство новых железных дорог (наше)</a:t>
            </a:r>
          </a:p>
        </p:txBody>
      </p:sp>
      <p:sp>
        <p:nvSpPr>
          <p:cNvPr id="803" name="Прямоугольник 802"/>
          <p:cNvSpPr/>
          <p:nvPr/>
        </p:nvSpPr>
        <p:spPr>
          <a:xfrm>
            <a:off x="32951869" y="8264734"/>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Усмирить каталонский национализм</a:t>
            </a:r>
          </a:p>
        </p:txBody>
      </p:sp>
      <p:sp>
        <p:nvSpPr>
          <p:cNvPr id="804" name="Прямоугольник 803"/>
          <p:cNvSpPr/>
          <p:nvPr/>
        </p:nvSpPr>
        <p:spPr>
          <a:xfrm>
            <a:off x="34028907" y="8258799"/>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800" dirty="0"/>
              <a:t>Межклассовое объединение </a:t>
            </a:r>
            <a:r>
              <a:rPr lang="ru-RU" sz="300" dirty="0"/>
              <a:t>(С этого момента </a:t>
            </a:r>
            <a:r>
              <a:rPr lang="ru-RU" sz="300" dirty="0" err="1"/>
              <a:t>Лерру</a:t>
            </a:r>
            <a:r>
              <a:rPr lang="ru-RU" sz="300" dirty="0"/>
              <a:t> сосредоточит свои усилия на превращении Радикальной республиканской партии в политическое образование межклассового характера, объединяющее различные слои населения. [ 19 ] Постепенно он отказался от своей демагогии и обратился к среднему классу.)</a:t>
            </a:r>
          </a:p>
        </p:txBody>
      </p:sp>
      <p:sp>
        <p:nvSpPr>
          <p:cNvPr id="805" name="Прямоугольник 804"/>
          <p:cNvSpPr/>
          <p:nvPr/>
        </p:nvSpPr>
        <p:spPr>
          <a:xfrm>
            <a:off x="34032042" y="9033669"/>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Поддержать дискурс рабочих</a:t>
            </a:r>
          </a:p>
        </p:txBody>
      </p:sp>
      <p:sp>
        <p:nvSpPr>
          <p:cNvPr id="806" name="Прямоугольник 805"/>
          <p:cNvSpPr/>
          <p:nvPr/>
        </p:nvSpPr>
        <p:spPr>
          <a:xfrm>
            <a:off x="35148678" y="9046338"/>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Восстановить религиозные ордена </a:t>
            </a:r>
            <a:r>
              <a:rPr lang="ru-RU" sz="200" dirty="0"/>
              <a:t>(что религиозные ордена были распущены (они должны были быть подчинены к особому закону, потому что они являются «очень особыми ассоциациями», а также католической церковью в целом и некоторыми орденами, особенно иезуитами., им следует запретить обучение, поскольку это представляет собой «социальную опасность, опасность для испанской молодежи, которую в первую очередь должна защищать Республика»)</a:t>
            </a:r>
          </a:p>
        </p:txBody>
      </p:sp>
      <p:sp>
        <p:nvSpPr>
          <p:cNvPr id="809" name="Прямоугольник 808"/>
          <p:cNvSpPr/>
          <p:nvPr/>
        </p:nvSpPr>
        <p:spPr>
          <a:xfrm>
            <a:off x="31861183" y="8264768"/>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Разрешить азартные игры </a:t>
            </a:r>
            <a:r>
              <a:rPr lang="ru-RU" sz="100" dirty="0"/>
              <a:t>(строительство казино на </a:t>
            </a:r>
            <a:r>
              <a:rPr lang="ru-RU" sz="100" dirty="0" err="1"/>
              <a:t>Болеарских</a:t>
            </a:r>
            <a:r>
              <a:rPr lang="ru-RU" sz="100" dirty="0"/>
              <a:t> островах) (</a:t>
            </a:r>
            <a:r>
              <a:rPr lang="ru-RU" sz="100" dirty="0" err="1"/>
              <a:t>ыяснилось</a:t>
            </a:r>
            <a:r>
              <a:rPr lang="ru-RU" sz="100" dirty="0"/>
              <a:t>, что власти разрешили троим голландским предпринимателям Штраусу, </a:t>
            </a:r>
            <a:r>
              <a:rPr lang="ru-RU" sz="100" dirty="0" err="1"/>
              <a:t>Перелю</a:t>
            </a:r>
            <a:r>
              <a:rPr lang="ru-RU" sz="100" dirty="0"/>
              <a:t> и </a:t>
            </a:r>
            <a:r>
              <a:rPr lang="ru-RU" sz="100" dirty="0" err="1"/>
              <a:t>Лованну</a:t>
            </a:r>
            <a:r>
              <a:rPr lang="ru-RU" sz="100" dirty="0"/>
              <a:t> (по первым буквам их фамилий, </a:t>
            </a:r>
            <a:r>
              <a:rPr lang="ru-RU" sz="100" dirty="0" err="1"/>
              <a:t>Strauss</a:t>
            </a:r>
            <a:r>
              <a:rPr lang="ru-RU" sz="100" dirty="0"/>
              <a:t>, </a:t>
            </a:r>
            <a:r>
              <a:rPr lang="ru-RU" sz="100" dirty="0" err="1"/>
              <a:t>Perel</a:t>
            </a:r>
            <a:r>
              <a:rPr lang="ru-RU" sz="100" dirty="0"/>
              <a:t> и </a:t>
            </a:r>
            <a:r>
              <a:rPr lang="ru-RU" sz="100" dirty="0" err="1"/>
              <a:t>Lowann</a:t>
            </a:r>
            <a:r>
              <a:rPr lang="ru-RU" sz="100" dirty="0"/>
              <a:t> история и получила второе название — «Скандал </a:t>
            </a:r>
            <a:r>
              <a:rPr lang="ru-RU" sz="100" dirty="0" err="1"/>
              <a:t>Straperlo</a:t>
            </a:r>
            <a:r>
              <a:rPr lang="ru-RU" sz="100" dirty="0"/>
              <a:t>»[12]) открыть казино с рулеткой, несмотря на то что действующие в Испании законы запрещали азартные игры в рулетку. Согласно признаниям Штрауса, в обмен на разрешение он и его деловые партнёры обязались передавать 25 % от прибыли лично Алехандро </a:t>
            </a:r>
            <a:r>
              <a:rPr lang="ru-RU" sz="100" dirty="0" err="1"/>
              <a:t>Леррусу</a:t>
            </a:r>
            <a:r>
              <a:rPr lang="ru-RU" sz="100" dirty="0"/>
              <a:t>, 10 % его </a:t>
            </a:r>
            <a:r>
              <a:rPr lang="ru-RU" sz="100" dirty="0" err="1"/>
              <a:t>однопартийцу</a:t>
            </a:r>
            <a:r>
              <a:rPr lang="ru-RU" sz="100" dirty="0"/>
              <a:t>, алькальду Барселоны </a:t>
            </a:r>
            <a:r>
              <a:rPr lang="ru-RU" sz="100" dirty="0" err="1"/>
              <a:t>Жоану</a:t>
            </a:r>
            <a:r>
              <a:rPr lang="ru-RU" sz="100" dirty="0"/>
              <a:t> </a:t>
            </a:r>
            <a:r>
              <a:rPr lang="ru-RU" sz="100" dirty="0" err="1"/>
              <a:t>Пичу</a:t>
            </a:r>
            <a:r>
              <a:rPr lang="ru-RU" sz="100" dirty="0"/>
              <a:t> и </a:t>
            </a:r>
            <a:r>
              <a:rPr lang="ru-RU" sz="100" dirty="0" err="1"/>
              <a:t>Пону</a:t>
            </a:r>
            <a:r>
              <a:rPr lang="ru-RU" sz="100" dirty="0"/>
              <a:t>, и по 5 % </a:t>
            </a:r>
            <a:r>
              <a:rPr lang="ru-RU" sz="100" dirty="0" err="1"/>
              <a:t>Аурелио</a:t>
            </a:r>
            <a:r>
              <a:rPr lang="ru-RU" sz="100" dirty="0"/>
              <a:t> </a:t>
            </a:r>
            <a:r>
              <a:rPr lang="ru-RU" sz="100" dirty="0" err="1"/>
              <a:t>Леррусу</a:t>
            </a:r>
            <a:r>
              <a:rPr lang="ru-RU" sz="100" dirty="0"/>
              <a:t> (племянник Алехандро </a:t>
            </a:r>
            <a:r>
              <a:rPr lang="ru-RU" sz="100" dirty="0" err="1"/>
              <a:t>Лерусса</a:t>
            </a:r>
            <a:r>
              <a:rPr lang="ru-RU" sz="100" dirty="0"/>
              <a:t>), Мигелю Галанте и журналисту Сантьяго </a:t>
            </a:r>
            <a:r>
              <a:rPr lang="ru-RU" sz="100" dirty="0" err="1"/>
              <a:t>Винарделю</a:t>
            </a:r>
            <a:r>
              <a:rPr lang="ru-RU" sz="100" dirty="0"/>
              <a:t>.)</a:t>
            </a:r>
          </a:p>
        </p:txBody>
      </p:sp>
      <p:cxnSp>
        <p:nvCxnSpPr>
          <p:cNvPr id="811" name="Соединительная линия уступом 810"/>
          <p:cNvCxnSpPr>
            <a:stCxn id="794" idx="2"/>
            <a:endCxn id="801" idx="0"/>
          </p:cNvCxnSpPr>
          <p:nvPr/>
        </p:nvCxnSpPr>
        <p:spPr>
          <a:xfrm rot="16200000" flipH="1">
            <a:off x="36331809" y="10940167"/>
            <a:ext cx="258677" cy="56867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12" name="Соединительная линия уступом 811"/>
          <p:cNvCxnSpPr>
            <a:stCxn id="794" idx="2"/>
            <a:endCxn id="800" idx="0"/>
          </p:cNvCxnSpPr>
          <p:nvPr/>
        </p:nvCxnSpPr>
        <p:spPr>
          <a:xfrm rot="5400000">
            <a:off x="35755867" y="10932881"/>
            <a:ext cx="258655" cy="58322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16" name="Прямоугольник 815"/>
          <p:cNvSpPr/>
          <p:nvPr/>
        </p:nvSpPr>
        <p:spPr>
          <a:xfrm>
            <a:off x="35713646" y="8268730"/>
            <a:ext cx="926325" cy="540000"/>
          </a:xfrm>
          <a:prstGeom prst="rect">
            <a:avLst/>
          </a:prstGeom>
          <a:solidFill>
            <a:schemeClr val="accent1">
              <a:lumMod val="60000"/>
              <a:lumOff val="4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Расширение реформаторского законодательства </a:t>
            </a:r>
            <a:r>
              <a:rPr lang="ru-RU" sz="100" dirty="0"/>
              <a:t>(либеральный </a:t>
            </a:r>
            <a:r>
              <a:rPr lang="ru-RU" sz="100" dirty="0" err="1"/>
              <a:t>седист</a:t>
            </a:r>
            <a:r>
              <a:rPr lang="ru-RU" sz="100" dirty="0"/>
              <a:t> </a:t>
            </a:r>
            <a:r>
              <a:rPr lang="ru-RU" sz="100" dirty="0" err="1"/>
              <a:t>Мануэль</a:t>
            </a:r>
            <a:r>
              <a:rPr lang="ru-RU" sz="100" dirty="0"/>
              <a:t> Хименес </a:t>
            </a:r>
            <a:r>
              <a:rPr lang="ru-RU" sz="100" dirty="0" err="1"/>
              <a:t>Фернандес</a:t>
            </a:r>
            <a:r>
              <a:rPr lang="ru-RU" sz="100" dirty="0"/>
              <a:t> , защищавший социал-католицизм, занял министерство сельского хозяйства, от которого (хотя он временно приостановил экспроприацию, установленную Законом об аграрной реформе 1932 года ) он расширил реформаторское законодательство. с Законом </a:t>
            </a:r>
            <a:r>
              <a:rPr lang="ru-RU" sz="100" dirty="0" err="1"/>
              <a:t>Юнтерос</a:t>
            </a:r>
            <a:r>
              <a:rPr lang="ru-RU" sz="100" dirty="0"/>
              <a:t> от 21 декабря 1934 года, который продлил захват земли крестьянами Эстремадуры, таким образом, вступив в силу, хотя бы частично)</a:t>
            </a:r>
          </a:p>
        </p:txBody>
      </p:sp>
      <p:cxnSp>
        <p:nvCxnSpPr>
          <p:cNvPr id="817" name="Соединительная линия уступом 816"/>
          <p:cNvCxnSpPr>
            <a:stCxn id="678" idx="2"/>
            <a:endCxn id="816" idx="0"/>
          </p:cNvCxnSpPr>
          <p:nvPr/>
        </p:nvCxnSpPr>
        <p:spPr>
          <a:xfrm rot="5400000">
            <a:off x="36619003" y="7588359"/>
            <a:ext cx="238178" cy="112256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21" name="Соединительная линия уступом 820"/>
          <p:cNvCxnSpPr>
            <a:stCxn id="816" idx="2"/>
            <a:endCxn id="763" idx="0"/>
          </p:cNvCxnSpPr>
          <p:nvPr/>
        </p:nvCxnSpPr>
        <p:spPr>
          <a:xfrm rot="16200000" flipH="1">
            <a:off x="36344171" y="8641368"/>
            <a:ext cx="236074" cy="57079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25" name="Прямоугольник 824"/>
          <p:cNvSpPr/>
          <p:nvPr/>
        </p:nvSpPr>
        <p:spPr>
          <a:xfrm>
            <a:off x="36831266" y="10553168"/>
            <a:ext cx="926325" cy="540000"/>
          </a:xfrm>
          <a:prstGeom prst="rect">
            <a:avLst/>
          </a:prstGeom>
          <a:solidFill>
            <a:schemeClr val="accent1">
              <a:lumMod val="60000"/>
              <a:lumOff val="4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Закон об аренде </a:t>
            </a:r>
            <a:r>
              <a:rPr lang="ru-RU" sz="200" dirty="0"/>
              <a:t>(Хименес </a:t>
            </a:r>
            <a:r>
              <a:rPr lang="ru-RU" sz="200" dirty="0" err="1"/>
              <a:t>Фернандес</a:t>
            </a:r>
            <a:r>
              <a:rPr lang="ru-RU" sz="200" dirty="0"/>
              <a:t> продвигал еще более амбициозный проект - Закон об аренде в деревенском стиле, который стремился защитить права поселенцев, гарантируя им покупку земли в течение двенадцати лет эксплуатации по разумной цене. Но суды, утвердив закон 15 марта 1935 г., лишили его того социального содержания, которое он имел, установив полную свободу заключения договоров аренды, отменив предыдущее законодательство о субаренде, коллективной аренде, выселении и пересмотре арендной платы.)</a:t>
            </a:r>
          </a:p>
        </p:txBody>
      </p:sp>
      <p:sp>
        <p:nvSpPr>
          <p:cNvPr id="851" name="Прямоугольник 850"/>
          <p:cNvSpPr/>
          <p:nvPr/>
        </p:nvSpPr>
        <p:spPr>
          <a:xfrm>
            <a:off x="32954173" y="9046417"/>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«Молодые варвары» </a:t>
            </a:r>
            <a:r>
              <a:rPr lang="ru-RU" sz="300" dirty="0"/>
              <a:t>(Так, в 1909 году группа сторонников Радикальной республиканской партии, так называемые «молодые варвары» (исп. </a:t>
            </a:r>
            <a:r>
              <a:rPr lang="ru-RU" sz="300" dirty="0" err="1"/>
              <a:t>jóvenes</a:t>
            </a:r>
            <a:r>
              <a:rPr lang="ru-RU" sz="300" dirty="0"/>
              <a:t> </a:t>
            </a:r>
            <a:r>
              <a:rPr lang="ru-RU" sz="300" dirty="0" err="1"/>
              <a:t>bárbaros</a:t>
            </a:r>
            <a:r>
              <a:rPr lang="ru-RU" sz="300" dirty="0"/>
              <a:t>))</a:t>
            </a:r>
          </a:p>
        </p:txBody>
      </p:sp>
      <p:cxnSp>
        <p:nvCxnSpPr>
          <p:cNvPr id="853" name="Соединительная линия уступом 852"/>
          <p:cNvCxnSpPr>
            <a:stCxn id="639" idx="2"/>
            <a:endCxn id="804" idx="0"/>
          </p:cNvCxnSpPr>
          <p:nvPr/>
        </p:nvCxnSpPr>
        <p:spPr>
          <a:xfrm rot="16200000" flipH="1">
            <a:off x="33836650" y="7603378"/>
            <a:ext cx="233803" cy="107703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56" name="Соединительная линия уступом 855"/>
          <p:cNvCxnSpPr>
            <a:stCxn id="639" idx="2"/>
            <a:endCxn id="809" idx="0"/>
          </p:cNvCxnSpPr>
          <p:nvPr/>
        </p:nvCxnSpPr>
        <p:spPr>
          <a:xfrm rot="5400000">
            <a:off x="32749804" y="7599539"/>
            <a:ext cx="239772" cy="109068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59" name="Прямая со стрелкой 858"/>
          <p:cNvCxnSpPr>
            <a:stCxn id="639" idx="2"/>
            <a:endCxn id="803" idx="0"/>
          </p:cNvCxnSpPr>
          <p:nvPr/>
        </p:nvCxnSpPr>
        <p:spPr>
          <a:xfrm flipH="1">
            <a:off x="33415032" y="8024996"/>
            <a:ext cx="1" cy="23973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62" name="Прямая со стрелкой 861"/>
          <p:cNvCxnSpPr>
            <a:stCxn id="803" idx="2"/>
            <a:endCxn id="851" idx="0"/>
          </p:cNvCxnSpPr>
          <p:nvPr/>
        </p:nvCxnSpPr>
        <p:spPr>
          <a:xfrm>
            <a:off x="33415032" y="8804734"/>
            <a:ext cx="2304" cy="241683"/>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65" name="Соединительная линия уступом 864"/>
          <p:cNvCxnSpPr>
            <a:stCxn id="803" idx="2"/>
            <a:endCxn id="756" idx="0"/>
          </p:cNvCxnSpPr>
          <p:nvPr/>
        </p:nvCxnSpPr>
        <p:spPr>
          <a:xfrm rot="5400000">
            <a:off x="32186850" y="7818156"/>
            <a:ext cx="241604" cy="221476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868" name="Прямоугольник 867"/>
          <p:cNvSpPr/>
          <p:nvPr/>
        </p:nvSpPr>
        <p:spPr>
          <a:xfrm>
            <a:off x="31872885" y="9048231"/>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Присоединиться к Римскому Пакту</a:t>
            </a:r>
          </a:p>
        </p:txBody>
      </p:sp>
      <p:cxnSp>
        <p:nvCxnSpPr>
          <p:cNvPr id="869" name="Прямая соединительная линия 868"/>
          <p:cNvCxnSpPr>
            <a:stCxn id="756" idx="3"/>
            <a:endCxn id="868" idx="1"/>
          </p:cNvCxnSpPr>
          <p:nvPr/>
        </p:nvCxnSpPr>
        <p:spPr>
          <a:xfrm>
            <a:off x="31663433" y="9316338"/>
            <a:ext cx="209452" cy="189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2" name="Соединительная линия уступом 871"/>
          <p:cNvCxnSpPr>
            <a:stCxn id="803" idx="2"/>
            <a:endCxn id="684" idx="0"/>
          </p:cNvCxnSpPr>
          <p:nvPr/>
        </p:nvCxnSpPr>
        <p:spPr>
          <a:xfrm rot="5400000">
            <a:off x="31631818" y="7263124"/>
            <a:ext cx="241604" cy="332482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75" name="Соединительная линия уступом 874"/>
          <p:cNvCxnSpPr>
            <a:cxnSpLocks/>
            <a:stCxn id="803" idx="2"/>
            <a:endCxn id="868" idx="0"/>
          </p:cNvCxnSpPr>
          <p:nvPr/>
        </p:nvCxnSpPr>
        <p:spPr>
          <a:xfrm rot="5400000">
            <a:off x="32753792" y="8386990"/>
            <a:ext cx="243497" cy="1078984"/>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78" name="Соединительная линия уступом 877"/>
          <p:cNvCxnSpPr>
            <a:stCxn id="683" idx="2"/>
            <a:endCxn id="868" idx="0"/>
          </p:cNvCxnSpPr>
          <p:nvPr/>
        </p:nvCxnSpPr>
        <p:spPr>
          <a:xfrm rot="16200000" flipH="1">
            <a:off x="31091379" y="7803562"/>
            <a:ext cx="243496" cy="224584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81" name="Прямая со стрелкой 880"/>
          <p:cNvCxnSpPr>
            <a:stCxn id="804" idx="2"/>
            <a:endCxn id="805" idx="0"/>
          </p:cNvCxnSpPr>
          <p:nvPr/>
        </p:nvCxnSpPr>
        <p:spPr>
          <a:xfrm>
            <a:off x="34492070" y="8798799"/>
            <a:ext cx="3135" cy="23487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84" name="Соединительная линия уступом 883"/>
          <p:cNvCxnSpPr>
            <a:stCxn id="804" idx="2"/>
            <a:endCxn id="806" idx="0"/>
          </p:cNvCxnSpPr>
          <p:nvPr/>
        </p:nvCxnSpPr>
        <p:spPr>
          <a:xfrm rot="16200000" flipH="1">
            <a:off x="34928186" y="8362682"/>
            <a:ext cx="247539" cy="111977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87" name="Прямоугольник 886"/>
          <p:cNvSpPr/>
          <p:nvPr/>
        </p:nvSpPr>
        <p:spPr>
          <a:xfrm>
            <a:off x="30756249" y="8287275"/>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Автаркия</a:t>
            </a:r>
          </a:p>
        </p:txBody>
      </p:sp>
      <p:cxnSp>
        <p:nvCxnSpPr>
          <p:cNvPr id="888" name="Соединительная линия уступом 887"/>
          <p:cNvCxnSpPr>
            <a:stCxn id="632" idx="2"/>
            <a:endCxn id="887" idx="0"/>
          </p:cNvCxnSpPr>
          <p:nvPr/>
        </p:nvCxnSpPr>
        <p:spPr>
          <a:xfrm rot="16200000" flipH="1">
            <a:off x="30523671" y="7591533"/>
            <a:ext cx="262279" cy="1129204"/>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91" name="Соединительная линия уступом 890"/>
          <p:cNvCxnSpPr>
            <a:stCxn id="639" idx="2"/>
            <a:endCxn id="887" idx="0"/>
          </p:cNvCxnSpPr>
          <p:nvPr/>
        </p:nvCxnSpPr>
        <p:spPr>
          <a:xfrm rot="5400000">
            <a:off x="32186084" y="7058325"/>
            <a:ext cx="262279" cy="219562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895" name="Прямоугольник 894"/>
          <p:cNvSpPr/>
          <p:nvPr/>
        </p:nvSpPr>
        <p:spPr>
          <a:xfrm>
            <a:off x="36289146" y="9786715"/>
            <a:ext cx="926325" cy="540000"/>
          </a:xfrm>
          <a:prstGeom prst="rect">
            <a:avLst/>
          </a:prstGeom>
          <a:solidFill>
            <a:schemeClr val="accent1">
              <a:lumMod val="60000"/>
              <a:lumOff val="4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Удержать республику (создание коалиционного правительства)</a:t>
            </a:r>
          </a:p>
        </p:txBody>
      </p:sp>
      <p:sp>
        <p:nvSpPr>
          <p:cNvPr id="897" name="Прямоугольник 896"/>
          <p:cNvSpPr/>
          <p:nvPr/>
        </p:nvSpPr>
        <p:spPr>
          <a:xfrm>
            <a:off x="35148678" y="9794064"/>
            <a:ext cx="926325" cy="540000"/>
          </a:xfrm>
          <a:prstGeom prst="rect">
            <a:avLst/>
          </a:prstGeom>
          <a:solidFill>
            <a:schemeClr val="accent1">
              <a:lumMod val="60000"/>
              <a:lumOff val="4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Продолжить индустриализацию страны</a:t>
            </a:r>
          </a:p>
        </p:txBody>
      </p:sp>
      <p:cxnSp>
        <p:nvCxnSpPr>
          <p:cNvPr id="898" name="Соединительная линия уступом 897"/>
          <p:cNvCxnSpPr>
            <a:stCxn id="763" idx="2"/>
            <a:endCxn id="897" idx="0"/>
          </p:cNvCxnSpPr>
          <p:nvPr/>
        </p:nvCxnSpPr>
        <p:spPr>
          <a:xfrm rot="5400000">
            <a:off x="36075094" y="9121551"/>
            <a:ext cx="209260" cy="113576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01" name="Соединительная линия уступом 900"/>
          <p:cNvCxnSpPr>
            <a:stCxn id="895" idx="2"/>
            <a:endCxn id="825" idx="0"/>
          </p:cNvCxnSpPr>
          <p:nvPr/>
        </p:nvCxnSpPr>
        <p:spPr>
          <a:xfrm rot="16200000" flipH="1">
            <a:off x="36910143" y="10168881"/>
            <a:ext cx="226453" cy="54212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04" name="Прямоугольник 903"/>
          <p:cNvSpPr/>
          <p:nvPr/>
        </p:nvSpPr>
        <p:spPr>
          <a:xfrm>
            <a:off x="34588792" y="10559461"/>
            <a:ext cx="926325" cy="540000"/>
          </a:xfrm>
          <a:prstGeom prst="rect">
            <a:avLst/>
          </a:prstGeom>
          <a:solidFill>
            <a:schemeClr val="accent1">
              <a:lumMod val="60000"/>
              <a:lumOff val="4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Провести урбанизацию</a:t>
            </a:r>
          </a:p>
        </p:txBody>
      </p:sp>
      <p:cxnSp>
        <p:nvCxnSpPr>
          <p:cNvPr id="905" name="Соединительная линия уступом 904"/>
          <p:cNvCxnSpPr>
            <a:stCxn id="897" idx="2"/>
            <a:endCxn id="904" idx="0"/>
          </p:cNvCxnSpPr>
          <p:nvPr/>
        </p:nvCxnSpPr>
        <p:spPr>
          <a:xfrm rot="5400000">
            <a:off x="35219200" y="10166819"/>
            <a:ext cx="225397" cy="55988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08" name="Соединительная линия уступом 907"/>
          <p:cNvCxnSpPr>
            <a:stCxn id="895" idx="2"/>
            <a:endCxn id="794" idx="0"/>
          </p:cNvCxnSpPr>
          <p:nvPr/>
        </p:nvCxnSpPr>
        <p:spPr>
          <a:xfrm rot="5400000">
            <a:off x="36350333" y="10153191"/>
            <a:ext cx="228453" cy="57550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11" name="Соединительная линия уступом 910"/>
          <p:cNvCxnSpPr>
            <a:stCxn id="897" idx="2"/>
            <a:endCxn id="794" idx="0"/>
          </p:cNvCxnSpPr>
          <p:nvPr/>
        </p:nvCxnSpPr>
        <p:spPr>
          <a:xfrm rot="16200000" flipH="1">
            <a:off x="35783772" y="10162132"/>
            <a:ext cx="221104" cy="56496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14" name="Прямоугольник 913"/>
          <p:cNvSpPr/>
          <p:nvPr/>
        </p:nvSpPr>
        <p:spPr>
          <a:xfrm>
            <a:off x="30737108" y="9795922"/>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Восстановить границы Арагона</a:t>
            </a:r>
          </a:p>
        </p:txBody>
      </p:sp>
      <p:cxnSp>
        <p:nvCxnSpPr>
          <p:cNvPr id="915" name="Соединительная линия уступом 914"/>
          <p:cNvCxnSpPr>
            <a:stCxn id="684" idx="2"/>
            <a:endCxn id="914" idx="0"/>
          </p:cNvCxnSpPr>
          <p:nvPr/>
        </p:nvCxnSpPr>
        <p:spPr>
          <a:xfrm rot="16200000" flipH="1">
            <a:off x="30540447" y="9136098"/>
            <a:ext cx="209584" cy="1110064"/>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918" name="Соединительная линия уступом 917"/>
          <p:cNvCxnSpPr>
            <a:stCxn id="868" idx="2"/>
            <a:endCxn id="914" idx="0"/>
          </p:cNvCxnSpPr>
          <p:nvPr/>
        </p:nvCxnSpPr>
        <p:spPr>
          <a:xfrm rot="5400000">
            <a:off x="31664315" y="9124188"/>
            <a:ext cx="207691" cy="113577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922" name="Прямая со стрелкой 921"/>
          <p:cNvCxnSpPr>
            <a:stCxn id="756" idx="2"/>
            <a:endCxn id="914" idx="0"/>
          </p:cNvCxnSpPr>
          <p:nvPr/>
        </p:nvCxnSpPr>
        <p:spPr>
          <a:xfrm>
            <a:off x="31200271" y="9586338"/>
            <a:ext cx="0" cy="209584"/>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927" name="Прямоугольник 926"/>
          <p:cNvSpPr/>
          <p:nvPr/>
        </p:nvSpPr>
        <p:spPr>
          <a:xfrm>
            <a:off x="28051456" y="10543699"/>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Экстренная милитаризация</a:t>
            </a:r>
            <a:endParaRPr lang="ru-RU" sz="200" dirty="0"/>
          </a:p>
        </p:txBody>
      </p:sp>
      <p:cxnSp>
        <p:nvCxnSpPr>
          <p:cNvPr id="928" name="Прямая со стрелкой 927"/>
          <p:cNvCxnSpPr>
            <a:stCxn id="738" idx="2"/>
            <a:endCxn id="927" idx="0"/>
          </p:cNvCxnSpPr>
          <p:nvPr/>
        </p:nvCxnSpPr>
        <p:spPr>
          <a:xfrm flipH="1">
            <a:off x="28514619" y="8828682"/>
            <a:ext cx="1791" cy="171501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31" name="Прямоугольник 930"/>
          <p:cNvSpPr/>
          <p:nvPr/>
        </p:nvSpPr>
        <p:spPr>
          <a:xfrm>
            <a:off x="31868185" y="9795922"/>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Объединить Иберийский полуостров</a:t>
            </a:r>
          </a:p>
        </p:txBody>
      </p:sp>
      <p:cxnSp>
        <p:nvCxnSpPr>
          <p:cNvPr id="932" name="Прямая со стрелкой 931"/>
          <p:cNvCxnSpPr>
            <a:stCxn id="868" idx="2"/>
            <a:endCxn id="931" idx="0"/>
          </p:cNvCxnSpPr>
          <p:nvPr/>
        </p:nvCxnSpPr>
        <p:spPr>
          <a:xfrm flipH="1">
            <a:off x="32331348" y="9588231"/>
            <a:ext cx="4700" cy="207691"/>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935" name="Соединительная линия уступом 934"/>
          <p:cNvCxnSpPr>
            <a:stCxn id="684" idx="2"/>
            <a:endCxn id="931" idx="0"/>
          </p:cNvCxnSpPr>
          <p:nvPr/>
        </p:nvCxnSpPr>
        <p:spPr>
          <a:xfrm rot="16200000" flipH="1">
            <a:off x="31105985" y="8570559"/>
            <a:ext cx="209584" cy="224114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938" name="Соединительная линия уступом 937"/>
          <p:cNvCxnSpPr>
            <a:stCxn id="756" idx="2"/>
            <a:endCxn id="931" idx="0"/>
          </p:cNvCxnSpPr>
          <p:nvPr/>
        </p:nvCxnSpPr>
        <p:spPr>
          <a:xfrm rot="16200000" flipH="1">
            <a:off x="31661017" y="9125591"/>
            <a:ext cx="209584" cy="113107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941" name="Прямоугольник 940"/>
          <p:cNvSpPr/>
          <p:nvPr/>
        </p:nvSpPr>
        <p:spPr>
          <a:xfrm>
            <a:off x="29622341" y="9789926"/>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Перехватить контроль над Гибралтаром (и </a:t>
            </a:r>
            <a:r>
              <a:rPr lang="ru-RU" sz="700" dirty="0" err="1"/>
              <a:t>танжером</a:t>
            </a:r>
            <a:r>
              <a:rPr lang="ru-RU" sz="700" dirty="0"/>
              <a:t>)</a:t>
            </a:r>
          </a:p>
        </p:txBody>
      </p:sp>
      <p:cxnSp>
        <p:nvCxnSpPr>
          <p:cNvPr id="942" name="Прямая со стрелкой 941"/>
          <p:cNvCxnSpPr>
            <a:stCxn id="684" idx="2"/>
            <a:endCxn id="941" idx="0"/>
          </p:cNvCxnSpPr>
          <p:nvPr/>
        </p:nvCxnSpPr>
        <p:spPr>
          <a:xfrm flipH="1">
            <a:off x="30085504" y="9586338"/>
            <a:ext cx="4703" cy="203588"/>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945" name="Соединительная линия уступом 944"/>
          <p:cNvCxnSpPr>
            <a:stCxn id="756" idx="2"/>
            <a:endCxn id="941" idx="0"/>
          </p:cNvCxnSpPr>
          <p:nvPr/>
        </p:nvCxnSpPr>
        <p:spPr>
          <a:xfrm rot="5400000">
            <a:off x="30541094" y="9130749"/>
            <a:ext cx="203588" cy="111476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948" name="Соединительная линия уступом 947"/>
          <p:cNvCxnSpPr>
            <a:stCxn id="868" idx="2"/>
            <a:endCxn id="941" idx="0"/>
          </p:cNvCxnSpPr>
          <p:nvPr/>
        </p:nvCxnSpPr>
        <p:spPr>
          <a:xfrm rot="5400000">
            <a:off x="31109929" y="8563806"/>
            <a:ext cx="201695" cy="2250544"/>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951" name="Соединительная линия уступом 950"/>
          <p:cNvCxnSpPr>
            <a:stCxn id="941" idx="2"/>
            <a:endCxn id="734" idx="0"/>
          </p:cNvCxnSpPr>
          <p:nvPr/>
        </p:nvCxnSpPr>
        <p:spPr>
          <a:xfrm rot="16200000" flipH="1">
            <a:off x="30533809" y="9881621"/>
            <a:ext cx="219686" cy="111629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54" name="Соединительная линия уступом 953"/>
          <p:cNvCxnSpPr>
            <a:stCxn id="931" idx="2"/>
            <a:endCxn id="734" idx="0"/>
          </p:cNvCxnSpPr>
          <p:nvPr/>
        </p:nvCxnSpPr>
        <p:spPr>
          <a:xfrm rot="5400000">
            <a:off x="31659729" y="9877993"/>
            <a:ext cx="213690" cy="112954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57" name="Прямая со стрелкой 956"/>
          <p:cNvCxnSpPr>
            <a:stCxn id="914" idx="2"/>
            <a:endCxn id="734" idx="0"/>
          </p:cNvCxnSpPr>
          <p:nvPr/>
        </p:nvCxnSpPr>
        <p:spPr>
          <a:xfrm>
            <a:off x="31200271" y="10335922"/>
            <a:ext cx="1529" cy="21369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61" name="Прямоугольник 960"/>
          <p:cNvSpPr/>
          <p:nvPr/>
        </p:nvSpPr>
        <p:spPr>
          <a:xfrm>
            <a:off x="28597313" y="9784682"/>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Пригласить инструкторов из Рейха</a:t>
            </a:r>
          </a:p>
        </p:txBody>
      </p:sp>
      <p:sp>
        <p:nvSpPr>
          <p:cNvPr id="963" name="Прямоугольник 962"/>
          <p:cNvSpPr/>
          <p:nvPr/>
        </p:nvSpPr>
        <p:spPr>
          <a:xfrm>
            <a:off x="32950974" y="9795922"/>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Помощь итальянских судостроителей</a:t>
            </a:r>
          </a:p>
        </p:txBody>
      </p:sp>
      <p:cxnSp>
        <p:nvCxnSpPr>
          <p:cNvPr id="964" name="Соединительная линия уступом 963"/>
          <p:cNvCxnSpPr>
            <a:stCxn id="684" idx="2"/>
            <a:endCxn id="961" idx="0"/>
          </p:cNvCxnSpPr>
          <p:nvPr/>
        </p:nvCxnSpPr>
        <p:spPr>
          <a:xfrm rot="5400000">
            <a:off x="29476170" y="9170645"/>
            <a:ext cx="198344" cy="102973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67" name="Соединительная линия уступом 966"/>
          <p:cNvCxnSpPr>
            <a:stCxn id="868" idx="2"/>
            <a:endCxn id="963" idx="0"/>
          </p:cNvCxnSpPr>
          <p:nvPr/>
        </p:nvCxnSpPr>
        <p:spPr>
          <a:xfrm rot="16200000" flipH="1">
            <a:off x="32771247" y="9153031"/>
            <a:ext cx="207691" cy="107808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70" name="Прямоугольник 969"/>
          <p:cNvSpPr/>
          <p:nvPr/>
        </p:nvSpPr>
        <p:spPr>
          <a:xfrm>
            <a:off x="29110625" y="10543612"/>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Германские военные заводы</a:t>
            </a:r>
          </a:p>
        </p:txBody>
      </p:sp>
      <p:cxnSp>
        <p:nvCxnSpPr>
          <p:cNvPr id="971" name="Соединительная линия уступом 970"/>
          <p:cNvCxnSpPr>
            <a:stCxn id="684" idx="2"/>
            <a:endCxn id="970" idx="0"/>
          </p:cNvCxnSpPr>
          <p:nvPr/>
        </p:nvCxnSpPr>
        <p:spPr>
          <a:xfrm rot="5400000">
            <a:off x="29353361" y="9806766"/>
            <a:ext cx="957274" cy="516419"/>
          </a:xfrm>
          <a:prstGeom prst="bentConnector3">
            <a:avLst>
              <a:gd name="adj1" fmla="val 1008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75" name="Прямоугольник 974"/>
          <p:cNvSpPr/>
          <p:nvPr/>
        </p:nvSpPr>
        <p:spPr>
          <a:xfrm>
            <a:off x="34028907" y="9793611"/>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Расширить верфи Средиземноморья</a:t>
            </a:r>
          </a:p>
        </p:txBody>
      </p:sp>
      <p:cxnSp>
        <p:nvCxnSpPr>
          <p:cNvPr id="976" name="Соединительная линия уступом 975"/>
          <p:cNvCxnSpPr>
            <a:stCxn id="868" idx="2"/>
            <a:endCxn id="975" idx="0"/>
          </p:cNvCxnSpPr>
          <p:nvPr/>
        </p:nvCxnSpPr>
        <p:spPr>
          <a:xfrm rot="16200000" flipH="1">
            <a:off x="33311369" y="8612910"/>
            <a:ext cx="205380" cy="215602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80" name="Прямоугольник 979"/>
          <p:cNvSpPr/>
          <p:nvPr/>
        </p:nvSpPr>
        <p:spPr>
          <a:xfrm>
            <a:off x="29622141" y="11340297"/>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Испанские Нидерланды</a:t>
            </a:r>
          </a:p>
        </p:txBody>
      </p:sp>
      <p:sp>
        <p:nvSpPr>
          <p:cNvPr id="981" name="Прямоугольник 980"/>
          <p:cNvSpPr/>
          <p:nvPr/>
        </p:nvSpPr>
        <p:spPr>
          <a:xfrm>
            <a:off x="31868006" y="11353823"/>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земли в Италии</a:t>
            </a:r>
          </a:p>
        </p:txBody>
      </p:sp>
      <p:cxnSp>
        <p:nvCxnSpPr>
          <p:cNvPr id="982" name="Прямая со стрелкой 981"/>
          <p:cNvCxnSpPr>
            <a:stCxn id="941" idx="2"/>
            <a:endCxn id="980" idx="0"/>
          </p:cNvCxnSpPr>
          <p:nvPr/>
        </p:nvCxnSpPr>
        <p:spPr>
          <a:xfrm flipH="1">
            <a:off x="30085304" y="10329926"/>
            <a:ext cx="200" cy="101037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85" name="Прямая со стрелкой 984"/>
          <p:cNvCxnSpPr>
            <a:stCxn id="931" idx="2"/>
            <a:endCxn id="981" idx="0"/>
          </p:cNvCxnSpPr>
          <p:nvPr/>
        </p:nvCxnSpPr>
        <p:spPr>
          <a:xfrm flipH="1">
            <a:off x="32331169" y="10335922"/>
            <a:ext cx="179" cy="101790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88" name="Прямоугольник 987"/>
          <p:cNvSpPr/>
          <p:nvPr/>
        </p:nvSpPr>
        <p:spPr>
          <a:xfrm>
            <a:off x="33496294" y="10557155"/>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Технология крупного кораблестроения</a:t>
            </a:r>
          </a:p>
        </p:txBody>
      </p:sp>
      <p:cxnSp>
        <p:nvCxnSpPr>
          <p:cNvPr id="989" name="Соединительная линия уступом 988"/>
          <p:cNvCxnSpPr>
            <a:stCxn id="963" idx="2"/>
            <a:endCxn id="988" idx="0"/>
          </p:cNvCxnSpPr>
          <p:nvPr/>
        </p:nvCxnSpPr>
        <p:spPr>
          <a:xfrm rot="16200000" flipH="1">
            <a:off x="33576181" y="10173878"/>
            <a:ext cx="221233" cy="54532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92" name="Соединительная линия уступом 991"/>
          <p:cNvCxnSpPr>
            <a:stCxn id="975" idx="2"/>
            <a:endCxn id="988" idx="0"/>
          </p:cNvCxnSpPr>
          <p:nvPr/>
        </p:nvCxnSpPr>
        <p:spPr>
          <a:xfrm rot="5400000">
            <a:off x="34113992" y="10179077"/>
            <a:ext cx="223544" cy="53261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95" name="Прямоугольник 994"/>
          <p:cNvSpPr/>
          <p:nvPr/>
        </p:nvSpPr>
        <p:spPr>
          <a:xfrm>
            <a:off x="28600490" y="11349540"/>
            <a:ext cx="926325" cy="540000"/>
          </a:xfrm>
          <a:prstGeom prst="rect">
            <a:avLst/>
          </a:prstGeom>
          <a:solidFill>
            <a:schemeClr val="accent2">
              <a:lumMod val="75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Немецкое танкостроение</a:t>
            </a:r>
          </a:p>
        </p:txBody>
      </p:sp>
      <p:cxnSp>
        <p:nvCxnSpPr>
          <p:cNvPr id="996" name="Прямая со стрелкой 995"/>
          <p:cNvCxnSpPr>
            <a:stCxn id="961" idx="2"/>
            <a:endCxn id="995" idx="0"/>
          </p:cNvCxnSpPr>
          <p:nvPr/>
        </p:nvCxnSpPr>
        <p:spPr>
          <a:xfrm>
            <a:off x="29060476" y="10324682"/>
            <a:ext cx="3177" cy="102485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001" name="Соединительная линия уступом 1000"/>
          <p:cNvCxnSpPr>
            <a:stCxn id="970" idx="2"/>
            <a:endCxn id="995" idx="0"/>
          </p:cNvCxnSpPr>
          <p:nvPr/>
        </p:nvCxnSpPr>
        <p:spPr>
          <a:xfrm rot="5400000">
            <a:off x="29185757" y="10961509"/>
            <a:ext cx="265928" cy="51013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005" name="Прямоугольник 1004"/>
          <p:cNvSpPr/>
          <p:nvPr/>
        </p:nvSpPr>
        <p:spPr>
          <a:xfrm>
            <a:off x="37407905" y="9789099"/>
            <a:ext cx="926325" cy="540000"/>
          </a:xfrm>
          <a:prstGeom prst="rect">
            <a:avLst/>
          </a:prstGeom>
          <a:solidFill>
            <a:schemeClr val="accent1">
              <a:lumMod val="60000"/>
              <a:lumOff val="40000"/>
            </a:schemeClr>
          </a:solidFill>
          <a:ln w="19050">
            <a:solidFill>
              <a:srgbClr val="00B0F0"/>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Воспользоваться Арагонским национализмом </a:t>
            </a:r>
            <a:r>
              <a:rPr lang="ru-RU" sz="500" dirty="0"/>
              <a:t>(референдум во французском </a:t>
            </a:r>
            <a:r>
              <a:rPr lang="ru-RU" sz="500" dirty="0" err="1"/>
              <a:t>арагоне</a:t>
            </a:r>
            <a:r>
              <a:rPr lang="ru-RU" sz="500" dirty="0"/>
              <a:t>)</a:t>
            </a:r>
          </a:p>
        </p:txBody>
      </p:sp>
      <p:cxnSp>
        <p:nvCxnSpPr>
          <p:cNvPr id="1006" name="Соединительная линия уступом 1005"/>
          <p:cNvCxnSpPr>
            <a:stCxn id="786" idx="2"/>
            <a:endCxn id="1005" idx="0"/>
          </p:cNvCxnSpPr>
          <p:nvPr/>
        </p:nvCxnSpPr>
        <p:spPr>
          <a:xfrm rot="5400000">
            <a:off x="38327133" y="9128455"/>
            <a:ext cx="204579" cy="1116708"/>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009" name="Соединительная линия уступом 1008"/>
          <p:cNvCxnSpPr>
            <a:stCxn id="773" idx="2"/>
            <a:endCxn id="1005" idx="0"/>
          </p:cNvCxnSpPr>
          <p:nvPr/>
        </p:nvCxnSpPr>
        <p:spPr>
          <a:xfrm rot="16200000" flipH="1">
            <a:off x="37765367" y="9683397"/>
            <a:ext cx="204579" cy="6824"/>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762" name="Прямая со стрелкой 761"/>
          <p:cNvCxnSpPr>
            <a:stCxn id="623" idx="2"/>
            <a:endCxn id="192" idx="0"/>
          </p:cNvCxnSpPr>
          <p:nvPr/>
        </p:nvCxnSpPr>
        <p:spPr>
          <a:xfrm flipH="1">
            <a:off x="13207153" y="6529221"/>
            <a:ext cx="4151" cy="20065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50" name="Соединительная линия уступом 749"/>
          <p:cNvCxnSpPr>
            <a:stCxn id="233" idx="2"/>
            <a:endCxn id="247" idx="0"/>
          </p:cNvCxnSpPr>
          <p:nvPr/>
        </p:nvCxnSpPr>
        <p:spPr>
          <a:xfrm rot="16200000" flipH="1">
            <a:off x="8125634" y="9374824"/>
            <a:ext cx="209433" cy="220979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52" name="Прямоугольник 751"/>
          <p:cNvSpPr/>
          <p:nvPr/>
        </p:nvSpPr>
        <p:spPr>
          <a:xfrm>
            <a:off x="15627663" y="18376291"/>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Набрать мавров в Африканскую армию (+</a:t>
            </a:r>
            <a:r>
              <a:rPr lang="ru-RU" sz="700" dirty="0" err="1"/>
              <a:t>дивки</a:t>
            </a:r>
            <a:r>
              <a:rPr lang="ru-RU" sz="700" dirty="0"/>
              <a:t>)</a:t>
            </a:r>
          </a:p>
        </p:txBody>
      </p:sp>
      <p:cxnSp>
        <p:nvCxnSpPr>
          <p:cNvPr id="829" name="Соединительная линия уступом 124"/>
          <p:cNvCxnSpPr>
            <a:stCxn id="564" idx="2"/>
            <a:endCxn id="752" idx="0"/>
          </p:cNvCxnSpPr>
          <p:nvPr/>
        </p:nvCxnSpPr>
        <p:spPr>
          <a:xfrm rot="16200000" flipH="1">
            <a:off x="15128831" y="17414295"/>
            <a:ext cx="239565" cy="168442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31" name="Прямоугольник 830"/>
          <p:cNvSpPr/>
          <p:nvPr/>
        </p:nvSpPr>
        <p:spPr>
          <a:xfrm>
            <a:off x="25872840" y="3545583"/>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Стабилизация валюты</a:t>
            </a:r>
            <a:endParaRPr lang="ru-RU" sz="100" dirty="0"/>
          </a:p>
        </p:txBody>
      </p:sp>
      <p:cxnSp>
        <p:nvCxnSpPr>
          <p:cNvPr id="832" name="Соединительная линия уступом 831"/>
          <p:cNvCxnSpPr>
            <a:stCxn id="635" idx="2"/>
            <a:endCxn id="831" idx="0"/>
          </p:cNvCxnSpPr>
          <p:nvPr/>
        </p:nvCxnSpPr>
        <p:spPr>
          <a:xfrm rot="5400000">
            <a:off x="29660808" y="-207750"/>
            <a:ext cx="428529" cy="707813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33" name="Соединительная линия уступом 832"/>
          <p:cNvCxnSpPr>
            <a:stCxn id="582" idx="2"/>
            <a:endCxn id="831" idx="0"/>
          </p:cNvCxnSpPr>
          <p:nvPr/>
        </p:nvCxnSpPr>
        <p:spPr>
          <a:xfrm rot="16200000" flipH="1">
            <a:off x="19566149" y="-3224271"/>
            <a:ext cx="408652" cy="1313105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835" name="Прямоугольник 834"/>
          <p:cNvSpPr/>
          <p:nvPr/>
        </p:nvSpPr>
        <p:spPr>
          <a:xfrm>
            <a:off x="24155011" y="4343128"/>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Экспортная торговля рудой</a:t>
            </a:r>
            <a:endParaRPr lang="ru-RU" sz="100" dirty="0"/>
          </a:p>
        </p:txBody>
      </p:sp>
      <p:cxnSp>
        <p:nvCxnSpPr>
          <p:cNvPr id="836" name="Соединительная линия уступом 835"/>
          <p:cNvCxnSpPr>
            <a:stCxn id="831" idx="2"/>
            <a:endCxn id="835" idx="0"/>
          </p:cNvCxnSpPr>
          <p:nvPr/>
        </p:nvCxnSpPr>
        <p:spPr>
          <a:xfrm rot="5400000">
            <a:off x="25348317" y="3355441"/>
            <a:ext cx="257545" cy="171782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37" name="Прямоугольник 836"/>
          <p:cNvSpPr/>
          <p:nvPr/>
        </p:nvSpPr>
        <p:spPr>
          <a:xfrm>
            <a:off x="23606588" y="5099413"/>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Нефтяной кредит в США</a:t>
            </a:r>
            <a:endParaRPr lang="ru-RU" sz="100" dirty="0"/>
          </a:p>
        </p:txBody>
      </p:sp>
      <p:sp>
        <p:nvSpPr>
          <p:cNvPr id="830" name="Прямоугольник 829"/>
          <p:cNvSpPr/>
          <p:nvPr/>
        </p:nvSpPr>
        <p:spPr>
          <a:xfrm>
            <a:off x="24157685" y="5985186"/>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Социальная помощь (есть свой символ)</a:t>
            </a:r>
            <a:endParaRPr lang="ru-RU" sz="100" dirty="0"/>
          </a:p>
        </p:txBody>
      </p:sp>
      <p:sp>
        <p:nvSpPr>
          <p:cNvPr id="840" name="Прямоугольник 839"/>
          <p:cNvSpPr/>
          <p:nvPr/>
        </p:nvSpPr>
        <p:spPr>
          <a:xfrm>
            <a:off x="25284833" y="4341521"/>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Германо-Испанское экономическое соглашение</a:t>
            </a:r>
            <a:endParaRPr lang="ru-RU" sz="100" dirty="0"/>
          </a:p>
        </p:txBody>
      </p:sp>
      <p:cxnSp>
        <p:nvCxnSpPr>
          <p:cNvPr id="841" name="Соединительная линия уступом 840"/>
          <p:cNvCxnSpPr>
            <a:cxnSpLocks/>
            <a:stCxn id="831" idx="2"/>
            <a:endCxn id="840" idx="0"/>
          </p:cNvCxnSpPr>
          <p:nvPr/>
        </p:nvCxnSpPr>
        <p:spPr>
          <a:xfrm rot="5400000">
            <a:off x="25914031" y="3919549"/>
            <a:ext cx="255938" cy="58800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42" name="Прямоугольник 841"/>
          <p:cNvSpPr/>
          <p:nvPr/>
        </p:nvSpPr>
        <p:spPr>
          <a:xfrm>
            <a:off x="28157402" y="5093663"/>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Текстильные фабрики в Севилье  (1938)</a:t>
            </a:r>
            <a:endParaRPr lang="ru-RU" sz="100" dirty="0"/>
          </a:p>
        </p:txBody>
      </p:sp>
      <p:sp>
        <p:nvSpPr>
          <p:cNvPr id="844" name="Прямоугольник 843"/>
          <p:cNvSpPr/>
          <p:nvPr/>
        </p:nvSpPr>
        <p:spPr>
          <a:xfrm>
            <a:off x="8665468" y="293451"/>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200" dirty="0"/>
              <a:t>Ко времени окончания сражения националисты наконец создали постоянный кабинет министров. Франко стал президентом совета, а </a:t>
            </a:r>
            <a:r>
              <a:rPr lang="ru-RU" sz="200" dirty="0" err="1"/>
              <a:t>Хордана</a:t>
            </a:r>
            <a:r>
              <a:rPr lang="ru-RU" sz="200" dirty="0"/>
              <a:t> занял пост вице-президента и министра иностранных дел. Давила, продолжая командовать Армией Севера, стал министром обороны. Генерал </a:t>
            </a:r>
            <a:r>
              <a:rPr lang="ru-RU" sz="200" dirty="0" err="1"/>
              <a:t>Мартинес</a:t>
            </a:r>
            <a:r>
              <a:rPr lang="ru-RU" sz="200" dirty="0"/>
              <a:t> </a:t>
            </a:r>
            <a:r>
              <a:rPr lang="ru-RU" sz="200" dirty="0" err="1"/>
              <a:t>Анидо</a:t>
            </a:r>
            <a:r>
              <a:rPr lang="ru-RU" sz="200" dirty="0"/>
              <a:t>, который после 1917 года был капитан-генералом Барселоны, тиранически управляя ею, а потом входил в кабинет </a:t>
            </a:r>
            <a:r>
              <a:rPr lang="ru-RU" sz="200" dirty="0" err="1"/>
              <a:t>Примо</a:t>
            </a:r>
            <a:r>
              <a:rPr lang="ru-RU" sz="200" dirty="0"/>
              <a:t> де Риверы, получил пост министра общественного порядка. Остальные члены кабинета не имели отношения к военным. </a:t>
            </a:r>
            <a:r>
              <a:rPr lang="ru-RU" sz="200" dirty="0" err="1"/>
              <a:t>Андресу</a:t>
            </a:r>
            <a:r>
              <a:rPr lang="ru-RU" sz="200" dirty="0"/>
              <a:t> </a:t>
            </a:r>
            <a:r>
              <a:rPr lang="ru-RU" sz="200" dirty="0" err="1"/>
              <a:t>Амадо</a:t>
            </a:r>
            <a:r>
              <a:rPr lang="ru-RU" sz="200" dirty="0"/>
              <a:t>, близкому другу </a:t>
            </a:r>
            <a:r>
              <a:rPr lang="ru-RU" sz="200" dirty="0" err="1"/>
              <a:t>Кальво</a:t>
            </a:r>
            <a:r>
              <a:rPr lang="ru-RU" sz="200" dirty="0"/>
              <a:t> </a:t>
            </a:r>
            <a:r>
              <a:rPr lang="ru-RU" sz="200" dirty="0" err="1"/>
              <a:t>Сотело</a:t>
            </a:r>
            <a:r>
              <a:rPr lang="ru-RU" sz="200" dirty="0"/>
              <a:t>, достался пост министра финансов. Морской инженер Хуан Антонио </a:t>
            </a:r>
            <a:r>
              <a:rPr lang="ru-RU" sz="200" dirty="0" err="1"/>
              <a:t>Суансес</a:t>
            </a:r>
            <a:r>
              <a:rPr lang="ru-RU" sz="200" dirty="0"/>
              <a:t>, давний приятель Франко, стал министром торговли и промышленности, </a:t>
            </a:r>
            <a:r>
              <a:rPr lang="ru-RU" sz="200" dirty="0" err="1"/>
              <a:t>карлист</a:t>
            </a:r>
            <a:r>
              <a:rPr lang="ru-RU" sz="200" dirty="0"/>
              <a:t> граф де </a:t>
            </a:r>
            <a:r>
              <a:rPr lang="ru-RU" sz="200" dirty="0" err="1"/>
              <a:t>Родесно</a:t>
            </a:r>
            <a:r>
              <a:rPr lang="ru-RU" sz="200" dirty="0"/>
              <a:t> – министром юстиции, а </a:t>
            </a:r>
            <a:r>
              <a:rPr lang="ru-RU" sz="200" dirty="0" err="1"/>
              <a:t>Сайнс</a:t>
            </a:r>
            <a:r>
              <a:rPr lang="ru-RU" sz="200" dirty="0"/>
              <a:t> Родригес, монархист и интеллектуал, – министром образования. Они представляли старые политические партии, но самым влиятельным членом кабинета был </a:t>
            </a:r>
            <a:r>
              <a:rPr lang="ru-RU" sz="200" dirty="0" err="1"/>
              <a:t>Серрано</a:t>
            </a:r>
            <a:r>
              <a:rPr lang="ru-RU" sz="200" dirty="0"/>
              <a:t> </a:t>
            </a:r>
            <a:r>
              <a:rPr lang="ru-RU" sz="200" dirty="0" err="1"/>
              <a:t>Суньер</a:t>
            </a:r>
            <a:r>
              <a:rPr lang="ru-RU" sz="200" dirty="0"/>
              <a:t>, возглавлявший новую фалангу. Ему были вручены прерогативы министра внутренних дел и генерального секретаря фаланги, что наделяло его исчерпывающей властью над этой организацией. </a:t>
            </a:r>
            <a:r>
              <a:rPr lang="ru-RU" sz="200" dirty="0" err="1"/>
              <a:t>Фернандес</a:t>
            </a:r>
            <a:r>
              <a:rPr lang="ru-RU" sz="200" dirty="0"/>
              <a:t> </a:t>
            </a:r>
            <a:r>
              <a:rPr lang="ru-RU" sz="200" dirty="0" err="1"/>
              <a:t>Куэста</a:t>
            </a:r>
            <a:r>
              <a:rPr lang="ru-RU" sz="200" dirty="0"/>
              <a:t>, единственный из числа «старых рубашек», в дополнение к его почетному посту генерального секретаря Национального совета стал министром сельского хозяйства. Пост министра труда достался Педро Гонсалесу </a:t>
            </a:r>
            <a:r>
              <a:rPr lang="ru-RU" sz="200" dirty="0" err="1"/>
              <a:t>Буэно</a:t>
            </a:r>
            <a:r>
              <a:rPr lang="ru-RU" sz="200" dirty="0"/>
              <a:t>, типичному представителю новой фаланги. Последним членом кабинета стал Альфонсо Пенья-и-</a:t>
            </a:r>
            <a:r>
              <a:rPr lang="ru-RU" sz="200" dirty="0" err="1"/>
              <a:t>Боэф</a:t>
            </a:r>
            <a:r>
              <a:rPr lang="ru-RU" sz="200" dirty="0"/>
              <a:t>, который до этого не играл роли в политике.</a:t>
            </a:r>
          </a:p>
        </p:txBody>
      </p:sp>
      <p:sp>
        <p:nvSpPr>
          <p:cNvPr id="846" name="Прямоугольник 845"/>
          <p:cNvSpPr/>
          <p:nvPr/>
        </p:nvSpPr>
        <p:spPr>
          <a:xfrm>
            <a:off x="1666437" y="7511430"/>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500" b="1" i="1" dirty="0">
                <a:solidFill>
                  <a:srgbClr val="00B0F0"/>
                </a:solidFill>
              </a:rPr>
              <a:t>ЭТА ВЕТКА ПОЯВЛЯЕТСЯ ПО СЮЖЕТУ НА МЕСТЕ ВЕТКИ РИВЕРЫ!</a:t>
            </a:r>
            <a:br>
              <a:rPr lang="ru-RU" sz="600" b="1" i="1" dirty="0">
                <a:solidFill>
                  <a:srgbClr val="00B0F0"/>
                </a:solidFill>
              </a:rPr>
            </a:br>
            <a:r>
              <a:rPr lang="ru-RU" sz="700" dirty="0">
                <a:solidFill>
                  <a:schemeClr val="tx1"/>
                </a:solidFill>
              </a:rPr>
              <a:t>Власть </a:t>
            </a:r>
            <a:r>
              <a:rPr lang="ru-RU" sz="700" dirty="0"/>
              <a:t>Триумвирата</a:t>
            </a:r>
          </a:p>
        </p:txBody>
      </p:sp>
      <p:sp>
        <p:nvSpPr>
          <p:cNvPr id="858" name="Прямоугольник 857"/>
          <p:cNvSpPr/>
          <p:nvPr/>
        </p:nvSpPr>
        <p:spPr>
          <a:xfrm>
            <a:off x="1666436" y="9036558"/>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Вступить в Ось </a:t>
            </a:r>
            <a:r>
              <a:rPr lang="ru-RU" sz="500" dirty="0"/>
              <a:t>(если Германия во главе, не даёт учить </a:t>
            </a:r>
            <a:r>
              <a:rPr lang="ru-RU" sz="500" dirty="0" err="1"/>
              <a:t>дип</a:t>
            </a:r>
            <a:r>
              <a:rPr lang="ru-RU" sz="500" dirty="0"/>
              <a:t> службу фаланги)</a:t>
            </a:r>
          </a:p>
        </p:txBody>
      </p:sp>
      <p:sp>
        <p:nvSpPr>
          <p:cNvPr id="860" name="Прямоугольник 859"/>
          <p:cNvSpPr/>
          <p:nvPr/>
        </p:nvSpPr>
        <p:spPr>
          <a:xfrm>
            <a:off x="1666436" y="8275860"/>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Отправить врачей в Германию</a:t>
            </a:r>
            <a:endParaRPr lang="ru-RU" sz="100" dirty="0"/>
          </a:p>
        </p:txBody>
      </p:sp>
      <p:sp>
        <p:nvSpPr>
          <p:cNvPr id="864" name="Прямоугольник 863"/>
          <p:cNvSpPr/>
          <p:nvPr/>
        </p:nvSpPr>
        <p:spPr>
          <a:xfrm>
            <a:off x="2785199" y="8275034"/>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«Молодёжного фронта»</a:t>
            </a:r>
          </a:p>
        </p:txBody>
      </p:sp>
      <p:cxnSp>
        <p:nvCxnSpPr>
          <p:cNvPr id="866" name="Соединительная линия уступом 865"/>
          <p:cNvCxnSpPr>
            <a:stCxn id="846" idx="2"/>
            <a:endCxn id="864" idx="0"/>
          </p:cNvCxnSpPr>
          <p:nvPr/>
        </p:nvCxnSpPr>
        <p:spPr>
          <a:xfrm rot="16200000" flipH="1">
            <a:off x="2577179" y="7603851"/>
            <a:ext cx="223604" cy="111876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67" name="Прямая со стрелкой 866"/>
          <p:cNvCxnSpPr>
            <a:stCxn id="846" idx="2"/>
            <a:endCxn id="860" idx="0"/>
          </p:cNvCxnSpPr>
          <p:nvPr/>
        </p:nvCxnSpPr>
        <p:spPr>
          <a:xfrm flipH="1">
            <a:off x="2129599" y="8051430"/>
            <a:ext cx="1" cy="22443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70" name="Прямая со стрелкой 869"/>
          <p:cNvCxnSpPr>
            <a:cxnSpLocks/>
            <a:stCxn id="860" idx="2"/>
            <a:endCxn id="858" idx="0"/>
          </p:cNvCxnSpPr>
          <p:nvPr/>
        </p:nvCxnSpPr>
        <p:spPr>
          <a:xfrm>
            <a:off x="2129599" y="8815860"/>
            <a:ext cx="0" cy="22069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74" name="Прямоугольник 873"/>
          <p:cNvSpPr/>
          <p:nvPr/>
        </p:nvSpPr>
        <p:spPr>
          <a:xfrm>
            <a:off x="555905" y="8275034"/>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Поддержание культа Эль-</a:t>
            </a:r>
            <a:r>
              <a:rPr lang="ru-RU" sz="700" dirty="0" err="1"/>
              <a:t>Аусенте</a:t>
            </a:r>
            <a:r>
              <a:rPr lang="ru-RU" sz="700" dirty="0"/>
              <a:t> </a:t>
            </a:r>
          </a:p>
        </p:txBody>
      </p:sp>
      <p:cxnSp>
        <p:nvCxnSpPr>
          <p:cNvPr id="876" name="Соединительная линия уступом 875"/>
          <p:cNvCxnSpPr>
            <a:stCxn id="846" idx="2"/>
            <a:endCxn id="874" idx="0"/>
          </p:cNvCxnSpPr>
          <p:nvPr/>
        </p:nvCxnSpPr>
        <p:spPr>
          <a:xfrm rot="5400000">
            <a:off x="1462532" y="7607966"/>
            <a:ext cx="223604" cy="111053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77" name="Прямоугольник 876"/>
          <p:cNvSpPr/>
          <p:nvPr/>
        </p:nvSpPr>
        <p:spPr>
          <a:xfrm>
            <a:off x="552491" y="9040797"/>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Повысить уровень здравоохранения в отсталых регионах</a:t>
            </a:r>
            <a:endParaRPr lang="ru-RU" sz="100" dirty="0"/>
          </a:p>
        </p:txBody>
      </p:sp>
      <p:cxnSp>
        <p:nvCxnSpPr>
          <p:cNvPr id="879" name="Соединительная линия уступом 878"/>
          <p:cNvCxnSpPr>
            <a:cxnSpLocks/>
            <a:stCxn id="860" idx="2"/>
            <a:endCxn id="877" idx="0"/>
          </p:cNvCxnSpPr>
          <p:nvPr/>
        </p:nvCxnSpPr>
        <p:spPr>
          <a:xfrm rot="5400000">
            <a:off x="1460159" y="8371356"/>
            <a:ext cx="224937" cy="111394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45" name="Прямоугольник 844"/>
          <p:cNvSpPr/>
          <p:nvPr/>
        </p:nvSpPr>
        <p:spPr>
          <a:xfrm>
            <a:off x="9424135" y="9022127"/>
            <a:ext cx="926325" cy="540000"/>
          </a:xfrm>
          <a:prstGeom prst="rect">
            <a:avLst/>
          </a:prstGeom>
          <a:solidFill>
            <a:schemeClr val="accent2">
              <a:lumMod val="75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Основать личную транспортную кампанию</a:t>
            </a:r>
          </a:p>
        </p:txBody>
      </p:sp>
      <p:cxnSp>
        <p:nvCxnSpPr>
          <p:cNvPr id="847" name="Соединительная линия уступом 846"/>
          <p:cNvCxnSpPr>
            <a:stCxn id="404" idx="2"/>
            <a:endCxn id="845" idx="0"/>
          </p:cNvCxnSpPr>
          <p:nvPr/>
        </p:nvCxnSpPr>
        <p:spPr>
          <a:xfrm rot="16200000" flipH="1">
            <a:off x="9236227" y="8371055"/>
            <a:ext cx="206687" cy="109545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48" name="Соединительная линия уступом 847"/>
          <p:cNvCxnSpPr>
            <a:stCxn id="358" idx="2"/>
            <a:endCxn id="331" idx="0"/>
          </p:cNvCxnSpPr>
          <p:nvPr/>
        </p:nvCxnSpPr>
        <p:spPr>
          <a:xfrm rot="5400000">
            <a:off x="11709053" y="9304230"/>
            <a:ext cx="221416" cy="3866964"/>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49" name="Соединительная линия уступом 848"/>
          <p:cNvCxnSpPr>
            <a:stCxn id="358" idx="2"/>
            <a:endCxn id="377" idx="0"/>
          </p:cNvCxnSpPr>
          <p:nvPr/>
        </p:nvCxnSpPr>
        <p:spPr>
          <a:xfrm rot="5400000">
            <a:off x="11599872" y="9954773"/>
            <a:ext cx="981141" cy="3325603"/>
          </a:xfrm>
          <a:prstGeom prst="bentConnector3">
            <a:avLst>
              <a:gd name="adj1" fmla="val 11911"/>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50" name="Соединительная линия уступом 849"/>
          <p:cNvCxnSpPr>
            <a:stCxn id="358" idx="2"/>
            <a:endCxn id="371" idx="0"/>
          </p:cNvCxnSpPr>
          <p:nvPr/>
        </p:nvCxnSpPr>
        <p:spPr>
          <a:xfrm rot="5400000">
            <a:off x="12251552" y="9842179"/>
            <a:ext cx="216866" cy="2786516"/>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861" name="Прямоугольник 860"/>
          <p:cNvSpPr/>
          <p:nvPr/>
        </p:nvSpPr>
        <p:spPr>
          <a:xfrm>
            <a:off x="19250910" y="12062873"/>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матери престол Бразилии</a:t>
            </a:r>
          </a:p>
        </p:txBody>
      </p:sp>
      <p:cxnSp>
        <p:nvCxnSpPr>
          <p:cNvPr id="871" name="Соединительная линия уступом 124"/>
          <p:cNvCxnSpPr>
            <a:stCxn id="124" idx="2"/>
            <a:endCxn id="861" idx="0"/>
          </p:cNvCxnSpPr>
          <p:nvPr/>
        </p:nvCxnSpPr>
        <p:spPr>
          <a:xfrm rot="5400000">
            <a:off x="19721057" y="11086184"/>
            <a:ext cx="969705" cy="983672"/>
          </a:xfrm>
          <a:prstGeom prst="bentConnector3">
            <a:avLst>
              <a:gd name="adj1" fmla="val 13214"/>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52" name="Соединительная линия уступом 851"/>
          <p:cNvCxnSpPr>
            <a:stCxn id="108" idx="2"/>
            <a:endCxn id="154" idx="0"/>
          </p:cNvCxnSpPr>
          <p:nvPr/>
        </p:nvCxnSpPr>
        <p:spPr>
          <a:xfrm rot="16200000" flipH="1">
            <a:off x="20089592" y="9174696"/>
            <a:ext cx="239154" cy="1004248"/>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55" name="Соединительная линия уступом 854"/>
          <p:cNvCxnSpPr>
            <a:stCxn id="109" idx="2"/>
            <a:endCxn id="80" idx="0"/>
          </p:cNvCxnSpPr>
          <p:nvPr/>
        </p:nvCxnSpPr>
        <p:spPr>
          <a:xfrm rot="5400000">
            <a:off x="20650948" y="7557175"/>
            <a:ext cx="240732" cy="4240869"/>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857" name="Прямоугольник 856"/>
          <p:cNvSpPr/>
          <p:nvPr/>
        </p:nvSpPr>
        <p:spPr>
          <a:xfrm>
            <a:off x="17674918" y="13646256"/>
            <a:ext cx="926325" cy="540000"/>
          </a:xfrm>
          <a:prstGeom prst="rect">
            <a:avLst/>
          </a:prstGeom>
          <a:solidFill>
            <a:srgbClr val="7030A0"/>
          </a:solidFill>
          <a:ln w="1905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Благословление Ватикана</a:t>
            </a:r>
          </a:p>
        </p:txBody>
      </p:sp>
      <p:cxnSp>
        <p:nvCxnSpPr>
          <p:cNvPr id="873" name="Соединительная линия уступом 124"/>
          <p:cNvCxnSpPr>
            <a:stCxn id="280" idx="2"/>
            <a:endCxn id="857" idx="0"/>
          </p:cNvCxnSpPr>
          <p:nvPr/>
        </p:nvCxnSpPr>
        <p:spPr>
          <a:xfrm rot="5400000">
            <a:off x="18538079" y="13010274"/>
            <a:ext cx="235985" cy="103597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80" name="Соединительная линия уступом 124"/>
          <p:cNvCxnSpPr>
            <a:stCxn id="176" idx="2"/>
            <a:endCxn id="235" idx="0"/>
          </p:cNvCxnSpPr>
          <p:nvPr/>
        </p:nvCxnSpPr>
        <p:spPr>
          <a:xfrm rot="16200000" flipH="1">
            <a:off x="19325845" y="14039771"/>
            <a:ext cx="230333" cy="52834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82" name="Соединительная линия уступом 124"/>
          <p:cNvCxnSpPr>
            <a:stCxn id="176" idx="2"/>
            <a:endCxn id="238" idx="0"/>
          </p:cNvCxnSpPr>
          <p:nvPr/>
        </p:nvCxnSpPr>
        <p:spPr>
          <a:xfrm rot="5400000">
            <a:off x="18802209" y="14044480"/>
            <a:ext cx="230333" cy="51892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54" name="Соединительная линия уступом 124"/>
          <p:cNvCxnSpPr>
            <a:stCxn id="336" idx="2"/>
            <a:endCxn id="235" idx="0"/>
          </p:cNvCxnSpPr>
          <p:nvPr/>
        </p:nvCxnSpPr>
        <p:spPr>
          <a:xfrm rot="5400000">
            <a:off x="19845275" y="14052478"/>
            <a:ext cx="226543" cy="50672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63" name="Соединительная линия уступом 124"/>
          <p:cNvCxnSpPr>
            <a:stCxn id="857" idx="2"/>
            <a:endCxn id="238" idx="0"/>
          </p:cNvCxnSpPr>
          <p:nvPr/>
        </p:nvCxnSpPr>
        <p:spPr>
          <a:xfrm rot="16200000" flipH="1">
            <a:off x="18281569" y="14042768"/>
            <a:ext cx="232855" cy="51983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83" name="Соединительная линия уступом 882"/>
          <p:cNvCxnSpPr>
            <a:stCxn id="138" idx="2"/>
            <a:endCxn id="148" idx="0"/>
          </p:cNvCxnSpPr>
          <p:nvPr/>
        </p:nvCxnSpPr>
        <p:spPr>
          <a:xfrm rot="5400000">
            <a:off x="22792135" y="9326046"/>
            <a:ext cx="206867" cy="224026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85" name="Соединительная линия уступом 884"/>
          <p:cNvCxnSpPr>
            <a:stCxn id="138" idx="2"/>
            <a:endCxn id="142" idx="0"/>
          </p:cNvCxnSpPr>
          <p:nvPr/>
        </p:nvCxnSpPr>
        <p:spPr>
          <a:xfrm rot="5400000">
            <a:off x="23350292" y="9884203"/>
            <a:ext cx="206867" cy="112395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86" name="Соединительная линия уступом 885"/>
          <p:cNvCxnSpPr>
            <a:stCxn id="385" idx="2"/>
            <a:endCxn id="630" idx="0"/>
          </p:cNvCxnSpPr>
          <p:nvPr/>
        </p:nvCxnSpPr>
        <p:spPr>
          <a:xfrm rot="5400000">
            <a:off x="11722585" y="8637609"/>
            <a:ext cx="223855" cy="56090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89" name="Соединительная линия уступом 597">
            <a:extLst>
              <a:ext uri="{FF2B5EF4-FFF2-40B4-BE49-F238E27FC236}">
                <a16:creationId xmlns:a16="http://schemas.microsoft.com/office/drawing/2014/main" id="{A731F4E2-35CF-4955-98BB-9EA72915E541}"/>
              </a:ext>
            </a:extLst>
          </p:cNvPr>
          <p:cNvCxnSpPr>
            <a:cxnSpLocks/>
            <a:stCxn id="610" idx="2"/>
            <a:endCxn id="611" idx="0"/>
          </p:cNvCxnSpPr>
          <p:nvPr/>
        </p:nvCxnSpPr>
        <p:spPr>
          <a:xfrm rot="16200000" flipH="1">
            <a:off x="11724437" y="4014733"/>
            <a:ext cx="219725" cy="56047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90" name="Соединительная линия уступом 597">
            <a:extLst>
              <a:ext uri="{FF2B5EF4-FFF2-40B4-BE49-F238E27FC236}">
                <a16:creationId xmlns:a16="http://schemas.microsoft.com/office/drawing/2014/main" id="{D997A904-B93C-4810-B588-B7EA3D133D90}"/>
              </a:ext>
            </a:extLst>
          </p:cNvPr>
          <p:cNvCxnSpPr>
            <a:cxnSpLocks/>
            <a:stCxn id="607" idx="2"/>
            <a:endCxn id="609" idx="0"/>
          </p:cNvCxnSpPr>
          <p:nvPr/>
        </p:nvCxnSpPr>
        <p:spPr>
          <a:xfrm rot="5400000">
            <a:off x="14463207" y="4022240"/>
            <a:ext cx="220939" cy="55642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92" name="Прямоугольник 891">
            <a:extLst>
              <a:ext uri="{FF2B5EF4-FFF2-40B4-BE49-F238E27FC236}">
                <a16:creationId xmlns:a16="http://schemas.microsoft.com/office/drawing/2014/main" id="{8B84836F-6DB8-4D5D-BE52-F0D6F935D5A6}"/>
              </a:ext>
            </a:extLst>
          </p:cNvPr>
          <p:cNvSpPr/>
          <p:nvPr/>
        </p:nvSpPr>
        <p:spPr>
          <a:xfrm>
            <a:off x="13308771" y="5236406"/>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Сгладить шрамы войны</a:t>
            </a:r>
          </a:p>
        </p:txBody>
      </p:sp>
      <p:cxnSp>
        <p:nvCxnSpPr>
          <p:cNvPr id="893" name="Соединительная линия уступом 624">
            <a:extLst>
              <a:ext uri="{FF2B5EF4-FFF2-40B4-BE49-F238E27FC236}">
                <a16:creationId xmlns:a16="http://schemas.microsoft.com/office/drawing/2014/main" id="{2669992B-CE2D-4FC1-AE5F-B48958B14460}"/>
              </a:ext>
            </a:extLst>
          </p:cNvPr>
          <p:cNvCxnSpPr>
            <a:cxnSpLocks/>
            <a:stCxn id="609" idx="2"/>
            <a:endCxn id="892" idx="0"/>
          </p:cNvCxnSpPr>
          <p:nvPr/>
        </p:nvCxnSpPr>
        <p:spPr>
          <a:xfrm rot="5400000">
            <a:off x="13890957" y="4831898"/>
            <a:ext cx="285486" cy="52353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94" name="Соединительная линия уступом 624">
            <a:extLst>
              <a:ext uri="{FF2B5EF4-FFF2-40B4-BE49-F238E27FC236}">
                <a16:creationId xmlns:a16="http://schemas.microsoft.com/office/drawing/2014/main" id="{6BA93E0E-D676-4CDA-9937-9A62B931C48B}"/>
              </a:ext>
            </a:extLst>
          </p:cNvPr>
          <p:cNvCxnSpPr>
            <a:cxnSpLocks/>
            <a:stCxn id="611" idx="2"/>
            <a:endCxn id="892" idx="0"/>
          </p:cNvCxnSpPr>
          <p:nvPr/>
        </p:nvCxnSpPr>
        <p:spPr>
          <a:xfrm rot="16200000" flipH="1">
            <a:off x="12797449" y="4261921"/>
            <a:ext cx="291572" cy="165739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96" name="Прямая соединительная линия 895">
            <a:extLst>
              <a:ext uri="{FF2B5EF4-FFF2-40B4-BE49-F238E27FC236}">
                <a16:creationId xmlns:a16="http://schemas.microsoft.com/office/drawing/2014/main" id="{05D843C2-9B4C-46FF-B6D9-82BE7C0A1E5D}"/>
              </a:ext>
            </a:extLst>
          </p:cNvPr>
          <p:cNvCxnSpPr>
            <a:cxnSpLocks/>
            <a:stCxn id="612" idx="3"/>
            <a:endCxn id="892" idx="1"/>
          </p:cNvCxnSpPr>
          <p:nvPr/>
        </p:nvCxnSpPr>
        <p:spPr>
          <a:xfrm>
            <a:off x="13122124" y="5506406"/>
            <a:ext cx="18664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9" name="Соединительная линия уступом 885">
            <a:extLst>
              <a:ext uri="{FF2B5EF4-FFF2-40B4-BE49-F238E27FC236}">
                <a16:creationId xmlns:a16="http://schemas.microsoft.com/office/drawing/2014/main" id="{AE2E6EC3-F54F-4F9B-B53A-6A26AD50A6F1}"/>
              </a:ext>
            </a:extLst>
          </p:cNvPr>
          <p:cNvCxnSpPr>
            <a:cxnSpLocks/>
            <a:stCxn id="381" idx="2"/>
            <a:endCxn id="630" idx="0"/>
          </p:cNvCxnSpPr>
          <p:nvPr/>
        </p:nvCxnSpPr>
        <p:spPr>
          <a:xfrm rot="16200000" flipH="1">
            <a:off x="11164290" y="8640214"/>
            <a:ext cx="226499" cy="55304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00" name="Соединительная линия уступом 885">
            <a:extLst>
              <a:ext uri="{FF2B5EF4-FFF2-40B4-BE49-F238E27FC236}">
                <a16:creationId xmlns:a16="http://schemas.microsoft.com/office/drawing/2014/main" id="{E0B77D89-0D7D-4086-A28C-A9C4C7ABE8AA}"/>
              </a:ext>
            </a:extLst>
          </p:cNvPr>
          <p:cNvCxnSpPr>
            <a:cxnSpLocks/>
            <a:stCxn id="362" idx="2"/>
            <a:endCxn id="381" idx="0"/>
          </p:cNvCxnSpPr>
          <p:nvPr/>
        </p:nvCxnSpPr>
        <p:spPr>
          <a:xfrm rot="5400000">
            <a:off x="11442074" y="7600793"/>
            <a:ext cx="221638" cy="110375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09" name="Прямоугольник 908">
            <a:extLst>
              <a:ext uri="{FF2B5EF4-FFF2-40B4-BE49-F238E27FC236}">
                <a16:creationId xmlns:a16="http://schemas.microsoft.com/office/drawing/2014/main" id="{5AF50C78-7CED-461D-82DE-E1C6A169BCFD}"/>
              </a:ext>
            </a:extLst>
          </p:cNvPr>
          <p:cNvSpPr/>
          <p:nvPr/>
        </p:nvSpPr>
        <p:spPr>
          <a:xfrm>
            <a:off x="25889353" y="5101869"/>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Договор с Аргентиной (1947)</a:t>
            </a:r>
            <a:endParaRPr lang="ru-RU" sz="100" dirty="0"/>
          </a:p>
        </p:txBody>
      </p:sp>
      <p:sp>
        <p:nvSpPr>
          <p:cNvPr id="910" name="Прямоугольник 909">
            <a:extLst>
              <a:ext uri="{FF2B5EF4-FFF2-40B4-BE49-F238E27FC236}">
                <a16:creationId xmlns:a16="http://schemas.microsoft.com/office/drawing/2014/main" id="{C3436558-F784-4636-8E9B-1D6DB4305157}"/>
              </a:ext>
            </a:extLst>
          </p:cNvPr>
          <p:cNvSpPr/>
          <p:nvPr/>
        </p:nvSpPr>
        <p:spPr>
          <a:xfrm>
            <a:off x="24704545" y="5107469"/>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Сформировать золотовалютные резервы (стабилизирует песо)</a:t>
            </a:r>
            <a:endParaRPr lang="ru-RU" sz="100" dirty="0"/>
          </a:p>
        </p:txBody>
      </p:sp>
      <p:cxnSp>
        <p:nvCxnSpPr>
          <p:cNvPr id="913" name="Соединительная линия уступом 835">
            <a:extLst>
              <a:ext uri="{FF2B5EF4-FFF2-40B4-BE49-F238E27FC236}">
                <a16:creationId xmlns:a16="http://schemas.microsoft.com/office/drawing/2014/main" id="{4EF6A03E-98A4-492D-B2D6-181CD409BD57}"/>
              </a:ext>
            </a:extLst>
          </p:cNvPr>
          <p:cNvCxnSpPr>
            <a:cxnSpLocks/>
            <a:stCxn id="840" idx="2"/>
            <a:endCxn id="910" idx="0"/>
          </p:cNvCxnSpPr>
          <p:nvPr/>
        </p:nvCxnSpPr>
        <p:spPr>
          <a:xfrm rot="5400000">
            <a:off x="25344878" y="4704351"/>
            <a:ext cx="225948" cy="58028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16" name="Соединительная линия уступом 840">
            <a:extLst>
              <a:ext uri="{FF2B5EF4-FFF2-40B4-BE49-F238E27FC236}">
                <a16:creationId xmlns:a16="http://schemas.microsoft.com/office/drawing/2014/main" id="{107D7916-E974-4D93-BA21-E2D820CEC79A}"/>
              </a:ext>
            </a:extLst>
          </p:cNvPr>
          <p:cNvCxnSpPr>
            <a:cxnSpLocks/>
            <a:stCxn id="831" idx="2"/>
            <a:endCxn id="921" idx="0"/>
          </p:cNvCxnSpPr>
          <p:nvPr/>
        </p:nvCxnSpPr>
        <p:spPr>
          <a:xfrm rot="16200000" flipH="1">
            <a:off x="26502883" y="3918702"/>
            <a:ext cx="258308" cy="59206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20" name="Прямоугольник 919">
            <a:extLst>
              <a:ext uri="{FF2B5EF4-FFF2-40B4-BE49-F238E27FC236}">
                <a16:creationId xmlns:a16="http://schemas.microsoft.com/office/drawing/2014/main" id="{6E3CDBC5-EB98-4EF8-80F7-EFE9C492FF32}"/>
              </a:ext>
            </a:extLst>
          </p:cNvPr>
          <p:cNvSpPr/>
          <p:nvPr/>
        </p:nvSpPr>
        <p:spPr>
          <a:xfrm>
            <a:off x="27037022" y="5106407"/>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Национальный институт промышленности (1941)</a:t>
            </a:r>
            <a:endParaRPr lang="ru-RU" sz="100" dirty="0"/>
          </a:p>
        </p:txBody>
      </p:sp>
      <p:sp>
        <p:nvSpPr>
          <p:cNvPr id="921" name="Прямоугольник 920">
            <a:extLst>
              <a:ext uri="{FF2B5EF4-FFF2-40B4-BE49-F238E27FC236}">
                <a16:creationId xmlns:a16="http://schemas.microsoft.com/office/drawing/2014/main" id="{A64CE2D1-CA6E-42FC-B022-CA2A2CF2EF1F}"/>
              </a:ext>
            </a:extLst>
          </p:cNvPr>
          <p:cNvSpPr/>
          <p:nvPr/>
        </p:nvSpPr>
        <p:spPr>
          <a:xfrm>
            <a:off x="26464909" y="4343891"/>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Национальная служба по пшенице</a:t>
            </a:r>
            <a:endParaRPr lang="ru-RU" sz="100" dirty="0"/>
          </a:p>
        </p:txBody>
      </p:sp>
      <p:cxnSp>
        <p:nvCxnSpPr>
          <p:cNvPr id="923" name="Соединительная линия уступом 835">
            <a:extLst>
              <a:ext uri="{FF2B5EF4-FFF2-40B4-BE49-F238E27FC236}">
                <a16:creationId xmlns:a16="http://schemas.microsoft.com/office/drawing/2014/main" id="{D1243D31-6783-4954-A676-C250BAF397AF}"/>
              </a:ext>
            </a:extLst>
          </p:cNvPr>
          <p:cNvCxnSpPr>
            <a:cxnSpLocks/>
            <a:stCxn id="840" idx="2"/>
            <a:endCxn id="909" idx="0"/>
          </p:cNvCxnSpPr>
          <p:nvPr/>
        </p:nvCxnSpPr>
        <p:spPr>
          <a:xfrm rot="16200000" flipH="1">
            <a:off x="25940082" y="4689435"/>
            <a:ext cx="220348" cy="60452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26" name="Соединительная линия уступом 840">
            <a:extLst>
              <a:ext uri="{FF2B5EF4-FFF2-40B4-BE49-F238E27FC236}">
                <a16:creationId xmlns:a16="http://schemas.microsoft.com/office/drawing/2014/main" id="{DAFCFF06-47EB-4BF6-B42F-15C4D8980AD3}"/>
              </a:ext>
            </a:extLst>
          </p:cNvPr>
          <p:cNvCxnSpPr>
            <a:cxnSpLocks/>
            <a:stCxn id="921" idx="2"/>
            <a:endCxn id="909" idx="0"/>
          </p:cNvCxnSpPr>
          <p:nvPr/>
        </p:nvCxnSpPr>
        <p:spPr>
          <a:xfrm rot="5400000">
            <a:off x="26531305" y="4705102"/>
            <a:ext cx="217978" cy="57555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29" name="Соединительная линия уступом 840">
            <a:extLst>
              <a:ext uri="{FF2B5EF4-FFF2-40B4-BE49-F238E27FC236}">
                <a16:creationId xmlns:a16="http://schemas.microsoft.com/office/drawing/2014/main" id="{8DB18F5A-36FE-408B-9206-86DC3547B5A1}"/>
              </a:ext>
            </a:extLst>
          </p:cNvPr>
          <p:cNvCxnSpPr>
            <a:cxnSpLocks/>
            <a:stCxn id="835" idx="2"/>
            <a:endCxn id="910" idx="0"/>
          </p:cNvCxnSpPr>
          <p:nvPr/>
        </p:nvCxnSpPr>
        <p:spPr>
          <a:xfrm rot="16200000" flipH="1">
            <a:off x="24780771" y="4720531"/>
            <a:ext cx="224341" cy="54953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39" name="Прямоугольник 838">
            <a:extLst>
              <a:ext uri="{FF2B5EF4-FFF2-40B4-BE49-F238E27FC236}">
                <a16:creationId xmlns:a16="http://schemas.microsoft.com/office/drawing/2014/main" id="{573FCDE4-D6BD-4CD2-9BCB-74116200B42B}"/>
              </a:ext>
            </a:extLst>
          </p:cNvPr>
          <p:cNvSpPr/>
          <p:nvPr/>
        </p:nvSpPr>
        <p:spPr>
          <a:xfrm>
            <a:off x="27037022" y="5985186"/>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Объединить кампании энергетического сектора (1943)</a:t>
            </a:r>
            <a:endParaRPr lang="ru-RU" sz="100" dirty="0"/>
          </a:p>
        </p:txBody>
      </p:sp>
      <p:sp>
        <p:nvSpPr>
          <p:cNvPr id="843" name="Прямоугольник 842">
            <a:extLst>
              <a:ext uri="{FF2B5EF4-FFF2-40B4-BE49-F238E27FC236}">
                <a16:creationId xmlns:a16="http://schemas.microsoft.com/office/drawing/2014/main" id="{E086B258-090C-4BA3-8E5D-FD8FE4EEDB26}"/>
              </a:ext>
            </a:extLst>
          </p:cNvPr>
          <p:cNvSpPr/>
          <p:nvPr/>
        </p:nvSpPr>
        <p:spPr>
          <a:xfrm>
            <a:off x="27596213" y="6709368"/>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Национальная компания </a:t>
            </a:r>
            <a:r>
              <a:rPr lang="ru-RU" sz="700" dirty="0" err="1"/>
              <a:t>Кальво</a:t>
            </a:r>
            <a:r>
              <a:rPr lang="ru-RU" sz="700" dirty="0"/>
              <a:t> </a:t>
            </a:r>
            <a:r>
              <a:rPr lang="ru-RU" sz="700" dirty="0" err="1"/>
              <a:t>Сотело</a:t>
            </a:r>
            <a:r>
              <a:rPr lang="ru-RU" sz="700" dirty="0"/>
              <a:t>  (1942 есть символ) </a:t>
            </a:r>
            <a:r>
              <a:rPr lang="ru-RU" sz="100" dirty="0"/>
              <a:t>(</a:t>
            </a:r>
          </a:p>
        </p:txBody>
      </p:sp>
      <p:cxnSp>
        <p:nvCxnSpPr>
          <p:cNvPr id="902" name="Соединительная линия уступом 840">
            <a:extLst>
              <a:ext uri="{FF2B5EF4-FFF2-40B4-BE49-F238E27FC236}">
                <a16:creationId xmlns:a16="http://schemas.microsoft.com/office/drawing/2014/main" id="{9D25FF35-4556-4D76-8B00-8A009717F1C7}"/>
              </a:ext>
            </a:extLst>
          </p:cNvPr>
          <p:cNvCxnSpPr>
            <a:cxnSpLocks/>
            <a:stCxn id="831" idx="2"/>
            <a:endCxn id="920" idx="0"/>
          </p:cNvCxnSpPr>
          <p:nvPr/>
        </p:nvCxnSpPr>
        <p:spPr>
          <a:xfrm rot="16200000" flipH="1">
            <a:off x="26407682" y="4013904"/>
            <a:ext cx="1020824" cy="1164182"/>
          </a:xfrm>
          <a:prstGeom prst="bentConnector3">
            <a:avLst>
              <a:gd name="adj1" fmla="val 12504"/>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03" name="Соединительная линия уступом 840">
            <a:extLst>
              <a:ext uri="{FF2B5EF4-FFF2-40B4-BE49-F238E27FC236}">
                <a16:creationId xmlns:a16="http://schemas.microsoft.com/office/drawing/2014/main" id="{CAFAFB41-6212-44BC-94A0-2AEB42DC2E90}"/>
              </a:ext>
            </a:extLst>
          </p:cNvPr>
          <p:cNvCxnSpPr>
            <a:cxnSpLocks/>
            <a:stCxn id="831" idx="2"/>
            <a:endCxn id="842" idx="0"/>
          </p:cNvCxnSpPr>
          <p:nvPr/>
        </p:nvCxnSpPr>
        <p:spPr>
          <a:xfrm rot="16200000" flipH="1">
            <a:off x="26974244" y="3447342"/>
            <a:ext cx="1008080" cy="2284562"/>
          </a:xfrm>
          <a:prstGeom prst="bentConnector3">
            <a:avLst>
              <a:gd name="adj1" fmla="val 12557"/>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06" name="Соединительная линия уступом 840">
            <a:extLst>
              <a:ext uri="{FF2B5EF4-FFF2-40B4-BE49-F238E27FC236}">
                <a16:creationId xmlns:a16="http://schemas.microsoft.com/office/drawing/2014/main" id="{B7E64F36-A4F7-45DD-BFA1-7B133F7739A6}"/>
              </a:ext>
            </a:extLst>
          </p:cNvPr>
          <p:cNvCxnSpPr>
            <a:cxnSpLocks/>
            <a:stCxn id="831" idx="2"/>
            <a:endCxn id="837" idx="0"/>
          </p:cNvCxnSpPr>
          <p:nvPr/>
        </p:nvCxnSpPr>
        <p:spPr>
          <a:xfrm rot="5400000">
            <a:off x="24695962" y="3459372"/>
            <a:ext cx="1013830" cy="2266252"/>
          </a:xfrm>
          <a:prstGeom prst="bentConnector3">
            <a:avLst>
              <a:gd name="adj1" fmla="val 12245"/>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07" name="Прямоугольник 906">
            <a:extLst>
              <a:ext uri="{FF2B5EF4-FFF2-40B4-BE49-F238E27FC236}">
                <a16:creationId xmlns:a16="http://schemas.microsoft.com/office/drawing/2014/main" id="{3311AEB8-8688-474F-80BB-EB7E3345C796}"/>
              </a:ext>
            </a:extLst>
          </p:cNvPr>
          <p:cNvSpPr/>
          <p:nvPr/>
        </p:nvSpPr>
        <p:spPr>
          <a:xfrm>
            <a:off x="28157402" y="5985186"/>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Объединить авиационные кампании (1943 с символами) </a:t>
            </a:r>
            <a:r>
              <a:rPr lang="ru-RU" sz="300" dirty="0"/>
              <a:t>(</a:t>
            </a:r>
            <a:r>
              <a:rPr lang="en-US" sz="300" dirty="0" err="1"/>
              <a:t>Construcciones</a:t>
            </a:r>
            <a:r>
              <a:rPr lang="en-US" sz="300" dirty="0"/>
              <a:t> </a:t>
            </a:r>
            <a:r>
              <a:rPr lang="en-US" sz="300" dirty="0" err="1"/>
              <a:t>Aeronáuticas</a:t>
            </a:r>
            <a:r>
              <a:rPr lang="en-US" sz="300" dirty="0"/>
              <a:t> S.A.; Iberia (</a:t>
            </a:r>
            <a:r>
              <a:rPr lang="en-US" sz="300" dirty="0" err="1"/>
              <a:t>aerolínea</a:t>
            </a:r>
            <a:r>
              <a:rPr lang="en-US" sz="300" dirty="0"/>
              <a:t>); </a:t>
            </a:r>
            <a:r>
              <a:rPr lang="en-US" sz="300" dirty="0" err="1"/>
              <a:t>Aviaco</a:t>
            </a:r>
            <a:r>
              <a:rPr lang="ru-RU" sz="300" dirty="0"/>
              <a:t>)</a:t>
            </a:r>
            <a:endParaRPr lang="ru-RU" sz="100" dirty="0"/>
          </a:p>
        </p:txBody>
      </p:sp>
      <p:cxnSp>
        <p:nvCxnSpPr>
          <p:cNvPr id="912" name="Прямая со стрелкой 911">
            <a:extLst>
              <a:ext uri="{FF2B5EF4-FFF2-40B4-BE49-F238E27FC236}">
                <a16:creationId xmlns:a16="http://schemas.microsoft.com/office/drawing/2014/main" id="{B0707D0A-663C-46F2-9B85-472A6576D5B3}"/>
              </a:ext>
            </a:extLst>
          </p:cNvPr>
          <p:cNvCxnSpPr>
            <a:cxnSpLocks/>
            <a:stCxn id="920" idx="2"/>
            <a:endCxn id="839" idx="0"/>
          </p:cNvCxnSpPr>
          <p:nvPr/>
        </p:nvCxnSpPr>
        <p:spPr>
          <a:xfrm>
            <a:off x="27500185" y="5646407"/>
            <a:ext cx="0" cy="338779"/>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17" name="Соединительная линия уступом 840">
            <a:extLst>
              <a:ext uri="{FF2B5EF4-FFF2-40B4-BE49-F238E27FC236}">
                <a16:creationId xmlns:a16="http://schemas.microsoft.com/office/drawing/2014/main" id="{5598FABD-5449-4376-AC0B-A914D7810808}"/>
              </a:ext>
            </a:extLst>
          </p:cNvPr>
          <p:cNvCxnSpPr>
            <a:cxnSpLocks/>
            <a:stCxn id="920" idx="2"/>
            <a:endCxn id="907" idx="0"/>
          </p:cNvCxnSpPr>
          <p:nvPr/>
        </p:nvCxnSpPr>
        <p:spPr>
          <a:xfrm rot="16200000" flipH="1">
            <a:off x="27890986" y="5255606"/>
            <a:ext cx="338779" cy="112038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19" name="Соединительная линия уступом 840">
            <a:extLst>
              <a:ext uri="{FF2B5EF4-FFF2-40B4-BE49-F238E27FC236}">
                <a16:creationId xmlns:a16="http://schemas.microsoft.com/office/drawing/2014/main" id="{4C17A63C-4FA2-4AB9-B4BA-42A9AB9ACABA}"/>
              </a:ext>
            </a:extLst>
          </p:cNvPr>
          <p:cNvCxnSpPr>
            <a:cxnSpLocks/>
            <a:stCxn id="920" idx="2"/>
            <a:endCxn id="843" idx="0"/>
          </p:cNvCxnSpPr>
          <p:nvPr/>
        </p:nvCxnSpPr>
        <p:spPr>
          <a:xfrm rot="16200000" flipH="1">
            <a:off x="27248300" y="5898291"/>
            <a:ext cx="1062961" cy="559191"/>
          </a:xfrm>
          <a:prstGeom prst="bentConnector3">
            <a:avLst>
              <a:gd name="adj1" fmla="val 15968"/>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33" name="Прямоугольник 932">
            <a:extLst>
              <a:ext uri="{FF2B5EF4-FFF2-40B4-BE49-F238E27FC236}">
                <a16:creationId xmlns:a16="http://schemas.microsoft.com/office/drawing/2014/main" id="{591D7410-4EE7-4EC5-B7B2-2E2398945347}"/>
              </a:ext>
            </a:extLst>
          </p:cNvPr>
          <p:cNvSpPr/>
          <p:nvPr/>
        </p:nvSpPr>
        <p:spPr>
          <a:xfrm>
            <a:off x="3811206" y="19105516"/>
            <a:ext cx="926325" cy="540000"/>
          </a:xfrm>
          <a:prstGeom prst="rect">
            <a:avLst/>
          </a:prstGeom>
          <a:no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Испанская авиация (</a:t>
            </a:r>
            <a:r>
              <a:rPr lang="en-US" sz="700" dirty="0"/>
              <a:t>Hispano </a:t>
            </a:r>
            <a:r>
              <a:rPr lang="en-US" sz="700" dirty="0" err="1"/>
              <a:t>Aviación</a:t>
            </a:r>
            <a:r>
              <a:rPr lang="ru-RU" sz="700" dirty="0"/>
              <a:t> )</a:t>
            </a:r>
            <a:endParaRPr lang="ru-RU" sz="100" dirty="0"/>
          </a:p>
        </p:txBody>
      </p:sp>
      <p:cxnSp>
        <p:nvCxnSpPr>
          <p:cNvPr id="934" name="Соединительная линия уступом 124">
            <a:extLst>
              <a:ext uri="{FF2B5EF4-FFF2-40B4-BE49-F238E27FC236}">
                <a16:creationId xmlns:a16="http://schemas.microsoft.com/office/drawing/2014/main" id="{A1754BDF-5260-4306-BCBD-63C0B1AEF514}"/>
              </a:ext>
            </a:extLst>
          </p:cNvPr>
          <p:cNvCxnSpPr>
            <a:cxnSpLocks/>
            <a:stCxn id="475" idx="2"/>
            <a:endCxn id="481" idx="0"/>
          </p:cNvCxnSpPr>
          <p:nvPr/>
        </p:nvCxnSpPr>
        <p:spPr>
          <a:xfrm rot="16200000" flipH="1">
            <a:off x="1953859" y="18218441"/>
            <a:ext cx="218867" cy="378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39" name="Прямоугольник 938">
            <a:extLst>
              <a:ext uri="{FF2B5EF4-FFF2-40B4-BE49-F238E27FC236}">
                <a16:creationId xmlns:a16="http://schemas.microsoft.com/office/drawing/2014/main" id="{E51DB72E-870D-4D22-B162-1956ABEA5CFA}"/>
              </a:ext>
            </a:extLst>
          </p:cNvPr>
          <p:cNvSpPr/>
          <p:nvPr/>
        </p:nvSpPr>
        <p:spPr>
          <a:xfrm>
            <a:off x="3258786" y="19823243"/>
            <a:ext cx="926325" cy="540000"/>
          </a:xfrm>
          <a:prstGeom prst="rect">
            <a:avLst/>
          </a:prstGeom>
          <a:no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Разработка</a:t>
            </a:r>
            <a:r>
              <a:rPr lang="en-US" sz="700" dirty="0"/>
              <a:t> El Hispano-</a:t>
            </a:r>
            <a:r>
              <a:rPr lang="en-US" sz="700" dirty="0" err="1"/>
              <a:t>Suiza</a:t>
            </a:r>
            <a:r>
              <a:rPr lang="en-US" sz="700" dirty="0"/>
              <a:t> HS-42</a:t>
            </a:r>
            <a:r>
              <a:rPr lang="ru-RU" sz="700" dirty="0"/>
              <a:t> </a:t>
            </a:r>
            <a:r>
              <a:rPr lang="en-US" sz="700" dirty="0"/>
              <a:t>(5 </a:t>
            </a:r>
            <a:r>
              <a:rPr lang="ru-RU" sz="700" dirty="0"/>
              <a:t>апреля</a:t>
            </a:r>
            <a:r>
              <a:rPr lang="en-US" sz="700" dirty="0"/>
              <a:t> 1942)</a:t>
            </a:r>
            <a:endParaRPr lang="ru-RU" sz="100" dirty="0"/>
          </a:p>
        </p:txBody>
      </p:sp>
      <p:cxnSp>
        <p:nvCxnSpPr>
          <p:cNvPr id="940" name="Соединительная линия уступом 124">
            <a:extLst>
              <a:ext uri="{FF2B5EF4-FFF2-40B4-BE49-F238E27FC236}">
                <a16:creationId xmlns:a16="http://schemas.microsoft.com/office/drawing/2014/main" id="{09F529F3-C46D-41B0-9198-9D36F1BED8C1}"/>
              </a:ext>
            </a:extLst>
          </p:cNvPr>
          <p:cNvCxnSpPr>
            <a:cxnSpLocks/>
            <a:stCxn id="432" idx="2"/>
            <a:endCxn id="933" idx="0"/>
          </p:cNvCxnSpPr>
          <p:nvPr/>
        </p:nvCxnSpPr>
        <p:spPr>
          <a:xfrm rot="16200000" flipH="1">
            <a:off x="3610864" y="18442011"/>
            <a:ext cx="228364" cy="109864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943" name="Соединительная линия уступом 124">
            <a:extLst>
              <a:ext uri="{FF2B5EF4-FFF2-40B4-BE49-F238E27FC236}">
                <a16:creationId xmlns:a16="http://schemas.microsoft.com/office/drawing/2014/main" id="{9C77E6FD-98C8-4A95-A02E-DDFE00D8EFC9}"/>
              </a:ext>
            </a:extLst>
          </p:cNvPr>
          <p:cNvCxnSpPr>
            <a:cxnSpLocks/>
            <a:stCxn id="486" idx="2"/>
            <a:endCxn id="933" idx="0"/>
          </p:cNvCxnSpPr>
          <p:nvPr/>
        </p:nvCxnSpPr>
        <p:spPr>
          <a:xfrm rot="5400000">
            <a:off x="4160669" y="18990853"/>
            <a:ext cx="228364" cy="963"/>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944" name="Соединительная линия уступом 124">
            <a:extLst>
              <a:ext uri="{FF2B5EF4-FFF2-40B4-BE49-F238E27FC236}">
                <a16:creationId xmlns:a16="http://schemas.microsoft.com/office/drawing/2014/main" id="{35041960-15A8-4FBF-8916-8A613114B6DA}"/>
              </a:ext>
            </a:extLst>
          </p:cNvPr>
          <p:cNvCxnSpPr>
            <a:cxnSpLocks/>
            <a:stCxn id="933" idx="2"/>
            <a:endCxn id="939" idx="0"/>
          </p:cNvCxnSpPr>
          <p:nvPr/>
        </p:nvCxnSpPr>
        <p:spPr>
          <a:xfrm rot="5400000">
            <a:off x="3909296" y="19458169"/>
            <a:ext cx="177727" cy="55242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46" name="Прямоугольник 945">
            <a:extLst>
              <a:ext uri="{FF2B5EF4-FFF2-40B4-BE49-F238E27FC236}">
                <a16:creationId xmlns:a16="http://schemas.microsoft.com/office/drawing/2014/main" id="{9321C6A2-7E43-4A6A-8A56-B1AF1D569B22}"/>
              </a:ext>
            </a:extLst>
          </p:cNvPr>
          <p:cNvSpPr/>
          <p:nvPr/>
        </p:nvSpPr>
        <p:spPr>
          <a:xfrm>
            <a:off x="4334785" y="19825401"/>
            <a:ext cx="926325" cy="540000"/>
          </a:xfrm>
          <a:prstGeom prst="rect">
            <a:avLst/>
          </a:prstGeom>
          <a:no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Разработка </a:t>
            </a:r>
            <a:r>
              <a:rPr lang="en-US" sz="700" dirty="0"/>
              <a:t>Hispano </a:t>
            </a:r>
            <a:r>
              <a:rPr lang="en-US" sz="700" dirty="0" err="1"/>
              <a:t>Aviación</a:t>
            </a:r>
            <a:r>
              <a:rPr lang="en-US" sz="700" dirty="0"/>
              <a:t> HA-43</a:t>
            </a:r>
            <a:endParaRPr lang="ru-RU" sz="100" dirty="0"/>
          </a:p>
        </p:txBody>
      </p:sp>
      <p:cxnSp>
        <p:nvCxnSpPr>
          <p:cNvPr id="947" name="Соединительная линия уступом 124">
            <a:extLst>
              <a:ext uri="{FF2B5EF4-FFF2-40B4-BE49-F238E27FC236}">
                <a16:creationId xmlns:a16="http://schemas.microsoft.com/office/drawing/2014/main" id="{E547B9EB-19DB-46DC-AE08-8AD10781A9F9}"/>
              </a:ext>
            </a:extLst>
          </p:cNvPr>
          <p:cNvCxnSpPr>
            <a:cxnSpLocks/>
            <a:stCxn id="933" idx="2"/>
            <a:endCxn id="946" idx="0"/>
          </p:cNvCxnSpPr>
          <p:nvPr/>
        </p:nvCxnSpPr>
        <p:spPr>
          <a:xfrm rot="16200000" flipH="1">
            <a:off x="4446216" y="19473668"/>
            <a:ext cx="179885" cy="52357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49" name="Прямоугольник 948">
            <a:extLst>
              <a:ext uri="{FF2B5EF4-FFF2-40B4-BE49-F238E27FC236}">
                <a16:creationId xmlns:a16="http://schemas.microsoft.com/office/drawing/2014/main" id="{0634CBD3-C01E-41BC-A313-07E91F5B7741}"/>
              </a:ext>
            </a:extLst>
          </p:cNvPr>
          <p:cNvSpPr/>
          <p:nvPr/>
        </p:nvSpPr>
        <p:spPr>
          <a:xfrm>
            <a:off x="27598591" y="4340767"/>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Папский университет Саламанки (1940)</a:t>
            </a:r>
            <a:endParaRPr lang="ru-RU" sz="100" dirty="0"/>
          </a:p>
        </p:txBody>
      </p:sp>
      <p:cxnSp>
        <p:nvCxnSpPr>
          <p:cNvPr id="950" name="Соединительная линия уступом 840">
            <a:extLst>
              <a:ext uri="{FF2B5EF4-FFF2-40B4-BE49-F238E27FC236}">
                <a16:creationId xmlns:a16="http://schemas.microsoft.com/office/drawing/2014/main" id="{8A9A2C1B-C1E8-4441-ABD7-F246BCE4F7F6}"/>
              </a:ext>
            </a:extLst>
          </p:cNvPr>
          <p:cNvCxnSpPr>
            <a:cxnSpLocks/>
            <a:stCxn id="831" idx="2"/>
            <a:endCxn id="949" idx="0"/>
          </p:cNvCxnSpPr>
          <p:nvPr/>
        </p:nvCxnSpPr>
        <p:spPr>
          <a:xfrm rot="16200000" flipH="1">
            <a:off x="27071286" y="3350299"/>
            <a:ext cx="255184" cy="172575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52" name="Соединительная линия уступом 840">
            <a:extLst>
              <a:ext uri="{FF2B5EF4-FFF2-40B4-BE49-F238E27FC236}">
                <a16:creationId xmlns:a16="http://schemas.microsoft.com/office/drawing/2014/main" id="{16E0DB7B-4E31-48E3-9706-D68DC9FFD9BA}"/>
              </a:ext>
            </a:extLst>
          </p:cNvPr>
          <p:cNvCxnSpPr>
            <a:cxnSpLocks/>
            <a:stCxn id="835" idx="2"/>
            <a:endCxn id="830" idx="0"/>
          </p:cNvCxnSpPr>
          <p:nvPr/>
        </p:nvCxnSpPr>
        <p:spPr>
          <a:xfrm rot="16200000" flipH="1">
            <a:off x="24068482" y="5432820"/>
            <a:ext cx="1102058" cy="267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53" name="Прямоугольник 952">
            <a:extLst>
              <a:ext uri="{FF2B5EF4-FFF2-40B4-BE49-F238E27FC236}">
                <a16:creationId xmlns:a16="http://schemas.microsoft.com/office/drawing/2014/main" id="{50E572D2-7DF7-40C6-9CB7-0E62603CC6E4}"/>
              </a:ext>
            </a:extLst>
          </p:cNvPr>
          <p:cNvSpPr/>
          <p:nvPr/>
        </p:nvSpPr>
        <p:spPr>
          <a:xfrm>
            <a:off x="25284833" y="5988612"/>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Университет Наварры (1952)</a:t>
            </a:r>
            <a:endParaRPr lang="ru-RU" sz="100" dirty="0"/>
          </a:p>
        </p:txBody>
      </p:sp>
      <p:cxnSp>
        <p:nvCxnSpPr>
          <p:cNvPr id="955" name="Соединительная линия уступом 840">
            <a:extLst>
              <a:ext uri="{FF2B5EF4-FFF2-40B4-BE49-F238E27FC236}">
                <a16:creationId xmlns:a16="http://schemas.microsoft.com/office/drawing/2014/main" id="{3BE71C79-A3F9-4318-917D-24B000A95849}"/>
              </a:ext>
            </a:extLst>
          </p:cNvPr>
          <p:cNvCxnSpPr>
            <a:cxnSpLocks/>
            <a:stCxn id="910" idx="2"/>
            <a:endCxn id="953" idx="0"/>
          </p:cNvCxnSpPr>
          <p:nvPr/>
        </p:nvCxnSpPr>
        <p:spPr>
          <a:xfrm rot="16200000" flipH="1">
            <a:off x="25287281" y="5527896"/>
            <a:ext cx="341143" cy="58028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56" name="Соединительная линия уступом 840">
            <a:extLst>
              <a:ext uri="{FF2B5EF4-FFF2-40B4-BE49-F238E27FC236}">
                <a16:creationId xmlns:a16="http://schemas.microsoft.com/office/drawing/2014/main" id="{798D03FA-B126-4F82-914E-F7E75FE6327F}"/>
              </a:ext>
            </a:extLst>
          </p:cNvPr>
          <p:cNvCxnSpPr>
            <a:cxnSpLocks/>
            <a:stCxn id="920" idx="2"/>
            <a:endCxn id="953" idx="0"/>
          </p:cNvCxnSpPr>
          <p:nvPr/>
        </p:nvCxnSpPr>
        <p:spPr>
          <a:xfrm rot="5400000">
            <a:off x="26452989" y="4941415"/>
            <a:ext cx="342205" cy="175218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58" name="Прямоугольник 957">
            <a:extLst>
              <a:ext uri="{FF2B5EF4-FFF2-40B4-BE49-F238E27FC236}">
                <a16:creationId xmlns:a16="http://schemas.microsoft.com/office/drawing/2014/main" id="{9203EA80-D8BC-431E-8DD3-BBCB51553123}"/>
              </a:ext>
            </a:extLst>
          </p:cNvPr>
          <p:cNvSpPr/>
          <p:nvPr/>
        </p:nvSpPr>
        <p:spPr>
          <a:xfrm>
            <a:off x="24715011" y="6718759"/>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Строительство новых школ по всей стране</a:t>
            </a:r>
            <a:endParaRPr lang="ru-RU" sz="100" dirty="0"/>
          </a:p>
        </p:txBody>
      </p:sp>
      <p:cxnSp>
        <p:nvCxnSpPr>
          <p:cNvPr id="959" name="Соединительная линия уступом 840">
            <a:extLst>
              <a:ext uri="{FF2B5EF4-FFF2-40B4-BE49-F238E27FC236}">
                <a16:creationId xmlns:a16="http://schemas.microsoft.com/office/drawing/2014/main" id="{835F8A16-4896-4E0E-9090-9E7203019807}"/>
              </a:ext>
            </a:extLst>
          </p:cNvPr>
          <p:cNvCxnSpPr>
            <a:cxnSpLocks/>
            <a:stCxn id="953" idx="2"/>
            <a:endCxn id="958" idx="0"/>
          </p:cNvCxnSpPr>
          <p:nvPr/>
        </p:nvCxnSpPr>
        <p:spPr>
          <a:xfrm rot="5400000">
            <a:off x="25368012" y="6338774"/>
            <a:ext cx="190147" cy="56982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60" name="Соединительная линия уступом 840">
            <a:extLst>
              <a:ext uri="{FF2B5EF4-FFF2-40B4-BE49-F238E27FC236}">
                <a16:creationId xmlns:a16="http://schemas.microsoft.com/office/drawing/2014/main" id="{D6524018-1237-4F00-B538-F48E7BCF53EC}"/>
              </a:ext>
            </a:extLst>
          </p:cNvPr>
          <p:cNvCxnSpPr>
            <a:cxnSpLocks/>
            <a:stCxn id="830" idx="2"/>
            <a:endCxn id="958" idx="0"/>
          </p:cNvCxnSpPr>
          <p:nvPr/>
        </p:nvCxnSpPr>
        <p:spPr>
          <a:xfrm rot="16200000" flipH="1">
            <a:off x="24802725" y="6343309"/>
            <a:ext cx="193573" cy="55732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25" name="Прямая соединительная линия 724">
            <a:extLst>
              <a:ext uri="{FF2B5EF4-FFF2-40B4-BE49-F238E27FC236}">
                <a16:creationId xmlns:a16="http://schemas.microsoft.com/office/drawing/2014/main" id="{9822A851-3CEB-46E1-83C1-016E139F2F99}"/>
              </a:ext>
            </a:extLst>
          </p:cNvPr>
          <p:cNvCxnSpPr>
            <a:cxnSpLocks/>
            <a:stCxn id="846" idx="3"/>
            <a:endCxn id="294" idx="1"/>
          </p:cNvCxnSpPr>
          <p:nvPr/>
        </p:nvCxnSpPr>
        <p:spPr>
          <a:xfrm flipV="1">
            <a:off x="2592762" y="7781010"/>
            <a:ext cx="2411696" cy="4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28" name="Соединительная линия уступом 395">
            <a:extLst>
              <a:ext uri="{FF2B5EF4-FFF2-40B4-BE49-F238E27FC236}">
                <a16:creationId xmlns:a16="http://schemas.microsoft.com/office/drawing/2014/main" id="{5E17843E-6D79-4EB2-A8D3-F23E74D266E7}"/>
              </a:ext>
            </a:extLst>
          </p:cNvPr>
          <p:cNvCxnSpPr>
            <a:cxnSpLocks/>
            <a:stCxn id="100" idx="2"/>
            <a:endCxn id="846" idx="0"/>
          </p:cNvCxnSpPr>
          <p:nvPr/>
        </p:nvCxnSpPr>
        <p:spPr>
          <a:xfrm rot="5400000">
            <a:off x="4509922" y="4889550"/>
            <a:ext cx="241559" cy="500220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33" name="Прямоугольник 732">
            <a:extLst>
              <a:ext uri="{FF2B5EF4-FFF2-40B4-BE49-F238E27FC236}">
                <a16:creationId xmlns:a16="http://schemas.microsoft.com/office/drawing/2014/main" id="{6F53E220-49D4-4C92-8FBC-64C9B07992A4}"/>
              </a:ext>
            </a:extLst>
          </p:cNvPr>
          <p:cNvSpPr/>
          <p:nvPr/>
        </p:nvSpPr>
        <p:spPr>
          <a:xfrm>
            <a:off x="-463" y="2597230"/>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Победа Народного фронта</a:t>
            </a:r>
          </a:p>
        </p:txBody>
      </p:sp>
    </p:spTree>
    <p:extLst>
      <p:ext uri="{BB962C8B-B14F-4D97-AF65-F5344CB8AC3E}">
        <p14:creationId xmlns:p14="http://schemas.microsoft.com/office/powerpoint/2010/main" val="3113188735"/>
      </p:ext>
    </p:extLst>
  </p:cSld>
  <p:clrMapOvr>
    <a:masterClrMapping/>
  </p:clrMapOvr>
</p:sld>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41120</TotalTime>
  <Words>3040</Words>
  <Application>Microsoft Office PowerPoint</Application>
  <PresentationFormat>Произвольный</PresentationFormat>
  <Paragraphs>315</Paragraphs>
  <Slides>1</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vt:i4>
      </vt:variant>
    </vt:vector>
  </HeadingPairs>
  <TitlesOfParts>
    <vt:vector size="5" baseType="lpstr">
      <vt:lpstr>Arial</vt:lpstr>
      <vt:lpstr>Calibri</vt:lpstr>
      <vt:lpstr>Calibri Light</vt:lpstr>
      <vt:lpstr>Тема Office</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Kirill</dc:creator>
  <cp:lastModifiedBy>Антон Алёшин</cp:lastModifiedBy>
  <cp:revision>2216</cp:revision>
  <dcterms:created xsi:type="dcterms:W3CDTF">2018-10-23T08:09:21Z</dcterms:created>
  <dcterms:modified xsi:type="dcterms:W3CDTF">2026-05-05T09:49:50Z</dcterms:modified>
</cp:coreProperties>
</file>